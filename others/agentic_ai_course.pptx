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28"/>
  </p:notesMasterIdLst>
  <p:sldIdLst>
    <p:sldId id="256" r:id="rId2"/>
    <p:sldId id="257" r:id="rId3"/>
    <p:sldId id="258" r:id="rId4"/>
    <p:sldId id="260" r:id="rId5"/>
    <p:sldId id="261" r:id="rId6"/>
    <p:sldId id="262" r:id="rId7"/>
    <p:sldId id="263" r:id="rId8"/>
    <p:sldId id="264" r:id="rId9"/>
    <p:sldId id="265" r:id="rId10"/>
    <p:sldId id="274" r:id="rId11"/>
    <p:sldId id="266" r:id="rId12"/>
    <p:sldId id="267" r:id="rId13"/>
    <p:sldId id="268" r:id="rId14"/>
    <p:sldId id="269" r:id="rId15"/>
    <p:sldId id="270" r:id="rId16"/>
    <p:sldId id="284" r:id="rId17"/>
    <p:sldId id="271" r:id="rId18"/>
    <p:sldId id="273" r:id="rId19"/>
    <p:sldId id="275" r:id="rId20"/>
    <p:sldId id="276" r:id="rId21"/>
    <p:sldId id="278" r:id="rId22"/>
    <p:sldId id="279" r:id="rId23"/>
    <p:sldId id="280" r:id="rId24"/>
    <p:sldId id="259" r:id="rId25"/>
    <p:sldId id="281" r:id="rId26"/>
    <p:sldId id="282" r:id="rId27"/>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A162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125" d="100"/>
          <a:sy n="125" d="100"/>
        </p:scale>
        <p:origin x="34" y="51"/>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316357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The goal of the next 20 minutes is one thing: build the mental model that takes you from understanding what an LLM is, to seeing how a full agent automates a real task end-to-end. We'll start with the model, find its limits, and fix them one by one until we have an agent.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intro — I'm a final-year apprentice engineer at Télécom Saint-Étienne, working as a GenAI engineer at Amadeus. Everything I'll show you today comes from things I've shipped to production.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projects, all production or near-production. ReachFive — a cybersecurity company whose clients include Lacoste and Fnac; I fine-tuned Llama 3 with QLoRA for their internal security assistant. At Hubert Curien I led a team on an LLM platform for network config validation. At Amadeus: investigation agents that debug incidents, a QA automation platform built on Copilot Agent Mode + MCP, and a monitoring agent on Splunk.</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stop on the journey — the model itself. An LLM is trained on huge amounts of text to predict the next token. RLMs are a newer variant that reason step-by-step before answering, like OpenAI's o1 or DeepSeek R1. MLLMs handle multiple modalities — text, images, audio, video. Same transformer architecture underneath, different training and input handling. For this talk, whenever I say LLM, the ideas apply to all three.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does it actually predict the next word? Forget the math for a second. The LLM looks at all the previous tokens at once, and weighs how much each one matters for guessing what comes next. The arrows show attention — for the blank, the LLM 'pays attention' more to some words than others. The 2017 'Attention Is All You Need' paper turned this idea into the transformer. One critical consequence: the model is stateless — it has no memory between calls.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operational aside before we go deeper. The act of running a model is called inference, and you have three places to do it. Cloud APIs — call OpenAI, Anthropic, Azure — fastest to ship. Self-hosted with Ollama, llama.cpp, vLLM — your hardware, useful when data can't leave your network. Managed enterprise like Azure AI Foundry — K8s-backed, sits in between. Choice depends on cost, latency, privacy, vendor trust. Mention this now so you have a mental picture of 'where the model lives' before we look at how to pick and steer one.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basics before you build. Model selection — Opus, Sonnet, Haiku are price-and-capability tiers; pick the smallest that solves your task. Parameters — the 8B or 70B in a model name is the count of weights; more weights mean more capability but always more cost. Temperature is the creativity dial — zero for code and extraction, higher for ideation. Tokens are the unit of everything — context size, pricing, throughput. One token ≈ four characters.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we have a model. We know how to pick it, host it, steer it. Here's where the LLM-only world hits its ceiling. An LLM on its own is one-shot — prompt in, text out. That covers 'write me an email'. But the moment the task involves doing something real — sending the email, checking the calendar, querying a database — one shot isn't enough. You need a loop with an orchestrator, tools, retrieval, memory. Same model. Different system around it. That's agentic AI, and that's the rest of this talk.</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wall you hit. The LLM is stateless — it forgets everything between calls. So every turn, you re-send the whole conversation. And the context window is fixed — 8K, 32K, sometimes 200K tokens, but always a hard ceiling. Watch the bar fill up as we go. Turn one sends 90 tokens. By turn four we're at almost 600. Real production conversations hit the limit, the agent starts dropping early turns, and quality collapses. This is why context management exists.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Wired up, the next thing that bites you is context. Remember problem #1 — fixed window, every turn re-sent. In production you need active strategies. Sliding window — drop oldest turns. Summarisation — compress history into facts. Pruning — remove stale tool calls. Selective edit — modify state programmatically. LangGraph gives you primitives for all four. Get this wrong and your agent becomes slow, expensive, and dumb.</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Second wall. Ask the model about your company's internal documentation, a contract signed last week, or anything behind a corporate firewall — it has no idea. Three reasons it can't help out of the box: the documents are huge, often hundreds of pages of internal wikis; they're confidential, you can't ship them to OpenAI; and even when it does know, you need a verifiable source — for compliance, for audit, for trust. RAG fixes all three by giving the model the right chunk of the right document at query time.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how RAG actually works. Two phases people often confuse. Phase one — indexing — happens offline, once. Take your docs, chunk them, embed each chunk into a vector, store in a vector DB. Phase two — retrieval — runs on every query. Embed the user's question with the same model, find the nearest chunks, stuff them into the prompt, then ask the LLM.</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problem, four flavours of solution. Naive — embed and retrieve, done. Hybrid adds BM25 keyword search next to vector similarity for exact matches. GraphRAG builds an entity graph and walks it for multi-hop reasoning. Agentic RAG puts an agent in front: it decides whether to retrieve, what to retrieve, and chains searches. Pick based on the question shape, not the hype.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Third wall. Even with RAG, the LLM can only produce text. It can describe how to book a flight, but it can't actually book one. It can write the SQL, but it can't run the query. For real automation — the entire reason we're building this — the agent needs to act on the world. That means calling real functions: APIs, databases, browsers, your internal apps. Tools are how. MCP is the open standard that makes tools portable across any agent.</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MCP — Model Context Protocol — open standard from Anthropic, 2024. Three phases. One: handshake. The client connects to the server and they exchange capabilities and protocol versions. Two: discovery. The client asks tools slash list — the server returns a catalogue of every tool it exposes, with names, descriptions, and JSON schemas for the arguments. Three: invocation. When the LLM decides to use a tool, the client sends tools slash call with the arguments; the server runs the code and returns the result. Same mechanic for resources (data) and prompts (templates). Build a server once, any compliant client speaks to it.</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Important practical point. MCP is the standard way to give agents tools — but it's not always the simplest. Many production agents — Claude Code, Aider, Cursor's agent mode — just shell out to the command line. The LLM emits a command like 'git log' or 'curl example.com', a subprocess runs it, the text output goes back into context. No server, no schema, no protocol. Every CLI you already have on your machine becomes an agent tool for free. MCP wins when you need structured arguments, streaming, permissions, or you're shipping a tool for others to reuse. CLI wins for prototypes, ops, and anything with a mature CLI already. Most serious agents use both.</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level above tools. A tool is a single function. A skill is a whole packaged procedure — a SKILL.md with instructions, supporting scripts, references, and assets. The trick is progressive disclosure: the agent only sees a short description by default, loads the SKILL.md when the trigger matches, and pulls scripts and files only if it actually needs them. The context window stays small; the agent gets deep domain expertise on demand. Quick aside — this very deck was built by an agent using a 'pptx' skill exactly like the one shown on the left.</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loop as the previous slide, now with every box named. User query in. Orchestrator — LangGraph in my case — decides the next move using the LLM as its reasoning brain. It can search the vector DB through RAG, call any tool via MCP, or invoke a packaged skill. Memory tracks short-term context and long-term knowledge. A guardrail intercepts dangerous tools and asks the human first. The loop runs until the goal is met, then returns. This is what 'an agent that automates a task' actually looks like in production. Everything from slide 5 onwards converges here.</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Context management was the first production fix. Here are four more that promote an agent from demo to system. Human-in-the-loop: any tool that can do damage — delete records, send money, post publicly — must pause and ask before executing. Self-verification: the agent checks its own output against the goal before returning. Reflection: rerun with a critic LLM after a failure. Multi-agent: split a hard task into specialised roles. These compose — most serious agents use all four.</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production concerns that come together. Left: where does it run? Three tiers — local for dev and privacy, managed APIs for fastest path, Kubernetes when you need scale and isolation. KubeAI is my side project applying K8s patterns to agent runtimes. Right: how do you keep it accountable? Continuous eval feedback loop — user thumbs up/down flows into MLflow or LangSmith, you analyse and improve. Compliance: GDPR, EU AI Act — log everything, document risk class.</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frameworks you'll meet. LangChain for first prototypes. LangGraph when the prototype graduates to production — graph-based, explicit control. LlamaIndex if you're search-heavy. CrewAI for role-based multi-agent. AutoGen for research-style agent-to-agent dialogue. Semantic Kernel if you live in the Microsoft stack. They overlap heavily — choice is about ergonomics, not capability.</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LangGraph in sixty seconds. It models your agent as a state graph — nodes are functions that mutate state, edges describe transitions. Three nodes: planner, executor, validator. The interesting part is the conditional edge — if validator says done, go to END; otherwise loop back to planner. That's an entire agent in fifteen lines.</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Self-hosting stack at a glance. Top row — inference runtimes. vLLM for production GPU serving with PagedAttention and OpenAI-compatible API. Ollama for local dev — one binary, model library, dead simple. LiteLLM isn't strictly inference, it's a unified gateway letting you call any provider with one API. Bottom row — vector storage. FAISS is Meta's embedded library — runs inside your process, the default for in-memory search. pgvector if you already run Postgres — vectors live next to your application data. Turbopuffer for cheap scalable serverless — built on object storage like S3, you pay almost nothing when idle.</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pieces of the ecosystem that go together. Left: popular MCP servers — what people actually plug into their agents. Filesystem, GitHub, Postgres, Slack, Puppeteer for browser automation, Brave for web search. There's a huge community catalogue at modelcontextprotocol.io and you can write your own in fifty lines with FastMCP. Right: Anthropic open-sourced their internal skills on GitHub. Drop-in skills for pptx, pdf, docx, xlsx — production quality. And the SKILL.md files are the canonical reference for how to write your own skills.</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operational concerns. Left: observability. MLflow for open-source tracing and experiments. LangSmith — LangChain's commercial platform, de-facto if you're on their stack. Langfuse — open source, OpenTelemetry-native, what I'd pick for self-hosted today. Instrument from day one — you can't improve what you don't measure. Right: no-code automation. n8n is open-source and self-hostable, great for sensitive data. Zapier has the biggest catalogue and the easiest UX. Make.com gives you a visual canvas with serious branching power. Use them for prototypes and business-user flows; move to code for real agent loops.</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Eight things I wish someone had told me before shipping my first agent. Pick the smallest model that solves the task — Haiku before Sonnet before Opus. Cache prompts aggressively — saves fifty to ninety percent on bills. Log every tool call, every token. Human approval for destructive tools. Version prompts like code. Eval suite from day one. Set per-turn timeouts and retry budgets. And put a hard cost ceiling on each request — a kill switch when something runs away.</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628"/>
        </a:solidFill>
        <a:effectLst/>
      </p:bgPr>
    </p:bg>
    <p:spTree>
      <p:nvGrpSpPr>
        <p:cNvPr id="1" name=""/>
        <p:cNvGrpSpPr/>
        <p:nvPr/>
      </p:nvGrpSpPr>
      <p:grpSpPr>
        <a:xfrm>
          <a:off x="0" y="0"/>
          <a:ext cx="0" cy="0"/>
          <a:chOff x="0" y="0"/>
          <a:chExt cx="0" cy="0"/>
        </a:xfrm>
      </p:grpSpPr>
      <p:sp>
        <p:nvSpPr>
          <p:cNvPr id="3" name="Shape 0"/>
          <p:cNvSpPr/>
          <p:nvPr/>
        </p:nvSpPr>
        <p:spPr>
          <a:xfrm>
            <a:off x="-1828800" y="-1828800"/>
            <a:ext cx="5486400" cy="5486400"/>
          </a:xfrm>
          <a:prstGeom prst="ellipse">
            <a:avLst/>
          </a:prstGeom>
          <a:solidFill>
            <a:srgbClr val="1D4ED8">
              <a:alpha val="25000"/>
            </a:srgbClr>
          </a:solidFill>
          <a:ln w="12700">
            <a:solidFill>
              <a:srgbClr val="1D4ED8">
                <a:alpha val="0"/>
              </a:srgbClr>
            </a:solidFill>
            <a:prstDash val="solid"/>
          </a:ln>
        </p:spPr>
        <p:txBody>
          <a:bodyPr/>
          <a:lstStyle/>
          <a:p>
            <a:endParaRPr lang="en-GB"/>
          </a:p>
        </p:txBody>
      </p:sp>
      <p:sp>
        <p:nvSpPr>
          <p:cNvPr id="4" name="Shape 1"/>
          <p:cNvSpPr/>
          <p:nvPr/>
        </p:nvSpPr>
        <p:spPr>
          <a:xfrm>
            <a:off x="5943600" y="2286000"/>
            <a:ext cx="4572000" cy="4572000"/>
          </a:xfrm>
          <a:prstGeom prst="ellipse">
            <a:avLst/>
          </a:prstGeom>
          <a:solidFill>
            <a:srgbClr val="F97316">
              <a:alpha val="15000"/>
            </a:srgbClr>
          </a:solidFill>
          <a:ln w="12700">
            <a:solidFill>
              <a:srgbClr val="F97316">
                <a:alpha val="0"/>
              </a:srgbClr>
            </a:solidFill>
            <a:prstDash val="solid"/>
          </a:ln>
        </p:spPr>
        <p:txBody>
          <a:bodyPr/>
          <a:lstStyle/>
          <a:p>
            <a:endParaRPr lang="en-GB"/>
          </a:p>
        </p:txBody>
      </p:sp>
      <p:sp>
        <p:nvSpPr>
          <p:cNvPr id="5" name="Shape 2"/>
          <p:cNvSpPr/>
          <p:nvPr/>
        </p:nvSpPr>
        <p:spPr>
          <a:xfrm>
            <a:off x="640080" y="1417320"/>
            <a:ext cx="548640" cy="73152"/>
          </a:xfrm>
          <a:prstGeom prst="rect">
            <a:avLst/>
          </a:prstGeom>
          <a:solidFill>
            <a:srgbClr val="F97316"/>
          </a:solidFill>
          <a:ln w="12700">
            <a:solidFill>
              <a:srgbClr val="F97316"/>
            </a:solidFill>
            <a:prstDash val="solid"/>
          </a:ln>
        </p:spPr>
        <p:txBody>
          <a:bodyPr/>
          <a:lstStyle/>
          <a:p>
            <a:endParaRPr lang="en-GB"/>
          </a:p>
        </p:txBody>
      </p:sp>
      <p:sp>
        <p:nvSpPr>
          <p:cNvPr id="6" name="Text 3"/>
          <p:cNvSpPr/>
          <p:nvPr/>
        </p:nvSpPr>
        <p:spPr>
          <a:xfrm>
            <a:off x="640080" y="1554480"/>
            <a:ext cx="5486400" cy="274320"/>
          </a:xfrm>
          <a:prstGeom prst="rect">
            <a:avLst/>
          </a:prstGeom>
          <a:noFill/>
          <a:ln/>
        </p:spPr>
        <p:txBody>
          <a:bodyPr wrap="square" lIns="0" tIns="0" rIns="0" bIns="0" rtlCol="0" anchor="ctr"/>
          <a:lstStyle/>
          <a:p>
            <a:pPr marL="0" indent="0">
              <a:buNone/>
            </a:pPr>
            <a:endParaRPr lang="en-US" sz="1100" dirty="0"/>
          </a:p>
        </p:txBody>
      </p:sp>
      <p:sp>
        <p:nvSpPr>
          <p:cNvPr id="7" name="Text 4"/>
          <p:cNvSpPr/>
          <p:nvPr/>
        </p:nvSpPr>
        <p:spPr>
          <a:xfrm>
            <a:off x="640080" y="1874520"/>
            <a:ext cx="8229600" cy="1188720"/>
          </a:xfrm>
          <a:prstGeom prst="rect">
            <a:avLst/>
          </a:prstGeom>
          <a:noFill/>
          <a:ln/>
        </p:spPr>
        <p:txBody>
          <a:bodyPr wrap="square" lIns="0" tIns="0" rIns="0" bIns="0" rtlCol="0" anchor="ctr"/>
          <a:lstStyle/>
          <a:p>
            <a:pPr marL="0" indent="0">
              <a:buNone/>
            </a:pPr>
            <a:r>
              <a:rPr lang="en-US" sz="7200" b="1" dirty="0">
                <a:solidFill>
                  <a:srgbClr val="F8FAFC"/>
                </a:solidFill>
                <a:latin typeface="Calibri" pitchFamily="34" charset="0"/>
                <a:ea typeface="Calibri" pitchFamily="34" charset="-122"/>
                <a:cs typeface="Calibri" pitchFamily="34" charset="-120"/>
              </a:rPr>
              <a:t>Agentic AI</a:t>
            </a:r>
            <a:endParaRPr lang="en-US" sz="7200" dirty="0"/>
          </a:p>
        </p:txBody>
      </p:sp>
      <p:sp>
        <p:nvSpPr>
          <p:cNvPr id="8" name="Text 5"/>
          <p:cNvSpPr/>
          <p:nvPr/>
        </p:nvSpPr>
        <p:spPr>
          <a:xfrm>
            <a:off x="640080" y="3063240"/>
            <a:ext cx="8229600" cy="548640"/>
          </a:xfrm>
          <a:prstGeom prst="rect">
            <a:avLst/>
          </a:prstGeom>
          <a:noFill/>
          <a:ln/>
        </p:spPr>
        <p:txBody>
          <a:bodyPr wrap="square" lIns="0" tIns="0" rIns="0" bIns="0" rtlCol="0" anchor="ctr"/>
          <a:lstStyle/>
          <a:p>
            <a:pPr marL="0" indent="0">
              <a:buNone/>
            </a:pPr>
            <a:r>
              <a:rPr lang="en-US" sz="2400" dirty="0">
                <a:solidFill>
                  <a:srgbClr val="3B82F6"/>
                </a:solidFill>
                <a:latin typeface="Calibri" pitchFamily="34" charset="0"/>
                <a:ea typeface="Calibri" pitchFamily="34" charset="-122"/>
                <a:cs typeface="Calibri" pitchFamily="34" charset="-120"/>
              </a:rPr>
              <a:t>From LLMs to Autonomous Systems</a:t>
            </a:r>
            <a:endParaRPr lang="en-US" sz="2400" dirty="0"/>
          </a:p>
        </p:txBody>
      </p:sp>
      <p:sp>
        <p:nvSpPr>
          <p:cNvPr id="9" name="Shape 6"/>
          <p:cNvSpPr/>
          <p:nvPr/>
        </p:nvSpPr>
        <p:spPr>
          <a:xfrm>
            <a:off x="640080" y="4069080"/>
            <a:ext cx="457200" cy="0"/>
          </a:xfrm>
          <a:prstGeom prst="line">
            <a:avLst/>
          </a:prstGeom>
          <a:noFill/>
          <a:ln w="25400">
            <a:solidFill>
              <a:srgbClr val="F97316"/>
            </a:solidFill>
            <a:prstDash val="solid"/>
          </a:ln>
        </p:spPr>
        <p:txBody>
          <a:bodyPr/>
          <a:lstStyle/>
          <a:p>
            <a:endParaRPr lang="en-GB"/>
          </a:p>
        </p:txBody>
      </p:sp>
      <p:sp>
        <p:nvSpPr>
          <p:cNvPr id="10" name="Text 7"/>
          <p:cNvSpPr/>
          <p:nvPr/>
        </p:nvSpPr>
        <p:spPr>
          <a:xfrm>
            <a:off x="640080" y="4160520"/>
            <a:ext cx="5486400" cy="731520"/>
          </a:xfrm>
          <a:prstGeom prst="rect">
            <a:avLst/>
          </a:prstGeom>
          <a:noFill/>
          <a:ln/>
        </p:spPr>
        <p:txBody>
          <a:bodyPr wrap="square" lIns="0" tIns="0" rIns="0" bIns="0" rtlCol="0" anchor="ctr"/>
          <a:lstStyle/>
          <a:p>
            <a:pPr marL="0" indent="0">
              <a:buNone/>
            </a:pPr>
            <a:r>
              <a:rPr lang="en-US" sz="1400" b="1" dirty="0">
                <a:solidFill>
                  <a:srgbClr val="F8FAFC"/>
                </a:solidFill>
                <a:latin typeface="Calibri" pitchFamily="34" charset="0"/>
                <a:ea typeface="Calibri" pitchFamily="34" charset="-122"/>
                <a:cs typeface="Calibri" pitchFamily="34" charset="-120"/>
              </a:rPr>
              <a:t>Mohamed Rsaissi</a:t>
            </a:r>
            <a:endParaRPr lang="en-US" sz="1400" dirty="0"/>
          </a:p>
        </p:txBody>
      </p:sp>
      <p:sp>
        <p:nvSpPr>
          <p:cNvPr id="11" name="Shape 8"/>
          <p:cNvSpPr/>
          <p:nvPr/>
        </p:nvSpPr>
        <p:spPr>
          <a:xfrm>
            <a:off x="7680960" y="365760"/>
            <a:ext cx="1097280" cy="320040"/>
          </a:xfrm>
          <a:prstGeom prst="roundRect">
            <a:avLst>
              <a:gd name="adj" fmla="val 14286"/>
            </a:avLst>
          </a:prstGeom>
          <a:solidFill>
            <a:srgbClr val="11203A"/>
          </a:solidFill>
          <a:ln w="12700">
            <a:solidFill>
              <a:srgbClr val="1B2D4F"/>
            </a:solidFill>
            <a:prstDash val="solid"/>
          </a:ln>
        </p:spPr>
        <p:txBody>
          <a:bodyPr/>
          <a:lstStyle/>
          <a:p>
            <a:endParaRPr lang="en-GB"/>
          </a:p>
        </p:txBody>
      </p:sp>
      <p:sp>
        <p:nvSpPr>
          <p:cNvPr id="12" name="Text 9"/>
          <p:cNvSpPr/>
          <p:nvPr/>
        </p:nvSpPr>
        <p:spPr>
          <a:xfrm>
            <a:off x="7680960" y="365760"/>
            <a:ext cx="1097280" cy="320040"/>
          </a:xfrm>
          <a:prstGeom prst="rect">
            <a:avLst/>
          </a:prstGeom>
          <a:noFill/>
          <a:ln/>
        </p:spPr>
        <p:txBody>
          <a:bodyPr wrap="square" lIns="0" tIns="0" rIns="0" bIns="0" rtlCol="0" anchor="ctr"/>
          <a:lstStyle/>
          <a:p>
            <a:pPr marL="0" indent="0" algn="ctr">
              <a:buNone/>
            </a:pPr>
            <a:r>
              <a:rPr lang="en-US" sz="1000" dirty="0">
                <a:solidFill>
                  <a:srgbClr val="94A3B8"/>
                </a:solidFill>
                <a:latin typeface="Calibri" pitchFamily="34" charset="0"/>
                <a:ea typeface="Calibri" pitchFamily="34" charset="-122"/>
                <a:cs typeface="Calibri" pitchFamily="34" charset="-120"/>
              </a:rPr>
              <a:t>01 / 22</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1628"/>
        </a:solidFill>
        <a:effectLst/>
      </p:bgPr>
    </p:bg>
    <p:spTree>
      <p:nvGrpSpPr>
        <p:cNvPr id="1" name=""/>
        <p:cNvGrpSpPr/>
        <p:nvPr/>
      </p:nvGrpSpPr>
      <p:grpSpPr>
        <a:xfrm>
          <a:off x="0" y="0"/>
          <a:ext cx="0" cy="0"/>
          <a:chOff x="0" y="0"/>
          <a:chExt cx="0" cy="0"/>
        </a:xfrm>
      </p:grpSpPr>
      <p:sp>
        <p:nvSpPr>
          <p:cNvPr id="3" name="Shape 0"/>
          <p:cNvSpPr/>
          <p:nvPr/>
        </p:nvSpPr>
        <p:spPr>
          <a:xfrm>
            <a:off x="457200" y="411480"/>
            <a:ext cx="320040" cy="54864"/>
          </a:xfrm>
          <a:prstGeom prst="rect">
            <a:avLst/>
          </a:prstGeom>
          <a:solidFill>
            <a:srgbClr val="F97316"/>
          </a:solidFill>
          <a:ln w="12700">
            <a:solidFill>
              <a:srgbClr val="F97316"/>
            </a:solidFill>
            <a:prstDash val="solid"/>
          </a:ln>
        </p:spPr>
        <p:txBody>
          <a:bodyPr/>
          <a:lstStyle/>
          <a:p>
            <a:endParaRPr lang="en-GB"/>
          </a:p>
        </p:txBody>
      </p:sp>
      <p:sp>
        <p:nvSpPr>
          <p:cNvPr id="4" name="Text 1"/>
          <p:cNvSpPr/>
          <p:nvPr/>
        </p:nvSpPr>
        <p:spPr>
          <a:xfrm>
            <a:off x="868680" y="329184"/>
            <a:ext cx="5029200" cy="274320"/>
          </a:xfrm>
          <a:prstGeom prst="rect">
            <a:avLst/>
          </a:prstGeom>
          <a:noFill/>
          <a:ln/>
        </p:spPr>
        <p:txBody>
          <a:bodyPr wrap="square" lIns="0" tIns="0" rIns="0" bIns="0" rtlCol="0" anchor="ctr"/>
          <a:lstStyle/>
          <a:p>
            <a:pPr marL="0" indent="0">
              <a:buNone/>
            </a:pPr>
            <a:r>
              <a:rPr lang="en-US" sz="1000" b="1" kern="0" spc="400" dirty="0">
                <a:solidFill>
                  <a:srgbClr val="F97316"/>
                </a:solidFill>
                <a:latin typeface="Calibri" pitchFamily="34" charset="0"/>
                <a:ea typeface="Calibri" pitchFamily="34" charset="-122"/>
                <a:cs typeface="Calibri" pitchFamily="34" charset="-120"/>
              </a:rPr>
              <a:t>01 · INTRODUCTION</a:t>
            </a:r>
            <a:endParaRPr lang="en-US" sz="1000" dirty="0"/>
          </a:p>
        </p:txBody>
      </p:sp>
      <p:sp>
        <p:nvSpPr>
          <p:cNvPr id="5" name="Text 2"/>
          <p:cNvSpPr/>
          <p:nvPr/>
        </p:nvSpPr>
        <p:spPr>
          <a:xfrm>
            <a:off x="457200" y="640080"/>
            <a:ext cx="8229600" cy="822960"/>
          </a:xfrm>
          <a:prstGeom prst="rect">
            <a:avLst/>
          </a:prstGeom>
          <a:noFill/>
          <a:ln/>
        </p:spPr>
        <p:txBody>
          <a:bodyPr wrap="square" lIns="0" tIns="0" rIns="0" bIns="0" rtlCol="0" anchor="ctr"/>
          <a:lstStyle/>
          <a:p>
            <a:pPr marL="0" indent="0">
              <a:buNone/>
            </a:pPr>
            <a:r>
              <a:rPr lang="en-US" sz="3200" b="1" dirty="0">
                <a:solidFill>
                  <a:srgbClr val="F8FAFC"/>
                </a:solidFill>
                <a:latin typeface="Calibri" pitchFamily="34" charset="0"/>
                <a:ea typeface="Calibri" pitchFamily="34" charset="-122"/>
                <a:cs typeface="Calibri" pitchFamily="34" charset="-120"/>
              </a:rPr>
              <a:t>Who I Am</a:t>
            </a:r>
            <a:endParaRPr lang="en-US" sz="3200" dirty="0"/>
          </a:p>
        </p:txBody>
      </p:sp>
      <p:sp>
        <p:nvSpPr>
          <p:cNvPr id="6" name="Text 3"/>
          <p:cNvSpPr/>
          <p:nvPr/>
        </p:nvSpPr>
        <p:spPr>
          <a:xfrm>
            <a:off x="457200" y="4754880"/>
            <a:ext cx="4572000" cy="228600"/>
          </a:xfrm>
          <a:prstGeom prst="rect">
            <a:avLst/>
          </a:prstGeom>
          <a:noFill/>
          <a:ln/>
        </p:spPr>
        <p:txBody>
          <a:bodyPr wrap="square" lIns="0" tIns="0" rIns="0" bIns="0" rtlCol="0" anchor="ctr"/>
          <a:lstStyle/>
          <a:p>
            <a:pPr marL="0" indent="0">
              <a:buNone/>
            </a:pPr>
            <a:endParaRPr lang="en-US" sz="900" dirty="0"/>
          </a:p>
        </p:txBody>
      </p:sp>
      <p:sp>
        <p:nvSpPr>
          <p:cNvPr id="7" name="Shape 4"/>
          <p:cNvSpPr/>
          <p:nvPr/>
        </p:nvSpPr>
        <p:spPr>
          <a:xfrm>
            <a:off x="8275320" y="4818888"/>
            <a:ext cx="73152" cy="73152"/>
          </a:xfrm>
          <a:prstGeom prst="ellipse">
            <a:avLst/>
          </a:prstGeom>
          <a:solidFill>
            <a:srgbClr val="F97316"/>
          </a:solidFill>
          <a:ln w="12700">
            <a:solidFill>
              <a:srgbClr val="F97316"/>
            </a:solidFill>
            <a:prstDash val="solid"/>
          </a:ln>
        </p:spPr>
        <p:txBody>
          <a:bodyPr/>
          <a:lstStyle/>
          <a:p>
            <a:endParaRPr lang="en-GB"/>
          </a:p>
        </p:txBody>
      </p:sp>
      <p:sp>
        <p:nvSpPr>
          <p:cNvPr id="8" name="Text 5"/>
          <p:cNvSpPr/>
          <p:nvPr/>
        </p:nvSpPr>
        <p:spPr>
          <a:xfrm>
            <a:off x="8366760" y="4736592"/>
            <a:ext cx="685800" cy="228600"/>
          </a:xfrm>
          <a:prstGeom prst="rect">
            <a:avLst/>
          </a:prstGeom>
          <a:noFill/>
          <a:ln/>
        </p:spPr>
        <p:txBody>
          <a:bodyPr wrap="square" lIns="0" tIns="0" rIns="0" bIns="0" rtlCol="0" anchor="ctr"/>
          <a:lstStyle/>
          <a:p>
            <a:pPr marL="0" indent="0" algn="r">
              <a:buNone/>
            </a:pPr>
            <a:r>
              <a:rPr lang="en-US" sz="900" dirty="0">
                <a:solidFill>
                  <a:srgbClr val="94A3B8"/>
                </a:solidFill>
                <a:latin typeface="Calibri" pitchFamily="34" charset="0"/>
                <a:ea typeface="Calibri" pitchFamily="34" charset="-122"/>
                <a:cs typeface="Calibri" pitchFamily="34" charset="-120"/>
              </a:rPr>
              <a:t>02 / 21</a:t>
            </a:r>
            <a:endParaRPr lang="en-US" sz="900" dirty="0"/>
          </a:p>
        </p:txBody>
      </p:sp>
      <p:sp>
        <p:nvSpPr>
          <p:cNvPr id="9" name="Shape 6"/>
          <p:cNvSpPr/>
          <p:nvPr/>
        </p:nvSpPr>
        <p:spPr>
          <a:xfrm>
            <a:off x="640080" y="1828800"/>
            <a:ext cx="1828800" cy="1828800"/>
          </a:xfrm>
          <a:prstGeom prst="ellipse">
            <a:avLst/>
          </a:prstGeom>
          <a:solidFill>
            <a:srgbClr val="1D4ED8"/>
          </a:solidFill>
          <a:ln w="38100">
            <a:solidFill>
              <a:srgbClr val="3B82F6"/>
            </a:solidFill>
            <a:prstDash val="solid"/>
          </a:ln>
        </p:spPr>
        <p:txBody>
          <a:bodyPr/>
          <a:lstStyle/>
          <a:p>
            <a:endParaRPr lang="en-GB"/>
          </a:p>
        </p:txBody>
      </p:sp>
      <p:sp>
        <p:nvSpPr>
          <p:cNvPr id="10" name="Text 7"/>
          <p:cNvSpPr/>
          <p:nvPr/>
        </p:nvSpPr>
        <p:spPr>
          <a:xfrm>
            <a:off x="640080" y="1828800"/>
            <a:ext cx="1828800" cy="1828800"/>
          </a:xfrm>
          <a:prstGeom prst="rect">
            <a:avLst/>
          </a:prstGeom>
          <a:noFill/>
          <a:ln/>
        </p:spPr>
        <p:txBody>
          <a:bodyPr wrap="square" lIns="0" tIns="0" rIns="0" bIns="0" rtlCol="0" anchor="ctr"/>
          <a:lstStyle/>
          <a:p>
            <a:pPr marL="0" indent="0" algn="ctr">
              <a:buNone/>
            </a:pPr>
            <a:r>
              <a:rPr lang="en-US" sz="5400" b="1" dirty="0">
                <a:solidFill>
                  <a:srgbClr val="F8FAFC"/>
                </a:solidFill>
                <a:latin typeface="Calibri" pitchFamily="34" charset="0"/>
                <a:ea typeface="Calibri" pitchFamily="34" charset="-122"/>
                <a:cs typeface="Calibri" pitchFamily="34" charset="-120"/>
              </a:rPr>
              <a:t>MR</a:t>
            </a:r>
            <a:endParaRPr lang="en-US" sz="5400" dirty="0"/>
          </a:p>
        </p:txBody>
      </p:sp>
      <p:sp>
        <p:nvSpPr>
          <p:cNvPr id="11" name="Shape 8"/>
          <p:cNvSpPr/>
          <p:nvPr/>
        </p:nvSpPr>
        <p:spPr>
          <a:xfrm>
            <a:off x="2240280" y="3200400"/>
            <a:ext cx="411480" cy="411480"/>
          </a:xfrm>
          <a:prstGeom prst="ellipse">
            <a:avLst/>
          </a:prstGeom>
          <a:solidFill>
            <a:srgbClr val="F97316"/>
          </a:solidFill>
          <a:ln w="25400">
            <a:solidFill>
              <a:srgbClr val="0A1628"/>
            </a:solidFill>
            <a:prstDash val="solid"/>
          </a:ln>
        </p:spPr>
        <p:txBody>
          <a:bodyPr/>
          <a:lstStyle/>
          <a:p>
            <a:endParaRPr lang="en-GB"/>
          </a:p>
        </p:txBody>
      </p:sp>
      <p:sp>
        <p:nvSpPr>
          <p:cNvPr id="12" name="Shape 9"/>
          <p:cNvSpPr/>
          <p:nvPr/>
        </p:nvSpPr>
        <p:spPr>
          <a:xfrm>
            <a:off x="2926080" y="1737360"/>
            <a:ext cx="457200" cy="457200"/>
          </a:xfrm>
          <a:prstGeom prst="ellipse">
            <a:avLst/>
          </a:prstGeom>
          <a:solidFill>
            <a:srgbClr val="1D4ED8"/>
          </a:solidFill>
          <a:ln w="12700">
            <a:solidFill>
              <a:srgbClr val="1D4ED8"/>
            </a:solidFill>
            <a:prstDash val="solid"/>
          </a:ln>
        </p:spPr>
        <p:txBody>
          <a:bodyPr/>
          <a:lstStyle/>
          <a:p>
            <a:endParaRPr lang="en-GB"/>
          </a:p>
        </p:txBody>
      </p:sp>
      <p:sp>
        <p:nvSpPr>
          <p:cNvPr id="13" name="Text 10"/>
          <p:cNvSpPr/>
          <p:nvPr/>
        </p:nvSpPr>
        <p:spPr>
          <a:xfrm>
            <a:off x="2926080" y="1737360"/>
            <a:ext cx="457200" cy="457200"/>
          </a:xfrm>
          <a:prstGeom prst="rect">
            <a:avLst/>
          </a:prstGeom>
          <a:noFill/>
          <a:ln/>
        </p:spPr>
        <p:txBody>
          <a:bodyPr wrap="square" lIns="0" tIns="0" rIns="0" bIns="0" rtlCol="0" anchor="ctr"/>
          <a:lstStyle/>
          <a:p>
            <a:pPr marL="0" indent="0" algn="ctr">
              <a:buNone/>
            </a:pPr>
            <a:r>
              <a:rPr lang="en-US" sz="1600" b="1" dirty="0">
                <a:solidFill>
                  <a:srgbClr val="F8FAFC"/>
                </a:solidFill>
                <a:latin typeface="Calibri" pitchFamily="34" charset="0"/>
                <a:ea typeface="Calibri" pitchFamily="34" charset="-122"/>
                <a:cs typeface="Calibri" pitchFamily="34" charset="-120"/>
              </a:rPr>
              <a:t>🎓</a:t>
            </a:r>
            <a:endParaRPr lang="en-US" sz="1600" dirty="0"/>
          </a:p>
        </p:txBody>
      </p:sp>
      <p:sp>
        <p:nvSpPr>
          <p:cNvPr id="14" name="Text 11"/>
          <p:cNvSpPr/>
          <p:nvPr/>
        </p:nvSpPr>
        <p:spPr>
          <a:xfrm>
            <a:off x="3566160" y="1737360"/>
            <a:ext cx="5212080" cy="274320"/>
          </a:xfrm>
          <a:prstGeom prst="rect">
            <a:avLst/>
          </a:prstGeom>
          <a:noFill/>
          <a:ln/>
        </p:spPr>
        <p:txBody>
          <a:bodyPr wrap="square" lIns="0" tIns="0" rIns="0" bIns="0" rtlCol="0" anchor="ctr"/>
          <a:lstStyle/>
          <a:p>
            <a:pPr marL="0" indent="0">
              <a:buNone/>
            </a:pPr>
            <a:r>
              <a:rPr lang="en-US" sz="1400" b="1" dirty="0">
                <a:solidFill>
                  <a:srgbClr val="F8FAFC"/>
                </a:solidFill>
                <a:latin typeface="Calibri" pitchFamily="34" charset="0"/>
                <a:ea typeface="Calibri" pitchFamily="34" charset="-122"/>
                <a:cs typeface="Calibri" pitchFamily="34" charset="-120"/>
              </a:rPr>
              <a:t>Final-year Apprentice</a:t>
            </a:r>
            <a:endParaRPr lang="en-US" sz="1400" dirty="0"/>
          </a:p>
        </p:txBody>
      </p:sp>
      <p:sp>
        <p:nvSpPr>
          <p:cNvPr id="15" name="Text 12"/>
          <p:cNvSpPr/>
          <p:nvPr/>
        </p:nvSpPr>
        <p:spPr>
          <a:xfrm>
            <a:off x="3566160" y="1993392"/>
            <a:ext cx="5212080" cy="274320"/>
          </a:xfrm>
          <a:prstGeom prst="rect">
            <a:avLst/>
          </a:prstGeom>
          <a:noFill/>
          <a:ln/>
        </p:spPr>
        <p:txBody>
          <a:bodyPr wrap="square" lIns="0" tIns="0" rIns="0" bIns="0" rtlCol="0" anchor="ctr"/>
          <a:lstStyle/>
          <a:p>
            <a:pPr marL="0" indent="0">
              <a:buNone/>
            </a:pPr>
            <a:r>
              <a:rPr lang="en-US" sz="1100" dirty="0">
                <a:solidFill>
                  <a:srgbClr val="94A3B8"/>
                </a:solidFill>
                <a:latin typeface="Calibri" pitchFamily="34" charset="0"/>
                <a:ea typeface="Calibri" pitchFamily="34" charset="-122"/>
                <a:cs typeface="Calibri" pitchFamily="34" charset="-120"/>
              </a:rPr>
              <a:t>Mines </a:t>
            </a:r>
            <a:r>
              <a:rPr lang="en-US" sz="1100" dirty="0" err="1">
                <a:solidFill>
                  <a:srgbClr val="94A3B8"/>
                </a:solidFill>
                <a:latin typeface="Calibri" pitchFamily="34" charset="0"/>
                <a:ea typeface="Calibri" pitchFamily="34" charset="-122"/>
                <a:cs typeface="Calibri" pitchFamily="34" charset="-120"/>
              </a:rPr>
              <a:t>Télécom</a:t>
            </a:r>
            <a:r>
              <a:rPr lang="en-US" sz="1100" dirty="0">
                <a:solidFill>
                  <a:srgbClr val="94A3B8"/>
                </a:solidFill>
                <a:latin typeface="Calibri" pitchFamily="34" charset="0"/>
                <a:ea typeface="Calibri" pitchFamily="34" charset="-122"/>
                <a:cs typeface="Calibri" pitchFamily="34" charset="-120"/>
              </a:rPr>
              <a:t> Saint-Étienne</a:t>
            </a:r>
            <a:endParaRPr lang="en-US" sz="1100" dirty="0"/>
          </a:p>
        </p:txBody>
      </p:sp>
      <p:sp>
        <p:nvSpPr>
          <p:cNvPr id="16" name="Shape 13"/>
          <p:cNvSpPr/>
          <p:nvPr/>
        </p:nvSpPr>
        <p:spPr>
          <a:xfrm>
            <a:off x="2926080" y="2450592"/>
            <a:ext cx="457200" cy="457200"/>
          </a:xfrm>
          <a:prstGeom prst="ellipse">
            <a:avLst/>
          </a:prstGeom>
          <a:solidFill>
            <a:srgbClr val="1D4ED8"/>
          </a:solidFill>
          <a:ln w="12700">
            <a:solidFill>
              <a:srgbClr val="1D4ED8"/>
            </a:solidFill>
            <a:prstDash val="solid"/>
          </a:ln>
        </p:spPr>
        <p:txBody>
          <a:bodyPr/>
          <a:lstStyle/>
          <a:p>
            <a:endParaRPr lang="en-GB"/>
          </a:p>
        </p:txBody>
      </p:sp>
      <p:sp>
        <p:nvSpPr>
          <p:cNvPr id="17" name="Text 14"/>
          <p:cNvSpPr/>
          <p:nvPr/>
        </p:nvSpPr>
        <p:spPr>
          <a:xfrm>
            <a:off x="2926080" y="2450592"/>
            <a:ext cx="457200" cy="457200"/>
          </a:xfrm>
          <a:prstGeom prst="rect">
            <a:avLst/>
          </a:prstGeom>
          <a:noFill/>
          <a:ln/>
        </p:spPr>
        <p:txBody>
          <a:bodyPr wrap="square" lIns="0" tIns="0" rIns="0" bIns="0" rtlCol="0" anchor="ctr"/>
          <a:lstStyle/>
          <a:p>
            <a:pPr marL="0" indent="0" algn="ctr">
              <a:buNone/>
            </a:pPr>
            <a:r>
              <a:rPr lang="en-US" sz="1600" b="1" dirty="0">
                <a:solidFill>
                  <a:srgbClr val="F8FAFC"/>
                </a:solidFill>
                <a:latin typeface="Calibri" pitchFamily="34" charset="0"/>
                <a:ea typeface="Calibri" pitchFamily="34" charset="-122"/>
                <a:cs typeface="Calibri" pitchFamily="34" charset="-120"/>
              </a:rPr>
              <a:t>💼</a:t>
            </a:r>
            <a:endParaRPr lang="en-US" sz="1600" dirty="0"/>
          </a:p>
        </p:txBody>
      </p:sp>
      <p:sp>
        <p:nvSpPr>
          <p:cNvPr id="18" name="Text 15"/>
          <p:cNvSpPr/>
          <p:nvPr/>
        </p:nvSpPr>
        <p:spPr>
          <a:xfrm>
            <a:off x="3566160" y="2450592"/>
            <a:ext cx="5212080" cy="274320"/>
          </a:xfrm>
          <a:prstGeom prst="rect">
            <a:avLst/>
          </a:prstGeom>
          <a:noFill/>
          <a:ln/>
        </p:spPr>
        <p:txBody>
          <a:bodyPr wrap="square" lIns="0" tIns="0" rIns="0" bIns="0" rtlCol="0" anchor="ctr"/>
          <a:lstStyle/>
          <a:p>
            <a:pPr marL="0" indent="0">
              <a:buNone/>
            </a:pPr>
            <a:r>
              <a:rPr lang="en-US" sz="1400" b="1" dirty="0">
                <a:solidFill>
                  <a:srgbClr val="F8FAFC"/>
                </a:solidFill>
                <a:latin typeface="Calibri" pitchFamily="34" charset="0"/>
                <a:ea typeface="Calibri" pitchFamily="34" charset="-122"/>
                <a:cs typeface="Calibri" pitchFamily="34" charset="-120"/>
              </a:rPr>
              <a:t>GenAI Engineer</a:t>
            </a:r>
            <a:endParaRPr lang="en-US" sz="1400" dirty="0"/>
          </a:p>
        </p:txBody>
      </p:sp>
      <p:sp>
        <p:nvSpPr>
          <p:cNvPr id="19" name="Text 16"/>
          <p:cNvSpPr/>
          <p:nvPr/>
        </p:nvSpPr>
        <p:spPr>
          <a:xfrm>
            <a:off x="3566160" y="2706624"/>
            <a:ext cx="5212080" cy="274320"/>
          </a:xfrm>
          <a:prstGeom prst="rect">
            <a:avLst/>
          </a:prstGeom>
          <a:noFill/>
          <a:ln/>
        </p:spPr>
        <p:txBody>
          <a:bodyPr wrap="square" lIns="0" tIns="0" rIns="0" bIns="0" rtlCol="0" anchor="ctr"/>
          <a:lstStyle/>
          <a:p>
            <a:pPr marL="0" indent="0">
              <a:buNone/>
            </a:pPr>
            <a:r>
              <a:rPr lang="en-US" sz="1100" dirty="0">
                <a:solidFill>
                  <a:srgbClr val="94A3B8"/>
                </a:solidFill>
                <a:latin typeface="Calibri" pitchFamily="34" charset="0"/>
                <a:ea typeface="Calibri" pitchFamily="34" charset="-122"/>
                <a:cs typeface="Calibri" pitchFamily="34" charset="-120"/>
              </a:rPr>
              <a:t>Amadeus </a:t>
            </a:r>
            <a:endParaRPr lang="en-US" sz="1100" dirty="0"/>
          </a:p>
        </p:txBody>
      </p:sp>
      <p:sp>
        <p:nvSpPr>
          <p:cNvPr id="20" name="Shape 17"/>
          <p:cNvSpPr/>
          <p:nvPr/>
        </p:nvSpPr>
        <p:spPr>
          <a:xfrm>
            <a:off x="2926080" y="3163824"/>
            <a:ext cx="457200" cy="457200"/>
          </a:xfrm>
          <a:prstGeom prst="ellipse">
            <a:avLst/>
          </a:prstGeom>
          <a:solidFill>
            <a:srgbClr val="1D4ED8"/>
          </a:solidFill>
          <a:ln w="12700">
            <a:solidFill>
              <a:srgbClr val="1D4ED8"/>
            </a:solidFill>
            <a:prstDash val="solid"/>
          </a:ln>
        </p:spPr>
        <p:txBody>
          <a:bodyPr/>
          <a:lstStyle/>
          <a:p>
            <a:endParaRPr lang="en-GB"/>
          </a:p>
        </p:txBody>
      </p:sp>
      <p:sp>
        <p:nvSpPr>
          <p:cNvPr id="21" name="Text 18"/>
          <p:cNvSpPr/>
          <p:nvPr/>
        </p:nvSpPr>
        <p:spPr>
          <a:xfrm>
            <a:off x="2926080" y="3163824"/>
            <a:ext cx="457200" cy="457200"/>
          </a:xfrm>
          <a:prstGeom prst="rect">
            <a:avLst/>
          </a:prstGeom>
          <a:noFill/>
          <a:ln/>
        </p:spPr>
        <p:txBody>
          <a:bodyPr wrap="square" lIns="0" tIns="0" rIns="0" bIns="0" rtlCol="0" anchor="ctr"/>
          <a:lstStyle/>
          <a:p>
            <a:pPr marL="0" indent="0" algn="ctr">
              <a:buNone/>
            </a:pPr>
            <a:r>
              <a:rPr lang="en-US" sz="1600" b="1" dirty="0">
                <a:solidFill>
                  <a:srgbClr val="F8FAFC"/>
                </a:solidFill>
                <a:latin typeface="Calibri" pitchFamily="34" charset="0"/>
                <a:ea typeface="Calibri" pitchFamily="34" charset="-122"/>
                <a:cs typeface="Calibri" pitchFamily="34" charset="-120"/>
              </a:rPr>
              <a:t>⚙️</a:t>
            </a:r>
            <a:endParaRPr lang="en-US" sz="1600" dirty="0"/>
          </a:p>
        </p:txBody>
      </p:sp>
      <p:sp>
        <p:nvSpPr>
          <p:cNvPr id="22" name="Text 19"/>
          <p:cNvSpPr/>
          <p:nvPr/>
        </p:nvSpPr>
        <p:spPr>
          <a:xfrm>
            <a:off x="3566160" y="3163824"/>
            <a:ext cx="5212080" cy="274320"/>
          </a:xfrm>
          <a:prstGeom prst="rect">
            <a:avLst/>
          </a:prstGeom>
          <a:noFill/>
          <a:ln/>
        </p:spPr>
        <p:txBody>
          <a:bodyPr wrap="square" lIns="0" tIns="0" rIns="0" bIns="0" rtlCol="0" anchor="ctr"/>
          <a:lstStyle/>
          <a:p>
            <a:pPr marL="0" indent="0">
              <a:buNone/>
            </a:pPr>
            <a:r>
              <a:rPr lang="en-US" sz="1400" b="1" dirty="0">
                <a:solidFill>
                  <a:srgbClr val="F8FAFC"/>
                </a:solidFill>
                <a:latin typeface="Calibri" pitchFamily="34" charset="0"/>
                <a:ea typeface="Calibri" pitchFamily="34" charset="-122"/>
                <a:cs typeface="Calibri" pitchFamily="34" charset="-120"/>
              </a:rPr>
              <a:t>Stack</a:t>
            </a:r>
            <a:endParaRPr lang="en-US" sz="1400" dirty="0"/>
          </a:p>
        </p:txBody>
      </p:sp>
      <p:sp>
        <p:nvSpPr>
          <p:cNvPr id="23" name="Text 20"/>
          <p:cNvSpPr/>
          <p:nvPr/>
        </p:nvSpPr>
        <p:spPr>
          <a:xfrm>
            <a:off x="3566160" y="3419856"/>
            <a:ext cx="5212080" cy="274320"/>
          </a:xfrm>
          <a:prstGeom prst="rect">
            <a:avLst/>
          </a:prstGeom>
          <a:noFill/>
          <a:ln/>
        </p:spPr>
        <p:txBody>
          <a:bodyPr wrap="square" lIns="0" tIns="0" rIns="0" bIns="0" rtlCol="0" anchor="ctr"/>
          <a:lstStyle/>
          <a:p>
            <a:pPr marL="0" indent="0">
              <a:buNone/>
            </a:pPr>
            <a:r>
              <a:rPr lang="en-US" sz="1100" dirty="0">
                <a:solidFill>
                  <a:srgbClr val="94A3B8"/>
                </a:solidFill>
                <a:latin typeface="Calibri" pitchFamily="34" charset="0"/>
                <a:ea typeface="Calibri" pitchFamily="34" charset="-122"/>
                <a:cs typeface="Calibri" pitchFamily="34" charset="-120"/>
              </a:rPr>
              <a:t>Azure AI Foundry · LangGraph · MCP · RAG · K8s</a:t>
            </a:r>
            <a:endParaRPr lang="en-US" sz="1100" dirty="0"/>
          </a:p>
        </p:txBody>
      </p:sp>
      <p:sp>
        <p:nvSpPr>
          <p:cNvPr id="24" name="Shape 21"/>
          <p:cNvSpPr/>
          <p:nvPr/>
        </p:nvSpPr>
        <p:spPr>
          <a:xfrm>
            <a:off x="2926080" y="3877056"/>
            <a:ext cx="457200" cy="457200"/>
          </a:xfrm>
          <a:prstGeom prst="ellipse">
            <a:avLst/>
          </a:prstGeom>
          <a:solidFill>
            <a:srgbClr val="1D4ED8"/>
          </a:solidFill>
          <a:ln w="12700">
            <a:solidFill>
              <a:srgbClr val="1D4ED8"/>
            </a:solidFill>
            <a:prstDash val="solid"/>
          </a:ln>
        </p:spPr>
        <p:txBody>
          <a:bodyPr/>
          <a:lstStyle/>
          <a:p>
            <a:endParaRPr lang="en-GB"/>
          </a:p>
        </p:txBody>
      </p:sp>
      <p:sp>
        <p:nvSpPr>
          <p:cNvPr id="25" name="Text 22"/>
          <p:cNvSpPr/>
          <p:nvPr/>
        </p:nvSpPr>
        <p:spPr>
          <a:xfrm>
            <a:off x="2926080" y="3877056"/>
            <a:ext cx="457200" cy="457200"/>
          </a:xfrm>
          <a:prstGeom prst="rect">
            <a:avLst/>
          </a:prstGeom>
          <a:noFill/>
          <a:ln/>
        </p:spPr>
        <p:txBody>
          <a:bodyPr wrap="square" lIns="0" tIns="0" rIns="0" bIns="0" rtlCol="0" anchor="ctr"/>
          <a:lstStyle/>
          <a:p>
            <a:pPr marL="0" indent="0" algn="ctr">
              <a:buNone/>
            </a:pPr>
            <a:r>
              <a:rPr lang="en-US" sz="1600" b="1" dirty="0">
                <a:solidFill>
                  <a:srgbClr val="F8FAFC"/>
                </a:solidFill>
                <a:latin typeface="Calibri" pitchFamily="34" charset="0"/>
                <a:ea typeface="Calibri" pitchFamily="34" charset="-122"/>
                <a:cs typeface="Calibri" pitchFamily="34" charset="-120"/>
              </a:rPr>
              <a:t>🚀</a:t>
            </a:r>
            <a:endParaRPr lang="en-US" sz="1600" dirty="0"/>
          </a:p>
        </p:txBody>
      </p:sp>
      <p:sp>
        <p:nvSpPr>
          <p:cNvPr id="26" name="Text 23"/>
          <p:cNvSpPr/>
          <p:nvPr/>
        </p:nvSpPr>
        <p:spPr>
          <a:xfrm>
            <a:off x="3566160" y="3986784"/>
            <a:ext cx="5212080" cy="274320"/>
          </a:xfrm>
          <a:prstGeom prst="rect">
            <a:avLst/>
          </a:prstGeom>
          <a:noFill/>
          <a:ln/>
        </p:spPr>
        <p:txBody>
          <a:bodyPr wrap="square" lIns="0" tIns="0" rIns="0" bIns="0" rtlCol="0" anchor="ctr"/>
          <a:lstStyle/>
          <a:p>
            <a:pPr marL="0" indent="0">
              <a:buNone/>
            </a:pPr>
            <a:r>
              <a:rPr lang="en-US" sz="1400" b="1" dirty="0">
                <a:solidFill>
                  <a:srgbClr val="F8FAFC"/>
                </a:solidFill>
                <a:latin typeface="Calibri" pitchFamily="34" charset="0"/>
                <a:ea typeface="Calibri" pitchFamily="34" charset="-122"/>
                <a:cs typeface="Calibri" pitchFamily="34" charset="-120"/>
              </a:rPr>
              <a:t>Azure certified AI engineer associate</a:t>
            </a:r>
            <a:endParaRPr lang="en-US" sz="1400" dirty="0"/>
          </a:p>
        </p:txBody>
      </p:sp>
      <p:sp>
        <p:nvSpPr>
          <p:cNvPr id="27" name="Text 24"/>
          <p:cNvSpPr/>
          <p:nvPr/>
        </p:nvSpPr>
        <p:spPr>
          <a:xfrm>
            <a:off x="3566160" y="4133088"/>
            <a:ext cx="5212080" cy="274320"/>
          </a:xfrm>
          <a:prstGeom prst="rect">
            <a:avLst/>
          </a:prstGeom>
          <a:noFill/>
          <a:ln/>
        </p:spPr>
        <p:txBody>
          <a:bodyPr wrap="square" lIns="0" tIns="0" rIns="0" bIns="0" rtlCol="0" anchor="ctr"/>
          <a:lstStyle/>
          <a:p>
            <a:pPr marL="0" indent="0">
              <a:buNone/>
            </a:pP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1628"/>
        </a:solidFill>
        <a:effectLst/>
      </p:bgPr>
    </p:bg>
    <p:spTree>
      <p:nvGrpSpPr>
        <p:cNvPr id="1" name=""/>
        <p:cNvGrpSpPr/>
        <p:nvPr/>
      </p:nvGrpSpPr>
      <p:grpSpPr>
        <a:xfrm>
          <a:off x="0" y="0"/>
          <a:ext cx="0" cy="0"/>
          <a:chOff x="0" y="0"/>
          <a:chExt cx="0" cy="0"/>
        </a:xfrm>
      </p:grpSpPr>
      <p:sp>
        <p:nvSpPr>
          <p:cNvPr id="3" name="Shape 0"/>
          <p:cNvSpPr/>
          <p:nvPr/>
        </p:nvSpPr>
        <p:spPr>
          <a:xfrm>
            <a:off x="457200" y="411480"/>
            <a:ext cx="320040" cy="54864"/>
          </a:xfrm>
          <a:prstGeom prst="rect">
            <a:avLst/>
          </a:prstGeom>
          <a:solidFill>
            <a:srgbClr val="F97316"/>
          </a:solidFill>
          <a:ln w="12700">
            <a:solidFill>
              <a:srgbClr val="F97316"/>
            </a:solidFill>
            <a:prstDash val="solid"/>
          </a:ln>
        </p:spPr>
        <p:txBody>
          <a:bodyPr/>
          <a:lstStyle/>
          <a:p>
            <a:endParaRPr lang="en-GB"/>
          </a:p>
        </p:txBody>
      </p:sp>
      <p:sp>
        <p:nvSpPr>
          <p:cNvPr id="4" name="Text 1"/>
          <p:cNvSpPr/>
          <p:nvPr/>
        </p:nvSpPr>
        <p:spPr>
          <a:xfrm>
            <a:off x="868680" y="329184"/>
            <a:ext cx="5029200" cy="274320"/>
          </a:xfrm>
          <a:prstGeom prst="rect">
            <a:avLst/>
          </a:prstGeom>
          <a:noFill/>
          <a:ln/>
        </p:spPr>
        <p:txBody>
          <a:bodyPr wrap="square" lIns="0" tIns="0" rIns="0" bIns="0" rtlCol="0" anchor="ctr"/>
          <a:lstStyle/>
          <a:p>
            <a:pPr marL="0" indent="0">
              <a:buNone/>
            </a:pPr>
            <a:r>
              <a:rPr lang="en-US" sz="1000" b="1" kern="0" spc="400" dirty="0">
                <a:solidFill>
                  <a:srgbClr val="F97316"/>
                </a:solidFill>
                <a:latin typeface="Calibri" pitchFamily="34" charset="0"/>
                <a:ea typeface="Calibri" pitchFamily="34" charset="-122"/>
                <a:cs typeface="Calibri" pitchFamily="34" charset="-120"/>
              </a:rPr>
              <a:t>01 · INTRODUCTION</a:t>
            </a:r>
            <a:endParaRPr lang="en-US" sz="1000" dirty="0"/>
          </a:p>
        </p:txBody>
      </p:sp>
      <p:sp>
        <p:nvSpPr>
          <p:cNvPr id="5" name="Text 2"/>
          <p:cNvSpPr/>
          <p:nvPr/>
        </p:nvSpPr>
        <p:spPr>
          <a:xfrm>
            <a:off x="457200" y="640080"/>
            <a:ext cx="8229600" cy="822960"/>
          </a:xfrm>
          <a:prstGeom prst="rect">
            <a:avLst/>
          </a:prstGeom>
          <a:noFill/>
          <a:ln/>
        </p:spPr>
        <p:txBody>
          <a:bodyPr wrap="square" lIns="0" tIns="0" rIns="0" bIns="0" rtlCol="0" anchor="ctr"/>
          <a:lstStyle/>
          <a:p>
            <a:pPr marL="0" indent="0">
              <a:buNone/>
            </a:pPr>
            <a:r>
              <a:rPr lang="en-US" sz="3200" b="1" dirty="0">
                <a:solidFill>
                  <a:srgbClr val="F8FAFC"/>
                </a:solidFill>
                <a:latin typeface="Calibri" pitchFamily="34" charset="0"/>
                <a:ea typeface="Calibri" pitchFamily="34" charset="-122"/>
                <a:cs typeface="Calibri" pitchFamily="34" charset="-120"/>
              </a:rPr>
              <a:t>Projects in Agentic AI</a:t>
            </a:r>
            <a:endParaRPr lang="en-US" sz="3200" dirty="0"/>
          </a:p>
        </p:txBody>
      </p:sp>
      <p:sp>
        <p:nvSpPr>
          <p:cNvPr id="6" name="Text 3"/>
          <p:cNvSpPr/>
          <p:nvPr/>
        </p:nvSpPr>
        <p:spPr>
          <a:xfrm>
            <a:off x="457200" y="4754880"/>
            <a:ext cx="4572000" cy="228600"/>
          </a:xfrm>
          <a:prstGeom prst="rect">
            <a:avLst/>
          </a:prstGeom>
          <a:noFill/>
          <a:ln/>
        </p:spPr>
        <p:txBody>
          <a:bodyPr wrap="square" lIns="0" tIns="0" rIns="0" bIns="0" rtlCol="0" anchor="ctr"/>
          <a:lstStyle/>
          <a:p>
            <a:pPr marL="0" indent="0">
              <a:buNone/>
            </a:pPr>
            <a:endParaRPr lang="en-US" sz="900" dirty="0"/>
          </a:p>
        </p:txBody>
      </p:sp>
      <p:sp>
        <p:nvSpPr>
          <p:cNvPr id="7" name="Shape 4"/>
          <p:cNvSpPr/>
          <p:nvPr/>
        </p:nvSpPr>
        <p:spPr>
          <a:xfrm>
            <a:off x="8275320" y="4818888"/>
            <a:ext cx="73152" cy="73152"/>
          </a:xfrm>
          <a:prstGeom prst="ellipse">
            <a:avLst/>
          </a:prstGeom>
          <a:solidFill>
            <a:srgbClr val="F97316"/>
          </a:solidFill>
          <a:ln w="12700">
            <a:solidFill>
              <a:srgbClr val="F97316"/>
            </a:solidFill>
            <a:prstDash val="solid"/>
          </a:ln>
        </p:spPr>
        <p:txBody>
          <a:bodyPr/>
          <a:lstStyle/>
          <a:p>
            <a:endParaRPr lang="en-GB"/>
          </a:p>
        </p:txBody>
      </p:sp>
      <p:sp>
        <p:nvSpPr>
          <p:cNvPr id="8" name="Text 5"/>
          <p:cNvSpPr/>
          <p:nvPr/>
        </p:nvSpPr>
        <p:spPr>
          <a:xfrm>
            <a:off x="8366760" y="4736592"/>
            <a:ext cx="685800" cy="228600"/>
          </a:xfrm>
          <a:prstGeom prst="rect">
            <a:avLst/>
          </a:prstGeom>
          <a:noFill/>
          <a:ln/>
        </p:spPr>
        <p:txBody>
          <a:bodyPr wrap="square" lIns="0" tIns="0" rIns="0" bIns="0" rtlCol="0" anchor="ctr"/>
          <a:lstStyle/>
          <a:p>
            <a:pPr marL="0" indent="0" algn="r">
              <a:buNone/>
            </a:pPr>
            <a:r>
              <a:rPr lang="en-US" sz="900" dirty="0">
                <a:solidFill>
                  <a:srgbClr val="94A3B8"/>
                </a:solidFill>
                <a:latin typeface="Calibri" pitchFamily="34" charset="0"/>
                <a:ea typeface="Calibri" pitchFamily="34" charset="-122"/>
                <a:cs typeface="Calibri" pitchFamily="34" charset="-120"/>
              </a:rPr>
              <a:t>03 / 21</a:t>
            </a:r>
            <a:endParaRPr lang="en-US" sz="900" dirty="0"/>
          </a:p>
        </p:txBody>
      </p:sp>
      <p:sp>
        <p:nvSpPr>
          <p:cNvPr id="9" name="Shape 6"/>
          <p:cNvSpPr/>
          <p:nvPr/>
        </p:nvSpPr>
        <p:spPr>
          <a:xfrm>
            <a:off x="361188" y="1554480"/>
            <a:ext cx="2697480" cy="1508760"/>
          </a:xfrm>
          <a:prstGeom prst="roundRect">
            <a:avLst>
              <a:gd name="adj" fmla="val 4848"/>
            </a:avLst>
          </a:prstGeom>
          <a:solidFill>
            <a:srgbClr val="11203A"/>
          </a:solidFill>
          <a:ln w="12700">
            <a:solidFill>
              <a:srgbClr val="1B2D4F"/>
            </a:solidFill>
            <a:prstDash val="solid"/>
          </a:ln>
          <a:effectLst>
            <a:outerShdw blurRad="101600" dist="25400" dir="8100000" algn="bl" rotWithShape="0">
              <a:srgbClr val="000000">
                <a:alpha val="25000"/>
              </a:srgbClr>
            </a:outerShdw>
          </a:effectLst>
        </p:spPr>
        <p:txBody>
          <a:bodyPr/>
          <a:lstStyle/>
          <a:p>
            <a:endParaRPr lang="en-GB"/>
          </a:p>
        </p:txBody>
      </p:sp>
      <p:sp>
        <p:nvSpPr>
          <p:cNvPr id="10" name="Shape 7"/>
          <p:cNvSpPr/>
          <p:nvPr/>
        </p:nvSpPr>
        <p:spPr>
          <a:xfrm>
            <a:off x="361188" y="1554480"/>
            <a:ext cx="64008" cy="1508760"/>
          </a:xfrm>
          <a:prstGeom prst="rect">
            <a:avLst/>
          </a:prstGeom>
          <a:solidFill>
            <a:srgbClr val="F97316"/>
          </a:solidFill>
          <a:ln w="12700">
            <a:solidFill>
              <a:srgbClr val="F97316"/>
            </a:solidFill>
            <a:prstDash val="solid"/>
          </a:ln>
        </p:spPr>
        <p:txBody>
          <a:bodyPr/>
          <a:lstStyle/>
          <a:p>
            <a:endParaRPr lang="en-GB"/>
          </a:p>
        </p:txBody>
      </p:sp>
      <p:sp>
        <p:nvSpPr>
          <p:cNvPr id="11" name="Shape 8"/>
          <p:cNvSpPr/>
          <p:nvPr/>
        </p:nvSpPr>
        <p:spPr>
          <a:xfrm>
            <a:off x="544068" y="1719072"/>
            <a:ext cx="457200" cy="457200"/>
          </a:xfrm>
          <a:prstGeom prst="ellipse">
            <a:avLst/>
          </a:prstGeom>
          <a:solidFill>
            <a:srgbClr val="1D4ED8"/>
          </a:solidFill>
          <a:ln w="12700">
            <a:solidFill>
              <a:srgbClr val="1D4ED8"/>
            </a:solidFill>
            <a:prstDash val="solid"/>
          </a:ln>
        </p:spPr>
        <p:txBody>
          <a:bodyPr/>
          <a:lstStyle/>
          <a:p>
            <a:endParaRPr lang="en-GB"/>
          </a:p>
        </p:txBody>
      </p:sp>
      <p:sp>
        <p:nvSpPr>
          <p:cNvPr id="12" name="Text 9"/>
          <p:cNvSpPr/>
          <p:nvPr/>
        </p:nvSpPr>
        <p:spPr>
          <a:xfrm>
            <a:off x="544068" y="1719072"/>
            <a:ext cx="457200" cy="457200"/>
          </a:xfrm>
          <a:prstGeom prst="rect">
            <a:avLst/>
          </a:prstGeom>
          <a:noFill/>
          <a:ln/>
        </p:spPr>
        <p:txBody>
          <a:bodyPr wrap="square" lIns="0" tIns="0" rIns="0" bIns="0" rtlCol="0" anchor="ctr"/>
          <a:lstStyle/>
          <a:p>
            <a:pPr marL="0" indent="0" algn="ctr">
              <a:buNone/>
            </a:pPr>
            <a:r>
              <a:rPr lang="en-US" sz="1600" b="1" dirty="0">
                <a:solidFill>
                  <a:srgbClr val="F8FAFC"/>
                </a:solidFill>
                <a:latin typeface="Calibri" pitchFamily="34" charset="0"/>
                <a:ea typeface="Calibri" pitchFamily="34" charset="-122"/>
                <a:cs typeface="Calibri" pitchFamily="34" charset="-120"/>
              </a:rPr>
              <a:t>🛡️</a:t>
            </a:r>
            <a:endParaRPr lang="en-US" sz="1600" dirty="0"/>
          </a:p>
        </p:txBody>
      </p:sp>
      <p:sp>
        <p:nvSpPr>
          <p:cNvPr id="13" name="Text 10"/>
          <p:cNvSpPr/>
          <p:nvPr/>
        </p:nvSpPr>
        <p:spPr>
          <a:xfrm>
            <a:off x="1092708" y="1719072"/>
            <a:ext cx="1828800" cy="365760"/>
          </a:xfrm>
          <a:prstGeom prst="rect">
            <a:avLst/>
          </a:prstGeom>
          <a:noFill/>
          <a:ln/>
        </p:spPr>
        <p:txBody>
          <a:bodyPr wrap="square" lIns="0" tIns="0" rIns="0" bIns="0" rtlCol="0" anchor="ctr"/>
          <a:lstStyle/>
          <a:p>
            <a:pPr marL="0" indent="0">
              <a:buNone/>
            </a:pPr>
            <a:r>
              <a:rPr lang="en-US" sz="1400" b="1" dirty="0">
                <a:solidFill>
                  <a:srgbClr val="F8FAFC"/>
                </a:solidFill>
                <a:latin typeface="Calibri" pitchFamily="34" charset="0"/>
                <a:ea typeface="Calibri" pitchFamily="34" charset="-122"/>
                <a:cs typeface="Calibri" pitchFamily="34" charset="-120"/>
              </a:rPr>
              <a:t>ReachFive</a:t>
            </a:r>
            <a:endParaRPr lang="en-US" sz="1400" dirty="0"/>
          </a:p>
        </p:txBody>
      </p:sp>
      <p:sp>
        <p:nvSpPr>
          <p:cNvPr id="14" name="Text 11"/>
          <p:cNvSpPr/>
          <p:nvPr/>
        </p:nvSpPr>
        <p:spPr>
          <a:xfrm>
            <a:off x="544068" y="2331720"/>
            <a:ext cx="2331720" cy="640080"/>
          </a:xfrm>
          <a:prstGeom prst="rect">
            <a:avLst/>
          </a:prstGeom>
          <a:noFill/>
          <a:ln/>
        </p:spPr>
        <p:txBody>
          <a:bodyPr wrap="square" lIns="0" tIns="0" rIns="0" bIns="0" rtlCol="0" anchor="ctr"/>
          <a:lstStyle/>
          <a:p>
            <a:pPr marL="0" indent="0">
              <a:buNone/>
            </a:pPr>
            <a:r>
              <a:rPr lang="en-US" sz="1050" dirty="0">
                <a:solidFill>
                  <a:srgbClr val="94A3B8"/>
                </a:solidFill>
                <a:latin typeface="Calibri" pitchFamily="34" charset="0"/>
                <a:ea typeface="Calibri" pitchFamily="34" charset="-122"/>
                <a:cs typeface="Calibri" pitchFamily="34" charset="-120"/>
              </a:rPr>
              <a:t>Cybersecurity AI assistant — Llama 3 + QLoRA. Clients: Lacoste, Fnac.</a:t>
            </a:r>
            <a:endParaRPr lang="en-US" sz="1050" dirty="0"/>
          </a:p>
        </p:txBody>
      </p:sp>
      <p:sp>
        <p:nvSpPr>
          <p:cNvPr id="15" name="Shape 12"/>
          <p:cNvSpPr/>
          <p:nvPr/>
        </p:nvSpPr>
        <p:spPr>
          <a:xfrm>
            <a:off x="3223260" y="1554480"/>
            <a:ext cx="2697480" cy="1508760"/>
          </a:xfrm>
          <a:prstGeom prst="roundRect">
            <a:avLst>
              <a:gd name="adj" fmla="val 4848"/>
            </a:avLst>
          </a:prstGeom>
          <a:solidFill>
            <a:srgbClr val="11203A"/>
          </a:solidFill>
          <a:ln w="12700">
            <a:solidFill>
              <a:srgbClr val="1B2D4F"/>
            </a:solidFill>
            <a:prstDash val="solid"/>
          </a:ln>
          <a:effectLst>
            <a:outerShdw blurRad="101600" dist="25400" dir="8100000" algn="bl" rotWithShape="0">
              <a:srgbClr val="000000">
                <a:alpha val="25000"/>
              </a:srgbClr>
            </a:outerShdw>
          </a:effectLst>
        </p:spPr>
        <p:txBody>
          <a:bodyPr/>
          <a:lstStyle/>
          <a:p>
            <a:endParaRPr lang="en-GB"/>
          </a:p>
        </p:txBody>
      </p:sp>
      <p:sp>
        <p:nvSpPr>
          <p:cNvPr id="16" name="Shape 13"/>
          <p:cNvSpPr/>
          <p:nvPr/>
        </p:nvSpPr>
        <p:spPr>
          <a:xfrm>
            <a:off x="3223260" y="1554480"/>
            <a:ext cx="64008" cy="1508760"/>
          </a:xfrm>
          <a:prstGeom prst="rect">
            <a:avLst/>
          </a:prstGeom>
          <a:solidFill>
            <a:srgbClr val="F97316"/>
          </a:solidFill>
          <a:ln w="12700">
            <a:solidFill>
              <a:srgbClr val="F97316"/>
            </a:solidFill>
            <a:prstDash val="solid"/>
          </a:ln>
        </p:spPr>
        <p:txBody>
          <a:bodyPr/>
          <a:lstStyle/>
          <a:p>
            <a:endParaRPr lang="en-GB"/>
          </a:p>
        </p:txBody>
      </p:sp>
      <p:sp>
        <p:nvSpPr>
          <p:cNvPr id="17" name="Shape 14"/>
          <p:cNvSpPr/>
          <p:nvPr/>
        </p:nvSpPr>
        <p:spPr>
          <a:xfrm>
            <a:off x="3406140" y="1719072"/>
            <a:ext cx="457200" cy="457200"/>
          </a:xfrm>
          <a:prstGeom prst="ellipse">
            <a:avLst/>
          </a:prstGeom>
          <a:solidFill>
            <a:srgbClr val="1D4ED8"/>
          </a:solidFill>
          <a:ln w="12700">
            <a:solidFill>
              <a:srgbClr val="1D4ED8"/>
            </a:solidFill>
            <a:prstDash val="solid"/>
          </a:ln>
        </p:spPr>
        <p:txBody>
          <a:bodyPr/>
          <a:lstStyle/>
          <a:p>
            <a:endParaRPr lang="en-GB"/>
          </a:p>
        </p:txBody>
      </p:sp>
      <p:sp>
        <p:nvSpPr>
          <p:cNvPr id="18" name="Text 15"/>
          <p:cNvSpPr/>
          <p:nvPr/>
        </p:nvSpPr>
        <p:spPr>
          <a:xfrm>
            <a:off x="3406140" y="1719072"/>
            <a:ext cx="457200" cy="457200"/>
          </a:xfrm>
          <a:prstGeom prst="rect">
            <a:avLst/>
          </a:prstGeom>
          <a:noFill/>
          <a:ln/>
        </p:spPr>
        <p:txBody>
          <a:bodyPr wrap="square" lIns="0" tIns="0" rIns="0" bIns="0" rtlCol="0" anchor="ctr"/>
          <a:lstStyle/>
          <a:p>
            <a:pPr marL="0" indent="0" algn="ctr">
              <a:buNone/>
            </a:pPr>
            <a:r>
              <a:rPr lang="en-US" sz="1600" b="1" dirty="0">
                <a:solidFill>
                  <a:srgbClr val="F8FAFC"/>
                </a:solidFill>
                <a:latin typeface="Calibri" pitchFamily="34" charset="0"/>
                <a:ea typeface="Calibri" pitchFamily="34" charset="-122"/>
                <a:cs typeface="Calibri" pitchFamily="34" charset="-120"/>
              </a:rPr>
              <a:t>🧪</a:t>
            </a:r>
            <a:endParaRPr lang="en-US" sz="1600" dirty="0"/>
          </a:p>
        </p:txBody>
      </p:sp>
      <p:sp>
        <p:nvSpPr>
          <p:cNvPr id="19" name="Text 16"/>
          <p:cNvSpPr/>
          <p:nvPr/>
        </p:nvSpPr>
        <p:spPr>
          <a:xfrm>
            <a:off x="3954780" y="1719072"/>
            <a:ext cx="1828800" cy="365760"/>
          </a:xfrm>
          <a:prstGeom prst="rect">
            <a:avLst/>
          </a:prstGeom>
          <a:noFill/>
          <a:ln/>
        </p:spPr>
        <p:txBody>
          <a:bodyPr wrap="square" lIns="0" tIns="0" rIns="0" bIns="0" rtlCol="0" anchor="ctr"/>
          <a:lstStyle/>
          <a:p>
            <a:pPr marL="0" indent="0">
              <a:buNone/>
            </a:pPr>
            <a:r>
              <a:rPr lang="en-US" sz="1400" b="1" dirty="0">
                <a:solidFill>
                  <a:srgbClr val="F8FAFC"/>
                </a:solidFill>
                <a:latin typeface="Calibri" pitchFamily="34" charset="0"/>
                <a:ea typeface="Calibri" pitchFamily="34" charset="-122"/>
                <a:cs typeface="Calibri" pitchFamily="34" charset="-120"/>
              </a:rPr>
              <a:t>Hubert Curien</a:t>
            </a:r>
            <a:endParaRPr lang="en-US" sz="1400" dirty="0"/>
          </a:p>
        </p:txBody>
      </p:sp>
      <p:sp>
        <p:nvSpPr>
          <p:cNvPr id="20" name="Text 17"/>
          <p:cNvSpPr/>
          <p:nvPr/>
        </p:nvSpPr>
        <p:spPr>
          <a:xfrm>
            <a:off x="3406140" y="2331720"/>
            <a:ext cx="2331720" cy="640080"/>
          </a:xfrm>
          <a:prstGeom prst="rect">
            <a:avLst/>
          </a:prstGeom>
          <a:noFill/>
          <a:ln/>
        </p:spPr>
        <p:txBody>
          <a:bodyPr wrap="square" lIns="0" tIns="0" rIns="0" bIns="0" rtlCol="0" anchor="ctr"/>
          <a:lstStyle/>
          <a:p>
            <a:pPr marL="0" indent="0">
              <a:buNone/>
            </a:pPr>
            <a:r>
              <a:rPr lang="en-US" sz="1050" dirty="0">
                <a:solidFill>
                  <a:srgbClr val="94A3B8"/>
                </a:solidFill>
                <a:latin typeface="Calibri" pitchFamily="34" charset="0"/>
                <a:ea typeface="Calibri" pitchFamily="34" charset="-122"/>
                <a:cs typeface="Calibri" pitchFamily="34" charset="-120"/>
              </a:rPr>
              <a:t>LLM platform — network config validation (RAG + Batfish).</a:t>
            </a:r>
            <a:endParaRPr lang="en-US" sz="1050" dirty="0"/>
          </a:p>
        </p:txBody>
      </p:sp>
      <p:sp>
        <p:nvSpPr>
          <p:cNvPr id="21" name="Shape 18"/>
          <p:cNvSpPr/>
          <p:nvPr/>
        </p:nvSpPr>
        <p:spPr>
          <a:xfrm>
            <a:off x="6085332" y="1554480"/>
            <a:ext cx="2697480" cy="1508760"/>
          </a:xfrm>
          <a:prstGeom prst="roundRect">
            <a:avLst>
              <a:gd name="adj" fmla="val 4848"/>
            </a:avLst>
          </a:prstGeom>
          <a:solidFill>
            <a:srgbClr val="11203A"/>
          </a:solidFill>
          <a:ln w="12700">
            <a:solidFill>
              <a:srgbClr val="1B2D4F"/>
            </a:solidFill>
            <a:prstDash val="solid"/>
          </a:ln>
          <a:effectLst>
            <a:outerShdw blurRad="101600" dist="25400" dir="8100000" algn="bl" rotWithShape="0">
              <a:srgbClr val="000000">
                <a:alpha val="25000"/>
              </a:srgbClr>
            </a:outerShdw>
          </a:effectLst>
        </p:spPr>
        <p:txBody>
          <a:bodyPr/>
          <a:lstStyle/>
          <a:p>
            <a:endParaRPr lang="en-GB"/>
          </a:p>
        </p:txBody>
      </p:sp>
      <p:sp>
        <p:nvSpPr>
          <p:cNvPr id="22" name="Shape 19"/>
          <p:cNvSpPr/>
          <p:nvPr/>
        </p:nvSpPr>
        <p:spPr>
          <a:xfrm>
            <a:off x="6085332" y="1554480"/>
            <a:ext cx="64008" cy="1508760"/>
          </a:xfrm>
          <a:prstGeom prst="rect">
            <a:avLst/>
          </a:prstGeom>
          <a:solidFill>
            <a:srgbClr val="F97316"/>
          </a:solidFill>
          <a:ln w="12700">
            <a:solidFill>
              <a:srgbClr val="F97316"/>
            </a:solidFill>
            <a:prstDash val="solid"/>
          </a:ln>
        </p:spPr>
        <p:txBody>
          <a:bodyPr/>
          <a:lstStyle/>
          <a:p>
            <a:endParaRPr lang="en-GB"/>
          </a:p>
        </p:txBody>
      </p:sp>
      <p:sp>
        <p:nvSpPr>
          <p:cNvPr id="23" name="Shape 20"/>
          <p:cNvSpPr/>
          <p:nvPr/>
        </p:nvSpPr>
        <p:spPr>
          <a:xfrm>
            <a:off x="6268212" y="1719072"/>
            <a:ext cx="457200" cy="457200"/>
          </a:xfrm>
          <a:prstGeom prst="ellipse">
            <a:avLst/>
          </a:prstGeom>
          <a:solidFill>
            <a:srgbClr val="1D4ED8"/>
          </a:solidFill>
          <a:ln w="12700">
            <a:solidFill>
              <a:srgbClr val="1D4ED8"/>
            </a:solidFill>
            <a:prstDash val="solid"/>
          </a:ln>
        </p:spPr>
        <p:txBody>
          <a:bodyPr/>
          <a:lstStyle/>
          <a:p>
            <a:endParaRPr lang="en-GB"/>
          </a:p>
        </p:txBody>
      </p:sp>
      <p:sp>
        <p:nvSpPr>
          <p:cNvPr id="24" name="Text 21"/>
          <p:cNvSpPr/>
          <p:nvPr/>
        </p:nvSpPr>
        <p:spPr>
          <a:xfrm>
            <a:off x="6268212" y="1719072"/>
            <a:ext cx="457200" cy="457200"/>
          </a:xfrm>
          <a:prstGeom prst="rect">
            <a:avLst/>
          </a:prstGeom>
          <a:noFill/>
          <a:ln/>
        </p:spPr>
        <p:txBody>
          <a:bodyPr wrap="square" lIns="0" tIns="0" rIns="0" bIns="0" rtlCol="0" anchor="ctr"/>
          <a:lstStyle/>
          <a:p>
            <a:pPr marL="0" indent="0" algn="ctr">
              <a:buNone/>
            </a:pPr>
            <a:r>
              <a:rPr lang="en-US" sz="1600" b="1" dirty="0">
                <a:solidFill>
                  <a:srgbClr val="F8FAFC"/>
                </a:solidFill>
                <a:latin typeface="Calibri" pitchFamily="34" charset="0"/>
                <a:ea typeface="Calibri" pitchFamily="34" charset="-122"/>
                <a:cs typeface="Calibri" pitchFamily="34" charset="-120"/>
              </a:rPr>
              <a:t>🔍</a:t>
            </a:r>
            <a:endParaRPr lang="en-US" sz="1600" dirty="0"/>
          </a:p>
        </p:txBody>
      </p:sp>
      <p:sp>
        <p:nvSpPr>
          <p:cNvPr id="25" name="Text 22"/>
          <p:cNvSpPr/>
          <p:nvPr/>
        </p:nvSpPr>
        <p:spPr>
          <a:xfrm>
            <a:off x="6816852" y="1719072"/>
            <a:ext cx="1828800" cy="365760"/>
          </a:xfrm>
          <a:prstGeom prst="rect">
            <a:avLst/>
          </a:prstGeom>
          <a:noFill/>
          <a:ln/>
        </p:spPr>
        <p:txBody>
          <a:bodyPr wrap="square" lIns="0" tIns="0" rIns="0" bIns="0" rtlCol="0" anchor="ctr"/>
          <a:lstStyle/>
          <a:p>
            <a:pPr marL="0" indent="0">
              <a:buNone/>
            </a:pPr>
            <a:r>
              <a:rPr lang="en-US" sz="1400" b="1" dirty="0">
                <a:solidFill>
                  <a:srgbClr val="F8FAFC"/>
                </a:solidFill>
                <a:latin typeface="Calibri" pitchFamily="34" charset="0"/>
                <a:ea typeface="Calibri" pitchFamily="34" charset="-122"/>
                <a:cs typeface="Calibri" pitchFamily="34" charset="-120"/>
              </a:rPr>
              <a:t>Investigation Agents</a:t>
            </a:r>
            <a:endParaRPr lang="en-US" sz="1400" dirty="0"/>
          </a:p>
        </p:txBody>
      </p:sp>
      <p:sp>
        <p:nvSpPr>
          <p:cNvPr id="26" name="Text 23"/>
          <p:cNvSpPr/>
          <p:nvPr/>
        </p:nvSpPr>
        <p:spPr>
          <a:xfrm>
            <a:off x="6268212" y="2331720"/>
            <a:ext cx="2331720" cy="640080"/>
          </a:xfrm>
          <a:prstGeom prst="rect">
            <a:avLst/>
          </a:prstGeom>
          <a:noFill/>
          <a:ln/>
        </p:spPr>
        <p:txBody>
          <a:bodyPr wrap="square" lIns="0" tIns="0" rIns="0" bIns="0" rtlCol="0" anchor="ctr"/>
          <a:lstStyle/>
          <a:p>
            <a:pPr marL="0" indent="0">
              <a:buNone/>
            </a:pPr>
            <a:r>
              <a:rPr lang="en-US" sz="1050" dirty="0">
                <a:solidFill>
                  <a:srgbClr val="94A3B8"/>
                </a:solidFill>
                <a:latin typeface="Calibri" pitchFamily="34" charset="0"/>
                <a:ea typeface="Calibri" pitchFamily="34" charset="-122"/>
                <a:cs typeface="Calibri" pitchFamily="34" charset="-120"/>
              </a:rPr>
              <a:t>Multi-agent debugging for production incidents @ Amadeus.</a:t>
            </a:r>
            <a:endParaRPr lang="en-US" sz="1050" dirty="0"/>
          </a:p>
        </p:txBody>
      </p:sp>
      <p:sp>
        <p:nvSpPr>
          <p:cNvPr id="27" name="Shape 24"/>
          <p:cNvSpPr/>
          <p:nvPr/>
        </p:nvSpPr>
        <p:spPr>
          <a:xfrm>
            <a:off x="361188" y="3227832"/>
            <a:ext cx="2697480" cy="1508760"/>
          </a:xfrm>
          <a:prstGeom prst="roundRect">
            <a:avLst>
              <a:gd name="adj" fmla="val 4848"/>
            </a:avLst>
          </a:prstGeom>
          <a:solidFill>
            <a:srgbClr val="11203A"/>
          </a:solidFill>
          <a:ln w="12700">
            <a:solidFill>
              <a:srgbClr val="1B2D4F"/>
            </a:solidFill>
            <a:prstDash val="solid"/>
          </a:ln>
          <a:effectLst>
            <a:outerShdw blurRad="101600" dist="25400" dir="8100000" algn="bl" rotWithShape="0">
              <a:srgbClr val="000000">
                <a:alpha val="25000"/>
              </a:srgbClr>
            </a:outerShdw>
          </a:effectLst>
        </p:spPr>
        <p:txBody>
          <a:bodyPr/>
          <a:lstStyle/>
          <a:p>
            <a:endParaRPr lang="en-GB"/>
          </a:p>
        </p:txBody>
      </p:sp>
      <p:sp>
        <p:nvSpPr>
          <p:cNvPr id="28" name="Shape 25"/>
          <p:cNvSpPr/>
          <p:nvPr/>
        </p:nvSpPr>
        <p:spPr>
          <a:xfrm>
            <a:off x="361188" y="3227832"/>
            <a:ext cx="64008" cy="1508760"/>
          </a:xfrm>
          <a:prstGeom prst="rect">
            <a:avLst/>
          </a:prstGeom>
          <a:solidFill>
            <a:srgbClr val="F97316"/>
          </a:solidFill>
          <a:ln w="12700">
            <a:solidFill>
              <a:srgbClr val="F97316"/>
            </a:solidFill>
            <a:prstDash val="solid"/>
          </a:ln>
        </p:spPr>
        <p:txBody>
          <a:bodyPr/>
          <a:lstStyle/>
          <a:p>
            <a:endParaRPr lang="en-GB"/>
          </a:p>
        </p:txBody>
      </p:sp>
      <p:sp>
        <p:nvSpPr>
          <p:cNvPr id="29" name="Shape 26"/>
          <p:cNvSpPr/>
          <p:nvPr/>
        </p:nvSpPr>
        <p:spPr>
          <a:xfrm>
            <a:off x="544068" y="3392424"/>
            <a:ext cx="457200" cy="457200"/>
          </a:xfrm>
          <a:prstGeom prst="ellipse">
            <a:avLst/>
          </a:prstGeom>
          <a:solidFill>
            <a:srgbClr val="1D4ED8"/>
          </a:solidFill>
          <a:ln w="12700">
            <a:solidFill>
              <a:srgbClr val="1D4ED8"/>
            </a:solidFill>
            <a:prstDash val="solid"/>
          </a:ln>
        </p:spPr>
        <p:txBody>
          <a:bodyPr/>
          <a:lstStyle/>
          <a:p>
            <a:endParaRPr lang="en-GB"/>
          </a:p>
        </p:txBody>
      </p:sp>
      <p:sp>
        <p:nvSpPr>
          <p:cNvPr id="30" name="Text 27"/>
          <p:cNvSpPr/>
          <p:nvPr/>
        </p:nvSpPr>
        <p:spPr>
          <a:xfrm>
            <a:off x="544068" y="3392424"/>
            <a:ext cx="457200" cy="457200"/>
          </a:xfrm>
          <a:prstGeom prst="rect">
            <a:avLst/>
          </a:prstGeom>
          <a:noFill/>
          <a:ln/>
        </p:spPr>
        <p:txBody>
          <a:bodyPr wrap="square" lIns="0" tIns="0" rIns="0" bIns="0" rtlCol="0" anchor="ctr"/>
          <a:lstStyle/>
          <a:p>
            <a:pPr marL="0" indent="0" algn="ctr">
              <a:buNone/>
            </a:pPr>
            <a:r>
              <a:rPr lang="en-US" sz="1600" b="1" dirty="0">
                <a:solidFill>
                  <a:srgbClr val="F8FAFC"/>
                </a:solidFill>
                <a:latin typeface="Calibri" pitchFamily="34" charset="0"/>
                <a:ea typeface="Calibri" pitchFamily="34" charset="-122"/>
                <a:cs typeface="Calibri" pitchFamily="34" charset="-120"/>
              </a:rPr>
              <a:t>⚙️</a:t>
            </a:r>
            <a:endParaRPr lang="en-US" sz="1600" dirty="0"/>
          </a:p>
        </p:txBody>
      </p:sp>
      <p:sp>
        <p:nvSpPr>
          <p:cNvPr id="31" name="Text 28"/>
          <p:cNvSpPr/>
          <p:nvPr/>
        </p:nvSpPr>
        <p:spPr>
          <a:xfrm>
            <a:off x="1092708" y="3392424"/>
            <a:ext cx="1828800" cy="365760"/>
          </a:xfrm>
          <a:prstGeom prst="rect">
            <a:avLst/>
          </a:prstGeom>
          <a:noFill/>
          <a:ln/>
        </p:spPr>
        <p:txBody>
          <a:bodyPr wrap="square" lIns="0" tIns="0" rIns="0" bIns="0" rtlCol="0" anchor="ctr"/>
          <a:lstStyle/>
          <a:p>
            <a:pPr marL="0" indent="0">
              <a:buNone/>
            </a:pPr>
            <a:r>
              <a:rPr lang="en-US" sz="1400" b="1" dirty="0">
                <a:solidFill>
                  <a:srgbClr val="F8FAFC"/>
                </a:solidFill>
                <a:latin typeface="Calibri" pitchFamily="34" charset="0"/>
                <a:ea typeface="Calibri" pitchFamily="34" charset="-122"/>
                <a:cs typeface="Calibri" pitchFamily="34" charset="-120"/>
              </a:rPr>
              <a:t>QA Automation</a:t>
            </a:r>
            <a:endParaRPr lang="en-US" sz="1400" dirty="0"/>
          </a:p>
        </p:txBody>
      </p:sp>
      <p:sp>
        <p:nvSpPr>
          <p:cNvPr id="32" name="Text 29"/>
          <p:cNvSpPr/>
          <p:nvPr/>
        </p:nvSpPr>
        <p:spPr>
          <a:xfrm>
            <a:off x="544068" y="4005072"/>
            <a:ext cx="2331720" cy="640080"/>
          </a:xfrm>
          <a:prstGeom prst="rect">
            <a:avLst/>
          </a:prstGeom>
          <a:noFill/>
          <a:ln/>
        </p:spPr>
        <p:txBody>
          <a:bodyPr wrap="square" lIns="0" tIns="0" rIns="0" bIns="0" rtlCol="0" anchor="ctr"/>
          <a:lstStyle/>
          <a:p>
            <a:pPr marL="0" indent="0">
              <a:buNone/>
            </a:pPr>
            <a:r>
              <a:rPr lang="en-US" sz="1050" dirty="0">
                <a:solidFill>
                  <a:srgbClr val="94A3B8"/>
                </a:solidFill>
                <a:latin typeface="Calibri" pitchFamily="34" charset="0"/>
                <a:ea typeface="Calibri" pitchFamily="34" charset="-122"/>
                <a:cs typeface="Calibri" pitchFamily="34" charset="-120"/>
              </a:rPr>
              <a:t>Copilot Agent Mode + MCP (Confluence, Octane, Robot Framework).</a:t>
            </a:r>
            <a:endParaRPr lang="en-US" sz="1050" dirty="0"/>
          </a:p>
        </p:txBody>
      </p:sp>
      <p:sp>
        <p:nvSpPr>
          <p:cNvPr id="33" name="Shape 30"/>
          <p:cNvSpPr/>
          <p:nvPr/>
        </p:nvSpPr>
        <p:spPr>
          <a:xfrm>
            <a:off x="3223260" y="3227832"/>
            <a:ext cx="2697480" cy="1508760"/>
          </a:xfrm>
          <a:prstGeom prst="roundRect">
            <a:avLst>
              <a:gd name="adj" fmla="val 4848"/>
            </a:avLst>
          </a:prstGeom>
          <a:solidFill>
            <a:srgbClr val="11203A"/>
          </a:solidFill>
          <a:ln w="12700">
            <a:solidFill>
              <a:srgbClr val="1B2D4F"/>
            </a:solidFill>
            <a:prstDash val="solid"/>
          </a:ln>
          <a:effectLst>
            <a:outerShdw blurRad="101600" dist="25400" dir="8100000" algn="bl" rotWithShape="0">
              <a:srgbClr val="000000">
                <a:alpha val="25000"/>
              </a:srgbClr>
            </a:outerShdw>
          </a:effectLst>
        </p:spPr>
        <p:txBody>
          <a:bodyPr/>
          <a:lstStyle/>
          <a:p>
            <a:endParaRPr lang="en-GB"/>
          </a:p>
        </p:txBody>
      </p:sp>
      <p:sp>
        <p:nvSpPr>
          <p:cNvPr id="34" name="Shape 31"/>
          <p:cNvSpPr/>
          <p:nvPr/>
        </p:nvSpPr>
        <p:spPr>
          <a:xfrm>
            <a:off x="3223260" y="3227832"/>
            <a:ext cx="64008" cy="1508760"/>
          </a:xfrm>
          <a:prstGeom prst="rect">
            <a:avLst/>
          </a:prstGeom>
          <a:solidFill>
            <a:srgbClr val="F97316"/>
          </a:solidFill>
          <a:ln w="12700">
            <a:solidFill>
              <a:srgbClr val="F97316"/>
            </a:solidFill>
            <a:prstDash val="solid"/>
          </a:ln>
        </p:spPr>
        <p:txBody>
          <a:bodyPr/>
          <a:lstStyle/>
          <a:p>
            <a:endParaRPr lang="en-GB"/>
          </a:p>
        </p:txBody>
      </p:sp>
      <p:sp>
        <p:nvSpPr>
          <p:cNvPr id="35" name="Shape 32"/>
          <p:cNvSpPr/>
          <p:nvPr/>
        </p:nvSpPr>
        <p:spPr>
          <a:xfrm>
            <a:off x="3406140" y="3392424"/>
            <a:ext cx="457200" cy="457200"/>
          </a:xfrm>
          <a:prstGeom prst="ellipse">
            <a:avLst/>
          </a:prstGeom>
          <a:solidFill>
            <a:srgbClr val="1D4ED8"/>
          </a:solidFill>
          <a:ln w="12700">
            <a:solidFill>
              <a:srgbClr val="1D4ED8"/>
            </a:solidFill>
            <a:prstDash val="solid"/>
          </a:ln>
        </p:spPr>
        <p:txBody>
          <a:bodyPr/>
          <a:lstStyle/>
          <a:p>
            <a:endParaRPr lang="en-GB"/>
          </a:p>
        </p:txBody>
      </p:sp>
      <p:sp>
        <p:nvSpPr>
          <p:cNvPr id="36" name="Text 33"/>
          <p:cNvSpPr/>
          <p:nvPr/>
        </p:nvSpPr>
        <p:spPr>
          <a:xfrm>
            <a:off x="3406140" y="3392424"/>
            <a:ext cx="457200" cy="457200"/>
          </a:xfrm>
          <a:prstGeom prst="rect">
            <a:avLst/>
          </a:prstGeom>
          <a:noFill/>
          <a:ln/>
        </p:spPr>
        <p:txBody>
          <a:bodyPr wrap="square" lIns="0" tIns="0" rIns="0" bIns="0" rtlCol="0" anchor="ctr"/>
          <a:lstStyle/>
          <a:p>
            <a:pPr marL="0" indent="0" algn="ctr">
              <a:buNone/>
            </a:pPr>
            <a:r>
              <a:rPr lang="en-US" sz="1600" b="1" dirty="0">
                <a:solidFill>
                  <a:srgbClr val="F8FAFC"/>
                </a:solidFill>
                <a:latin typeface="Calibri" pitchFamily="34" charset="0"/>
                <a:ea typeface="Calibri" pitchFamily="34" charset="-122"/>
                <a:cs typeface="Calibri" pitchFamily="34" charset="-120"/>
              </a:rPr>
              <a:t>📊</a:t>
            </a:r>
            <a:endParaRPr lang="en-US" sz="1600" dirty="0"/>
          </a:p>
        </p:txBody>
      </p:sp>
      <p:sp>
        <p:nvSpPr>
          <p:cNvPr id="37" name="Text 34"/>
          <p:cNvSpPr/>
          <p:nvPr/>
        </p:nvSpPr>
        <p:spPr>
          <a:xfrm>
            <a:off x="3954780" y="3392424"/>
            <a:ext cx="1828800" cy="365760"/>
          </a:xfrm>
          <a:prstGeom prst="rect">
            <a:avLst/>
          </a:prstGeom>
          <a:noFill/>
          <a:ln/>
        </p:spPr>
        <p:txBody>
          <a:bodyPr wrap="square" lIns="0" tIns="0" rIns="0" bIns="0" rtlCol="0" anchor="ctr"/>
          <a:lstStyle/>
          <a:p>
            <a:pPr marL="0" indent="0">
              <a:buNone/>
            </a:pPr>
            <a:r>
              <a:rPr lang="en-US" sz="1400" b="1" dirty="0">
                <a:solidFill>
                  <a:srgbClr val="F8FAFC"/>
                </a:solidFill>
                <a:latin typeface="Calibri" pitchFamily="34" charset="0"/>
                <a:ea typeface="Calibri" pitchFamily="34" charset="-122"/>
                <a:cs typeface="Calibri" pitchFamily="34" charset="-120"/>
              </a:rPr>
              <a:t>Monitoring Agent</a:t>
            </a:r>
            <a:endParaRPr lang="en-US" sz="1400" dirty="0"/>
          </a:p>
        </p:txBody>
      </p:sp>
      <p:sp>
        <p:nvSpPr>
          <p:cNvPr id="38" name="Text 35"/>
          <p:cNvSpPr/>
          <p:nvPr/>
        </p:nvSpPr>
        <p:spPr>
          <a:xfrm>
            <a:off x="3406140" y="4005072"/>
            <a:ext cx="2331720" cy="640080"/>
          </a:xfrm>
          <a:prstGeom prst="rect">
            <a:avLst/>
          </a:prstGeom>
          <a:noFill/>
          <a:ln/>
        </p:spPr>
        <p:txBody>
          <a:bodyPr wrap="square" lIns="0" tIns="0" rIns="0" bIns="0" rtlCol="0" anchor="ctr"/>
          <a:lstStyle/>
          <a:p>
            <a:pPr marL="0" indent="0">
              <a:buNone/>
            </a:pPr>
            <a:r>
              <a:rPr lang="en-US" sz="1050" dirty="0">
                <a:solidFill>
                  <a:srgbClr val="94A3B8"/>
                </a:solidFill>
                <a:latin typeface="Calibri" pitchFamily="34" charset="0"/>
                <a:ea typeface="Calibri" pitchFamily="34" charset="-122"/>
                <a:cs typeface="Calibri" pitchFamily="34" charset="-120"/>
              </a:rPr>
              <a:t>Time-series + LLM on Splunk for anomaly detection.</a:t>
            </a:r>
            <a:endParaRPr lang="en-US" sz="1050" dirty="0"/>
          </a:p>
        </p:txBody>
      </p:sp>
      <p:sp>
        <p:nvSpPr>
          <p:cNvPr id="39" name="Shape 36"/>
          <p:cNvSpPr/>
          <p:nvPr/>
        </p:nvSpPr>
        <p:spPr>
          <a:xfrm>
            <a:off x="6085332" y="3227832"/>
            <a:ext cx="2697480" cy="1508760"/>
          </a:xfrm>
          <a:prstGeom prst="roundRect">
            <a:avLst>
              <a:gd name="adj" fmla="val 4848"/>
            </a:avLst>
          </a:prstGeom>
          <a:solidFill>
            <a:srgbClr val="11203A"/>
          </a:solidFill>
          <a:ln w="12700">
            <a:solidFill>
              <a:srgbClr val="1B2D4F"/>
            </a:solidFill>
            <a:prstDash val="solid"/>
          </a:ln>
          <a:effectLst>
            <a:outerShdw blurRad="101600" dist="25400" dir="8100000" algn="bl" rotWithShape="0">
              <a:srgbClr val="000000">
                <a:alpha val="25000"/>
              </a:srgbClr>
            </a:outerShdw>
          </a:effectLst>
        </p:spPr>
        <p:txBody>
          <a:bodyPr/>
          <a:lstStyle/>
          <a:p>
            <a:endParaRPr lang="en-GB"/>
          </a:p>
        </p:txBody>
      </p:sp>
      <p:sp>
        <p:nvSpPr>
          <p:cNvPr id="40" name="Shape 37"/>
          <p:cNvSpPr/>
          <p:nvPr/>
        </p:nvSpPr>
        <p:spPr>
          <a:xfrm>
            <a:off x="6085332" y="3227832"/>
            <a:ext cx="64008" cy="1508760"/>
          </a:xfrm>
          <a:prstGeom prst="rect">
            <a:avLst/>
          </a:prstGeom>
          <a:solidFill>
            <a:srgbClr val="F97316"/>
          </a:solidFill>
          <a:ln w="12700">
            <a:solidFill>
              <a:srgbClr val="F97316"/>
            </a:solidFill>
            <a:prstDash val="solid"/>
          </a:ln>
        </p:spPr>
        <p:txBody>
          <a:bodyPr/>
          <a:lstStyle/>
          <a:p>
            <a:endParaRPr lang="en-GB"/>
          </a:p>
        </p:txBody>
      </p:sp>
      <p:sp>
        <p:nvSpPr>
          <p:cNvPr id="41" name="Shape 38"/>
          <p:cNvSpPr/>
          <p:nvPr/>
        </p:nvSpPr>
        <p:spPr>
          <a:xfrm>
            <a:off x="6268212" y="3392424"/>
            <a:ext cx="457200" cy="457200"/>
          </a:xfrm>
          <a:prstGeom prst="ellipse">
            <a:avLst/>
          </a:prstGeom>
          <a:solidFill>
            <a:srgbClr val="1D4ED8"/>
          </a:solidFill>
          <a:ln w="12700">
            <a:solidFill>
              <a:srgbClr val="1D4ED8"/>
            </a:solidFill>
            <a:prstDash val="solid"/>
          </a:ln>
        </p:spPr>
        <p:txBody>
          <a:bodyPr/>
          <a:lstStyle/>
          <a:p>
            <a:endParaRPr lang="en-GB"/>
          </a:p>
        </p:txBody>
      </p:sp>
      <p:sp>
        <p:nvSpPr>
          <p:cNvPr id="42" name="Text 39"/>
          <p:cNvSpPr/>
          <p:nvPr/>
        </p:nvSpPr>
        <p:spPr>
          <a:xfrm>
            <a:off x="6268212" y="3392424"/>
            <a:ext cx="457200" cy="457200"/>
          </a:xfrm>
          <a:prstGeom prst="rect">
            <a:avLst/>
          </a:prstGeom>
          <a:noFill/>
          <a:ln/>
        </p:spPr>
        <p:txBody>
          <a:bodyPr wrap="square" lIns="0" tIns="0" rIns="0" bIns="0" rtlCol="0" anchor="ctr"/>
          <a:lstStyle/>
          <a:p>
            <a:pPr marL="0" indent="0" algn="ctr">
              <a:buNone/>
            </a:pPr>
            <a:r>
              <a:rPr lang="en-US" sz="1600" b="1" dirty="0">
                <a:solidFill>
                  <a:srgbClr val="F8FAFC"/>
                </a:solidFill>
                <a:latin typeface="Calibri" pitchFamily="34" charset="0"/>
                <a:ea typeface="Calibri" pitchFamily="34" charset="-122"/>
                <a:cs typeface="Calibri" pitchFamily="34" charset="-120"/>
              </a:rPr>
              <a:t>🚀</a:t>
            </a:r>
            <a:endParaRPr lang="en-US" sz="1600" dirty="0"/>
          </a:p>
        </p:txBody>
      </p:sp>
      <p:sp>
        <p:nvSpPr>
          <p:cNvPr id="43" name="Text 40"/>
          <p:cNvSpPr/>
          <p:nvPr/>
        </p:nvSpPr>
        <p:spPr>
          <a:xfrm>
            <a:off x="6816852" y="3392424"/>
            <a:ext cx="1828800" cy="365760"/>
          </a:xfrm>
          <a:prstGeom prst="rect">
            <a:avLst/>
          </a:prstGeom>
          <a:noFill/>
          <a:ln/>
        </p:spPr>
        <p:txBody>
          <a:bodyPr wrap="square" lIns="0" tIns="0" rIns="0" bIns="0" rtlCol="0" anchor="ctr"/>
          <a:lstStyle/>
          <a:p>
            <a:pPr marL="0" indent="0">
              <a:buNone/>
            </a:pPr>
            <a:r>
              <a:rPr lang="en-US" sz="1400" b="1" dirty="0" err="1">
                <a:solidFill>
                  <a:srgbClr val="F8FAFC"/>
                </a:solidFill>
                <a:latin typeface="Calibri" pitchFamily="34" charset="0"/>
                <a:ea typeface="Calibri" pitchFamily="34" charset="-122"/>
                <a:cs typeface="Calibri" pitchFamily="34" charset="-120"/>
              </a:rPr>
              <a:t>KubeAI</a:t>
            </a:r>
            <a:endParaRPr lang="en-US" sz="1400" dirty="0"/>
          </a:p>
        </p:txBody>
      </p:sp>
      <p:sp>
        <p:nvSpPr>
          <p:cNvPr id="44" name="Text 41"/>
          <p:cNvSpPr/>
          <p:nvPr/>
        </p:nvSpPr>
        <p:spPr>
          <a:xfrm>
            <a:off x="6268212" y="4005072"/>
            <a:ext cx="2331720" cy="640080"/>
          </a:xfrm>
          <a:prstGeom prst="rect">
            <a:avLst/>
          </a:prstGeom>
          <a:noFill/>
          <a:ln/>
        </p:spPr>
        <p:txBody>
          <a:bodyPr wrap="square" lIns="0" tIns="0" rIns="0" bIns="0" rtlCol="0" anchor="ctr"/>
          <a:lstStyle/>
          <a:p>
            <a:pPr marL="0" indent="0">
              <a:buNone/>
            </a:pPr>
            <a:r>
              <a:rPr lang="en-US" sz="1050" dirty="0">
                <a:solidFill>
                  <a:srgbClr val="94A3B8"/>
                </a:solidFill>
                <a:latin typeface="Calibri" pitchFamily="34" charset="0"/>
                <a:ea typeface="Calibri" pitchFamily="34" charset="-122"/>
                <a:cs typeface="Calibri" pitchFamily="34" charset="-120"/>
              </a:rPr>
              <a:t>K8s-inspired runtime for orchestrating autonomous agents.</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5">
    <p:bg>
      <p:bgPr>
        <a:solidFill>
          <a:srgbClr val="0A1628"/>
        </a:solidFill>
        <a:effectLst/>
      </p:bgPr>
    </p:bg>
    <p:spTree>
      <p:nvGrpSpPr>
        <p:cNvPr id="1" name=""/>
        <p:cNvGrpSpPr/>
        <p:nvPr/>
      </p:nvGrpSpPr>
      <p:grpSpPr>
        <a:xfrm>
          <a:off x="0" y="0"/>
          <a:ext cx="0" cy="0"/>
          <a:chOff x="0" y="0"/>
          <a:chExt cx="0" cy="0"/>
        </a:xfrm>
      </p:grpSpPr>
      <p:sp>
        <p:nvSpPr>
          <p:cNvPr id="3" name="Shape 0"/>
          <p:cNvSpPr/>
          <p:nvPr/>
        </p:nvSpPr>
        <p:spPr>
          <a:xfrm>
            <a:off x="457200" y="411480"/>
            <a:ext cx="320040" cy="54864"/>
          </a:xfrm>
          <a:prstGeom prst="rect">
            <a:avLst/>
          </a:prstGeom>
          <a:solidFill>
            <a:srgbClr val="F97316"/>
          </a:solidFill>
          <a:ln w="12700">
            <a:solidFill>
              <a:srgbClr val="F97316"/>
            </a:solidFill>
            <a:prstDash val="solid"/>
          </a:ln>
        </p:spPr>
        <p:txBody>
          <a:bodyPr/>
          <a:lstStyle/>
          <a:p>
            <a:endParaRPr lang="en-GB"/>
          </a:p>
        </p:txBody>
      </p:sp>
      <p:sp>
        <p:nvSpPr>
          <p:cNvPr id="4" name="Text 1"/>
          <p:cNvSpPr/>
          <p:nvPr/>
        </p:nvSpPr>
        <p:spPr>
          <a:xfrm>
            <a:off x="868680" y="329184"/>
            <a:ext cx="5029200" cy="274320"/>
          </a:xfrm>
          <a:prstGeom prst="rect">
            <a:avLst/>
          </a:prstGeom>
          <a:noFill/>
          <a:ln/>
        </p:spPr>
        <p:txBody>
          <a:bodyPr wrap="square" lIns="0" tIns="0" rIns="0" bIns="0" rtlCol="0" anchor="ctr"/>
          <a:lstStyle/>
          <a:p>
            <a:pPr marL="0" indent="0">
              <a:buNone/>
            </a:pPr>
            <a:r>
              <a:rPr lang="en-US" sz="1000" b="1" kern="0" spc="400" dirty="0">
                <a:solidFill>
                  <a:srgbClr val="F97316"/>
                </a:solidFill>
                <a:latin typeface="Calibri" pitchFamily="34" charset="0"/>
                <a:ea typeface="Calibri" pitchFamily="34" charset="-122"/>
                <a:cs typeface="Calibri" pitchFamily="34" charset="-120"/>
              </a:rPr>
              <a:t>02 · THE LLM</a:t>
            </a:r>
            <a:endParaRPr lang="en-US" sz="1000" dirty="0"/>
          </a:p>
        </p:txBody>
      </p:sp>
      <p:sp>
        <p:nvSpPr>
          <p:cNvPr id="5" name="Text 2"/>
          <p:cNvSpPr/>
          <p:nvPr/>
        </p:nvSpPr>
        <p:spPr>
          <a:xfrm>
            <a:off x="411480" y="393192"/>
            <a:ext cx="8229600" cy="822960"/>
          </a:xfrm>
          <a:prstGeom prst="rect">
            <a:avLst/>
          </a:prstGeom>
          <a:noFill/>
          <a:ln/>
        </p:spPr>
        <p:txBody>
          <a:bodyPr wrap="square" lIns="0" tIns="0" rIns="0" bIns="0" rtlCol="0" anchor="ctr"/>
          <a:lstStyle/>
          <a:p>
            <a:pPr marL="0" indent="0">
              <a:buNone/>
            </a:pPr>
            <a:r>
              <a:rPr lang="en-US" sz="3200" b="1" dirty="0">
                <a:solidFill>
                  <a:srgbClr val="F8FAFC"/>
                </a:solidFill>
                <a:latin typeface="Calibri" pitchFamily="34" charset="0"/>
                <a:ea typeface="Calibri" pitchFamily="34" charset="-122"/>
                <a:cs typeface="Calibri" pitchFamily="34" charset="-120"/>
              </a:rPr>
              <a:t>What is an LLM?</a:t>
            </a:r>
            <a:endParaRPr lang="en-US" sz="3200" dirty="0"/>
          </a:p>
        </p:txBody>
      </p:sp>
      <p:sp>
        <p:nvSpPr>
          <p:cNvPr id="6" name="Text 3"/>
          <p:cNvSpPr/>
          <p:nvPr/>
        </p:nvSpPr>
        <p:spPr>
          <a:xfrm>
            <a:off x="457200" y="4754880"/>
            <a:ext cx="4572000" cy="228600"/>
          </a:xfrm>
          <a:prstGeom prst="rect">
            <a:avLst/>
          </a:prstGeom>
          <a:noFill/>
          <a:ln/>
        </p:spPr>
        <p:txBody>
          <a:bodyPr wrap="square" lIns="0" tIns="0" rIns="0" bIns="0" rtlCol="0" anchor="ctr"/>
          <a:lstStyle/>
          <a:p>
            <a:pPr marL="0" indent="0">
              <a:buNone/>
            </a:pPr>
            <a:endParaRPr lang="en-US" sz="900" dirty="0"/>
          </a:p>
        </p:txBody>
      </p:sp>
      <p:sp>
        <p:nvSpPr>
          <p:cNvPr id="7" name="Shape 4"/>
          <p:cNvSpPr/>
          <p:nvPr/>
        </p:nvSpPr>
        <p:spPr>
          <a:xfrm>
            <a:off x="8275320" y="4818888"/>
            <a:ext cx="73152" cy="73152"/>
          </a:xfrm>
          <a:prstGeom prst="ellipse">
            <a:avLst/>
          </a:prstGeom>
          <a:solidFill>
            <a:srgbClr val="F97316"/>
          </a:solidFill>
          <a:ln w="12700">
            <a:solidFill>
              <a:srgbClr val="F97316"/>
            </a:solidFill>
            <a:prstDash val="solid"/>
          </a:ln>
        </p:spPr>
        <p:txBody>
          <a:bodyPr/>
          <a:lstStyle/>
          <a:p>
            <a:endParaRPr lang="en-GB"/>
          </a:p>
        </p:txBody>
      </p:sp>
      <p:sp>
        <p:nvSpPr>
          <p:cNvPr id="8" name="Text 5"/>
          <p:cNvSpPr/>
          <p:nvPr/>
        </p:nvSpPr>
        <p:spPr>
          <a:xfrm>
            <a:off x="8366760" y="4736592"/>
            <a:ext cx="685800" cy="228600"/>
          </a:xfrm>
          <a:prstGeom prst="rect">
            <a:avLst/>
          </a:prstGeom>
          <a:noFill/>
          <a:ln/>
        </p:spPr>
        <p:txBody>
          <a:bodyPr wrap="square" lIns="0" tIns="0" rIns="0" bIns="0" rtlCol="0" anchor="ctr"/>
          <a:lstStyle/>
          <a:p>
            <a:pPr marL="0" indent="0" algn="r">
              <a:buNone/>
            </a:pPr>
            <a:r>
              <a:rPr lang="en-US" sz="900" dirty="0">
                <a:solidFill>
                  <a:srgbClr val="94A3B8"/>
                </a:solidFill>
                <a:latin typeface="Calibri" pitchFamily="34" charset="0"/>
                <a:ea typeface="Calibri" pitchFamily="34" charset="-122"/>
                <a:cs typeface="Calibri" pitchFamily="34" charset="-120"/>
              </a:rPr>
              <a:t>04 / 21</a:t>
            </a:r>
            <a:endParaRPr lang="en-US" sz="900" dirty="0"/>
          </a:p>
        </p:txBody>
      </p:sp>
      <p:sp>
        <p:nvSpPr>
          <p:cNvPr id="9" name="Shape 6"/>
          <p:cNvSpPr/>
          <p:nvPr/>
        </p:nvSpPr>
        <p:spPr>
          <a:xfrm>
            <a:off x="3977640" y="2103120"/>
            <a:ext cx="1188720" cy="1188720"/>
          </a:xfrm>
          <a:prstGeom prst="ellipse">
            <a:avLst/>
          </a:prstGeom>
          <a:solidFill>
            <a:srgbClr val="1D4ED8"/>
          </a:solidFill>
          <a:ln w="38100">
            <a:solidFill>
              <a:srgbClr val="3B82F6"/>
            </a:solidFill>
            <a:prstDash val="solid"/>
          </a:ln>
        </p:spPr>
        <p:txBody>
          <a:bodyPr/>
          <a:lstStyle/>
          <a:p>
            <a:endParaRPr lang="en-GB"/>
          </a:p>
        </p:txBody>
      </p:sp>
      <p:sp>
        <p:nvSpPr>
          <p:cNvPr id="10" name="Text 7"/>
          <p:cNvSpPr/>
          <p:nvPr/>
        </p:nvSpPr>
        <p:spPr>
          <a:xfrm>
            <a:off x="3977640" y="2103120"/>
            <a:ext cx="1188720" cy="1188720"/>
          </a:xfrm>
          <a:prstGeom prst="rect">
            <a:avLst/>
          </a:prstGeom>
          <a:noFill/>
          <a:ln/>
        </p:spPr>
        <p:txBody>
          <a:bodyPr wrap="square" lIns="0" tIns="0" rIns="0" bIns="0" rtlCol="0" anchor="ctr"/>
          <a:lstStyle/>
          <a:p>
            <a:pPr marL="0" indent="0" algn="ctr">
              <a:buNone/>
            </a:pPr>
            <a:r>
              <a:rPr lang="en-US" sz="2200" b="1" dirty="0">
                <a:solidFill>
                  <a:srgbClr val="F8FAFC"/>
                </a:solidFill>
                <a:latin typeface="Calibri" pitchFamily="34" charset="0"/>
                <a:ea typeface="Calibri" pitchFamily="34" charset="-122"/>
                <a:cs typeface="Calibri" pitchFamily="34" charset="-120"/>
              </a:rPr>
              <a:t>LLM</a:t>
            </a:r>
            <a:endParaRPr lang="en-US" sz="2200" dirty="0"/>
          </a:p>
        </p:txBody>
      </p:sp>
      <p:sp>
        <p:nvSpPr>
          <p:cNvPr id="11" name="Shape 8"/>
          <p:cNvSpPr/>
          <p:nvPr/>
        </p:nvSpPr>
        <p:spPr>
          <a:xfrm flipH="1" flipV="1">
            <a:off x="2377440" y="2226564"/>
            <a:ext cx="1600200" cy="242316"/>
          </a:xfrm>
          <a:prstGeom prst="line">
            <a:avLst/>
          </a:prstGeom>
          <a:noFill/>
          <a:ln w="25400">
            <a:solidFill>
              <a:srgbClr val="1E3A5F"/>
            </a:solidFill>
            <a:prstDash val="solid"/>
            <a:tailEnd type="triangle"/>
          </a:ln>
        </p:spPr>
        <p:txBody>
          <a:bodyPr/>
          <a:lstStyle/>
          <a:p>
            <a:endParaRPr lang="en-GB"/>
          </a:p>
        </p:txBody>
      </p:sp>
      <p:grpSp>
        <p:nvGrpSpPr>
          <p:cNvPr id="2" name="Group 1">
            <a:extLst>
              <a:ext uri="{FF2B5EF4-FFF2-40B4-BE49-F238E27FC236}">
                <a16:creationId xmlns:a16="http://schemas.microsoft.com/office/drawing/2014/main" id="{4E029727-8558-25B9-600D-30DA10CF320A}"/>
              </a:ext>
            </a:extLst>
          </p:cNvPr>
          <p:cNvGrpSpPr/>
          <p:nvPr/>
        </p:nvGrpSpPr>
        <p:grpSpPr>
          <a:xfrm>
            <a:off x="457200" y="1879092"/>
            <a:ext cx="1920240" cy="731520"/>
            <a:chOff x="411480" y="1097280"/>
            <a:chExt cx="1920240" cy="731520"/>
          </a:xfrm>
        </p:grpSpPr>
        <p:sp>
          <p:nvSpPr>
            <p:cNvPr id="12" name="Shape 9"/>
            <p:cNvSpPr/>
            <p:nvPr/>
          </p:nvSpPr>
          <p:spPr>
            <a:xfrm>
              <a:off x="411480" y="1097280"/>
              <a:ext cx="1920240" cy="731520"/>
            </a:xfrm>
            <a:prstGeom prst="roundRect">
              <a:avLst>
                <a:gd name="adj" fmla="val 12500"/>
              </a:avLst>
            </a:prstGeom>
            <a:solidFill>
              <a:srgbClr val="11203A"/>
            </a:solidFill>
            <a:ln w="25400">
              <a:solidFill>
                <a:srgbClr val="3B82F6"/>
              </a:solidFill>
              <a:prstDash val="solid"/>
            </a:ln>
            <a:effectLst>
              <a:outerShdw blurRad="101600" dist="25400" dir="8100000" algn="bl" rotWithShape="0">
                <a:srgbClr val="000000">
                  <a:alpha val="25000"/>
                </a:srgbClr>
              </a:outerShdw>
            </a:effectLst>
          </p:spPr>
          <p:txBody>
            <a:bodyPr/>
            <a:lstStyle/>
            <a:p>
              <a:endParaRPr lang="en-GB"/>
            </a:p>
          </p:txBody>
        </p:sp>
        <p:sp>
          <p:nvSpPr>
            <p:cNvPr id="13" name="Text 10"/>
            <p:cNvSpPr/>
            <p:nvPr/>
          </p:nvSpPr>
          <p:spPr>
            <a:xfrm>
              <a:off x="411480" y="1097280"/>
              <a:ext cx="1920240" cy="365760"/>
            </a:xfrm>
            <a:prstGeom prst="rect">
              <a:avLst/>
            </a:prstGeom>
            <a:noFill/>
            <a:ln/>
          </p:spPr>
          <p:txBody>
            <a:bodyPr wrap="square" lIns="0" tIns="0" rIns="0" bIns="0" rtlCol="0" anchor="ctr"/>
            <a:lstStyle/>
            <a:p>
              <a:pPr marL="0" indent="0" algn="ctr">
                <a:buNone/>
              </a:pPr>
              <a:r>
                <a:rPr lang="en-US" sz="1600" b="1" dirty="0">
                  <a:solidFill>
                    <a:srgbClr val="3B82F6"/>
                  </a:solidFill>
                  <a:latin typeface="Calibri" pitchFamily="34" charset="0"/>
                  <a:ea typeface="Calibri" pitchFamily="34" charset="-122"/>
                  <a:cs typeface="Calibri" pitchFamily="34" charset="-120"/>
                </a:rPr>
                <a:t>LLM</a:t>
              </a:r>
              <a:endParaRPr lang="en-US" sz="1600" dirty="0"/>
            </a:p>
          </p:txBody>
        </p:sp>
        <p:sp>
          <p:nvSpPr>
            <p:cNvPr id="14" name="Text 11"/>
            <p:cNvSpPr/>
            <p:nvPr/>
          </p:nvSpPr>
          <p:spPr>
            <a:xfrm>
              <a:off x="411480" y="1463040"/>
              <a:ext cx="1920240" cy="320040"/>
            </a:xfrm>
            <a:prstGeom prst="rect">
              <a:avLst/>
            </a:prstGeom>
            <a:noFill/>
            <a:ln/>
          </p:spPr>
          <p:txBody>
            <a:bodyPr wrap="square" lIns="0" tIns="0" rIns="0" bIns="0" rtlCol="0" anchor="ctr"/>
            <a:lstStyle/>
            <a:p>
              <a:pPr marL="0" indent="0" algn="ctr">
                <a:buNone/>
              </a:pPr>
              <a:r>
                <a:rPr lang="en-US" sz="1000" dirty="0">
                  <a:solidFill>
                    <a:srgbClr val="94A3B8"/>
                  </a:solidFill>
                  <a:latin typeface="Calibri" pitchFamily="34" charset="0"/>
                  <a:ea typeface="Calibri" pitchFamily="34" charset="-122"/>
                  <a:cs typeface="Calibri" pitchFamily="34" charset="-120"/>
                </a:rPr>
                <a:t>text in → text out</a:t>
              </a:r>
              <a:endParaRPr lang="en-US" sz="1000" dirty="0"/>
            </a:p>
          </p:txBody>
        </p:sp>
      </p:grpSp>
      <p:sp>
        <p:nvSpPr>
          <p:cNvPr id="15" name="Shape 12"/>
          <p:cNvSpPr/>
          <p:nvPr/>
        </p:nvSpPr>
        <p:spPr>
          <a:xfrm flipV="1">
            <a:off x="5166360" y="2272284"/>
            <a:ext cx="1600200" cy="242316"/>
          </a:xfrm>
          <a:prstGeom prst="line">
            <a:avLst/>
          </a:prstGeom>
          <a:noFill/>
          <a:ln w="25400">
            <a:solidFill>
              <a:srgbClr val="1E3A5F"/>
            </a:solidFill>
            <a:prstDash val="solid"/>
            <a:tailEnd type="triangle"/>
          </a:ln>
        </p:spPr>
        <p:txBody>
          <a:bodyPr/>
          <a:lstStyle/>
          <a:p>
            <a:endParaRPr lang="en-GB"/>
          </a:p>
        </p:txBody>
      </p:sp>
      <p:grpSp>
        <p:nvGrpSpPr>
          <p:cNvPr id="24" name="Group 23">
            <a:extLst>
              <a:ext uri="{FF2B5EF4-FFF2-40B4-BE49-F238E27FC236}">
                <a16:creationId xmlns:a16="http://schemas.microsoft.com/office/drawing/2014/main" id="{E2B54069-339D-08C1-ACF3-8ED9C93384C8}"/>
              </a:ext>
            </a:extLst>
          </p:cNvPr>
          <p:cNvGrpSpPr/>
          <p:nvPr/>
        </p:nvGrpSpPr>
        <p:grpSpPr>
          <a:xfrm>
            <a:off x="6862825" y="1828800"/>
            <a:ext cx="1920240" cy="731520"/>
            <a:chOff x="6812280" y="1097280"/>
            <a:chExt cx="1920240" cy="731520"/>
          </a:xfrm>
        </p:grpSpPr>
        <p:sp>
          <p:nvSpPr>
            <p:cNvPr id="16" name="Shape 13"/>
            <p:cNvSpPr/>
            <p:nvPr/>
          </p:nvSpPr>
          <p:spPr>
            <a:xfrm>
              <a:off x="6812280" y="1097280"/>
              <a:ext cx="1920240" cy="731520"/>
            </a:xfrm>
            <a:prstGeom prst="roundRect">
              <a:avLst>
                <a:gd name="adj" fmla="val 12500"/>
              </a:avLst>
            </a:prstGeom>
            <a:solidFill>
              <a:srgbClr val="11203A"/>
            </a:solidFill>
            <a:ln w="25400">
              <a:solidFill>
                <a:srgbClr val="F97316"/>
              </a:solidFill>
              <a:prstDash val="solid"/>
            </a:ln>
            <a:effectLst>
              <a:outerShdw blurRad="101600" dist="25400" dir="8100000" algn="bl" rotWithShape="0">
                <a:srgbClr val="000000">
                  <a:alpha val="25000"/>
                </a:srgbClr>
              </a:outerShdw>
            </a:effectLst>
          </p:spPr>
          <p:txBody>
            <a:bodyPr/>
            <a:lstStyle/>
            <a:p>
              <a:endParaRPr lang="en-GB"/>
            </a:p>
          </p:txBody>
        </p:sp>
        <p:sp>
          <p:nvSpPr>
            <p:cNvPr id="17" name="Text 14"/>
            <p:cNvSpPr/>
            <p:nvPr/>
          </p:nvSpPr>
          <p:spPr>
            <a:xfrm>
              <a:off x="6812280" y="1097280"/>
              <a:ext cx="1920240" cy="365760"/>
            </a:xfrm>
            <a:prstGeom prst="rect">
              <a:avLst/>
            </a:prstGeom>
            <a:noFill/>
            <a:ln/>
          </p:spPr>
          <p:txBody>
            <a:bodyPr wrap="square" lIns="0" tIns="0" rIns="0" bIns="0" rtlCol="0" anchor="ctr"/>
            <a:lstStyle/>
            <a:p>
              <a:pPr marL="0" indent="0" algn="ctr">
                <a:buNone/>
              </a:pPr>
              <a:r>
                <a:rPr lang="en-US" sz="1600" b="1" dirty="0">
                  <a:solidFill>
                    <a:srgbClr val="F97316"/>
                  </a:solidFill>
                  <a:latin typeface="Calibri" pitchFamily="34" charset="0"/>
                  <a:ea typeface="Calibri" pitchFamily="34" charset="-122"/>
                  <a:cs typeface="Calibri" pitchFamily="34" charset="-120"/>
                </a:rPr>
                <a:t>RLM</a:t>
              </a:r>
              <a:endParaRPr lang="en-US" sz="1600" dirty="0"/>
            </a:p>
          </p:txBody>
        </p:sp>
        <p:sp>
          <p:nvSpPr>
            <p:cNvPr id="18" name="Text 15"/>
            <p:cNvSpPr/>
            <p:nvPr/>
          </p:nvSpPr>
          <p:spPr>
            <a:xfrm>
              <a:off x="6812280" y="1463040"/>
              <a:ext cx="1920240" cy="320040"/>
            </a:xfrm>
            <a:prstGeom prst="rect">
              <a:avLst/>
            </a:prstGeom>
            <a:noFill/>
            <a:ln/>
          </p:spPr>
          <p:txBody>
            <a:bodyPr wrap="square" lIns="0" tIns="0" rIns="0" bIns="0" rtlCol="0" anchor="ctr"/>
            <a:lstStyle/>
            <a:p>
              <a:pPr marL="0" indent="0" algn="ctr">
                <a:buNone/>
              </a:pPr>
              <a:r>
                <a:rPr lang="en-US" sz="1000" dirty="0">
                  <a:solidFill>
                    <a:srgbClr val="94A3B8"/>
                  </a:solidFill>
                  <a:latin typeface="Calibri" pitchFamily="34" charset="0"/>
                  <a:ea typeface="Calibri" pitchFamily="34" charset="-122"/>
                  <a:cs typeface="Calibri" pitchFamily="34" charset="-120"/>
                </a:rPr>
                <a:t>reasons before answering</a:t>
              </a:r>
              <a:endParaRPr lang="en-US" sz="1000" dirty="0"/>
            </a:p>
          </p:txBody>
        </p:sp>
      </p:grpSp>
      <p:sp>
        <p:nvSpPr>
          <p:cNvPr id="19" name="Shape 16"/>
          <p:cNvSpPr/>
          <p:nvPr/>
        </p:nvSpPr>
        <p:spPr>
          <a:xfrm>
            <a:off x="4572000" y="3291840"/>
            <a:ext cx="0" cy="914400"/>
          </a:xfrm>
          <a:prstGeom prst="line">
            <a:avLst/>
          </a:prstGeom>
          <a:noFill/>
          <a:ln w="25400">
            <a:solidFill>
              <a:srgbClr val="1E3A5F"/>
            </a:solidFill>
            <a:prstDash val="solid"/>
            <a:tailEnd type="triangle"/>
          </a:ln>
        </p:spPr>
        <p:txBody>
          <a:bodyPr/>
          <a:lstStyle/>
          <a:p>
            <a:endParaRPr lang="en-GB"/>
          </a:p>
        </p:txBody>
      </p:sp>
      <p:sp>
        <p:nvSpPr>
          <p:cNvPr id="20" name="Shape 17"/>
          <p:cNvSpPr/>
          <p:nvPr/>
        </p:nvSpPr>
        <p:spPr>
          <a:xfrm>
            <a:off x="3611880" y="3657600"/>
            <a:ext cx="1920240" cy="731520"/>
          </a:xfrm>
          <a:prstGeom prst="roundRect">
            <a:avLst>
              <a:gd name="adj" fmla="val 12500"/>
            </a:avLst>
          </a:prstGeom>
          <a:solidFill>
            <a:srgbClr val="11203A"/>
          </a:solidFill>
          <a:ln w="25400">
            <a:solidFill>
              <a:srgbClr val="3B82F6"/>
            </a:solidFill>
            <a:prstDash val="solid"/>
          </a:ln>
          <a:effectLst>
            <a:outerShdw blurRad="101600" dist="25400" dir="8100000" algn="bl" rotWithShape="0">
              <a:srgbClr val="000000">
                <a:alpha val="25000"/>
              </a:srgbClr>
            </a:outerShdw>
          </a:effectLst>
        </p:spPr>
        <p:txBody>
          <a:bodyPr/>
          <a:lstStyle/>
          <a:p>
            <a:endParaRPr lang="en-GB"/>
          </a:p>
        </p:txBody>
      </p:sp>
      <p:sp>
        <p:nvSpPr>
          <p:cNvPr id="21" name="Text 18"/>
          <p:cNvSpPr/>
          <p:nvPr/>
        </p:nvSpPr>
        <p:spPr>
          <a:xfrm>
            <a:off x="3566160" y="3679541"/>
            <a:ext cx="1920240" cy="365760"/>
          </a:xfrm>
          <a:prstGeom prst="rect">
            <a:avLst/>
          </a:prstGeom>
          <a:noFill/>
          <a:ln/>
        </p:spPr>
        <p:txBody>
          <a:bodyPr wrap="square" lIns="0" tIns="0" rIns="0" bIns="0" rtlCol="0" anchor="ctr"/>
          <a:lstStyle/>
          <a:p>
            <a:pPr marL="0" indent="0" algn="ctr">
              <a:buNone/>
            </a:pPr>
            <a:r>
              <a:rPr lang="en-US" sz="1600" b="1" dirty="0">
                <a:solidFill>
                  <a:srgbClr val="3B82F6"/>
                </a:solidFill>
                <a:latin typeface="Calibri" pitchFamily="34" charset="0"/>
                <a:ea typeface="Calibri" pitchFamily="34" charset="-122"/>
                <a:cs typeface="Calibri" pitchFamily="34" charset="-120"/>
              </a:rPr>
              <a:t>MLLM</a:t>
            </a:r>
            <a:endParaRPr lang="en-US" sz="1600" dirty="0"/>
          </a:p>
        </p:txBody>
      </p:sp>
      <p:sp>
        <p:nvSpPr>
          <p:cNvPr id="22" name="Text 19"/>
          <p:cNvSpPr/>
          <p:nvPr/>
        </p:nvSpPr>
        <p:spPr>
          <a:xfrm>
            <a:off x="3611880" y="4000500"/>
            <a:ext cx="1920240" cy="320040"/>
          </a:xfrm>
          <a:prstGeom prst="rect">
            <a:avLst/>
          </a:prstGeom>
          <a:noFill/>
          <a:ln/>
        </p:spPr>
        <p:txBody>
          <a:bodyPr wrap="square" lIns="0" tIns="0" rIns="0" bIns="0" rtlCol="0" anchor="ctr"/>
          <a:lstStyle/>
          <a:p>
            <a:pPr marL="0" indent="0" algn="ctr">
              <a:buNone/>
            </a:pPr>
            <a:r>
              <a:rPr lang="en-US" sz="1000" dirty="0">
                <a:solidFill>
                  <a:srgbClr val="94A3B8"/>
                </a:solidFill>
                <a:latin typeface="Calibri" pitchFamily="34" charset="0"/>
                <a:ea typeface="Calibri" pitchFamily="34" charset="-122"/>
                <a:cs typeface="Calibri" pitchFamily="34" charset="-120"/>
              </a:rPr>
              <a:t>text + image + audio + video</a:t>
            </a:r>
            <a:endParaRPr lang="en-US" sz="1000" dirty="0"/>
          </a:p>
        </p:txBody>
      </p:sp>
      <p:sp>
        <p:nvSpPr>
          <p:cNvPr id="23" name="Text 20"/>
          <p:cNvSpPr/>
          <p:nvPr/>
        </p:nvSpPr>
        <p:spPr>
          <a:xfrm>
            <a:off x="457200" y="4526280"/>
            <a:ext cx="8229600" cy="274320"/>
          </a:xfrm>
          <a:prstGeom prst="rect">
            <a:avLst/>
          </a:prstGeom>
          <a:noFill/>
          <a:ln/>
        </p:spPr>
        <p:txBody>
          <a:bodyPr wrap="square" lIns="0" tIns="0" rIns="0" bIns="0" rtlCol="0" anchor="ctr"/>
          <a:lstStyle/>
          <a:p>
            <a:pPr marL="0" indent="0" algn="ctr">
              <a:buNone/>
            </a:pPr>
            <a:r>
              <a:rPr lang="en-US" sz="1100" i="1" dirty="0">
                <a:solidFill>
                  <a:srgbClr val="94A3B8"/>
                </a:solidFill>
                <a:latin typeface="Calibri" pitchFamily="34" charset="0"/>
                <a:ea typeface="Calibri" pitchFamily="34" charset="-122"/>
                <a:cs typeface="Calibri" pitchFamily="34" charset="-120"/>
              </a:rPr>
              <a:t>Uses: code · summarization · translation · reasoning · generation</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6">
    <p:bg>
      <p:bgPr>
        <a:solidFill>
          <a:srgbClr val="0A1628"/>
        </a:solidFill>
        <a:effectLst/>
      </p:bgPr>
    </p:bg>
    <p:spTree>
      <p:nvGrpSpPr>
        <p:cNvPr id="1" name=""/>
        <p:cNvGrpSpPr/>
        <p:nvPr/>
      </p:nvGrpSpPr>
      <p:grpSpPr>
        <a:xfrm>
          <a:off x="0" y="0"/>
          <a:ext cx="0" cy="0"/>
          <a:chOff x="0" y="0"/>
          <a:chExt cx="0" cy="0"/>
        </a:xfrm>
      </p:grpSpPr>
      <p:sp>
        <p:nvSpPr>
          <p:cNvPr id="3" name="Shape 0"/>
          <p:cNvSpPr/>
          <p:nvPr/>
        </p:nvSpPr>
        <p:spPr>
          <a:xfrm>
            <a:off x="457200" y="411480"/>
            <a:ext cx="320040" cy="54864"/>
          </a:xfrm>
          <a:prstGeom prst="rect">
            <a:avLst/>
          </a:prstGeom>
          <a:solidFill>
            <a:srgbClr val="F97316"/>
          </a:solidFill>
          <a:ln w="12700">
            <a:solidFill>
              <a:srgbClr val="F97316"/>
            </a:solidFill>
            <a:prstDash val="solid"/>
          </a:ln>
        </p:spPr>
        <p:txBody>
          <a:bodyPr/>
          <a:lstStyle/>
          <a:p>
            <a:endParaRPr lang="en-GB"/>
          </a:p>
        </p:txBody>
      </p:sp>
      <p:sp>
        <p:nvSpPr>
          <p:cNvPr id="4" name="Text 1"/>
          <p:cNvSpPr/>
          <p:nvPr/>
        </p:nvSpPr>
        <p:spPr>
          <a:xfrm>
            <a:off x="868680" y="329184"/>
            <a:ext cx="5029200" cy="274320"/>
          </a:xfrm>
          <a:prstGeom prst="rect">
            <a:avLst/>
          </a:prstGeom>
          <a:noFill/>
          <a:ln/>
        </p:spPr>
        <p:txBody>
          <a:bodyPr wrap="square" lIns="0" tIns="0" rIns="0" bIns="0" rtlCol="0" anchor="ctr"/>
          <a:lstStyle/>
          <a:p>
            <a:pPr marL="0" indent="0">
              <a:buNone/>
            </a:pPr>
            <a:r>
              <a:rPr lang="en-US" sz="1000" b="1" kern="0" spc="400" dirty="0">
                <a:solidFill>
                  <a:srgbClr val="F97316"/>
                </a:solidFill>
                <a:latin typeface="Calibri" pitchFamily="34" charset="0"/>
                <a:ea typeface="Calibri" pitchFamily="34" charset="-122"/>
                <a:cs typeface="Calibri" pitchFamily="34" charset="-120"/>
              </a:rPr>
              <a:t>02 · THE LLM</a:t>
            </a:r>
            <a:endParaRPr lang="en-US" sz="1000" dirty="0"/>
          </a:p>
        </p:txBody>
      </p:sp>
      <p:sp>
        <p:nvSpPr>
          <p:cNvPr id="5" name="Text 2"/>
          <p:cNvSpPr/>
          <p:nvPr/>
        </p:nvSpPr>
        <p:spPr>
          <a:xfrm>
            <a:off x="457200" y="640080"/>
            <a:ext cx="8229600" cy="822960"/>
          </a:xfrm>
          <a:prstGeom prst="rect">
            <a:avLst/>
          </a:prstGeom>
          <a:noFill/>
          <a:ln/>
        </p:spPr>
        <p:txBody>
          <a:bodyPr wrap="square" lIns="0" tIns="0" rIns="0" bIns="0" rtlCol="0" anchor="ctr"/>
          <a:lstStyle/>
          <a:p>
            <a:pPr marL="0" indent="0">
              <a:buNone/>
            </a:pPr>
            <a:r>
              <a:rPr lang="en-US" sz="3200" b="1" dirty="0">
                <a:solidFill>
                  <a:srgbClr val="F8FAFC"/>
                </a:solidFill>
                <a:latin typeface="Calibri" pitchFamily="34" charset="0"/>
                <a:ea typeface="Calibri" pitchFamily="34" charset="-122"/>
                <a:cs typeface="Calibri" pitchFamily="34" charset="-120"/>
              </a:rPr>
              <a:t>How an LLM thinks</a:t>
            </a:r>
            <a:endParaRPr lang="en-US" sz="3200" dirty="0"/>
          </a:p>
        </p:txBody>
      </p:sp>
      <p:sp>
        <p:nvSpPr>
          <p:cNvPr id="6" name="Text 3"/>
          <p:cNvSpPr/>
          <p:nvPr/>
        </p:nvSpPr>
        <p:spPr>
          <a:xfrm>
            <a:off x="457200" y="4754880"/>
            <a:ext cx="4572000" cy="228600"/>
          </a:xfrm>
          <a:prstGeom prst="rect">
            <a:avLst/>
          </a:prstGeom>
          <a:noFill/>
          <a:ln/>
        </p:spPr>
        <p:txBody>
          <a:bodyPr wrap="square" lIns="0" tIns="0" rIns="0" bIns="0" rtlCol="0" anchor="ctr"/>
          <a:lstStyle/>
          <a:p>
            <a:pPr marL="0" indent="0">
              <a:buNone/>
            </a:pPr>
            <a:endParaRPr lang="en-US" sz="900" dirty="0"/>
          </a:p>
        </p:txBody>
      </p:sp>
      <p:sp>
        <p:nvSpPr>
          <p:cNvPr id="7" name="Shape 4"/>
          <p:cNvSpPr/>
          <p:nvPr/>
        </p:nvSpPr>
        <p:spPr>
          <a:xfrm>
            <a:off x="8275320" y="4818888"/>
            <a:ext cx="73152" cy="73152"/>
          </a:xfrm>
          <a:prstGeom prst="ellipse">
            <a:avLst/>
          </a:prstGeom>
          <a:solidFill>
            <a:srgbClr val="F97316"/>
          </a:solidFill>
          <a:ln w="12700">
            <a:solidFill>
              <a:srgbClr val="F97316"/>
            </a:solidFill>
            <a:prstDash val="solid"/>
          </a:ln>
        </p:spPr>
        <p:txBody>
          <a:bodyPr/>
          <a:lstStyle/>
          <a:p>
            <a:endParaRPr lang="en-GB"/>
          </a:p>
        </p:txBody>
      </p:sp>
      <p:sp>
        <p:nvSpPr>
          <p:cNvPr id="8" name="Text 5"/>
          <p:cNvSpPr/>
          <p:nvPr/>
        </p:nvSpPr>
        <p:spPr>
          <a:xfrm>
            <a:off x="8366760" y="4736592"/>
            <a:ext cx="685800" cy="228600"/>
          </a:xfrm>
          <a:prstGeom prst="rect">
            <a:avLst/>
          </a:prstGeom>
          <a:noFill/>
          <a:ln/>
        </p:spPr>
        <p:txBody>
          <a:bodyPr wrap="square" lIns="0" tIns="0" rIns="0" bIns="0" rtlCol="0" anchor="ctr"/>
          <a:lstStyle/>
          <a:p>
            <a:pPr marL="0" indent="0" algn="r">
              <a:buNone/>
            </a:pPr>
            <a:r>
              <a:rPr lang="en-US" sz="900" dirty="0">
                <a:solidFill>
                  <a:srgbClr val="94A3B8"/>
                </a:solidFill>
                <a:latin typeface="Calibri" pitchFamily="34" charset="0"/>
                <a:ea typeface="Calibri" pitchFamily="34" charset="-122"/>
                <a:cs typeface="Calibri" pitchFamily="34" charset="-120"/>
              </a:rPr>
              <a:t>05 / 21</a:t>
            </a:r>
            <a:endParaRPr lang="en-US" sz="900" dirty="0"/>
          </a:p>
        </p:txBody>
      </p:sp>
      <p:sp>
        <p:nvSpPr>
          <p:cNvPr id="9" name="Shape 6"/>
          <p:cNvSpPr/>
          <p:nvPr/>
        </p:nvSpPr>
        <p:spPr>
          <a:xfrm>
            <a:off x="1280160" y="1874520"/>
            <a:ext cx="914400" cy="502920"/>
          </a:xfrm>
          <a:prstGeom prst="roundRect">
            <a:avLst>
              <a:gd name="adj" fmla="val 10909"/>
            </a:avLst>
          </a:prstGeom>
          <a:solidFill>
            <a:srgbClr val="11203A"/>
          </a:solidFill>
          <a:ln w="19050">
            <a:solidFill>
              <a:srgbClr val="3B82F6"/>
            </a:solidFill>
            <a:prstDash val="solid"/>
          </a:ln>
        </p:spPr>
        <p:txBody>
          <a:bodyPr/>
          <a:lstStyle/>
          <a:p>
            <a:endParaRPr lang="en-GB"/>
          </a:p>
        </p:txBody>
      </p:sp>
      <p:sp>
        <p:nvSpPr>
          <p:cNvPr id="10" name="Text 7"/>
          <p:cNvSpPr/>
          <p:nvPr/>
        </p:nvSpPr>
        <p:spPr>
          <a:xfrm>
            <a:off x="1280160" y="1874520"/>
            <a:ext cx="914400" cy="502920"/>
          </a:xfrm>
          <a:prstGeom prst="rect">
            <a:avLst/>
          </a:prstGeom>
          <a:noFill/>
          <a:ln/>
        </p:spPr>
        <p:txBody>
          <a:bodyPr wrap="square" lIns="0" tIns="0" rIns="0" bIns="0" rtlCol="0" anchor="ctr"/>
          <a:lstStyle/>
          <a:p>
            <a:pPr marL="0" indent="0" algn="ctr">
              <a:buNone/>
            </a:pPr>
            <a:r>
              <a:rPr lang="en-US" sz="1400" b="1" dirty="0">
                <a:solidFill>
                  <a:srgbClr val="F8FAFC"/>
                </a:solidFill>
                <a:latin typeface="Calibri" pitchFamily="34" charset="0"/>
                <a:ea typeface="Calibri" pitchFamily="34" charset="-122"/>
                <a:cs typeface="Calibri" pitchFamily="34" charset="-120"/>
              </a:rPr>
              <a:t>The</a:t>
            </a:r>
            <a:endParaRPr lang="en-US" sz="1400" dirty="0"/>
          </a:p>
        </p:txBody>
      </p:sp>
      <p:sp>
        <p:nvSpPr>
          <p:cNvPr id="11" name="Shape 8"/>
          <p:cNvSpPr/>
          <p:nvPr/>
        </p:nvSpPr>
        <p:spPr>
          <a:xfrm>
            <a:off x="2286000" y="1874520"/>
            <a:ext cx="914400" cy="502920"/>
          </a:xfrm>
          <a:prstGeom prst="roundRect">
            <a:avLst>
              <a:gd name="adj" fmla="val 10909"/>
            </a:avLst>
          </a:prstGeom>
          <a:solidFill>
            <a:srgbClr val="11203A"/>
          </a:solidFill>
          <a:ln w="19050">
            <a:solidFill>
              <a:srgbClr val="3B82F6"/>
            </a:solidFill>
            <a:prstDash val="solid"/>
          </a:ln>
        </p:spPr>
        <p:txBody>
          <a:bodyPr/>
          <a:lstStyle/>
          <a:p>
            <a:endParaRPr lang="en-GB"/>
          </a:p>
        </p:txBody>
      </p:sp>
      <p:sp>
        <p:nvSpPr>
          <p:cNvPr id="12" name="Text 9"/>
          <p:cNvSpPr/>
          <p:nvPr/>
        </p:nvSpPr>
        <p:spPr>
          <a:xfrm>
            <a:off x="2286000" y="1874520"/>
            <a:ext cx="914400" cy="502920"/>
          </a:xfrm>
          <a:prstGeom prst="rect">
            <a:avLst/>
          </a:prstGeom>
          <a:noFill/>
          <a:ln/>
        </p:spPr>
        <p:txBody>
          <a:bodyPr wrap="square" lIns="0" tIns="0" rIns="0" bIns="0" rtlCol="0" anchor="ctr"/>
          <a:lstStyle/>
          <a:p>
            <a:pPr marL="0" indent="0" algn="ctr">
              <a:buNone/>
            </a:pPr>
            <a:r>
              <a:rPr lang="en-US" sz="1400" b="1" dirty="0">
                <a:solidFill>
                  <a:srgbClr val="F8FAFC"/>
                </a:solidFill>
                <a:latin typeface="Calibri" pitchFamily="34" charset="0"/>
                <a:ea typeface="Calibri" pitchFamily="34" charset="-122"/>
                <a:cs typeface="Calibri" pitchFamily="34" charset="-120"/>
              </a:rPr>
              <a:t>cat</a:t>
            </a:r>
            <a:endParaRPr lang="en-US" sz="1400" dirty="0"/>
          </a:p>
        </p:txBody>
      </p:sp>
      <p:sp>
        <p:nvSpPr>
          <p:cNvPr id="13" name="Shape 10"/>
          <p:cNvSpPr/>
          <p:nvPr/>
        </p:nvSpPr>
        <p:spPr>
          <a:xfrm>
            <a:off x="3291840" y="1874520"/>
            <a:ext cx="914400" cy="502920"/>
          </a:xfrm>
          <a:prstGeom prst="roundRect">
            <a:avLst>
              <a:gd name="adj" fmla="val 10909"/>
            </a:avLst>
          </a:prstGeom>
          <a:solidFill>
            <a:srgbClr val="11203A"/>
          </a:solidFill>
          <a:ln w="19050">
            <a:solidFill>
              <a:srgbClr val="3B82F6"/>
            </a:solidFill>
            <a:prstDash val="solid"/>
          </a:ln>
        </p:spPr>
        <p:txBody>
          <a:bodyPr/>
          <a:lstStyle/>
          <a:p>
            <a:endParaRPr lang="en-GB"/>
          </a:p>
        </p:txBody>
      </p:sp>
      <p:sp>
        <p:nvSpPr>
          <p:cNvPr id="14" name="Text 11"/>
          <p:cNvSpPr/>
          <p:nvPr/>
        </p:nvSpPr>
        <p:spPr>
          <a:xfrm>
            <a:off x="3291840" y="1874520"/>
            <a:ext cx="914400" cy="502920"/>
          </a:xfrm>
          <a:prstGeom prst="rect">
            <a:avLst/>
          </a:prstGeom>
          <a:noFill/>
          <a:ln/>
        </p:spPr>
        <p:txBody>
          <a:bodyPr wrap="square" lIns="0" tIns="0" rIns="0" bIns="0" rtlCol="0" anchor="ctr"/>
          <a:lstStyle/>
          <a:p>
            <a:pPr marL="0" indent="0" algn="ctr">
              <a:buNone/>
            </a:pPr>
            <a:r>
              <a:rPr lang="en-US" sz="1400" b="1" dirty="0">
                <a:solidFill>
                  <a:srgbClr val="F8FAFC"/>
                </a:solidFill>
                <a:latin typeface="Calibri" pitchFamily="34" charset="0"/>
                <a:ea typeface="Calibri" pitchFamily="34" charset="-122"/>
                <a:cs typeface="Calibri" pitchFamily="34" charset="-120"/>
              </a:rPr>
              <a:t>sat</a:t>
            </a:r>
            <a:endParaRPr lang="en-US" sz="1400" dirty="0"/>
          </a:p>
        </p:txBody>
      </p:sp>
      <p:sp>
        <p:nvSpPr>
          <p:cNvPr id="15" name="Shape 12"/>
          <p:cNvSpPr/>
          <p:nvPr/>
        </p:nvSpPr>
        <p:spPr>
          <a:xfrm>
            <a:off x="4297680" y="1874520"/>
            <a:ext cx="914400" cy="502920"/>
          </a:xfrm>
          <a:prstGeom prst="roundRect">
            <a:avLst>
              <a:gd name="adj" fmla="val 10909"/>
            </a:avLst>
          </a:prstGeom>
          <a:solidFill>
            <a:srgbClr val="11203A"/>
          </a:solidFill>
          <a:ln w="19050">
            <a:solidFill>
              <a:srgbClr val="3B82F6"/>
            </a:solidFill>
            <a:prstDash val="solid"/>
          </a:ln>
        </p:spPr>
        <p:txBody>
          <a:bodyPr/>
          <a:lstStyle/>
          <a:p>
            <a:endParaRPr lang="en-GB"/>
          </a:p>
        </p:txBody>
      </p:sp>
      <p:sp>
        <p:nvSpPr>
          <p:cNvPr id="16" name="Text 13"/>
          <p:cNvSpPr/>
          <p:nvPr/>
        </p:nvSpPr>
        <p:spPr>
          <a:xfrm>
            <a:off x="4297680" y="1874520"/>
            <a:ext cx="914400" cy="502920"/>
          </a:xfrm>
          <a:prstGeom prst="rect">
            <a:avLst/>
          </a:prstGeom>
          <a:noFill/>
          <a:ln/>
        </p:spPr>
        <p:txBody>
          <a:bodyPr wrap="square" lIns="0" tIns="0" rIns="0" bIns="0" rtlCol="0" anchor="ctr"/>
          <a:lstStyle/>
          <a:p>
            <a:pPr marL="0" indent="0" algn="ctr">
              <a:buNone/>
            </a:pPr>
            <a:r>
              <a:rPr lang="en-US" sz="1400" b="1" dirty="0">
                <a:solidFill>
                  <a:srgbClr val="F8FAFC"/>
                </a:solidFill>
                <a:latin typeface="Calibri" pitchFamily="34" charset="0"/>
                <a:ea typeface="Calibri" pitchFamily="34" charset="-122"/>
                <a:cs typeface="Calibri" pitchFamily="34" charset="-120"/>
              </a:rPr>
              <a:t>on</a:t>
            </a:r>
            <a:endParaRPr lang="en-US" sz="1400" dirty="0"/>
          </a:p>
        </p:txBody>
      </p:sp>
      <p:sp>
        <p:nvSpPr>
          <p:cNvPr id="17" name="Shape 14"/>
          <p:cNvSpPr/>
          <p:nvPr/>
        </p:nvSpPr>
        <p:spPr>
          <a:xfrm>
            <a:off x="5303520" y="1874520"/>
            <a:ext cx="914400" cy="502920"/>
          </a:xfrm>
          <a:prstGeom prst="roundRect">
            <a:avLst>
              <a:gd name="adj" fmla="val 10909"/>
            </a:avLst>
          </a:prstGeom>
          <a:solidFill>
            <a:srgbClr val="11203A"/>
          </a:solidFill>
          <a:ln w="19050">
            <a:solidFill>
              <a:srgbClr val="3B82F6"/>
            </a:solidFill>
            <a:prstDash val="solid"/>
          </a:ln>
        </p:spPr>
        <p:txBody>
          <a:bodyPr/>
          <a:lstStyle/>
          <a:p>
            <a:endParaRPr lang="en-GB"/>
          </a:p>
        </p:txBody>
      </p:sp>
      <p:sp>
        <p:nvSpPr>
          <p:cNvPr id="18" name="Text 15"/>
          <p:cNvSpPr/>
          <p:nvPr/>
        </p:nvSpPr>
        <p:spPr>
          <a:xfrm>
            <a:off x="5303520" y="1874520"/>
            <a:ext cx="914400" cy="502920"/>
          </a:xfrm>
          <a:prstGeom prst="rect">
            <a:avLst/>
          </a:prstGeom>
          <a:noFill/>
          <a:ln/>
        </p:spPr>
        <p:txBody>
          <a:bodyPr wrap="square" lIns="0" tIns="0" rIns="0" bIns="0" rtlCol="0" anchor="ctr"/>
          <a:lstStyle/>
          <a:p>
            <a:pPr marL="0" indent="0" algn="ctr">
              <a:buNone/>
            </a:pPr>
            <a:r>
              <a:rPr lang="en-US" sz="1400" b="1" dirty="0">
                <a:solidFill>
                  <a:srgbClr val="F8FAFC"/>
                </a:solidFill>
                <a:latin typeface="Calibri" pitchFamily="34" charset="0"/>
                <a:ea typeface="Calibri" pitchFamily="34" charset="-122"/>
                <a:cs typeface="Calibri" pitchFamily="34" charset="-120"/>
              </a:rPr>
              <a:t>the</a:t>
            </a:r>
            <a:endParaRPr lang="en-US" sz="1400" dirty="0"/>
          </a:p>
        </p:txBody>
      </p:sp>
      <p:sp>
        <p:nvSpPr>
          <p:cNvPr id="19" name="Shape 16"/>
          <p:cNvSpPr>
            <a:spLocks noGrp="1" noRot="1" noMove="1" noResize="1" noEditPoints="1" noAdjustHandles="1" noChangeArrowheads="1" noChangeShapeType="1"/>
          </p:cNvSpPr>
          <p:nvPr/>
        </p:nvSpPr>
        <p:spPr>
          <a:xfrm>
            <a:off x="6804147" y="1847088"/>
            <a:ext cx="914400" cy="502920"/>
          </a:xfrm>
          <a:prstGeom prst="roundRect">
            <a:avLst>
              <a:gd name="adj" fmla="val 10909"/>
            </a:avLst>
          </a:prstGeom>
          <a:solidFill>
            <a:srgbClr val="F97316"/>
          </a:solidFill>
          <a:ln w="19050">
            <a:solidFill>
              <a:srgbClr val="F97316"/>
            </a:solidFill>
            <a:prstDash val="solid"/>
          </a:ln>
        </p:spPr>
        <p:txBody>
          <a:bodyPr/>
          <a:lstStyle/>
          <a:p>
            <a:endParaRPr lang="en-GB" dirty="0"/>
          </a:p>
        </p:txBody>
      </p:sp>
      <p:sp>
        <p:nvSpPr>
          <p:cNvPr id="20" name="Text 17"/>
          <p:cNvSpPr/>
          <p:nvPr/>
        </p:nvSpPr>
        <p:spPr>
          <a:xfrm>
            <a:off x="6309360" y="1874520"/>
            <a:ext cx="914400" cy="502920"/>
          </a:xfrm>
          <a:prstGeom prst="rect">
            <a:avLst/>
          </a:prstGeom>
          <a:noFill/>
          <a:ln/>
        </p:spPr>
        <p:txBody>
          <a:bodyPr wrap="square" lIns="0" tIns="0" rIns="0" bIns="0" rtlCol="0" anchor="ctr"/>
          <a:lstStyle/>
          <a:p>
            <a:pPr marL="0" indent="0" algn="ctr">
              <a:buNone/>
            </a:pPr>
            <a:endParaRPr lang="en-US" sz="1400" dirty="0"/>
          </a:p>
        </p:txBody>
      </p:sp>
      <p:sp>
        <p:nvSpPr>
          <p:cNvPr id="21" name="Shape 18"/>
          <p:cNvSpPr/>
          <p:nvPr/>
        </p:nvSpPr>
        <p:spPr>
          <a:xfrm>
            <a:off x="1737360" y="1234440"/>
            <a:ext cx="5029200" cy="640080"/>
          </a:xfrm>
          <a:prstGeom prst="line">
            <a:avLst/>
          </a:prstGeom>
          <a:noFill/>
          <a:ln w="15875">
            <a:solidFill>
              <a:srgbClr val="F97316">
                <a:alpha val="9000"/>
              </a:srgbClr>
            </a:solidFill>
            <a:prstDash val="solid"/>
            <a:tailEnd type="triangle"/>
          </a:ln>
        </p:spPr>
        <p:txBody>
          <a:bodyPr/>
          <a:lstStyle/>
          <a:p>
            <a:endParaRPr lang="en-GB"/>
          </a:p>
        </p:txBody>
      </p:sp>
      <p:sp>
        <p:nvSpPr>
          <p:cNvPr id="22" name="Shape 19"/>
          <p:cNvSpPr/>
          <p:nvPr/>
        </p:nvSpPr>
        <p:spPr>
          <a:xfrm>
            <a:off x="2743200" y="1234440"/>
            <a:ext cx="4023360" cy="640080"/>
          </a:xfrm>
          <a:prstGeom prst="line">
            <a:avLst/>
          </a:prstGeom>
          <a:noFill/>
          <a:ln w="19050">
            <a:solidFill>
              <a:srgbClr val="F97316">
                <a:alpha val="18000"/>
              </a:srgbClr>
            </a:solidFill>
            <a:prstDash val="solid"/>
            <a:tailEnd type="triangle"/>
          </a:ln>
        </p:spPr>
        <p:txBody>
          <a:bodyPr/>
          <a:lstStyle/>
          <a:p>
            <a:endParaRPr lang="en-GB"/>
          </a:p>
        </p:txBody>
      </p:sp>
      <p:sp>
        <p:nvSpPr>
          <p:cNvPr id="23" name="Shape 20"/>
          <p:cNvSpPr/>
          <p:nvPr/>
        </p:nvSpPr>
        <p:spPr>
          <a:xfrm>
            <a:off x="3749040" y="1234440"/>
            <a:ext cx="3017520" cy="640080"/>
          </a:xfrm>
          <a:prstGeom prst="line">
            <a:avLst/>
          </a:prstGeom>
          <a:noFill/>
          <a:ln w="44450">
            <a:solidFill>
              <a:srgbClr val="F97316">
                <a:alpha val="80000"/>
              </a:srgbClr>
            </a:solidFill>
            <a:prstDash val="solid"/>
            <a:tailEnd type="triangle"/>
          </a:ln>
        </p:spPr>
        <p:txBody>
          <a:bodyPr/>
          <a:lstStyle/>
          <a:p>
            <a:endParaRPr lang="en-GB"/>
          </a:p>
        </p:txBody>
      </p:sp>
      <p:sp>
        <p:nvSpPr>
          <p:cNvPr id="24" name="Shape 21"/>
          <p:cNvSpPr/>
          <p:nvPr/>
        </p:nvSpPr>
        <p:spPr>
          <a:xfrm>
            <a:off x="4754880" y="1234440"/>
            <a:ext cx="2011680" cy="640080"/>
          </a:xfrm>
          <a:prstGeom prst="line">
            <a:avLst/>
          </a:prstGeom>
          <a:noFill/>
          <a:ln w="25400">
            <a:solidFill>
              <a:srgbClr val="F97316">
                <a:alpha val="36000"/>
              </a:srgbClr>
            </a:solidFill>
            <a:prstDash val="solid"/>
            <a:tailEnd type="triangle"/>
          </a:ln>
        </p:spPr>
        <p:txBody>
          <a:bodyPr/>
          <a:lstStyle/>
          <a:p>
            <a:endParaRPr lang="en-GB"/>
          </a:p>
        </p:txBody>
      </p:sp>
      <p:sp>
        <p:nvSpPr>
          <p:cNvPr id="25" name="Shape 22"/>
          <p:cNvSpPr/>
          <p:nvPr/>
        </p:nvSpPr>
        <p:spPr>
          <a:xfrm>
            <a:off x="5760720" y="1234440"/>
            <a:ext cx="1005840" cy="640080"/>
          </a:xfrm>
          <a:prstGeom prst="line">
            <a:avLst/>
          </a:prstGeom>
          <a:noFill/>
          <a:ln w="22225">
            <a:solidFill>
              <a:srgbClr val="F97316">
                <a:alpha val="27000"/>
              </a:srgbClr>
            </a:solidFill>
            <a:prstDash val="solid"/>
            <a:tailEnd type="triangle"/>
          </a:ln>
        </p:spPr>
        <p:txBody>
          <a:bodyPr/>
          <a:lstStyle/>
          <a:p>
            <a:endParaRPr lang="en-GB"/>
          </a:p>
        </p:txBody>
      </p:sp>
      <p:sp>
        <p:nvSpPr>
          <p:cNvPr id="26" name="Text 23"/>
          <p:cNvSpPr/>
          <p:nvPr/>
        </p:nvSpPr>
        <p:spPr>
          <a:xfrm>
            <a:off x="2011680" y="987552"/>
            <a:ext cx="5486400" cy="274320"/>
          </a:xfrm>
          <a:prstGeom prst="rect">
            <a:avLst/>
          </a:prstGeom>
          <a:noFill/>
          <a:ln/>
        </p:spPr>
        <p:txBody>
          <a:bodyPr wrap="square" lIns="0" tIns="0" rIns="0" bIns="0" rtlCol="0" anchor="ctr"/>
          <a:lstStyle/>
          <a:p>
            <a:pPr marL="0" indent="0" algn="ctr">
              <a:buNone/>
            </a:pPr>
            <a:r>
              <a:rPr lang="en-US" sz="1000" i="1" dirty="0">
                <a:solidFill>
                  <a:srgbClr val="F97316"/>
                </a:solidFill>
                <a:latin typeface="Calibri" pitchFamily="34" charset="0"/>
                <a:ea typeface="Calibri" pitchFamily="34" charset="-122"/>
                <a:cs typeface="Calibri" pitchFamily="34" charset="-120"/>
              </a:rPr>
              <a:t>attention weights</a:t>
            </a:r>
            <a:endParaRPr lang="en-US" sz="1000" dirty="0"/>
          </a:p>
        </p:txBody>
      </p:sp>
      <p:sp>
        <p:nvSpPr>
          <p:cNvPr id="27" name="Text 24"/>
          <p:cNvSpPr/>
          <p:nvPr/>
        </p:nvSpPr>
        <p:spPr>
          <a:xfrm>
            <a:off x="457200" y="2788920"/>
            <a:ext cx="1097280" cy="274320"/>
          </a:xfrm>
          <a:prstGeom prst="rect">
            <a:avLst/>
          </a:prstGeom>
          <a:noFill/>
          <a:ln/>
        </p:spPr>
        <p:txBody>
          <a:bodyPr wrap="square" lIns="0" tIns="0" rIns="0" bIns="0" rtlCol="0" anchor="ctr"/>
          <a:lstStyle/>
          <a:p>
            <a:pPr marL="0" indent="0">
              <a:buNone/>
            </a:pPr>
            <a:r>
              <a:rPr lang="en-US" sz="1100" i="1" dirty="0">
                <a:solidFill>
                  <a:srgbClr val="94A3B8"/>
                </a:solidFill>
                <a:latin typeface="Calibri" pitchFamily="34" charset="0"/>
                <a:ea typeface="Calibri" pitchFamily="34" charset="-122"/>
                <a:cs typeface="Calibri" pitchFamily="34" charset="-120"/>
              </a:rPr>
              <a:t>predicts →</a:t>
            </a:r>
            <a:endParaRPr lang="en-US" sz="1100" dirty="0"/>
          </a:p>
        </p:txBody>
      </p:sp>
      <p:sp>
        <p:nvSpPr>
          <p:cNvPr id="28" name="Shape 25"/>
          <p:cNvSpPr/>
          <p:nvPr/>
        </p:nvSpPr>
        <p:spPr>
          <a:xfrm>
            <a:off x="1554480" y="2743200"/>
            <a:ext cx="1499616" cy="320040"/>
          </a:xfrm>
          <a:prstGeom prst="roundRect">
            <a:avLst>
              <a:gd name="adj" fmla="val 11429"/>
            </a:avLst>
          </a:prstGeom>
          <a:solidFill>
            <a:srgbClr val="F97316"/>
          </a:solidFill>
          <a:ln w="12700">
            <a:solidFill>
              <a:srgbClr val="F97316"/>
            </a:solidFill>
            <a:prstDash val="solid"/>
          </a:ln>
        </p:spPr>
        <p:txBody>
          <a:bodyPr/>
          <a:lstStyle/>
          <a:p>
            <a:endParaRPr lang="en-GB"/>
          </a:p>
        </p:txBody>
      </p:sp>
      <p:sp>
        <p:nvSpPr>
          <p:cNvPr id="29" name="Text 26"/>
          <p:cNvSpPr/>
          <p:nvPr/>
        </p:nvSpPr>
        <p:spPr>
          <a:xfrm>
            <a:off x="1600200" y="2743200"/>
            <a:ext cx="1408176" cy="320040"/>
          </a:xfrm>
          <a:prstGeom prst="rect">
            <a:avLst/>
          </a:prstGeom>
          <a:noFill/>
          <a:ln/>
        </p:spPr>
        <p:txBody>
          <a:bodyPr wrap="square" lIns="0" tIns="0" rIns="0" bIns="0" rtlCol="0" anchor="ctr"/>
          <a:lstStyle/>
          <a:p>
            <a:pPr marL="0" indent="0">
              <a:buNone/>
            </a:pPr>
            <a:r>
              <a:rPr lang="en-US" sz="900" b="1" dirty="0">
                <a:solidFill>
                  <a:srgbClr val="0A1628"/>
                </a:solidFill>
                <a:latin typeface="Calibri" pitchFamily="34" charset="0"/>
                <a:ea typeface="Calibri" pitchFamily="34" charset="-122"/>
                <a:cs typeface="Calibri" pitchFamily="34" charset="-120"/>
              </a:rPr>
              <a:t>mat  62%</a:t>
            </a:r>
            <a:endParaRPr lang="en-US" sz="900" dirty="0"/>
          </a:p>
        </p:txBody>
      </p:sp>
      <p:sp>
        <p:nvSpPr>
          <p:cNvPr id="30" name="Shape 27"/>
          <p:cNvSpPr/>
          <p:nvPr/>
        </p:nvSpPr>
        <p:spPr>
          <a:xfrm>
            <a:off x="3145536" y="2743200"/>
            <a:ext cx="694944" cy="320040"/>
          </a:xfrm>
          <a:prstGeom prst="roundRect">
            <a:avLst>
              <a:gd name="adj" fmla="val 11429"/>
            </a:avLst>
          </a:prstGeom>
          <a:solidFill>
            <a:srgbClr val="3B82F6"/>
          </a:solidFill>
          <a:ln w="12700">
            <a:solidFill>
              <a:srgbClr val="3B82F6"/>
            </a:solidFill>
            <a:prstDash val="solid"/>
          </a:ln>
        </p:spPr>
        <p:txBody>
          <a:bodyPr/>
          <a:lstStyle/>
          <a:p>
            <a:endParaRPr lang="en-GB"/>
          </a:p>
        </p:txBody>
      </p:sp>
      <p:sp>
        <p:nvSpPr>
          <p:cNvPr id="31" name="Text 28"/>
          <p:cNvSpPr/>
          <p:nvPr/>
        </p:nvSpPr>
        <p:spPr>
          <a:xfrm>
            <a:off x="3191256" y="2743200"/>
            <a:ext cx="603504" cy="320040"/>
          </a:xfrm>
          <a:prstGeom prst="rect">
            <a:avLst/>
          </a:prstGeom>
          <a:noFill/>
          <a:ln/>
        </p:spPr>
        <p:txBody>
          <a:bodyPr wrap="square" lIns="0" tIns="0" rIns="0" bIns="0" rtlCol="0" anchor="ctr"/>
          <a:lstStyle/>
          <a:p>
            <a:pPr marL="0" indent="0">
              <a:buNone/>
            </a:pPr>
            <a:r>
              <a:rPr lang="en-US" sz="900" b="1" dirty="0">
                <a:solidFill>
                  <a:srgbClr val="0A1628"/>
                </a:solidFill>
                <a:latin typeface="Calibri" pitchFamily="34" charset="0"/>
                <a:ea typeface="Calibri" pitchFamily="34" charset="-122"/>
                <a:cs typeface="Calibri" pitchFamily="34" charset="-120"/>
              </a:rPr>
              <a:t>floor  18%</a:t>
            </a:r>
            <a:endParaRPr lang="en-US" sz="900" dirty="0"/>
          </a:p>
        </p:txBody>
      </p:sp>
      <p:sp>
        <p:nvSpPr>
          <p:cNvPr id="32" name="Shape 29"/>
          <p:cNvSpPr/>
          <p:nvPr/>
        </p:nvSpPr>
        <p:spPr>
          <a:xfrm>
            <a:off x="3931920" y="2743200"/>
            <a:ext cx="530352" cy="320040"/>
          </a:xfrm>
          <a:prstGeom prst="roundRect">
            <a:avLst>
              <a:gd name="adj" fmla="val 11429"/>
            </a:avLst>
          </a:prstGeom>
          <a:solidFill>
            <a:srgbClr val="3B82F6"/>
          </a:solidFill>
          <a:ln w="12700">
            <a:solidFill>
              <a:srgbClr val="3B82F6"/>
            </a:solidFill>
            <a:prstDash val="solid"/>
          </a:ln>
        </p:spPr>
        <p:txBody>
          <a:bodyPr/>
          <a:lstStyle/>
          <a:p>
            <a:endParaRPr lang="en-GB"/>
          </a:p>
        </p:txBody>
      </p:sp>
      <p:sp>
        <p:nvSpPr>
          <p:cNvPr id="33" name="Text 30"/>
          <p:cNvSpPr/>
          <p:nvPr/>
        </p:nvSpPr>
        <p:spPr>
          <a:xfrm>
            <a:off x="3977640" y="2743200"/>
            <a:ext cx="438912" cy="320040"/>
          </a:xfrm>
          <a:prstGeom prst="rect">
            <a:avLst/>
          </a:prstGeom>
          <a:noFill/>
          <a:ln/>
        </p:spPr>
        <p:txBody>
          <a:bodyPr wrap="square" lIns="0" tIns="0" rIns="0" bIns="0" rtlCol="0" anchor="ctr"/>
          <a:lstStyle/>
          <a:p>
            <a:pPr marL="0" indent="0">
              <a:buNone/>
            </a:pPr>
            <a:r>
              <a:rPr lang="en-US" sz="900" b="1" dirty="0">
                <a:solidFill>
                  <a:srgbClr val="0A1628"/>
                </a:solidFill>
                <a:latin typeface="Calibri" pitchFamily="34" charset="0"/>
                <a:ea typeface="Calibri" pitchFamily="34" charset="-122"/>
                <a:cs typeface="Calibri" pitchFamily="34" charset="-120"/>
              </a:rPr>
              <a:t>chair  9%</a:t>
            </a:r>
            <a:endParaRPr lang="en-US" sz="900" dirty="0"/>
          </a:p>
        </p:txBody>
      </p:sp>
      <p:sp>
        <p:nvSpPr>
          <p:cNvPr id="34" name="Shape 31"/>
          <p:cNvSpPr/>
          <p:nvPr/>
        </p:nvSpPr>
        <p:spPr>
          <a:xfrm>
            <a:off x="4553712" y="2743200"/>
            <a:ext cx="457200" cy="320040"/>
          </a:xfrm>
          <a:prstGeom prst="roundRect">
            <a:avLst>
              <a:gd name="adj" fmla="val 11429"/>
            </a:avLst>
          </a:prstGeom>
          <a:solidFill>
            <a:srgbClr val="94A3B8"/>
          </a:solidFill>
          <a:ln w="12700">
            <a:solidFill>
              <a:srgbClr val="94A3B8"/>
            </a:solidFill>
            <a:prstDash val="solid"/>
          </a:ln>
        </p:spPr>
        <p:txBody>
          <a:bodyPr/>
          <a:lstStyle/>
          <a:p>
            <a:endParaRPr lang="en-GB"/>
          </a:p>
        </p:txBody>
      </p:sp>
      <p:sp>
        <p:nvSpPr>
          <p:cNvPr id="35" name="Text 32"/>
          <p:cNvSpPr/>
          <p:nvPr/>
        </p:nvSpPr>
        <p:spPr>
          <a:xfrm>
            <a:off x="4599432" y="2743200"/>
            <a:ext cx="365760" cy="320040"/>
          </a:xfrm>
          <a:prstGeom prst="rect">
            <a:avLst/>
          </a:prstGeom>
          <a:noFill/>
          <a:ln/>
        </p:spPr>
        <p:txBody>
          <a:bodyPr wrap="square" lIns="0" tIns="0" rIns="0" bIns="0" rtlCol="0" anchor="ctr"/>
          <a:lstStyle/>
          <a:p>
            <a:pPr marL="0" indent="0">
              <a:buNone/>
            </a:pPr>
            <a:r>
              <a:rPr lang="en-US" sz="900" b="1" dirty="0">
                <a:solidFill>
                  <a:srgbClr val="0A1628"/>
                </a:solidFill>
                <a:latin typeface="Calibri" pitchFamily="34" charset="0"/>
                <a:ea typeface="Calibri" pitchFamily="34" charset="-122"/>
                <a:cs typeface="Calibri" pitchFamily="34" charset="-120"/>
              </a:rPr>
              <a:t>roof  5%</a:t>
            </a:r>
            <a:endParaRPr lang="en-US" sz="900" dirty="0"/>
          </a:p>
        </p:txBody>
      </p:sp>
      <p:sp>
        <p:nvSpPr>
          <p:cNvPr id="36" name="Shape 33"/>
          <p:cNvSpPr/>
          <p:nvPr/>
        </p:nvSpPr>
        <p:spPr>
          <a:xfrm>
            <a:off x="5102352" y="2743200"/>
            <a:ext cx="475488" cy="320040"/>
          </a:xfrm>
          <a:prstGeom prst="roundRect">
            <a:avLst>
              <a:gd name="adj" fmla="val 11429"/>
            </a:avLst>
          </a:prstGeom>
          <a:solidFill>
            <a:srgbClr val="94A3B8"/>
          </a:solidFill>
          <a:ln w="12700">
            <a:solidFill>
              <a:srgbClr val="94A3B8"/>
            </a:solidFill>
            <a:prstDash val="solid"/>
          </a:ln>
        </p:spPr>
        <p:txBody>
          <a:bodyPr/>
          <a:lstStyle/>
          <a:p>
            <a:endParaRPr lang="en-GB"/>
          </a:p>
        </p:txBody>
      </p:sp>
      <p:sp>
        <p:nvSpPr>
          <p:cNvPr id="37" name="Text 34"/>
          <p:cNvSpPr/>
          <p:nvPr/>
        </p:nvSpPr>
        <p:spPr>
          <a:xfrm>
            <a:off x="5148072" y="2743200"/>
            <a:ext cx="384048" cy="320040"/>
          </a:xfrm>
          <a:prstGeom prst="rect">
            <a:avLst/>
          </a:prstGeom>
          <a:noFill/>
          <a:ln/>
        </p:spPr>
        <p:txBody>
          <a:bodyPr wrap="square" lIns="0" tIns="0" rIns="0" bIns="0" rtlCol="0" anchor="ctr"/>
          <a:lstStyle/>
          <a:p>
            <a:pPr marL="0" indent="0">
              <a:buNone/>
            </a:pPr>
            <a:r>
              <a:rPr lang="en-US" sz="900" b="1" dirty="0">
                <a:solidFill>
                  <a:srgbClr val="0A1628"/>
                </a:solidFill>
                <a:latin typeface="Calibri" pitchFamily="34" charset="0"/>
                <a:ea typeface="Calibri" pitchFamily="34" charset="-122"/>
                <a:cs typeface="Calibri" pitchFamily="34" charset="-120"/>
              </a:rPr>
              <a:t>...  6%</a:t>
            </a:r>
            <a:endParaRPr lang="en-US" sz="900" dirty="0"/>
          </a:p>
        </p:txBody>
      </p:sp>
      <p:grpSp>
        <p:nvGrpSpPr>
          <p:cNvPr id="2" name="Group 1">
            <a:extLst>
              <a:ext uri="{FF2B5EF4-FFF2-40B4-BE49-F238E27FC236}">
                <a16:creationId xmlns:a16="http://schemas.microsoft.com/office/drawing/2014/main" id="{FA029447-FBA3-4308-A3A7-65E1AA235597}"/>
              </a:ext>
            </a:extLst>
          </p:cNvPr>
          <p:cNvGrpSpPr/>
          <p:nvPr/>
        </p:nvGrpSpPr>
        <p:grpSpPr>
          <a:xfrm>
            <a:off x="6896100" y="2629771"/>
            <a:ext cx="2103120" cy="2079389"/>
            <a:chOff x="6583680" y="1508760"/>
            <a:chExt cx="2194560" cy="2331720"/>
          </a:xfrm>
        </p:grpSpPr>
        <p:sp>
          <p:nvSpPr>
            <p:cNvPr id="38" name="Shape 35"/>
            <p:cNvSpPr/>
            <p:nvPr/>
          </p:nvSpPr>
          <p:spPr>
            <a:xfrm>
              <a:off x="6583680" y="1508760"/>
              <a:ext cx="2194560" cy="2331720"/>
            </a:xfrm>
            <a:prstGeom prst="roundRect">
              <a:avLst>
                <a:gd name="adj" fmla="val 3333"/>
              </a:avLst>
            </a:prstGeom>
            <a:solidFill>
              <a:srgbClr val="11203A"/>
            </a:solidFill>
            <a:ln w="12700">
              <a:solidFill>
                <a:srgbClr val="1B2D4F"/>
              </a:solidFill>
              <a:prstDash val="solid"/>
            </a:ln>
            <a:effectLst>
              <a:outerShdw blurRad="101600" dist="25400" dir="8100000" algn="bl" rotWithShape="0">
                <a:srgbClr val="000000">
                  <a:alpha val="25000"/>
                </a:srgbClr>
              </a:outerShdw>
            </a:effectLst>
          </p:spPr>
          <p:txBody>
            <a:bodyPr/>
            <a:lstStyle/>
            <a:p>
              <a:endParaRPr lang="en-GB"/>
            </a:p>
          </p:txBody>
        </p:sp>
        <p:sp>
          <p:nvSpPr>
            <p:cNvPr id="39" name="Shape 36"/>
            <p:cNvSpPr/>
            <p:nvPr/>
          </p:nvSpPr>
          <p:spPr>
            <a:xfrm>
              <a:off x="6583680" y="1508760"/>
              <a:ext cx="73152" cy="2331720"/>
            </a:xfrm>
            <a:prstGeom prst="rect">
              <a:avLst/>
            </a:prstGeom>
            <a:solidFill>
              <a:srgbClr val="F97316"/>
            </a:solidFill>
            <a:ln w="12700">
              <a:solidFill>
                <a:srgbClr val="F97316"/>
              </a:solidFill>
              <a:prstDash val="solid"/>
            </a:ln>
          </p:spPr>
          <p:txBody>
            <a:bodyPr/>
            <a:lstStyle/>
            <a:p>
              <a:endParaRPr lang="en-GB"/>
            </a:p>
          </p:txBody>
        </p:sp>
        <p:sp>
          <p:nvSpPr>
            <p:cNvPr id="40" name="Text 37"/>
            <p:cNvSpPr/>
            <p:nvPr/>
          </p:nvSpPr>
          <p:spPr>
            <a:xfrm>
              <a:off x="6766560" y="1691640"/>
              <a:ext cx="1920240" cy="274320"/>
            </a:xfrm>
            <a:prstGeom prst="rect">
              <a:avLst/>
            </a:prstGeom>
            <a:noFill/>
            <a:ln/>
          </p:spPr>
          <p:txBody>
            <a:bodyPr wrap="square" lIns="0" tIns="0" rIns="0" bIns="0" rtlCol="0" anchor="ctr"/>
            <a:lstStyle/>
            <a:p>
              <a:pPr marL="0" indent="0">
                <a:buNone/>
              </a:pPr>
              <a:r>
                <a:rPr lang="en-US" sz="1000" b="1" kern="0" spc="300" dirty="0">
                  <a:solidFill>
                    <a:srgbClr val="F97316"/>
                  </a:solidFill>
                  <a:latin typeface="Calibri" pitchFamily="34" charset="0"/>
                  <a:ea typeface="Calibri" pitchFamily="34" charset="-122"/>
                  <a:cs typeface="Calibri" pitchFamily="34" charset="-120"/>
                </a:rPr>
                <a:t>In one line</a:t>
              </a:r>
              <a:endParaRPr lang="en-US" sz="1000" dirty="0"/>
            </a:p>
          </p:txBody>
        </p:sp>
        <p:sp>
          <p:nvSpPr>
            <p:cNvPr id="41" name="Text 38"/>
            <p:cNvSpPr/>
            <p:nvPr/>
          </p:nvSpPr>
          <p:spPr>
            <a:xfrm>
              <a:off x="6766560" y="1965960"/>
              <a:ext cx="1920240" cy="914400"/>
            </a:xfrm>
            <a:prstGeom prst="rect">
              <a:avLst/>
            </a:prstGeom>
            <a:noFill/>
            <a:ln/>
          </p:spPr>
          <p:txBody>
            <a:bodyPr wrap="square" lIns="0" tIns="0" rIns="0" bIns="0" rtlCol="0" anchor="ctr"/>
            <a:lstStyle/>
            <a:p>
              <a:pPr marL="0" indent="0">
                <a:buNone/>
              </a:pPr>
              <a:r>
                <a:rPr lang="en-US" sz="1000" b="1" dirty="0">
                  <a:solidFill>
                    <a:srgbClr val="F8FAFC"/>
                  </a:solidFill>
                  <a:latin typeface="Calibri" pitchFamily="34" charset="0"/>
                  <a:ea typeface="Calibri" pitchFamily="34" charset="-122"/>
                  <a:cs typeface="Calibri" pitchFamily="34" charset="-120"/>
                </a:rPr>
                <a:t>Look at every previous word — guess the next one.</a:t>
              </a:r>
              <a:endParaRPr lang="en-US" sz="1000" dirty="0"/>
            </a:p>
          </p:txBody>
        </p:sp>
        <p:sp>
          <p:nvSpPr>
            <p:cNvPr id="42" name="Text 39"/>
            <p:cNvSpPr/>
            <p:nvPr/>
          </p:nvSpPr>
          <p:spPr>
            <a:xfrm>
              <a:off x="6766560" y="2788920"/>
              <a:ext cx="1920240" cy="1005840"/>
            </a:xfrm>
            <a:prstGeom prst="rect">
              <a:avLst/>
            </a:prstGeom>
            <a:noFill/>
            <a:ln/>
          </p:spPr>
          <p:txBody>
            <a:bodyPr wrap="square" lIns="0" tIns="0" rIns="0" bIns="0" rtlCol="0" anchor="ctr"/>
            <a:lstStyle/>
            <a:p>
              <a:pPr marL="342900" indent="-342900">
                <a:spcAft>
                  <a:spcPts val="400"/>
                </a:spcAft>
                <a:buSzPct val="100000"/>
                <a:buChar char="•"/>
              </a:pPr>
              <a:r>
                <a:rPr lang="en-US" sz="1050" dirty="0">
                  <a:solidFill>
                    <a:srgbClr val="F8FAFC"/>
                  </a:solidFill>
                  <a:latin typeface="Calibri" pitchFamily="34" charset="0"/>
                  <a:ea typeface="Calibri" pitchFamily="34" charset="-122"/>
                  <a:cs typeface="Calibri" pitchFamily="34" charset="-120"/>
                </a:rPr>
                <a:t>Attention picks what matters</a:t>
              </a:r>
              <a:endParaRPr lang="en-US" sz="1050" dirty="0"/>
            </a:p>
            <a:p>
              <a:pPr marL="342900" indent="-342900">
                <a:spcAft>
                  <a:spcPts val="400"/>
                </a:spcAft>
                <a:buSzPct val="100000"/>
                <a:buChar char="•"/>
              </a:pPr>
              <a:r>
                <a:rPr lang="en-US" sz="1050" dirty="0">
                  <a:solidFill>
                    <a:srgbClr val="F8FAFC"/>
                  </a:solidFill>
                  <a:latin typeface="Calibri" pitchFamily="34" charset="0"/>
                  <a:ea typeface="Calibri" pitchFamily="34" charset="-122"/>
                  <a:cs typeface="Calibri" pitchFamily="34" charset="-120"/>
                </a:rPr>
                <a:t>Repeat token-by-token</a:t>
              </a:r>
              <a:endParaRPr lang="en-US" sz="1050" dirty="0"/>
            </a:p>
            <a:p>
              <a:pPr marL="342900" indent="-342900">
                <a:spcAft>
                  <a:spcPts val="400"/>
                </a:spcAft>
                <a:buSzPct val="100000"/>
                <a:buChar char="•"/>
              </a:pPr>
              <a:r>
                <a:rPr lang="en-US" sz="1050" dirty="0">
                  <a:solidFill>
                    <a:srgbClr val="F8FAFC"/>
                  </a:solidFill>
                  <a:latin typeface="Calibri" pitchFamily="34" charset="0"/>
                  <a:ea typeface="Calibri" pitchFamily="34" charset="-122"/>
                  <a:cs typeface="Calibri" pitchFamily="34" charset="-120"/>
                </a:rPr>
                <a:t>No memory between calls</a:t>
              </a:r>
              <a:endParaRPr lang="en-US" sz="1050" dirty="0"/>
            </a:p>
          </p:txBody>
        </p:sp>
      </p:grpSp>
      <p:sp>
        <p:nvSpPr>
          <p:cNvPr id="43" name="Text 40"/>
          <p:cNvSpPr/>
          <p:nvPr/>
        </p:nvSpPr>
        <p:spPr>
          <a:xfrm>
            <a:off x="457200" y="4434840"/>
            <a:ext cx="8229600" cy="274320"/>
          </a:xfrm>
          <a:prstGeom prst="rect">
            <a:avLst/>
          </a:prstGeom>
          <a:noFill/>
          <a:ln/>
        </p:spPr>
        <p:txBody>
          <a:bodyPr wrap="square" lIns="0" tIns="0" rIns="0" bIns="0" rtlCol="0" anchor="ctr"/>
          <a:lstStyle/>
          <a:p>
            <a:pPr marL="0" indent="0" algn="ctr">
              <a:buNone/>
            </a:pPr>
            <a:r>
              <a:rPr lang="en-US" sz="1000" i="1" dirty="0">
                <a:solidFill>
                  <a:srgbClr val="94A3B8"/>
                </a:solidFill>
                <a:latin typeface="Calibri" pitchFamily="34" charset="0"/>
                <a:ea typeface="Calibri" pitchFamily="34" charset="-122"/>
                <a:cs typeface="Calibri" pitchFamily="34" charset="-120"/>
              </a:rPr>
              <a:t>📄  Vaswani et al., 2017 — Attention Is All You Need</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7">
    <p:bg>
      <p:bgPr>
        <a:solidFill>
          <a:srgbClr val="0A1628"/>
        </a:solidFill>
        <a:effectLst/>
      </p:bgPr>
    </p:bg>
    <p:spTree>
      <p:nvGrpSpPr>
        <p:cNvPr id="1" name=""/>
        <p:cNvGrpSpPr/>
        <p:nvPr/>
      </p:nvGrpSpPr>
      <p:grpSpPr>
        <a:xfrm>
          <a:off x="0" y="0"/>
          <a:ext cx="0" cy="0"/>
          <a:chOff x="0" y="0"/>
          <a:chExt cx="0" cy="0"/>
        </a:xfrm>
      </p:grpSpPr>
      <p:sp>
        <p:nvSpPr>
          <p:cNvPr id="3" name="Shape 0"/>
          <p:cNvSpPr/>
          <p:nvPr/>
        </p:nvSpPr>
        <p:spPr>
          <a:xfrm>
            <a:off x="457200" y="411480"/>
            <a:ext cx="320040" cy="54864"/>
          </a:xfrm>
          <a:prstGeom prst="rect">
            <a:avLst/>
          </a:prstGeom>
          <a:solidFill>
            <a:srgbClr val="F97316"/>
          </a:solidFill>
          <a:ln w="12700">
            <a:solidFill>
              <a:srgbClr val="F97316"/>
            </a:solidFill>
            <a:prstDash val="solid"/>
          </a:ln>
        </p:spPr>
        <p:txBody>
          <a:bodyPr/>
          <a:lstStyle/>
          <a:p>
            <a:endParaRPr lang="en-GB"/>
          </a:p>
        </p:txBody>
      </p:sp>
      <p:sp>
        <p:nvSpPr>
          <p:cNvPr id="4" name="Text 1"/>
          <p:cNvSpPr/>
          <p:nvPr/>
        </p:nvSpPr>
        <p:spPr>
          <a:xfrm>
            <a:off x="868680" y="329184"/>
            <a:ext cx="5029200" cy="274320"/>
          </a:xfrm>
          <a:prstGeom prst="rect">
            <a:avLst/>
          </a:prstGeom>
          <a:noFill/>
          <a:ln/>
        </p:spPr>
        <p:txBody>
          <a:bodyPr wrap="square" lIns="0" tIns="0" rIns="0" bIns="0" rtlCol="0" anchor="ctr"/>
          <a:lstStyle/>
          <a:p>
            <a:pPr marL="0" indent="0">
              <a:buNone/>
            </a:pPr>
            <a:r>
              <a:rPr lang="en-US" sz="1000" b="1" kern="0" spc="400" dirty="0">
                <a:solidFill>
                  <a:srgbClr val="F97316"/>
                </a:solidFill>
                <a:latin typeface="Calibri" pitchFamily="34" charset="0"/>
                <a:ea typeface="Calibri" pitchFamily="34" charset="-122"/>
                <a:cs typeface="Calibri" pitchFamily="34" charset="-120"/>
              </a:rPr>
              <a:t>02 · THE LLM</a:t>
            </a:r>
            <a:endParaRPr lang="en-US" sz="1000" dirty="0"/>
          </a:p>
        </p:txBody>
      </p:sp>
      <p:sp>
        <p:nvSpPr>
          <p:cNvPr id="5" name="Text 2"/>
          <p:cNvSpPr/>
          <p:nvPr/>
        </p:nvSpPr>
        <p:spPr>
          <a:xfrm>
            <a:off x="457200" y="640080"/>
            <a:ext cx="8229600" cy="822960"/>
          </a:xfrm>
          <a:prstGeom prst="rect">
            <a:avLst/>
          </a:prstGeom>
          <a:noFill/>
          <a:ln/>
        </p:spPr>
        <p:txBody>
          <a:bodyPr wrap="square" lIns="0" tIns="0" rIns="0" bIns="0" rtlCol="0" anchor="ctr"/>
          <a:lstStyle/>
          <a:p>
            <a:pPr marL="0" indent="0">
              <a:buNone/>
            </a:pPr>
            <a:r>
              <a:rPr lang="en-US" sz="3200" b="1" dirty="0">
                <a:solidFill>
                  <a:srgbClr val="F8FAFC"/>
                </a:solidFill>
                <a:latin typeface="Calibri" pitchFamily="34" charset="0"/>
                <a:ea typeface="Calibri" pitchFamily="34" charset="-122"/>
                <a:cs typeface="Calibri" pitchFamily="34" charset="-120"/>
              </a:rPr>
              <a:t>Inference &amp; Hosting</a:t>
            </a:r>
            <a:endParaRPr lang="en-US" sz="3200" dirty="0"/>
          </a:p>
        </p:txBody>
      </p:sp>
      <p:sp>
        <p:nvSpPr>
          <p:cNvPr id="6" name="Text 3"/>
          <p:cNvSpPr/>
          <p:nvPr/>
        </p:nvSpPr>
        <p:spPr>
          <a:xfrm>
            <a:off x="457200" y="4754880"/>
            <a:ext cx="4572000" cy="228600"/>
          </a:xfrm>
          <a:prstGeom prst="rect">
            <a:avLst/>
          </a:prstGeom>
          <a:noFill/>
          <a:ln/>
        </p:spPr>
        <p:txBody>
          <a:bodyPr wrap="square" lIns="0" tIns="0" rIns="0" bIns="0" rtlCol="0" anchor="ctr"/>
          <a:lstStyle/>
          <a:p>
            <a:pPr marL="0" indent="0">
              <a:buNone/>
            </a:pPr>
            <a:endParaRPr lang="en-US" sz="900" dirty="0"/>
          </a:p>
        </p:txBody>
      </p:sp>
      <p:sp>
        <p:nvSpPr>
          <p:cNvPr id="7" name="Shape 4"/>
          <p:cNvSpPr/>
          <p:nvPr/>
        </p:nvSpPr>
        <p:spPr>
          <a:xfrm>
            <a:off x="8275320" y="4818888"/>
            <a:ext cx="73152" cy="73152"/>
          </a:xfrm>
          <a:prstGeom prst="ellipse">
            <a:avLst/>
          </a:prstGeom>
          <a:solidFill>
            <a:srgbClr val="F97316"/>
          </a:solidFill>
          <a:ln w="12700">
            <a:solidFill>
              <a:srgbClr val="F97316"/>
            </a:solidFill>
            <a:prstDash val="solid"/>
          </a:ln>
        </p:spPr>
        <p:txBody>
          <a:bodyPr/>
          <a:lstStyle/>
          <a:p>
            <a:endParaRPr lang="en-GB"/>
          </a:p>
        </p:txBody>
      </p:sp>
      <p:sp>
        <p:nvSpPr>
          <p:cNvPr id="8" name="Text 5"/>
          <p:cNvSpPr/>
          <p:nvPr/>
        </p:nvSpPr>
        <p:spPr>
          <a:xfrm>
            <a:off x="8366760" y="4736592"/>
            <a:ext cx="685800" cy="228600"/>
          </a:xfrm>
          <a:prstGeom prst="rect">
            <a:avLst/>
          </a:prstGeom>
          <a:noFill/>
          <a:ln/>
        </p:spPr>
        <p:txBody>
          <a:bodyPr wrap="square" lIns="0" tIns="0" rIns="0" bIns="0" rtlCol="0" anchor="ctr"/>
          <a:lstStyle/>
          <a:p>
            <a:pPr marL="0" indent="0" algn="r">
              <a:buNone/>
            </a:pPr>
            <a:r>
              <a:rPr lang="en-US" sz="900" dirty="0">
                <a:solidFill>
                  <a:srgbClr val="94A3B8"/>
                </a:solidFill>
                <a:latin typeface="Calibri" pitchFamily="34" charset="0"/>
                <a:ea typeface="Calibri" pitchFamily="34" charset="-122"/>
                <a:cs typeface="Calibri" pitchFamily="34" charset="-120"/>
              </a:rPr>
              <a:t>06 / 21</a:t>
            </a:r>
            <a:endParaRPr lang="en-US" sz="900" dirty="0"/>
          </a:p>
        </p:txBody>
      </p:sp>
      <p:sp>
        <p:nvSpPr>
          <p:cNvPr id="9" name="Shape 6"/>
          <p:cNvSpPr/>
          <p:nvPr/>
        </p:nvSpPr>
        <p:spPr>
          <a:xfrm>
            <a:off x="434340" y="1600200"/>
            <a:ext cx="2606040" cy="2743200"/>
          </a:xfrm>
          <a:prstGeom prst="roundRect">
            <a:avLst>
              <a:gd name="adj" fmla="val 2807"/>
            </a:avLst>
          </a:prstGeom>
          <a:solidFill>
            <a:srgbClr val="11203A"/>
          </a:solidFill>
          <a:ln w="12700">
            <a:solidFill>
              <a:srgbClr val="1B2D4F"/>
            </a:solidFill>
            <a:prstDash val="solid"/>
          </a:ln>
          <a:effectLst>
            <a:outerShdw blurRad="101600" dist="25400" dir="8100000" algn="bl" rotWithShape="0">
              <a:srgbClr val="000000">
                <a:alpha val="25000"/>
              </a:srgbClr>
            </a:outerShdw>
          </a:effectLst>
        </p:spPr>
        <p:txBody>
          <a:bodyPr/>
          <a:lstStyle/>
          <a:p>
            <a:endParaRPr lang="en-GB"/>
          </a:p>
        </p:txBody>
      </p:sp>
      <p:sp>
        <p:nvSpPr>
          <p:cNvPr id="10" name="Shape 7"/>
          <p:cNvSpPr/>
          <p:nvPr/>
        </p:nvSpPr>
        <p:spPr>
          <a:xfrm>
            <a:off x="434340" y="1600200"/>
            <a:ext cx="2606040" cy="73152"/>
          </a:xfrm>
          <a:prstGeom prst="rect">
            <a:avLst/>
          </a:prstGeom>
          <a:solidFill>
            <a:srgbClr val="3B82F6"/>
          </a:solidFill>
          <a:ln w="12700">
            <a:solidFill>
              <a:srgbClr val="3B82F6"/>
            </a:solidFill>
            <a:prstDash val="solid"/>
          </a:ln>
        </p:spPr>
        <p:txBody>
          <a:bodyPr/>
          <a:lstStyle/>
          <a:p>
            <a:endParaRPr lang="en-GB"/>
          </a:p>
        </p:txBody>
      </p:sp>
      <p:sp>
        <p:nvSpPr>
          <p:cNvPr id="11" name="Shape 8"/>
          <p:cNvSpPr/>
          <p:nvPr/>
        </p:nvSpPr>
        <p:spPr>
          <a:xfrm>
            <a:off x="1463040" y="1874520"/>
            <a:ext cx="548640" cy="548640"/>
          </a:xfrm>
          <a:prstGeom prst="ellipse">
            <a:avLst/>
          </a:prstGeom>
          <a:solidFill>
            <a:srgbClr val="3B82F6"/>
          </a:solidFill>
          <a:ln w="12700">
            <a:solidFill>
              <a:srgbClr val="3B82F6"/>
            </a:solidFill>
            <a:prstDash val="solid"/>
          </a:ln>
        </p:spPr>
        <p:txBody>
          <a:bodyPr/>
          <a:lstStyle/>
          <a:p>
            <a:endParaRPr lang="en-GB"/>
          </a:p>
        </p:txBody>
      </p:sp>
      <p:sp>
        <p:nvSpPr>
          <p:cNvPr id="12" name="Text 9"/>
          <p:cNvSpPr/>
          <p:nvPr/>
        </p:nvSpPr>
        <p:spPr>
          <a:xfrm>
            <a:off x="1463040" y="1874520"/>
            <a:ext cx="548640" cy="548640"/>
          </a:xfrm>
          <a:prstGeom prst="rect">
            <a:avLst/>
          </a:prstGeom>
          <a:noFill/>
          <a:ln/>
        </p:spPr>
        <p:txBody>
          <a:bodyPr wrap="square" lIns="0" tIns="0" rIns="0" bIns="0" rtlCol="0" anchor="ctr"/>
          <a:lstStyle/>
          <a:p>
            <a:pPr marL="0" indent="0" algn="ctr">
              <a:buNone/>
            </a:pPr>
            <a:r>
              <a:rPr lang="en-US" sz="2000" b="1" dirty="0">
                <a:solidFill>
                  <a:srgbClr val="F8FAFC"/>
                </a:solidFill>
                <a:latin typeface="Calibri" pitchFamily="34" charset="0"/>
                <a:ea typeface="Calibri" pitchFamily="34" charset="-122"/>
                <a:cs typeface="Calibri" pitchFamily="34" charset="-120"/>
              </a:rPr>
              <a:t>☁️</a:t>
            </a:r>
            <a:endParaRPr lang="en-US" sz="2000" dirty="0"/>
          </a:p>
        </p:txBody>
      </p:sp>
      <p:sp>
        <p:nvSpPr>
          <p:cNvPr id="13" name="Text 10"/>
          <p:cNvSpPr/>
          <p:nvPr/>
        </p:nvSpPr>
        <p:spPr>
          <a:xfrm>
            <a:off x="434340" y="2560320"/>
            <a:ext cx="2606040" cy="365760"/>
          </a:xfrm>
          <a:prstGeom prst="rect">
            <a:avLst/>
          </a:prstGeom>
          <a:noFill/>
          <a:ln/>
        </p:spPr>
        <p:txBody>
          <a:bodyPr wrap="square" lIns="0" tIns="0" rIns="0" bIns="0" rtlCol="0" anchor="ctr"/>
          <a:lstStyle/>
          <a:p>
            <a:pPr marL="0" indent="0" algn="ctr">
              <a:buNone/>
            </a:pPr>
            <a:r>
              <a:rPr lang="en-US" sz="1600" b="1" dirty="0">
                <a:solidFill>
                  <a:srgbClr val="F8FAFC"/>
                </a:solidFill>
                <a:latin typeface="Calibri" pitchFamily="34" charset="0"/>
                <a:ea typeface="Calibri" pitchFamily="34" charset="-122"/>
                <a:cs typeface="Calibri" pitchFamily="34" charset="-120"/>
              </a:rPr>
              <a:t>API Cloud</a:t>
            </a:r>
            <a:endParaRPr lang="en-US" sz="1600" dirty="0"/>
          </a:p>
        </p:txBody>
      </p:sp>
      <p:sp>
        <p:nvSpPr>
          <p:cNvPr id="14" name="Text 11"/>
          <p:cNvSpPr/>
          <p:nvPr/>
        </p:nvSpPr>
        <p:spPr>
          <a:xfrm>
            <a:off x="434340" y="2898648"/>
            <a:ext cx="2606040" cy="274320"/>
          </a:xfrm>
          <a:prstGeom prst="rect">
            <a:avLst/>
          </a:prstGeom>
          <a:noFill/>
          <a:ln/>
        </p:spPr>
        <p:txBody>
          <a:bodyPr wrap="square" lIns="0" tIns="0" rIns="0" bIns="0" rtlCol="0" anchor="ctr"/>
          <a:lstStyle/>
          <a:p>
            <a:pPr marL="0" indent="0" algn="ctr">
              <a:buNone/>
            </a:pPr>
            <a:r>
              <a:rPr lang="en-US" sz="900" kern="0" spc="300" dirty="0">
                <a:solidFill>
                  <a:srgbClr val="3B82F6"/>
                </a:solidFill>
                <a:latin typeface="Calibri" pitchFamily="34" charset="0"/>
                <a:ea typeface="Calibri" pitchFamily="34" charset="-122"/>
                <a:cs typeface="Calibri" pitchFamily="34" charset="-120"/>
              </a:rPr>
              <a:t>FASTEST PATH</a:t>
            </a:r>
            <a:endParaRPr lang="en-US" sz="900" dirty="0"/>
          </a:p>
        </p:txBody>
      </p:sp>
      <p:sp>
        <p:nvSpPr>
          <p:cNvPr id="15" name="Text 12"/>
          <p:cNvSpPr/>
          <p:nvPr/>
        </p:nvSpPr>
        <p:spPr>
          <a:xfrm>
            <a:off x="891540" y="3291840"/>
            <a:ext cx="1965960" cy="914400"/>
          </a:xfrm>
          <a:prstGeom prst="rect">
            <a:avLst/>
          </a:prstGeom>
          <a:noFill/>
          <a:ln/>
        </p:spPr>
        <p:txBody>
          <a:bodyPr wrap="square" lIns="0" tIns="0" rIns="0" bIns="0" rtlCol="0" anchor="ctr"/>
          <a:lstStyle/>
          <a:p>
            <a:pPr marL="342900" indent="-342900">
              <a:spcAft>
                <a:spcPts val="400"/>
              </a:spcAft>
              <a:buSzPct val="100000"/>
              <a:buChar char="•"/>
            </a:pPr>
            <a:r>
              <a:rPr lang="en-US" sz="1200" dirty="0">
                <a:solidFill>
                  <a:srgbClr val="F8FAFC"/>
                </a:solidFill>
                <a:latin typeface="Calibri" pitchFamily="34" charset="0"/>
                <a:ea typeface="Calibri" pitchFamily="34" charset="-122"/>
                <a:cs typeface="Calibri" pitchFamily="34" charset="-120"/>
              </a:rPr>
              <a:t>OpenAI</a:t>
            </a:r>
            <a:endParaRPr lang="en-US" sz="1200" dirty="0"/>
          </a:p>
          <a:p>
            <a:pPr marL="342900" indent="-342900">
              <a:spcAft>
                <a:spcPts val="400"/>
              </a:spcAft>
              <a:buSzPct val="100000"/>
              <a:buChar char="•"/>
            </a:pPr>
            <a:r>
              <a:rPr lang="en-US" sz="1200" dirty="0">
                <a:solidFill>
                  <a:srgbClr val="F8FAFC"/>
                </a:solidFill>
                <a:latin typeface="Calibri" pitchFamily="34" charset="0"/>
                <a:ea typeface="Calibri" pitchFamily="34" charset="-122"/>
                <a:cs typeface="Calibri" pitchFamily="34" charset="-120"/>
              </a:rPr>
              <a:t>Anthropic</a:t>
            </a:r>
            <a:endParaRPr lang="en-US" sz="1200" dirty="0"/>
          </a:p>
          <a:p>
            <a:pPr marL="342900" indent="-342900">
              <a:spcAft>
                <a:spcPts val="400"/>
              </a:spcAft>
              <a:buSzPct val="100000"/>
              <a:buChar char="•"/>
            </a:pPr>
            <a:r>
              <a:rPr lang="en-US" sz="1200" dirty="0">
                <a:solidFill>
                  <a:srgbClr val="F8FAFC"/>
                </a:solidFill>
                <a:latin typeface="Calibri" pitchFamily="34" charset="0"/>
                <a:ea typeface="Calibri" pitchFamily="34" charset="-122"/>
                <a:cs typeface="Calibri" pitchFamily="34" charset="-120"/>
              </a:rPr>
              <a:t>Azure OpenAI</a:t>
            </a:r>
            <a:endParaRPr lang="en-US" sz="1200" dirty="0"/>
          </a:p>
        </p:txBody>
      </p:sp>
      <p:sp>
        <p:nvSpPr>
          <p:cNvPr id="16" name="Shape 13"/>
          <p:cNvSpPr/>
          <p:nvPr/>
        </p:nvSpPr>
        <p:spPr>
          <a:xfrm>
            <a:off x="3268980" y="1600200"/>
            <a:ext cx="2606040" cy="2743200"/>
          </a:xfrm>
          <a:prstGeom prst="roundRect">
            <a:avLst>
              <a:gd name="adj" fmla="val 2807"/>
            </a:avLst>
          </a:prstGeom>
          <a:solidFill>
            <a:srgbClr val="11203A"/>
          </a:solidFill>
          <a:ln w="12700">
            <a:solidFill>
              <a:srgbClr val="1B2D4F"/>
            </a:solidFill>
            <a:prstDash val="solid"/>
          </a:ln>
          <a:effectLst>
            <a:outerShdw blurRad="101600" dist="25400" dir="8100000" algn="bl" rotWithShape="0">
              <a:srgbClr val="000000">
                <a:alpha val="25000"/>
              </a:srgbClr>
            </a:outerShdw>
          </a:effectLst>
        </p:spPr>
        <p:txBody>
          <a:bodyPr/>
          <a:lstStyle/>
          <a:p>
            <a:endParaRPr lang="en-GB"/>
          </a:p>
        </p:txBody>
      </p:sp>
      <p:sp>
        <p:nvSpPr>
          <p:cNvPr id="17" name="Shape 14"/>
          <p:cNvSpPr/>
          <p:nvPr/>
        </p:nvSpPr>
        <p:spPr>
          <a:xfrm>
            <a:off x="3268980" y="1600200"/>
            <a:ext cx="2606040" cy="73152"/>
          </a:xfrm>
          <a:prstGeom prst="rect">
            <a:avLst/>
          </a:prstGeom>
          <a:solidFill>
            <a:srgbClr val="F97316"/>
          </a:solidFill>
          <a:ln w="12700">
            <a:solidFill>
              <a:srgbClr val="F97316"/>
            </a:solidFill>
            <a:prstDash val="solid"/>
          </a:ln>
        </p:spPr>
        <p:txBody>
          <a:bodyPr/>
          <a:lstStyle/>
          <a:p>
            <a:endParaRPr lang="en-GB"/>
          </a:p>
        </p:txBody>
      </p:sp>
      <p:sp>
        <p:nvSpPr>
          <p:cNvPr id="18" name="Shape 15"/>
          <p:cNvSpPr/>
          <p:nvPr/>
        </p:nvSpPr>
        <p:spPr>
          <a:xfrm>
            <a:off x="4297680" y="1874520"/>
            <a:ext cx="548640" cy="548640"/>
          </a:xfrm>
          <a:prstGeom prst="ellipse">
            <a:avLst/>
          </a:prstGeom>
          <a:solidFill>
            <a:srgbClr val="F97316"/>
          </a:solidFill>
          <a:ln w="12700">
            <a:solidFill>
              <a:srgbClr val="F97316"/>
            </a:solidFill>
            <a:prstDash val="solid"/>
          </a:ln>
        </p:spPr>
        <p:txBody>
          <a:bodyPr/>
          <a:lstStyle/>
          <a:p>
            <a:endParaRPr lang="en-GB"/>
          </a:p>
        </p:txBody>
      </p:sp>
      <p:sp>
        <p:nvSpPr>
          <p:cNvPr id="19" name="Text 16"/>
          <p:cNvSpPr/>
          <p:nvPr/>
        </p:nvSpPr>
        <p:spPr>
          <a:xfrm>
            <a:off x="4297680" y="1874520"/>
            <a:ext cx="548640" cy="548640"/>
          </a:xfrm>
          <a:prstGeom prst="rect">
            <a:avLst/>
          </a:prstGeom>
          <a:noFill/>
          <a:ln/>
        </p:spPr>
        <p:txBody>
          <a:bodyPr wrap="square" lIns="0" tIns="0" rIns="0" bIns="0" rtlCol="0" anchor="ctr"/>
          <a:lstStyle/>
          <a:p>
            <a:pPr marL="0" indent="0" algn="ctr">
              <a:buNone/>
            </a:pPr>
            <a:r>
              <a:rPr lang="en-US" sz="2000" b="1" dirty="0">
                <a:solidFill>
                  <a:srgbClr val="F8FAFC"/>
                </a:solidFill>
                <a:latin typeface="Calibri" pitchFamily="34" charset="0"/>
                <a:ea typeface="Calibri" pitchFamily="34" charset="-122"/>
                <a:cs typeface="Calibri" pitchFamily="34" charset="-120"/>
              </a:rPr>
              <a:t>🏠</a:t>
            </a:r>
            <a:endParaRPr lang="en-US" sz="2000" dirty="0"/>
          </a:p>
        </p:txBody>
      </p:sp>
      <p:sp>
        <p:nvSpPr>
          <p:cNvPr id="20" name="Text 17"/>
          <p:cNvSpPr/>
          <p:nvPr/>
        </p:nvSpPr>
        <p:spPr>
          <a:xfrm>
            <a:off x="3268980" y="2560320"/>
            <a:ext cx="2606040" cy="365760"/>
          </a:xfrm>
          <a:prstGeom prst="rect">
            <a:avLst/>
          </a:prstGeom>
          <a:noFill/>
          <a:ln/>
        </p:spPr>
        <p:txBody>
          <a:bodyPr wrap="square" lIns="0" tIns="0" rIns="0" bIns="0" rtlCol="0" anchor="ctr"/>
          <a:lstStyle/>
          <a:p>
            <a:pPr marL="0" indent="0" algn="ctr">
              <a:buNone/>
            </a:pPr>
            <a:r>
              <a:rPr lang="en-US" sz="1600" b="1" dirty="0">
                <a:solidFill>
                  <a:srgbClr val="F8FAFC"/>
                </a:solidFill>
                <a:latin typeface="Calibri" pitchFamily="34" charset="0"/>
                <a:ea typeface="Calibri" pitchFamily="34" charset="-122"/>
                <a:cs typeface="Calibri" pitchFamily="34" charset="-120"/>
              </a:rPr>
              <a:t>Self-hosted</a:t>
            </a:r>
            <a:endParaRPr lang="en-US" sz="1600" dirty="0"/>
          </a:p>
        </p:txBody>
      </p:sp>
      <p:sp>
        <p:nvSpPr>
          <p:cNvPr id="21" name="Text 18"/>
          <p:cNvSpPr/>
          <p:nvPr/>
        </p:nvSpPr>
        <p:spPr>
          <a:xfrm>
            <a:off x="3268980" y="2898648"/>
            <a:ext cx="2606040" cy="274320"/>
          </a:xfrm>
          <a:prstGeom prst="rect">
            <a:avLst/>
          </a:prstGeom>
          <a:noFill/>
          <a:ln/>
        </p:spPr>
        <p:txBody>
          <a:bodyPr wrap="square" lIns="0" tIns="0" rIns="0" bIns="0" rtlCol="0" anchor="ctr"/>
          <a:lstStyle/>
          <a:p>
            <a:pPr marL="0" indent="0" algn="ctr">
              <a:buNone/>
            </a:pPr>
            <a:r>
              <a:rPr lang="en-US" sz="900" kern="0" spc="300" dirty="0">
                <a:solidFill>
                  <a:srgbClr val="F97316"/>
                </a:solidFill>
                <a:latin typeface="Calibri" pitchFamily="34" charset="0"/>
                <a:ea typeface="Calibri" pitchFamily="34" charset="-122"/>
                <a:cs typeface="Calibri" pitchFamily="34" charset="-120"/>
              </a:rPr>
              <a:t>PRIVACY · COST</a:t>
            </a:r>
            <a:endParaRPr lang="en-US" sz="900" dirty="0"/>
          </a:p>
        </p:txBody>
      </p:sp>
      <p:sp>
        <p:nvSpPr>
          <p:cNvPr id="22" name="Text 19"/>
          <p:cNvSpPr/>
          <p:nvPr/>
        </p:nvSpPr>
        <p:spPr>
          <a:xfrm>
            <a:off x="3726180" y="3291840"/>
            <a:ext cx="1965960" cy="914400"/>
          </a:xfrm>
          <a:prstGeom prst="rect">
            <a:avLst/>
          </a:prstGeom>
          <a:noFill/>
          <a:ln/>
        </p:spPr>
        <p:txBody>
          <a:bodyPr wrap="square" lIns="0" tIns="0" rIns="0" bIns="0" rtlCol="0" anchor="ctr"/>
          <a:lstStyle/>
          <a:p>
            <a:pPr marL="342900" indent="-342900">
              <a:spcAft>
                <a:spcPts val="400"/>
              </a:spcAft>
              <a:buSzPct val="100000"/>
              <a:buChar char="•"/>
            </a:pPr>
            <a:r>
              <a:rPr lang="en-US" sz="1200" dirty="0">
                <a:solidFill>
                  <a:srgbClr val="F8FAFC"/>
                </a:solidFill>
                <a:latin typeface="Calibri" pitchFamily="34" charset="0"/>
                <a:ea typeface="Calibri" pitchFamily="34" charset="-122"/>
                <a:cs typeface="Calibri" pitchFamily="34" charset="-120"/>
              </a:rPr>
              <a:t>Ollama</a:t>
            </a:r>
            <a:endParaRPr lang="en-US" sz="1200" dirty="0"/>
          </a:p>
          <a:p>
            <a:pPr marL="342900" indent="-342900">
              <a:spcAft>
                <a:spcPts val="400"/>
              </a:spcAft>
              <a:buSzPct val="100000"/>
              <a:buChar char="•"/>
            </a:pPr>
            <a:r>
              <a:rPr lang="en-US" sz="1200" dirty="0">
                <a:solidFill>
                  <a:srgbClr val="F8FAFC"/>
                </a:solidFill>
                <a:latin typeface="Calibri" pitchFamily="34" charset="0"/>
                <a:ea typeface="Calibri" pitchFamily="34" charset="-122"/>
                <a:cs typeface="Calibri" pitchFamily="34" charset="-120"/>
              </a:rPr>
              <a:t>llama.cpp</a:t>
            </a:r>
            <a:endParaRPr lang="en-US" sz="1200" dirty="0"/>
          </a:p>
          <a:p>
            <a:pPr marL="342900" indent="-342900">
              <a:spcAft>
                <a:spcPts val="400"/>
              </a:spcAft>
              <a:buSzPct val="100000"/>
              <a:buChar char="•"/>
            </a:pPr>
            <a:r>
              <a:rPr lang="en-US" sz="1200" dirty="0">
                <a:solidFill>
                  <a:srgbClr val="F8FAFC"/>
                </a:solidFill>
                <a:latin typeface="Calibri" pitchFamily="34" charset="0"/>
                <a:ea typeface="Calibri" pitchFamily="34" charset="-122"/>
                <a:cs typeface="Calibri" pitchFamily="34" charset="-120"/>
              </a:rPr>
              <a:t>vLLM</a:t>
            </a:r>
            <a:endParaRPr lang="en-US" sz="1200" dirty="0"/>
          </a:p>
        </p:txBody>
      </p:sp>
      <p:sp>
        <p:nvSpPr>
          <p:cNvPr id="23" name="Shape 20"/>
          <p:cNvSpPr/>
          <p:nvPr/>
        </p:nvSpPr>
        <p:spPr>
          <a:xfrm>
            <a:off x="6103620" y="1600200"/>
            <a:ext cx="2606040" cy="2743200"/>
          </a:xfrm>
          <a:prstGeom prst="roundRect">
            <a:avLst>
              <a:gd name="adj" fmla="val 2807"/>
            </a:avLst>
          </a:prstGeom>
          <a:solidFill>
            <a:srgbClr val="11203A"/>
          </a:solidFill>
          <a:ln w="12700">
            <a:solidFill>
              <a:srgbClr val="1B2D4F"/>
            </a:solidFill>
            <a:prstDash val="solid"/>
          </a:ln>
          <a:effectLst>
            <a:outerShdw blurRad="101600" dist="25400" dir="8100000" algn="bl" rotWithShape="0">
              <a:srgbClr val="000000">
                <a:alpha val="25000"/>
              </a:srgbClr>
            </a:outerShdw>
          </a:effectLst>
        </p:spPr>
        <p:txBody>
          <a:bodyPr/>
          <a:lstStyle/>
          <a:p>
            <a:endParaRPr lang="en-GB"/>
          </a:p>
        </p:txBody>
      </p:sp>
      <p:sp>
        <p:nvSpPr>
          <p:cNvPr id="24" name="Shape 21"/>
          <p:cNvSpPr/>
          <p:nvPr/>
        </p:nvSpPr>
        <p:spPr>
          <a:xfrm>
            <a:off x="6103620" y="1600200"/>
            <a:ext cx="2606040" cy="73152"/>
          </a:xfrm>
          <a:prstGeom prst="rect">
            <a:avLst/>
          </a:prstGeom>
          <a:solidFill>
            <a:srgbClr val="3B82F6"/>
          </a:solidFill>
          <a:ln w="12700">
            <a:solidFill>
              <a:srgbClr val="3B82F6"/>
            </a:solidFill>
            <a:prstDash val="solid"/>
          </a:ln>
        </p:spPr>
        <p:txBody>
          <a:bodyPr/>
          <a:lstStyle/>
          <a:p>
            <a:endParaRPr lang="en-GB"/>
          </a:p>
        </p:txBody>
      </p:sp>
      <p:sp>
        <p:nvSpPr>
          <p:cNvPr id="25" name="Shape 22"/>
          <p:cNvSpPr/>
          <p:nvPr/>
        </p:nvSpPr>
        <p:spPr>
          <a:xfrm>
            <a:off x="7132320" y="1874520"/>
            <a:ext cx="548640" cy="548640"/>
          </a:xfrm>
          <a:prstGeom prst="ellipse">
            <a:avLst/>
          </a:prstGeom>
          <a:solidFill>
            <a:srgbClr val="3B82F6"/>
          </a:solidFill>
          <a:ln w="12700">
            <a:solidFill>
              <a:srgbClr val="3B82F6"/>
            </a:solidFill>
            <a:prstDash val="solid"/>
          </a:ln>
        </p:spPr>
        <p:txBody>
          <a:bodyPr/>
          <a:lstStyle/>
          <a:p>
            <a:endParaRPr lang="en-GB"/>
          </a:p>
        </p:txBody>
      </p:sp>
      <p:sp>
        <p:nvSpPr>
          <p:cNvPr id="26" name="Text 23"/>
          <p:cNvSpPr/>
          <p:nvPr/>
        </p:nvSpPr>
        <p:spPr>
          <a:xfrm>
            <a:off x="7132320" y="1874520"/>
            <a:ext cx="548640" cy="548640"/>
          </a:xfrm>
          <a:prstGeom prst="rect">
            <a:avLst/>
          </a:prstGeom>
          <a:noFill/>
          <a:ln/>
        </p:spPr>
        <p:txBody>
          <a:bodyPr wrap="square" lIns="0" tIns="0" rIns="0" bIns="0" rtlCol="0" anchor="ctr"/>
          <a:lstStyle/>
          <a:p>
            <a:pPr marL="0" indent="0" algn="ctr">
              <a:buNone/>
            </a:pPr>
            <a:r>
              <a:rPr lang="en-US" sz="2000" b="1" dirty="0">
                <a:solidFill>
                  <a:srgbClr val="F8FAFC"/>
                </a:solidFill>
                <a:latin typeface="Calibri" pitchFamily="34" charset="0"/>
                <a:ea typeface="Calibri" pitchFamily="34" charset="-122"/>
                <a:cs typeface="Calibri" pitchFamily="34" charset="-120"/>
              </a:rPr>
              <a:t>🏢</a:t>
            </a:r>
            <a:endParaRPr lang="en-US" sz="2000" dirty="0"/>
          </a:p>
        </p:txBody>
      </p:sp>
      <p:sp>
        <p:nvSpPr>
          <p:cNvPr id="27" name="Text 24"/>
          <p:cNvSpPr/>
          <p:nvPr/>
        </p:nvSpPr>
        <p:spPr>
          <a:xfrm>
            <a:off x="6103620" y="2560320"/>
            <a:ext cx="2606040" cy="365760"/>
          </a:xfrm>
          <a:prstGeom prst="rect">
            <a:avLst/>
          </a:prstGeom>
          <a:noFill/>
          <a:ln/>
        </p:spPr>
        <p:txBody>
          <a:bodyPr wrap="square" lIns="0" tIns="0" rIns="0" bIns="0" rtlCol="0" anchor="ctr"/>
          <a:lstStyle/>
          <a:p>
            <a:pPr marL="0" indent="0" algn="ctr">
              <a:buNone/>
            </a:pPr>
            <a:r>
              <a:rPr lang="en-US" sz="1600" b="1" dirty="0">
                <a:solidFill>
                  <a:srgbClr val="F8FAFC"/>
                </a:solidFill>
                <a:latin typeface="Calibri" pitchFamily="34" charset="0"/>
                <a:ea typeface="Calibri" pitchFamily="34" charset="-122"/>
                <a:cs typeface="Calibri" pitchFamily="34" charset="-120"/>
              </a:rPr>
              <a:t>Enterprise</a:t>
            </a:r>
            <a:endParaRPr lang="en-US" sz="1600" dirty="0"/>
          </a:p>
        </p:txBody>
      </p:sp>
      <p:sp>
        <p:nvSpPr>
          <p:cNvPr id="28" name="Text 25"/>
          <p:cNvSpPr/>
          <p:nvPr/>
        </p:nvSpPr>
        <p:spPr>
          <a:xfrm>
            <a:off x="6103620" y="2898648"/>
            <a:ext cx="2606040" cy="274320"/>
          </a:xfrm>
          <a:prstGeom prst="rect">
            <a:avLst/>
          </a:prstGeom>
          <a:noFill/>
          <a:ln/>
        </p:spPr>
        <p:txBody>
          <a:bodyPr wrap="square" lIns="0" tIns="0" rIns="0" bIns="0" rtlCol="0" anchor="ctr"/>
          <a:lstStyle/>
          <a:p>
            <a:pPr marL="0" indent="0" algn="ctr">
              <a:buNone/>
            </a:pPr>
            <a:r>
              <a:rPr lang="en-US" sz="900" kern="0" spc="300" dirty="0">
                <a:solidFill>
                  <a:srgbClr val="3B82F6"/>
                </a:solidFill>
                <a:latin typeface="Calibri" pitchFamily="34" charset="0"/>
                <a:ea typeface="Calibri" pitchFamily="34" charset="-122"/>
                <a:cs typeface="Calibri" pitchFamily="34" charset="-120"/>
              </a:rPr>
              <a:t>MANAGED K8S</a:t>
            </a:r>
            <a:endParaRPr lang="en-US" sz="900" dirty="0"/>
          </a:p>
        </p:txBody>
      </p:sp>
      <p:sp>
        <p:nvSpPr>
          <p:cNvPr id="29" name="Text 26"/>
          <p:cNvSpPr/>
          <p:nvPr/>
        </p:nvSpPr>
        <p:spPr>
          <a:xfrm>
            <a:off x="6560820" y="3291840"/>
            <a:ext cx="1965960" cy="914400"/>
          </a:xfrm>
          <a:prstGeom prst="rect">
            <a:avLst/>
          </a:prstGeom>
          <a:noFill/>
          <a:ln/>
        </p:spPr>
        <p:txBody>
          <a:bodyPr wrap="square" lIns="0" tIns="0" rIns="0" bIns="0" rtlCol="0" anchor="ctr"/>
          <a:lstStyle/>
          <a:p>
            <a:pPr marL="342900" indent="-342900">
              <a:spcAft>
                <a:spcPts val="400"/>
              </a:spcAft>
              <a:buSzPct val="100000"/>
              <a:buChar char="•"/>
            </a:pPr>
            <a:r>
              <a:rPr lang="en-US" sz="1200" dirty="0">
                <a:solidFill>
                  <a:srgbClr val="F8FAFC"/>
                </a:solidFill>
                <a:latin typeface="Calibri" pitchFamily="34" charset="0"/>
                <a:ea typeface="Calibri" pitchFamily="34" charset="-122"/>
                <a:cs typeface="Calibri" pitchFamily="34" charset="-120"/>
              </a:rPr>
              <a:t>Azure AI Foundry</a:t>
            </a:r>
            <a:endParaRPr lang="en-US" sz="1200" dirty="0"/>
          </a:p>
          <a:p>
            <a:pPr marL="342900" indent="-342900">
              <a:spcAft>
                <a:spcPts val="400"/>
              </a:spcAft>
              <a:buSzPct val="100000"/>
              <a:buChar char="•"/>
            </a:pPr>
            <a:r>
              <a:rPr lang="en-US" sz="1200" dirty="0">
                <a:solidFill>
                  <a:srgbClr val="F8FAFC"/>
                </a:solidFill>
                <a:latin typeface="Calibri" pitchFamily="34" charset="0"/>
                <a:ea typeface="Calibri" pitchFamily="34" charset="-122"/>
                <a:cs typeface="Calibri" pitchFamily="34" charset="-120"/>
              </a:rPr>
              <a:t>AWS Bedrock</a:t>
            </a:r>
            <a:endParaRPr lang="en-US" sz="1200" dirty="0"/>
          </a:p>
          <a:p>
            <a:pPr marL="342900" indent="-342900">
              <a:spcAft>
                <a:spcPts val="400"/>
              </a:spcAft>
              <a:buSzPct val="100000"/>
              <a:buChar char="•"/>
            </a:pPr>
            <a:r>
              <a:rPr lang="en-US" sz="1200" dirty="0">
                <a:solidFill>
                  <a:srgbClr val="F8FAFC"/>
                </a:solidFill>
                <a:latin typeface="Calibri" pitchFamily="34" charset="0"/>
                <a:ea typeface="Calibri" pitchFamily="34" charset="-122"/>
                <a:cs typeface="Calibri" pitchFamily="34" charset="-120"/>
              </a:rPr>
              <a:t>GCP Vertex</a:t>
            </a:r>
            <a:endParaRPr lang="en-US" sz="1200" dirty="0"/>
          </a:p>
        </p:txBody>
      </p:sp>
      <p:sp>
        <p:nvSpPr>
          <p:cNvPr id="30" name="Text 27"/>
          <p:cNvSpPr/>
          <p:nvPr/>
        </p:nvSpPr>
        <p:spPr>
          <a:xfrm>
            <a:off x="457200" y="4480560"/>
            <a:ext cx="8229600" cy="320040"/>
          </a:xfrm>
          <a:prstGeom prst="rect">
            <a:avLst/>
          </a:prstGeom>
          <a:noFill/>
          <a:ln/>
        </p:spPr>
        <p:txBody>
          <a:bodyPr wrap="square" lIns="0" tIns="0" rIns="0" bIns="0" rtlCol="0" anchor="ctr"/>
          <a:lstStyle/>
          <a:p>
            <a:pPr marL="0" indent="0" algn="ctr">
              <a:buNone/>
            </a:pPr>
            <a:r>
              <a:rPr lang="en-US" sz="1300" b="1" i="1" dirty="0">
                <a:solidFill>
                  <a:srgbClr val="F97316"/>
                </a:solidFill>
                <a:latin typeface="Calibri" pitchFamily="34" charset="0"/>
                <a:ea typeface="Calibri" pitchFamily="34" charset="-122"/>
                <a:cs typeface="Calibri" pitchFamily="34" charset="-120"/>
              </a:rPr>
              <a:t>Running a model = inference</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8">
    <p:bg>
      <p:bgPr>
        <a:solidFill>
          <a:srgbClr val="0A1628"/>
        </a:solidFill>
        <a:effectLst/>
      </p:bgPr>
    </p:bg>
    <p:spTree>
      <p:nvGrpSpPr>
        <p:cNvPr id="1" name=""/>
        <p:cNvGrpSpPr/>
        <p:nvPr/>
      </p:nvGrpSpPr>
      <p:grpSpPr>
        <a:xfrm>
          <a:off x="0" y="0"/>
          <a:ext cx="0" cy="0"/>
          <a:chOff x="0" y="0"/>
          <a:chExt cx="0" cy="0"/>
        </a:xfrm>
      </p:grpSpPr>
      <p:sp>
        <p:nvSpPr>
          <p:cNvPr id="3" name="Shape 0"/>
          <p:cNvSpPr/>
          <p:nvPr/>
        </p:nvSpPr>
        <p:spPr>
          <a:xfrm>
            <a:off x="457200" y="411480"/>
            <a:ext cx="320040" cy="54864"/>
          </a:xfrm>
          <a:prstGeom prst="rect">
            <a:avLst/>
          </a:prstGeom>
          <a:solidFill>
            <a:srgbClr val="F97316"/>
          </a:solidFill>
          <a:ln w="12700">
            <a:solidFill>
              <a:srgbClr val="F97316"/>
            </a:solidFill>
            <a:prstDash val="solid"/>
          </a:ln>
        </p:spPr>
        <p:txBody>
          <a:bodyPr/>
          <a:lstStyle/>
          <a:p>
            <a:endParaRPr lang="en-GB"/>
          </a:p>
        </p:txBody>
      </p:sp>
      <p:sp>
        <p:nvSpPr>
          <p:cNvPr id="4" name="Text 1"/>
          <p:cNvSpPr/>
          <p:nvPr/>
        </p:nvSpPr>
        <p:spPr>
          <a:xfrm>
            <a:off x="868680" y="329184"/>
            <a:ext cx="5029200" cy="274320"/>
          </a:xfrm>
          <a:prstGeom prst="rect">
            <a:avLst/>
          </a:prstGeom>
          <a:noFill/>
          <a:ln/>
        </p:spPr>
        <p:txBody>
          <a:bodyPr wrap="square" lIns="0" tIns="0" rIns="0" bIns="0" rtlCol="0" anchor="ctr"/>
          <a:lstStyle/>
          <a:p>
            <a:pPr marL="0" indent="0">
              <a:buNone/>
            </a:pPr>
            <a:r>
              <a:rPr lang="en-US" sz="1000" b="1" kern="0" spc="400" dirty="0">
                <a:solidFill>
                  <a:srgbClr val="F97316"/>
                </a:solidFill>
                <a:latin typeface="Calibri" pitchFamily="34" charset="0"/>
                <a:ea typeface="Calibri" pitchFamily="34" charset="-122"/>
                <a:cs typeface="Calibri" pitchFamily="34" charset="-120"/>
              </a:rPr>
              <a:t>02 · THE LLM</a:t>
            </a:r>
            <a:endParaRPr lang="en-US" sz="1000" dirty="0"/>
          </a:p>
        </p:txBody>
      </p:sp>
      <p:sp>
        <p:nvSpPr>
          <p:cNvPr id="5" name="Text 2"/>
          <p:cNvSpPr/>
          <p:nvPr/>
        </p:nvSpPr>
        <p:spPr>
          <a:xfrm>
            <a:off x="457200" y="640080"/>
            <a:ext cx="8229600" cy="822960"/>
          </a:xfrm>
          <a:prstGeom prst="rect">
            <a:avLst/>
          </a:prstGeom>
          <a:noFill/>
          <a:ln/>
        </p:spPr>
        <p:txBody>
          <a:bodyPr wrap="square" lIns="0" tIns="0" rIns="0" bIns="0" rtlCol="0" anchor="ctr"/>
          <a:lstStyle/>
          <a:p>
            <a:pPr marL="0" indent="0">
              <a:buNone/>
            </a:pPr>
            <a:r>
              <a:rPr lang="en-US" sz="3200" b="1" dirty="0">
                <a:solidFill>
                  <a:srgbClr val="F8FAFC"/>
                </a:solidFill>
                <a:latin typeface="Calibri" pitchFamily="34" charset="0"/>
                <a:ea typeface="Calibri" pitchFamily="34" charset="-122"/>
                <a:cs typeface="Calibri" pitchFamily="34" charset="-120"/>
              </a:rPr>
              <a:t>Model basics you should know</a:t>
            </a:r>
            <a:endParaRPr lang="en-US" sz="3200" dirty="0"/>
          </a:p>
        </p:txBody>
      </p:sp>
      <p:sp>
        <p:nvSpPr>
          <p:cNvPr id="6" name="Text 3"/>
          <p:cNvSpPr/>
          <p:nvPr/>
        </p:nvSpPr>
        <p:spPr>
          <a:xfrm>
            <a:off x="457200" y="4754880"/>
            <a:ext cx="4572000" cy="228600"/>
          </a:xfrm>
          <a:prstGeom prst="rect">
            <a:avLst/>
          </a:prstGeom>
          <a:noFill/>
          <a:ln/>
        </p:spPr>
        <p:txBody>
          <a:bodyPr wrap="square" lIns="0" tIns="0" rIns="0" bIns="0" rtlCol="0" anchor="ctr"/>
          <a:lstStyle/>
          <a:p>
            <a:pPr marL="0" indent="0">
              <a:buNone/>
            </a:pPr>
            <a:endParaRPr lang="en-US" sz="900" dirty="0"/>
          </a:p>
        </p:txBody>
      </p:sp>
      <p:sp>
        <p:nvSpPr>
          <p:cNvPr id="7" name="Shape 4"/>
          <p:cNvSpPr/>
          <p:nvPr/>
        </p:nvSpPr>
        <p:spPr>
          <a:xfrm>
            <a:off x="8275320" y="4818888"/>
            <a:ext cx="73152" cy="73152"/>
          </a:xfrm>
          <a:prstGeom prst="ellipse">
            <a:avLst/>
          </a:prstGeom>
          <a:solidFill>
            <a:srgbClr val="F97316"/>
          </a:solidFill>
          <a:ln w="12700">
            <a:solidFill>
              <a:srgbClr val="F97316"/>
            </a:solidFill>
            <a:prstDash val="solid"/>
          </a:ln>
        </p:spPr>
        <p:txBody>
          <a:bodyPr/>
          <a:lstStyle/>
          <a:p>
            <a:endParaRPr lang="en-GB"/>
          </a:p>
        </p:txBody>
      </p:sp>
      <p:sp>
        <p:nvSpPr>
          <p:cNvPr id="8" name="Text 5"/>
          <p:cNvSpPr/>
          <p:nvPr/>
        </p:nvSpPr>
        <p:spPr>
          <a:xfrm>
            <a:off x="8385140" y="4736592"/>
            <a:ext cx="685800" cy="228600"/>
          </a:xfrm>
          <a:prstGeom prst="rect">
            <a:avLst/>
          </a:prstGeom>
          <a:noFill/>
          <a:ln/>
        </p:spPr>
        <p:txBody>
          <a:bodyPr wrap="square" lIns="0" tIns="0" rIns="0" bIns="0" rtlCol="0" anchor="ctr"/>
          <a:lstStyle/>
          <a:p>
            <a:pPr marL="0" indent="0" algn="r">
              <a:buNone/>
            </a:pPr>
            <a:r>
              <a:rPr lang="en-US" sz="900" dirty="0">
                <a:solidFill>
                  <a:srgbClr val="94A3B8"/>
                </a:solidFill>
                <a:latin typeface="Calibri" pitchFamily="34" charset="0"/>
                <a:ea typeface="Calibri" pitchFamily="34" charset="-122"/>
                <a:cs typeface="Calibri" pitchFamily="34" charset="-120"/>
              </a:rPr>
              <a:t>07 / 21</a:t>
            </a:r>
            <a:endParaRPr lang="en-US" sz="900" dirty="0"/>
          </a:p>
        </p:txBody>
      </p:sp>
      <p:sp>
        <p:nvSpPr>
          <p:cNvPr id="9" name="Shape 6"/>
          <p:cNvSpPr/>
          <p:nvPr/>
        </p:nvSpPr>
        <p:spPr>
          <a:xfrm>
            <a:off x="329184" y="1481328"/>
            <a:ext cx="4160520" cy="1508760"/>
          </a:xfrm>
          <a:prstGeom prst="roundRect">
            <a:avLst>
              <a:gd name="adj" fmla="val 4848"/>
            </a:avLst>
          </a:prstGeom>
          <a:solidFill>
            <a:srgbClr val="11203A"/>
          </a:solidFill>
          <a:ln w="25400">
            <a:solidFill>
              <a:srgbClr val="F97316"/>
            </a:solidFill>
            <a:prstDash val="solid"/>
          </a:ln>
          <a:effectLst>
            <a:outerShdw blurRad="101600" dist="25400" dir="8100000" algn="bl" rotWithShape="0">
              <a:srgbClr val="000000">
                <a:alpha val="25000"/>
              </a:srgbClr>
            </a:outerShdw>
          </a:effectLst>
        </p:spPr>
        <p:txBody>
          <a:bodyPr/>
          <a:lstStyle/>
          <a:p>
            <a:endParaRPr lang="en-GB"/>
          </a:p>
        </p:txBody>
      </p:sp>
      <p:sp>
        <p:nvSpPr>
          <p:cNvPr id="10" name="Shape 7"/>
          <p:cNvSpPr/>
          <p:nvPr/>
        </p:nvSpPr>
        <p:spPr>
          <a:xfrm>
            <a:off x="329184" y="1481328"/>
            <a:ext cx="54864" cy="1508760"/>
          </a:xfrm>
          <a:prstGeom prst="rect">
            <a:avLst/>
          </a:prstGeom>
          <a:solidFill>
            <a:srgbClr val="F97316"/>
          </a:solidFill>
          <a:ln w="12700">
            <a:solidFill>
              <a:srgbClr val="F97316"/>
            </a:solidFill>
            <a:prstDash val="solid"/>
          </a:ln>
        </p:spPr>
        <p:txBody>
          <a:bodyPr/>
          <a:lstStyle/>
          <a:p>
            <a:endParaRPr lang="en-GB"/>
          </a:p>
        </p:txBody>
      </p:sp>
      <p:sp>
        <p:nvSpPr>
          <p:cNvPr id="11" name="Shape 8"/>
          <p:cNvSpPr/>
          <p:nvPr/>
        </p:nvSpPr>
        <p:spPr>
          <a:xfrm>
            <a:off x="493776" y="1645920"/>
            <a:ext cx="457200" cy="457200"/>
          </a:xfrm>
          <a:prstGeom prst="ellipse">
            <a:avLst/>
          </a:prstGeom>
          <a:solidFill>
            <a:srgbClr val="F97316"/>
          </a:solidFill>
          <a:ln w="12700">
            <a:solidFill>
              <a:srgbClr val="F97316"/>
            </a:solidFill>
            <a:prstDash val="solid"/>
          </a:ln>
        </p:spPr>
        <p:txBody>
          <a:bodyPr/>
          <a:lstStyle/>
          <a:p>
            <a:endParaRPr lang="en-GB"/>
          </a:p>
        </p:txBody>
      </p:sp>
      <p:sp>
        <p:nvSpPr>
          <p:cNvPr id="12" name="Text 9"/>
          <p:cNvSpPr/>
          <p:nvPr/>
        </p:nvSpPr>
        <p:spPr>
          <a:xfrm>
            <a:off x="493776" y="1645920"/>
            <a:ext cx="457200" cy="457200"/>
          </a:xfrm>
          <a:prstGeom prst="rect">
            <a:avLst/>
          </a:prstGeom>
          <a:noFill/>
          <a:ln/>
        </p:spPr>
        <p:txBody>
          <a:bodyPr wrap="square" lIns="0" tIns="0" rIns="0" bIns="0" rtlCol="0" anchor="ctr"/>
          <a:lstStyle/>
          <a:p>
            <a:pPr marL="0" indent="0" algn="ctr">
              <a:buNone/>
            </a:pPr>
            <a:r>
              <a:rPr lang="en-US" sz="1600" b="1" dirty="0">
                <a:solidFill>
                  <a:srgbClr val="F8FAFC"/>
                </a:solidFill>
                <a:latin typeface="Calibri" pitchFamily="34" charset="0"/>
                <a:ea typeface="Calibri" pitchFamily="34" charset="-122"/>
                <a:cs typeface="Calibri" pitchFamily="34" charset="-120"/>
              </a:rPr>
              <a:t>🎚️</a:t>
            </a:r>
            <a:endParaRPr lang="en-US" sz="1600" dirty="0"/>
          </a:p>
        </p:txBody>
      </p:sp>
      <p:sp>
        <p:nvSpPr>
          <p:cNvPr id="13" name="Text 10"/>
          <p:cNvSpPr/>
          <p:nvPr/>
        </p:nvSpPr>
        <p:spPr>
          <a:xfrm>
            <a:off x="1106424" y="1618488"/>
            <a:ext cx="3246120" cy="320040"/>
          </a:xfrm>
          <a:prstGeom prst="rect">
            <a:avLst/>
          </a:prstGeom>
          <a:noFill/>
          <a:ln/>
        </p:spPr>
        <p:txBody>
          <a:bodyPr wrap="square" lIns="0" tIns="0" rIns="0" bIns="0" rtlCol="0" anchor="ctr"/>
          <a:lstStyle/>
          <a:p>
            <a:pPr marL="0" indent="0">
              <a:buNone/>
            </a:pPr>
            <a:r>
              <a:rPr lang="en-US" sz="1500" b="1" dirty="0">
                <a:solidFill>
                  <a:srgbClr val="F8FAFC"/>
                </a:solidFill>
                <a:latin typeface="Calibri" pitchFamily="34" charset="0"/>
                <a:ea typeface="Calibri" pitchFamily="34" charset="-122"/>
                <a:cs typeface="Calibri" pitchFamily="34" charset="-120"/>
              </a:rPr>
              <a:t>Model selection</a:t>
            </a:r>
            <a:endParaRPr lang="en-US" sz="1500" dirty="0"/>
          </a:p>
        </p:txBody>
      </p:sp>
      <p:sp>
        <p:nvSpPr>
          <p:cNvPr id="14" name="Text 11"/>
          <p:cNvSpPr/>
          <p:nvPr/>
        </p:nvSpPr>
        <p:spPr>
          <a:xfrm>
            <a:off x="1106424" y="1938528"/>
            <a:ext cx="3246120" cy="274320"/>
          </a:xfrm>
          <a:prstGeom prst="rect">
            <a:avLst/>
          </a:prstGeom>
          <a:noFill/>
          <a:ln/>
        </p:spPr>
        <p:txBody>
          <a:bodyPr wrap="square" lIns="0" tIns="0" rIns="0" bIns="0" rtlCol="0" anchor="ctr"/>
          <a:lstStyle/>
          <a:p>
            <a:pPr marL="0" indent="0">
              <a:buNone/>
            </a:pPr>
            <a:r>
              <a:rPr lang="en-US" sz="1050" i="1" dirty="0">
                <a:solidFill>
                  <a:srgbClr val="F97316"/>
                </a:solidFill>
                <a:latin typeface="Calibri" pitchFamily="34" charset="0"/>
                <a:ea typeface="Calibri" pitchFamily="34" charset="-122"/>
                <a:cs typeface="Calibri" pitchFamily="34" charset="-120"/>
              </a:rPr>
              <a:t>capability ↔ cost ↔ latency</a:t>
            </a:r>
            <a:endParaRPr lang="en-US" sz="1050" dirty="0"/>
          </a:p>
        </p:txBody>
      </p:sp>
      <p:sp>
        <p:nvSpPr>
          <p:cNvPr id="15" name="Shape 12"/>
          <p:cNvSpPr/>
          <p:nvPr/>
        </p:nvSpPr>
        <p:spPr>
          <a:xfrm>
            <a:off x="557784" y="2350008"/>
            <a:ext cx="3291840" cy="146304"/>
          </a:xfrm>
          <a:prstGeom prst="roundRect">
            <a:avLst>
              <a:gd name="adj" fmla="val 12500"/>
            </a:avLst>
          </a:prstGeom>
          <a:solidFill>
            <a:srgbClr val="F97316"/>
          </a:solidFill>
          <a:ln w="12700">
            <a:solidFill>
              <a:srgbClr val="F97316"/>
            </a:solidFill>
            <a:prstDash val="solid"/>
          </a:ln>
        </p:spPr>
        <p:txBody>
          <a:bodyPr/>
          <a:lstStyle/>
          <a:p>
            <a:endParaRPr lang="en-GB"/>
          </a:p>
        </p:txBody>
      </p:sp>
      <p:sp>
        <p:nvSpPr>
          <p:cNvPr id="16" name="Text 13"/>
          <p:cNvSpPr/>
          <p:nvPr/>
        </p:nvSpPr>
        <p:spPr>
          <a:xfrm>
            <a:off x="630936" y="2350008"/>
            <a:ext cx="1371600" cy="146304"/>
          </a:xfrm>
          <a:prstGeom prst="rect">
            <a:avLst/>
          </a:prstGeom>
          <a:noFill/>
          <a:ln/>
        </p:spPr>
        <p:txBody>
          <a:bodyPr wrap="square" lIns="0" tIns="0" rIns="0" bIns="0" rtlCol="0" anchor="ctr"/>
          <a:lstStyle/>
          <a:p>
            <a:pPr marL="0" indent="0">
              <a:buNone/>
            </a:pPr>
            <a:r>
              <a:rPr lang="en-US" sz="850" b="1" dirty="0">
                <a:solidFill>
                  <a:srgbClr val="0A1628"/>
                </a:solidFill>
                <a:latin typeface="Calibri" pitchFamily="34" charset="0"/>
                <a:ea typeface="Calibri" pitchFamily="34" charset="-122"/>
                <a:cs typeface="Calibri" pitchFamily="34" charset="-120"/>
              </a:rPr>
              <a:t>Opus 4.7</a:t>
            </a:r>
            <a:endParaRPr lang="en-US" sz="850" dirty="0"/>
          </a:p>
        </p:txBody>
      </p:sp>
      <p:sp>
        <p:nvSpPr>
          <p:cNvPr id="17" name="Text 14"/>
          <p:cNvSpPr/>
          <p:nvPr/>
        </p:nvSpPr>
        <p:spPr>
          <a:xfrm>
            <a:off x="3876734" y="2350008"/>
            <a:ext cx="1554480" cy="146304"/>
          </a:xfrm>
          <a:prstGeom prst="rect">
            <a:avLst/>
          </a:prstGeom>
          <a:noFill/>
          <a:ln/>
        </p:spPr>
        <p:txBody>
          <a:bodyPr wrap="square" lIns="0" tIns="0" rIns="0" bIns="0" rtlCol="0" anchor="ctr"/>
          <a:lstStyle/>
          <a:p>
            <a:pPr marL="0" indent="0">
              <a:buNone/>
            </a:pPr>
            <a:r>
              <a:rPr lang="en-US" sz="850" i="1" dirty="0">
                <a:solidFill>
                  <a:srgbClr val="94A3B8"/>
                </a:solidFill>
                <a:latin typeface="Calibri" pitchFamily="34" charset="0"/>
                <a:ea typeface="Calibri" pitchFamily="34" charset="-122"/>
                <a:cs typeface="Calibri" pitchFamily="34" charset="-120"/>
              </a:rPr>
              <a:t>most capable</a:t>
            </a:r>
            <a:endParaRPr lang="en-US" sz="850" dirty="0"/>
          </a:p>
        </p:txBody>
      </p:sp>
      <p:sp>
        <p:nvSpPr>
          <p:cNvPr id="18" name="Shape 15"/>
          <p:cNvSpPr/>
          <p:nvPr/>
        </p:nvSpPr>
        <p:spPr>
          <a:xfrm>
            <a:off x="557784" y="2532888"/>
            <a:ext cx="2377440" cy="146304"/>
          </a:xfrm>
          <a:prstGeom prst="roundRect">
            <a:avLst>
              <a:gd name="adj" fmla="val 12500"/>
            </a:avLst>
          </a:prstGeom>
          <a:solidFill>
            <a:srgbClr val="3B82F6"/>
          </a:solidFill>
          <a:ln w="12700">
            <a:solidFill>
              <a:srgbClr val="3B82F6"/>
            </a:solidFill>
            <a:prstDash val="solid"/>
          </a:ln>
        </p:spPr>
        <p:txBody>
          <a:bodyPr/>
          <a:lstStyle/>
          <a:p>
            <a:endParaRPr lang="en-GB"/>
          </a:p>
        </p:txBody>
      </p:sp>
      <p:sp>
        <p:nvSpPr>
          <p:cNvPr id="19" name="Text 16"/>
          <p:cNvSpPr/>
          <p:nvPr/>
        </p:nvSpPr>
        <p:spPr>
          <a:xfrm>
            <a:off x="630936" y="2532888"/>
            <a:ext cx="1371600" cy="146304"/>
          </a:xfrm>
          <a:prstGeom prst="rect">
            <a:avLst/>
          </a:prstGeom>
          <a:noFill/>
          <a:ln/>
        </p:spPr>
        <p:txBody>
          <a:bodyPr wrap="square" lIns="0" tIns="0" rIns="0" bIns="0" rtlCol="0" anchor="ctr"/>
          <a:lstStyle/>
          <a:p>
            <a:pPr marL="0" indent="0">
              <a:buNone/>
            </a:pPr>
            <a:r>
              <a:rPr lang="en-US" sz="850" b="1" dirty="0">
                <a:solidFill>
                  <a:srgbClr val="0A1628"/>
                </a:solidFill>
                <a:latin typeface="Calibri" pitchFamily="34" charset="0"/>
                <a:ea typeface="Calibri" pitchFamily="34" charset="-122"/>
                <a:cs typeface="Calibri" pitchFamily="34" charset="-120"/>
              </a:rPr>
              <a:t>Sonnet 4.6</a:t>
            </a:r>
            <a:endParaRPr lang="en-US" sz="850" dirty="0"/>
          </a:p>
        </p:txBody>
      </p:sp>
      <p:sp>
        <p:nvSpPr>
          <p:cNvPr id="20" name="Text 17"/>
          <p:cNvSpPr/>
          <p:nvPr/>
        </p:nvSpPr>
        <p:spPr>
          <a:xfrm>
            <a:off x="3026664" y="2532888"/>
            <a:ext cx="1554480" cy="146304"/>
          </a:xfrm>
          <a:prstGeom prst="rect">
            <a:avLst/>
          </a:prstGeom>
          <a:noFill/>
          <a:ln/>
        </p:spPr>
        <p:txBody>
          <a:bodyPr wrap="square" lIns="0" tIns="0" rIns="0" bIns="0" rtlCol="0" anchor="ctr"/>
          <a:lstStyle/>
          <a:p>
            <a:pPr marL="0" indent="0">
              <a:buNone/>
            </a:pPr>
            <a:r>
              <a:rPr lang="en-US" sz="850" i="1" dirty="0">
                <a:solidFill>
                  <a:srgbClr val="94A3B8"/>
                </a:solidFill>
                <a:latin typeface="Calibri" pitchFamily="34" charset="0"/>
                <a:ea typeface="Calibri" pitchFamily="34" charset="-122"/>
                <a:cs typeface="Calibri" pitchFamily="34" charset="-120"/>
              </a:rPr>
              <a:t>balanced</a:t>
            </a:r>
            <a:endParaRPr lang="en-US" sz="850" dirty="0"/>
          </a:p>
        </p:txBody>
      </p:sp>
      <p:sp>
        <p:nvSpPr>
          <p:cNvPr id="21" name="Shape 18"/>
          <p:cNvSpPr/>
          <p:nvPr/>
        </p:nvSpPr>
        <p:spPr>
          <a:xfrm>
            <a:off x="557784" y="2715768"/>
            <a:ext cx="1371600" cy="146304"/>
          </a:xfrm>
          <a:prstGeom prst="roundRect">
            <a:avLst>
              <a:gd name="adj" fmla="val 12500"/>
            </a:avLst>
          </a:prstGeom>
          <a:solidFill>
            <a:srgbClr val="3B82F6"/>
          </a:solidFill>
          <a:ln w="12700">
            <a:solidFill>
              <a:srgbClr val="3B82F6"/>
            </a:solidFill>
            <a:prstDash val="solid"/>
          </a:ln>
        </p:spPr>
        <p:txBody>
          <a:bodyPr/>
          <a:lstStyle/>
          <a:p>
            <a:endParaRPr lang="en-GB"/>
          </a:p>
        </p:txBody>
      </p:sp>
      <p:sp>
        <p:nvSpPr>
          <p:cNvPr id="22" name="Text 19"/>
          <p:cNvSpPr/>
          <p:nvPr/>
        </p:nvSpPr>
        <p:spPr>
          <a:xfrm>
            <a:off x="630936" y="2715768"/>
            <a:ext cx="1371600" cy="146304"/>
          </a:xfrm>
          <a:prstGeom prst="rect">
            <a:avLst/>
          </a:prstGeom>
          <a:noFill/>
          <a:ln/>
        </p:spPr>
        <p:txBody>
          <a:bodyPr wrap="square" lIns="0" tIns="0" rIns="0" bIns="0" rtlCol="0" anchor="ctr"/>
          <a:lstStyle/>
          <a:p>
            <a:pPr marL="0" indent="0">
              <a:buNone/>
            </a:pPr>
            <a:r>
              <a:rPr lang="en-US" sz="850" b="1" dirty="0">
                <a:solidFill>
                  <a:srgbClr val="0A1628"/>
                </a:solidFill>
                <a:latin typeface="Calibri" pitchFamily="34" charset="0"/>
                <a:ea typeface="Calibri" pitchFamily="34" charset="-122"/>
                <a:cs typeface="Calibri" pitchFamily="34" charset="-120"/>
              </a:rPr>
              <a:t>Haiku 4.5</a:t>
            </a:r>
            <a:endParaRPr lang="en-US" sz="850" dirty="0"/>
          </a:p>
        </p:txBody>
      </p:sp>
      <p:sp>
        <p:nvSpPr>
          <p:cNvPr id="23" name="Text 20"/>
          <p:cNvSpPr/>
          <p:nvPr/>
        </p:nvSpPr>
        <p:spPr>
          <a:xfrm>
            <a:off x="2020824" y="2715768"/>
            <a:ext cx="1554480" cy="146304"/>
          </a:xfrm>
          <a:prstGeom prst="rect">
            <a:avLst/>
          </a:prstGeom>
          <a:noFill/>
          <a:ln/>
        </p:spPr>
        <p:txBody>
          <a:bodyPr wrap="square" lIns="0" tIns="0" rIns="0" bIns="0" rtlCol="0" anchor="ctr"/>
          <a:lstStyle/>
          <a:p>
            <a:pPr marL="0" indent="0">
              <a:buNone/>
            </a:pPr>
            <a:r>
              <a:rPr lang="en-US" sz="850" i="1" dirty="0">
                <a:solidFill>
                  <a:srgbClr val="94A3B8"/>
                </a:solidFill>
                <a:latin typeface="Calibri" pitchFamily="34" charset="0"/>
                <a:ea typeface="Calibri" pitchFamily="34" charset="-122"/>
                <a:cs typeface="Calibri" pitchFamily="34" charset="-120"/>
              </a:rPr>
              <a:t>fastest · cheapest</a:t>
            </a:r>
            <a:endParaRPr lang="en-US" sz="850" dirty="0"/>
          </a:p>
        </p:txBody>
      </p:sp>
      <p:sp>
        <p:nvSpPr>
          <p:cNvPr id="24" name="Shape 21"/>
          <p:cNvSpPr/>
          <p:nvPr/>
        </p:nvSpPr>
        <p:spPr>
          <a:xfrm>
            <a:off x="4654296" y="1481328"/>
            <a:ext cx="4160520" cy="1508760"/>
          </a:xfrm>
          <a:prstGeom prst="roundRect">
            <a:avLst>
              <a:gd name="adj" fmla="val 4848"/>
            </a:avLst>
          </a:prstGeom>
          <a:solidFill>
            <a:srgbClr val="11203A"/>
          </a:solidFill>
          <a:ln w="25400">
            <a:solidFill>
              <a:srgbClr val="3B82F6"/>
            </a:solidFill>
            <a:prstDash val="solid"/>
          </a:ln>
          <a:effectLst>
            <a:outerShdw blurRad="101600" dist="25400" dir="8100000" algn="bl" rotWithShape="0">
              <a:srgbClr val="000000">
                <a:alpha val="25000"/>
              </a:srgbClr>
            </a:outerShdw>
          </a:effectLst>
        </p:spPr>
        <p:txBody>
          <a:bodyPr/>
          <a:lstStyle/>
          <a:p>
            <a:endParaRPr lang="en-GB"/>
          </a:p>
        </p:txBody>
      </p:sp>
      <p:sp>
        <p:nvSpPr>
          <p:cNvPr id="25" name="Shape 22"/>
          <p:cNvSpPr/>
          <p:nvPr/>
        </p:nvSpPr>
        <p:spPr>
          <a:xfrm>
            <a:off x="4654296" y="1481328"/>
            <a:ext cx="54864" cy="1508760"/>
          </a:xfrm>
          <a:prstGeom prst="rect">
            <a:avLst/>
          </a:prstGeom>
          <a:solidFill>
            <a:srgbClr val="3B82F6"/>
          </a:solidFill>
          <a:ln w="12700">
            <a:solidFill>
              <a:srgbClr val="3B82F6"/>
            </a:solidFill>
            <a:prstDash val="solid"/>
          </a:ln>
        </p:spPr>
        <p:txBody>
          <a:bodyPr/>
          <a:lstStyle/>
          <a:p>
            <a:endParaRPr lang="en-GB"/>
          </a:p>
        </p:txBody>
      </p:sp>
      <p:sp>
        <p:nvSpPr>
          <p:cNvPr id="26" name="Shape 23"/>
          <p:cNvSpPr/>
          <p:nvPr/>
        </p:nvSpPr>
        <p:spPr>
          <a:xfrm>
            <a:off x="4818888" y="1645920"/>
            <a:ext cx="457200" cy="457200"/>
          </a:xfrm>
          <a:prstGeom prst="ellipse">
            <a:avLst/>
          </a:prstGeom>
          <a:solidFill>
            <a:srgbClr val="3B82F6"/>
          </a:solidFill>
          <a:ln w="12700">
            <a:solidFill>
              <a:srgbClr val="3B82F6"/>
            </a:solidFill>
            <a:prstDash val="solid"/>
          </a:ln>
        </p:spPr>
        <p:txBody>
          <a:bodyPr/>
          <a:lstStyle/>
          <a:p>
            <a:endParaRPr lang="en-GB"/>
          </a:p>
        </p:txBody>
      </p:sp>
      <p:sp>
        <p:nvSpPr>
          <p:cNvPr id="27" name="Text 24"/>
          <p:cNvSpPr/>
          <p:nvPr/>
        </p:nvSpPr>
        <p:spPr>
          <a:xfrm>
            <a:off x="4818888" y="1645920"/>
            <a:ext cx="457200" cy="457200"/>
          </a:xfrm>
          <a:prstGeom prst="rect">
            <a:avLst/>
          </a:prstGeom>
          <a:noFill/>
          <a:ln/>
        </p:spPr>
        <p:txBody>
          <a:bodyPr wrap="square" lIns="0" tIns="0" rIns="0" bIns="0" rtlCol="0" anchor="ctr"/>
          <a:lstStyle/>
          <a:p>
            <a:pPr marL="0" indent="0" algn="ctr">
              <a:buNone/>
            </a:pPr>
            <a:r>
              <a:rPr lang="en-US" sz="1600" b="1" dirty="0">
                <a:solidFill>
                  <a:srgbClr val="F8FAFC"/>
                </a:solidFill>
                <a:latin typeface="Calibri" pitchFamily="34" charset="0"/>
                <a:ea typeface="Calibri" pitchFamily="34" charset="-122"/>
                <a:cs typeface="Calibri" pitchFamily="34" charset="-120"/>
              </a:rPr>
              <a:t>🧮</a:t>
            </a:r>
            <a:endParaRPr lang="en-US" sz="1600" dirty="0"/>
          </a:p>
        </p:txBody>
      </p:sp>
      <p:sp>
        <p:nvSpPr>
          <p:cNvPr id="28" name="Text 25"/>
          <p:cNvSpPr/>
          <p:nvPr/>
        </p:nvSpPr>
        <p:spPr>
          <a:xfrm>
            <a:off x="5431536" y="1618488"/>
            <a:ext cx="3246120" cy="320040"/>
          </a:xfrm>
          <a:prstGeom prst="rect">
            <a:avLst/>
          </a:prstGeom>
          <a:noFill/>
          <a:ln/>
        </p:spPr>
        <p:txBody>
          <a:bodyPr wrap="square" lIns="0" tIns="0" rIns="0" bIns="0" rtlCol="0" anchor="ctr"/>
          <a:lstStyle/>
          <a:p>
            <a:pPr marL="0" indent="0">
              <a:buNone/>
            </a:pPr>
            <a:r>
              <a:rPr lang="en-US" sz="1500" b="1" dirty="0">
                <a:solidFill>
                  <a:srgbClr val="F8FAFC"/>
                </a:solidFill>
                <a:latin typeface="Calibri" pitchFamily="34" charset="0"/>
                <a:ea typeface="Calibri" pitchFamily="34" charset="-122"/>
                <a:cs typeface="Calibri" pitchFamily="34" charset="-120"/>
              </a:rPr>
              <a:t>Parameters</a:t>
            </a:r>
            <a:endParaRPr lang="en-US" sz="1500" dirty="0"/>
          </a:p>
        </p:txBody>
      </p:sp>
      <p:sp>
        <p:nvSpPr>
          <p:cNvPr id="29" name="Text 26"/>
          <p:cNvSpPr/>
          <p:nvPr/>
        </p:nvSpPr>
        <p:spPr>
          <a:xfrm>
            <a:off x="5431536" y="1938528"/>
            <a:ext cx="3246120" cy="274320"/>
          </a:xfrm>
          <a:prstGeom prst="rect">
            <a:avLst/>
          </a:prstGeom>
          <a:noFill/>
          <a:ln/>
        </p:spPr>
        <p:txBody>
          <a:bodyPr wrap="square" lIns="0" tIns="0" rIns="0" bIns="0" rtlCol="0" anchor="ctr"/>
          <a:lstStyle/>
          <a:p>
            <a:pPr marL="0" indent="0">
              <a:buNone/>
            </a:pPr>
            <a:r>
              <a:rPr lang="en-US" sz="1050" i="1" dirty="0">
                <a:solidFill>
                  <a:srgbClr val="3B82F6"/>
                </a:solidFill>
                <a:latin typeface="Calibri" pitchFamily="34" charset="0"/>
                <a:ea typeface="Calibri" pitchFamily="34" charset="-122"/>
                <a:cs typeface="Calibri" pitchFamily="34" charset="-120"/>
              </a:rPr>
              <a:t>the model's 'size' — number of weights</a:t>
            </a:r>
            <a:endParaRPr lang="en-US" sz="1050" dirty="0"/>
          </a:p>
        </p:txBody>
      </p:sp>
      <p:sp>
        <p:nvSpPr>
          <p:cNvPr id="30" name="Shape 27"/>
          <p:cNvSpPr/>
          <p:nvPr/>
        </p:nvSpPr>
        <p:spPr>
          <a:xfrm>
            <a:off x="4919231" y="2418335"/>
            <a:ext cx="320040" cy="320040"/>
          </a:xfrm>
          <a:prstGeom prst="ellipse">
            <a:avLst/>
          </a:prstGeom>
          <a:solidFill>
            <a:srgbClr val="94A3B8"/>
          </a:solidFill>
          <a:ln w="12700">
            <a:solidFill>
              <a:srgbClr val="94A3B8"/>
            </a:solidFill>
            <a:prstDash val="solid"/>
          </a:ln>
        </p:spPr>
        <p:txBody>
          <a:bodyPr/>
          <a:lstStyle/>
          <a:p>
            <a:endParaRPr lang="en-GB" dirty="0"/>
          </a:p>
        </p:txBody>
      </p:sp>
      <p:sp>
        <p:nvSpPr>
          <p:cNvPr id="31" name="Text 28"/>
          <p:cNvSpPr/>
          <p:nvPr/>
        </p:nvSpPr>
        <p:spPr>
          <a:xfrm>
            <a:off x="4791456" y="2761488"/>
            <a:ext cx="594360" cy="201168"/>
          </a:xfrm>
          <a:prstGeom prst="rect">
            <a:avLst/>
          </a:prstGeom>
          <a:noFill/>
          <a:ln/>
        </p:spPr>
        <p:txBody>
          <a:bodyPr wrap="square" lIns="0" tIns="0" rIns="0" bIns="0" rtlCol="0" anchor="ctr"/>
          <a:lstStyle/>
          <a:p>
            <a:pPr marL="0" indent="0" algn="ctr">
              <a:buNone/>
            </a:pPr>
            <a:r>
              <a:rPr lang="en-US" sz="900" b="1" dirty="0">
                <a:solidFill>
                  <a:srgbClr val="94A3B8"/>
                </a:solidFill>
                <a:latin typeface="Calibri" pitchFamily="34" charset="0"/>
                <a:ea typeface="Calibri" pitchFamily="34" charset="-122"/>
                <a:cs typeface="Calibri" pitchFamily="34" charset="-120"/>
              </a:rPr>
              <a:t>8B</a:t>
            </a:r>
            <a:endParaRPr lang="en-US" sz="900" dirty="0"/>
          </a:p>
        </p:txBody>
      </p:sp>
      <p:sp>
        <p:nvSpPr>
          <p:cNvPr id="32" name="Shape 29"/>
          <p:cNvSpPr/>
          <p:nvPr/>
        </p:nvSpPr>
        <p:spPr>
          <a:xfrm>
            <a:off x="5477256" y="2267965"/>
            <a:ext cx="502920" cy="502920"/>
          </a:xfrm>
          <a:prstGeom prst="ellipse">
            <a:avLst/>
          </a:prstGeom>
          <a:solidFill>
            <a:srgbClr val="3B82F6"/>
          </a:solidFill>
          <a:ln w="12700">
            <a:solidFill>
              <a:srgbClr val="3B82F6"/>
            </a:solidFill>
            <a:prstDash val="solid"/>
          </a:ln>
        </p:spPr>
        <p:txBody>
          <a:bodyPr/>
          <a:lstStyle/>
          <a:p>
            <a:endParaRPr lang="en-GB"/>
          </a:p>
        </p:txBody>
      </p:sp>
      <p:sp>
        <p:nvSpPr>
          <p:cNvPr id="33" name="Text 30"/>
          <p:cNvSpPr/>
          <p:nvPr/>
        </p:nvSpPr>
        <p:spPr>
          <a:xfrm>
            <a:off x="5340096" y="2761488"/>
            <a:ext cx="777240" cy="201168"/>
          </a:xfrm>
          <a:prstGeom prst="rect">
            <a:avLst/>
          </a:prstGeom>
          <a:noFill/>
          <a:ln/>
        </p:spPr>
        <p:txBody>
          <a:bodyPr wrap="square" lIns="0" tIns="0" rIns="0" bIns="0" rtlCol="0" anchor="ctr"/>
          <a:lstStyle/>
          <a:p>
            <a:pPr marL="0" indent="0" algn="ctr">
              <a:buNone/>
            </a:pPr>
            <a:r>
              <a:rPr lang="en-US" sz="900" b="1" dirty="0">
                <a:solidFill>
                  <a:srgbClr val="3B82F6"/>
                </a:solidFill>
                <a:latin typeface="Calibri" pitchFamily="34" charset="0"/>
                <a:ea typeface="Calibri" pitchFamily="34" charset="-122"/>
                <a:cs typeface="Calibri" pitchFamily="34" charset="-120"/>
              </a:rPr>
              <a:t>70B</a:t>
            </a:r>
            <a:endParaRPr lang="en-US" sz="900" dirty="0"/>
          </a:p>
        </p:txBody>
      </p:sp>
      <p:sp>
        <p:nvSpPr>
          <p:cNvPr id="34" name="Shape 31"/>
          <p:cNvSpPr/>
          <p:nvPr/>
        </p:nvSpPr>
        <p:spPr>
          <a:xfrm>
            <a:off x="6249924" y="2189988"/>
            <a:ext cx="585216" cy="594360"/>
          </a:xfrm>
          <a:prstGeom prst="ellipse">
            <a:avLst/>
          </a:prstGeom>
          <a:solidFill>
            <a:srgbClr val="F97316"/>
          </a:solidFill>
          <a:ln w="12700">
            <a:solidFill>
              <a:srgbClr val="F97316"/>
            </a:solidFill>
            <a:prstDash val="solid"/>
          </a:ln>
        </p:spPr>
        <p:txBody>
          <a:bodyPr/>
          <a:lstStyle/>
          <a:p>
            <a:endParaRPr lang="en-GB"/>
          </a:p>
        </p:txBody>
      </p:sp>
      <p:sp>
        <p:nvSpPr>
          <p:cNvPr id="35" name="Text 32"/>
          <p:cNvSpPr/>
          <p:nvPr/>
        </p:nvSpPr>
        <p:spPr>
          <a:xfrm>
            <a:off x="6071616" y="2761488"/>
            <a:ext cx="1005840" cy="201168"/>
          </a:xfrm>
          <a:prstGeom prst="rect">
            <a:avLst/>
          </a:prstGeom>
          <a:noFill/>
          <a:ln/>
        </p:spPr>
        <p:txBody>
          <a:bodyPr wrap="square" lIns="0" tIns="0" rIns="0" bIns="0" rtlCol="0" anchor="ctr"/>
          <a:lstStyle/>
          <a:p>
            <a:pPr marL="0" indent="0" algn="ctr">
              <a:buNone/>
            </a:pPr>
            <a:r>
              <a:rPr lang="en-US" sz="900" b="1" dirty="0">
                <a:solidFill>
                  <a:srgbClr val="F97316"/>
                </a:solidFill>
                <a:latin typeface="Calibri" pitchFamily="34" charset="0"/>
                <a:ea typeface="Calibri" pitchFamily="34" charset="-122"/>
                <a:cs typeface="Calibri" pitchFamily="34" charset="-120"/>
              </a:rPr>
              <a:t>405B</a:t>
            </a:r>
            <a:endParaRPr lang="en-US" sz="900" dirty="0"/>
          </a:p>
        </p:txBody>
      </p:sp>
      <p:sp>
        <p:nvSpPr>
          <p:cNvPr id="36" name="Text 33"/>
          <p:cNvSpPr/>
          <p:nvPr/>
        </p:nvSpPr>
        <p:spPr>
          <a:xfrm>
            <a:off x="7260336" y="2350008"/>
            <a:ext cx="1371600" cy="548640"/>
          </a:xfrm>
          <a:prstGeom prst="rect">
            <a:avLst/>
          </a:prstGeom>
          <a:noFill/>
          <a:ln/>
        </p:spPr>
        <p:txBody>
          <a:bodyPr wrap="square" lIns="0" tIns="0" rIns="0" bIns="0" rtlCol="0" anchor="ctr"/>
          <a:lstStyle/>
          <a:p>
            <a:pPr marL="0" indent="0">
              <a:buNone/>
            </a:pPr>
            <a:r>
              <a:rPr lang="en-US" sz="950" i="1" dirty="0">
                <a:solidFill>
                  <a:srgbClr val="94A3B8"/>
                </a:solidFill>
                <a:latin typeface="Calibri" pitchFamily="34" charset="0"/>
                <a:ea typeface="Calibri" pitchFamily="34" charset="-122"/>
                <a:cs typeface="Calibri" pitchFamily="34" charset="-120"/>
              </a:rPr>
              <a:t>more weights → more capability,</a:t>
            </a:r>
            <a:endParaRPr lang="en-US" sz="950" dirty="0"/>
          </a:p>
          <a:p>
            <a:pPr marL="0" indent="0">
              <a:buNone/>
            </a:pPr>
            <a:r>
              <a:rPr lang="en-US" sz="950" i="1" dirty="0">
                <a:solidFill>
                  <a:srgbClr val="94A3B8"/>
                </a:solidFill>
                <a:latin typeface="Calibri" pitchFamily="34" charset="0"/>
                <a:ea typeface="Calibri" pitchFamily="34" charset="-122"/>
                <a:cs typeface="Calibri" pitchFamily="34" charset="-120"/>
              </a:rPr>
              <a:t>more memory + cost</a:t>
            </a:r>
            <a:endParaRPr lang="en-US" sz="950" dirty="0"/>
          </a:p>
        </p:txBody>
      </p:sp>
      <p:sp>
        <p:nvSpPr>
          <p:cNvPr id="37" name="Shape 34"/>
          <p:cNvSpPr/>
          <p:nvPr/>
        </p:nvSpPr>
        <p:spPr>
          <a:xfrm>
            <a:off x="329184" y="3099816"/>
            <a:ext cx="4160520" cy="1508760"/>
          </a:xfrm>
          <a:prstGeom prst="roundRect">
            <a:avLst>
              <a:gd name="adj" fmla="val 4848"/>
            </a:avLst>
          </a:prstGeom>
          <a:solidFill>
            <a:srgbClr val="11203A"/>
          </a:solidFill>
          <a:ln w="25400">
            <a:solidFill>
              <a:srgbClr val="F97316"/>
            </a:solidFill>
            <a:prstDash val="solid"/>
          </a:ln>
          <a:effectLst>
            <a:outerShdw blurRad="101600" dist="25400" dir="8100000" algn="bl" rotWithShape="0">
              <a:srgbClr val="000000">
                <a:alpha val="25000"/>
              </a:srgbClr>
            </a:outerShdw>
          </a:effectLst>
        </p:spPr>
        <p:txBody>
          <a:bodyPr/>
          <a:lstStyle/>
          <a:p>
            <a:endParaRPr lang="en-GB"/>
          </a:p>
        </p:txBody>
      </p:sp>
      <p:sp>
        <p:nvSpPr>
          <p:cNvPr id="38" name="Shape 35"/>
          <p:cNvSpPr/>
          <p:nvPr/>
        </p:nvSpPr>
        <p:spPr>
          <a:xfrm>
            <a:off x="329184" y="3099816"/>
            <a:ext cx="54864" cy="1508760"/>
          </a:xfrm>
          <a:prstGeom prst="rect">
            <a:avLst/>
          </a:prstGeom>
          <a:solidFill>
            <a:srgbClr val="F97316"/>
          </a:solidFill>
          <a:ln w="12700">
            <a:solidFill>
              <a:srgbClr val="F97316"/>
            </a:solidFill>
            <a:prstDash val="solid"/>
          </a:ln>
        </p:spPr>
        <p:txBody>
          <a:bodyPr/>
          <a:lstStyle/>
          <a:p>
            <a:endParaRPr lang="en-GB"/>
          </a:p>
        </p:txBody>
      </p:sp>
      <p:sp>
        <p:nvSpPr>
          <p:cNvPr id="39" name="Shape 36"/>
          <p:cNvSpPr/>
          <p:nvPr/>
        </p:nvSpPr>
        <p:spPr>
          <a:xfrm>
            <a:off x="493776" y="3264408"/>
            <a:ext cx="457200" cy="457200"/>
          </a:xfrm>
          <a:prstGeom prst="ellipse">
            <a:avLst/>
          </a:prstGeom>
          <a:solidFill>
            <a:srgbClr val="F97316"/>
          </a:solidFill>
          <a:ln w="12700">
            <a:solidFill>
              <a:srgbClr val="F97316"/>
            </a:solidFill>
            <a:prstDash val="solid"/>
          </a:ln>
        </p:spPr>
        <p:txBody>
          <a:bodyPr/>
          <a:lstStyle/>
          <a:p>
            <a:endParaRPr lang="en-GB"/>
          </a:p>
        </p:txBody>
      </p:sp>
      <p:sp>
        <p:nvSpPr>
          <p:cNvPr id="40" name="Text 37"/>
          <p:cNvSpPr/>
          <p:nvPr/>
        </p:nvSpPr>
        <p:spPr>
          <a:xfrm>
            <a:off x="493776" y="3264408"/>
            <a:ext cx="457200" cy="457200"/>
          </a:xfrm>
          <a:prstGeom prst="rect">
            <a:avLst/>
          </a:prstGeom>
          <a:noFill/>
          <a:ln/>
        </p:spPr>
        <p:txBody>
          <a:bodyPr wrap="square" lIns="0" tIns="0" rIns="0" bIns="0" rtlCol="0" anchor="ctr"/>
          <a:lstStyle/>
          <a:p>
            <a:pPr marL="0" indent="0" algn="ctr">
              <a:buNone/>
            </a:pPr>
            <a:r>
              <a:rPr lang="en-US" sz="1600" b="1" dirty="0">
                <a:solidFill>
                  <a:srgbClr val="F8FAFC"/>
                </a:solidFill>
                <a:latin typeface="Calibri" pitchFamily="34" charset="0"/>
                <a:ea typeface="Calibri" pitchFamily="34" charset="-122"/>
                <a:cs typeface="Calibri" pitchFamily="34" charset="-120"/>
              </a:rPr>
              <a:t>🌡️</a:t>
            </a:r>
            <a:endParaRPr lang="en-US" sz="1600" dirty="0"/>
          </a:p>
        </p:txBody>
      </p:sp>
      <p:sp>
        <p:nvSpPr>
          <p:cNvPr id="41" name="Text 38"/>
          <p:cNvSpPr/>
          <p:nvPr/>
        </p:nvSpPr>
        <p:spPr>
          <a:xfrm>
            <a:off x="1106424" y="3236976"/>
            <a:ext cx="3246120" cy="320040"/>
          </a:xfrm>
          <a:prstGeom prst="rect">
            <a:avLst/>
          </a:prstGeom>
          <a:noFill/>
          <a:ln/>
        </p:spPr>
        <p:txBody>
          <a:bodyPr wrap="square" lIns="0" tIns="0" rIns="0" bIns="0" rtlCol="0" anchor="ctr"/>
          <a:lstStyle/>
          <a:p>
            <a:pPr marL="0" indent="0">
              <a:buNone/>
            </a:pPr>
            <a:r>
              <a:rPr lang="en-US" sz="1500" b="1" dirty="0">
                <a:solidFill>
                  <a:srgbClr val="F8FAFC"/>
                </a:solidFill>
                <a:latin typeface="Calibri" pitchFamily="34" charset="0"/>
                <a:ea typeface="Calibri" pitchFamily="34" charset="-122"/>
                <a:cs typeface="Calibri" pitchFamily="34" charset="-120"/>
              </a:rPr>
              <a:t>Temperature</a:t>
            </a:r>
            <a:endParaRPr lang="en-US" sz="1500" dirty="0"/>
          </a:p>
        </p:txBody>
      </p:sp>
      <p:sp>
        <p:nvSpPr>
          <p:cNvPr id="42" name="Text 39"/>
          <p:cNvSpPr/>
          <p:nvPr/>
        </p:nvSpPr>
        <p:spPr>
          <a:xfrm>
            <a:off x="1106424" y="3557016"/>
            <a:ext cx="3246120" cy="274320"/>
          </a:xfrm>
          <a:prstGeom prst="rect">
            <a:avLst/>
          </a:prstGeom>
          <a:noFill/>
          <a:ln/>
        </p:spPr>
        <p:txBody>
          <a:bodyPr wrap="square" lIns="0" tIns="0" rIns="0" bIns="0" rtlCol="0" anchor="ctr"/>
          <a:lstStyle/>
          <a:p>
            <a:pPr marL="0" indent="0">
              <a:buNone/>
            </a:pPr>
            <a:r>
              <a:rPr lang="en-US" sz="1050" i="1" dirty="0">
                <a:solidFill>
                  <a:srgbClr val="F97316"/>
                </a:solidFill>
                <a:latin typeface="Calibri" pitchFamily="34" charset="0"/>
                <a:ea typeface="Calibri" pitchFamily="34" charset="-122"/>
                <a:cs typeface="Calibri" pitchFamily="34" charset="-120"/>
              </a:rPr>
              <a:t>controls creativity / randomness</a:t>
            </a:r>
            <a:endParaRPr lang="en-US" sz="1050" dirty="0"/>
          </a:p>
        </p:txBody>
      </p:sp>
      <p:sp>
        <p:nvSpPr>
          <p:cNvPr id="43" name="Shape 40"/>
          <p:cNvSpPr/>
          <p:nvPr/>
        </p:nvSpPr>
        <p:spPr>
          <a:xfrm>
            <a:off x="603504" y="4105656"/>
            <a:ext cx="640080" cy="164592"/>
          </a:xfrm>
          <a:prstGeom prst="rect">
            <a:avLst/>
          </a:prstGeom>
          <a:solidFill>
            <a:srgbClr val="1D4ED8"/>
          </a:solidFill>
          <a:ln w="12700">
            <a:solidFill>
              <a:srgbClr val="1D4ED8"/>
            </a:solidFill>
            <a:prstDash val="solid"/>
          </a:ln>
        </p:spPr>
        <p:txBody>
          <a:bodyPr/>
          <a:lstStyle/>
          <a:p>
            <a:endParaRPr lang="en-GB"/>
          </a:p>
        </p:txBody>
      </p:sp>
      <p:sp>
        <p:nvSpPr>
          <p:cNvPr id="44" name="Shape 41"/>
          <p:cNvSpPr/>
          <p:nvPr/>
        </p:nvSpPr>
        <p:spPr>
          <a:xfrm>
            <a:off x="1243584" y="4105656"/>
            <a:ext cx="640080" cy="164592"/>
          </a:xfrm>
          <a:prstGeom prst="rect">
            <a:avLst/>
          </a:prstGeom>
          <a:solidFill>
            <a:srgbClr val="3B82F6"/>
          </a:solidFill>
          <a:ln w="12700">
            <a:solidFill>
              <a:srgbClr val="3B82F6"/>
            </a:solidFill>
            <a:prstDash val="solid"/>
          </a:ln>
        </p:spPr>
        <p:txBody>
          <a:bodyPr/>
          <a:lstStyle/>
          <a:p>
            <a:endParaRPr lang="en-GB"/>
          </a:p>
        </p:txBody>
      </p:sp>
      <p:sp>
        <p:nvSpPr>
          <p:cNvPr id="45" name="Shape 42"/>
          <p:cNvSpPr/>
          <p:nvPr/>
        </p:nvSpPr>
        <p:spPr>
          <a:xfrm>
            <a:off x="1883664" y="4105656"/>
            <a:ext cx="640080" cy="164592"/>
          </a:xfrm>
          <a:prstGeom prst="rect">
            <a:avLst/>
          </a:prstGeom>
          <a:solidFill>
            <a:srgbClr val="60A5FA"/>
          </a:solidFill>
          <a:ln w="12700">
            <a:solidFill>
              <a:srgbClr val="60A5FA"/>
            </a:solidFill>
            <a:prstDash val="solid"/>
          </a:ln>
        </p:spPr>
        <p:txBody>
          <a:bodyPr/>
          <a:lstStyle/>
          <a:p>
            <a:endParaRPr lang="en-GB"/>
          </a:p>
        </p:txBody>
      </p:sp>
      <p:sp>
        <p:nvSpPr>
          <p:cNvPr id="46" name="Shape 43"/>
          <p:cNvSpPr/>
          <p:nvPr/>
        </p:nvSpPr>
        <p:spPr>
          <a:xfrm>
            <a:off x="2523744" y="4105656"/>
            <a:ext cx="640080" cy="164592"/>
          </a:xfrm>
          <a:prstGeom prst="rect">
            <a:avLst/>
          </a:prstGeom>
          <a:solidFill>
            <a:srgbClr val="FB923C"/>
          </a:solidFill>
          <a:ln w="12700">
            <a:solidFill>
              <a:srgbClr val="FB923C"/>
            </a:solidFill>
            <a:prstDash val="solid"/>
          </a:ln>
        </p:spPr>
        <p:txBody>
          <a:bodyPr/>
          <a:lstStyle/>
          <a:p>
            <a:endParaRPr lang="en-GB"/>
          </a:p>
        </p:txBody>
      </p:sp>
      <p:sp>
        <p:nvSpPr>
          <p:cNvPr id="47" name="Shape 44"/>
          <p:cNvSpPr/>
          <p:nvPr/>
        </p:nvSpPr>
        <p:spPr>
          <a:xfrm>
            <a:off x="3163824" y="4105656"/>
            <a:ext cx="640080" cy="164592"/>
          </a:xfrm>
          <a:prstGeom prst="rect">
            <a:avLst/>
          </a:prstGeom>
          <a:solidFill>
            <a:srgbClr val="F97316"/>
          </a:solidFill>
          <a:ln w="12700">
            <a:solidFill>
              <a:srgbClr val="F97316"/>
            </a:solidFill>
            <a:prstDash val="solid"/>
          </a:ln>
        </p:spPr>
        <p:txBody>
          <a:bodyPr/>
          <a:lstStyle/>
          <a:p>
            <a:endParaRPr lang="en-GB"/>
          </a:p>
        </p:txBody>
      </p:sp>
      <p:sp>
        <p:nvSpPr>
          <p:cNvPr id="48" name="Shape 45"/>
          <p:cNvSpPr/>
          <p:nvPr/>
        </p:nvSpPr>
        <p:spPr>
          <a:xfrm>
            <a:off x="603504" y="4050792"/>
            <a:ext cx="0" cy="274320"/>
          </a:xfrm>
          <a:prstGeom prst="line">
            <a:avLst/>
          </a:prstGeom>
          <a:noFill/>
          <a:ln w="19050">
            <a:solidFill>
              <a:srgbClr val="F8FAFC"/>
            </a:solidFill>
            <a:prstDash val="solid"/>
          </a:ln>
        </p:spPr>
        <p:txBody>
          <a:bodyPr/>
          <a:lstStyle/>
          <a:p>
            <a:endParaRPr lang="en-GB"/>
          </a:p>
        </p:txBody>
      </p:sp>
      <p:sp>
        <p:nvSpPr>
          <p:cNvPr id="49" name="Text 46"/>
          <p:cNvSpPr/>
          <p:nvPr/>
        </p:nvSpPr>
        <p:spPr>
          <a:xfrm>
            <a:off x="374904" y="3877056"/>
            <a:ext cx="457200" cy="164592"/>
          </a:xfrm>
          <a:prstGeom prst="rect">
            <a:avLst/>
          </a:prstGeom>
          <a:noFill/>
          <a:ln/>
        </p:spPr>
        <p:txBody>
          <a:bodyPr wrap="square" lIns="0" tIns="0" rIns="0" bIns="0" rtlCol="0" anchor="ctr"/>
          <a:lstStyle/>
          <a:p>
            <a:pPr marL="0" indent="0" algn="ctr">
              <a:buNone/>
            </a:pPr>
            <a:r>
              <a:rPr lang="en-US" sz="900" b="1" dirty="0">
                <a:solidFill>
                  <a:srgbClr val="F8FAFC"/>
                </a:solidFill>
                <a:latin typeface="Calibri" pitchFamily="34" charset="0"/>
                <a:ea typeface="Calibri" pitchFamily="34" charset="-122"/>
                <a:cs typeface="Calibri" pitchFamily="34" charset="-120"/>
              </a:rPr>
              <a:t>0</a:t>
            </a:r>
            <a:endParaRPr lang="en-US" sz="900" dirty="0"/>
          </a:p>
        </p:txBody>
      </p:sp>
      <p:sp>
        <p:nvSpPr>
          <p:cNvPr id="50" name="Text 47"/>
          <p:cNvSpPr/>
          <p:nvPr/>
        </p:nvSpPr>
        <p:spPr>
          <a:xfrm>
            <a:off x="146304" y="4315968"/>
            <a:ext cx="914400" cy="164592"/>
          </a:xfrm>
          <a:prstGeom prst="rect">
            <a:avLst/>
          </a:prstGeom>
          <a:noFill/>
          <a:ln/>
        </p:spPr>
        <p:txBody>
          <a:bodyPr wrap="square" lIns="0" tIns="0" rIns="0" bIns="0" rtlCol="0" anchor="ctr"/>
          <a:lstStyle/>
          <a:p>
            <a:pPr marL="0" indent="0" algn="ctr">
              <a:buNone/>
            </a:pPr>
            <a:r>
              <a:rPr lang="en-US" sz="800" i="1" dirty="0">
                <a:solidFill>
                  <a:srgbClr val="94A3B8"/>
                </a:solidFill>
                <a:latin typeface="Calibri" pitchFamily="34" charset="0"/>
                <a:ea typeface="Calibri" pitchFamily="34" charset="-122"/>
                <a:cs typeface="Calibri" pitchFamily="34" charset="-120"/>
              </a:rPr>
              <a:t>deterministic</a:t>
            </a:r>
            <a:endParaRPr lang="en-US" sz="800" dirty="0"/>
          </a:p>
        </p:txBody>
      </p:sp>
      <p:sp>
        <p:nvSpPr>
          <p:cNvPr id="51" name="Shape 48"/>
          <p:cNvSpPr/>
          <p:nvPr/>
        </p:nvSpPr>
        <p:spPr>
          <a:xfrm>
            <a:off x="1883664" y="4050792"/>
            <a:ext cx="0" cy="274320"/>
          </a:xfrm>
          <a:prstGeom prst="line">
            <a:avLst/>
          </a:prstGeom>
          <a:noFill/>
          <a:ln w="19050">
            <a:solidFill>
              <a:srgbClr val="F8FAFC"/>
            </a:solidFill>
            <a:prstDash val="solid"/>
          </a:ln>
        </p:spPr>
        <p:txBody>
          <a:bodyPr/>
          <a:lstStyle/>
          <a:p>
            <a:endParaRPr lang="en-GB"/>
          </a:p>
        </p:txBody>
      </p:sp>
      <p:sp>
        <p:nvSpPr>
          <p:cNvPr id="52" name="Text 49"/>
          <p:cNvSpPr/>
          <p:nvPr/>
        </p:nvSpPr>
        <p:spPr>
          <a:xfrm>
            <a:off x="1655064" y="3877056"/>
            <a:ext cx="457200" cy="164592"/>
          </a:xfrm>
          <a:prstGeom prst="rect">
            <a:avLst/>
          </a:prstGeom>
          <a:noFill/>
          <a:ln/>
        </p:spPr>
        <p:txBody>
          <a:bodyPr wrap="square" lIns="0" tIns="0" rIns="0" bIns="0" rtlCol="0" anchor="ctr"/>
          <a:lstStyle/>
          <a:p>
            <a:pPr marL="0" indent="0" algn="ctr">
              <a:buNone/>
            </a:pPr>
            <a:r>
              <a:rPr lang="en-US" sz="900" b="1" dirty="0">
                <a:solidFill>
                  <a:srgbClr val="F8FAFC"/>
                </a:solidFill>
                <a:latin typeface="Calibri" pitchFamily="34" charset="0"/>
                <a:ea typeface="Calibri" pitchFamily="34" charset="-122"/>
                <a:cs typeface="Calibri" pitchFamily="34" charset="-120"/>
              </a:rPr>
              <a:t>0.7</a:t>
            </a:r>
            <a:endParaRPr lang="en-US" sz="900" dirty="0"/>
          </a:p>
        </p:txBody>
      </p:sp>
      <p:sp>
        <p:nvSpPr>
          <p:cNvPr id="53" name="Text 50"/>
          <p:cNvSpPr/>
          <p:nvPr/>
        </p:nvSpPr>
        <p:spPr>
          <a:xfrm>
            <a:off x="1426464" y="4315968"/>
            <a:ext cx="914400" cy="164592"/>
          </a:xfrm>
          <a:prstGeom prst="rect">
            <a:avLst/>
          </a:prstGeom>
          <a:noFill/>
          <a:ln/>
        </p:spPr>
        <p:txBody>
          <a:bodyPr wrap="square" lIns="0" tIns="0" rIns="0" bIns="0" rtlCol="0" anchor="ctr"/>
          <a:lstStyle/>
          <a:p>
            <a:pPr marL="0" indent="0" algn="ctr">
              <a:buNone/>
            </a:pPr>
            <a:r>
              <a:rPr lang="en-US" sz="800" i="1" dirty="0">
                <a:solidFill>
                  <a:srgbClr val="94A3B8"/>
                </a:solidFill>
                <a:latin typeface="Calibri" pitchFamily="34" charset="0"/>
                <a:ea typeface="Calibri" pitchFamily="34" charset="-122"/>
                <a:cs typeface="Calibri" pitchFamily="34" charset="-120"/>
              </a:rPr>
              <a:t>natural</a:t>
            </a:r>
            <a:endParaRPr lang="en-US" sz="800" dirty="0"/>
          </a:p>
        </p:txBody>
      </p:sp>
      <p:sp>
        <p:nvSpPr>
          <p:cNvPr id="54" name="Shape 51"/>
          <p:cNvSpPr/>
          <p:nvPr/>
        </p:nvSpPr>
        <p:spPr>
          <a:xfrm>
            <a:off x="3323844" y="4050792"/>
            <a:ext cx="0" cy="274320"/>
          </a:xfrm>
          <a:prstGeom prst="line">
            <a:avLst/>
          </a:prstGeom>
          <a:noFill/>
          <a:ln w="19050">
            <a:solidFill>
              <a:srgbClr val="F8FAFC"/>
            </a:solidFill>
            <a:prstDash val="solid"/>
          </a:ln>
        </p:spPr>
        <p:txBody>
          <a:bodyPr/>
          <a:lstStyle/>
          <a:p>
            <a:endParaRPr lang="en-GB"/>
          </a:p>
        </p:txBody>
      </p:sp>
      <p:sp>
        <p:nvSpPr>
          <p:cNvPr id="55" name="Text 52"/>
          <p:cNvSpPr/>
          <p:nvPr/>
        </p:nvSpPr>
        <p:spPr>
          <a:xfrm>
            <a:off x="3095244" y="3877056"/>
            <a:ext cx="457200" cy="164592"/>
          </a:xfrm>
          <a:prstGeom prst="rect">
            <a:avLst/>
          </a:prstGeom>
          <a:noFill/>
          <a:ln/>
        </p:spPr>
        <p:txBody>
          <a:bodyPr wrap="square" lIns="0" tIns="0" rIns="0" bIns="0" rtlCol="0" anchor="ctr"/>
          <a:lstStyle/>
          <a:p>
            <a:pPr marL="0" indent="0" algn="ctr">
              <a:buNone/>
            </a:pPr>
            <a:r>
              <a:rPr lang="en-US" sz="900" b="1" dirty="0">
                <a:solidFill>
                  <a:srgbClr val="F8FAFC"/>
                </a:solidFill>
                <a:latin typeface="Calibri" pitchFamily="34" charset="0"/>
                <a:ea typeface="Calibri" pitchFamily="34" charset="-122"/>
                <a:cs typeface="Calibri" pitchFamily="34" charset="-120"/>
              </a:rPr>
              <a:t>1.5</a:t>
            </a:r>
            <a:endParaRPr lang="en-US" sz="900" dirty="0"/>
          </a:p>
        </p:txBody>
      </p:sp>
      <p:sp>
        <p:nvSpPr>
          <p:cNvPr id="56" name="Text 53"/>
          <p:cNvSpPr/>
          <p:nvPr/>
        </p:nvSpPr>
        <p:spPr>
          <a:xfrm>
            <a:off x="2866644" y="4315968"/>
            <a:ext cx="914400" cy="164592"/>
          </a:xfrm>
          <a:prstGeom prst="rect">
            <a:avLst/>
          </a:prstGeom>
          <a:noFill/>
          <a:ln/>
        </p:spPr>
        <p:txBody>
          <a:bodyPr wrap="square" lIns="0" tIns="0" rIns="0" bIns="0" rtlCol="0" anchor="ctr"/>
          <a:lstStyle/>
          <a:p>
            <a:pPr marL="0" indent="0" algn="ctr">
              <a:buNone/>
            </a:pPr>
            <a:r>
              <a:rPr lang="en-US" sz="800" i="1" dirty="0">
                <a:solidFill>
                  <a:srgbClr val="94A3B8"/>
                </a:solidFill>
                <a:latin typeface="Calibri" pitchFamily="34" charset="0"/>
                <a:ea typeface="Calibri" pitchFamily="34" charset="-122"/>
                <a:cs typeface="Calibri" pitchFamily="34" charset="-120"/>
              </a:rPr>
              <a:t>creative</a:t>
            </a:r>
            <a:endParaRPr lang="en-US" sz="800" dirty="0"/>
          </a:p>
        </p:txBody>
      </p:sp>
      <p:sp>
        <p:nvSpPr>
          <p:cNvPr id="57" name="Text 54"/>
          <p:cNvSpPr/>
          <p:nvPr/>
        </p:nvSpPr>
        <p:spPr>
          <a:xfrm>
            <a:off x="543999" y="4416736"/>
            <a:ext cx="3749040" cy="182880"/>
          </a:xfrm>
          <a:prstGeom prst="rect">
            <a:avLst/>
          </a:prstGeom>
          <a:noFill/>
          <a:ln/>
        </p:spPr>
        <p:txBody>
          <a:bodyPr wrap="square" lIns="0" tIns="0" rIns="0" bIns="0" rtlCol="0" anchor="ctr"/>
          <a:lstStyle/>
          <a:p>
            <a:pPr marL="0" indent="0" algn="ctr">
              <a:buNone/>
            </a:pPr>
            <a:r>
              <a:rPr lang="en-US" sz="900" i="1" dirty="0">
                <a:solidFill>
                  <a:srgbClr val="F97316"/>
                </a:solidFill>
                <a:latin typeface="Calibri" pitchFamily="34" charset="0"/>
                <a:ea typeface="Calibri" pitchFamily="34" charset="-122"/>
                <a:cs typeface="Calibri" pitchFamily="34" charset="-120"/>
              </a:rPr>
              <a:t>use 0 for code · 0.7 default · 1+ for ideation</a:t>
            </a:r>
            <a:endParaRPr lang="en-US" sz="900" dirty="0"/>
          </a:p>
        </p:txBody>
      </p:sp>
      <p:sp>
        <p:nvSpPr>
          <p:cNvPr id="58" name="Shape 55"/>
          <p:cNvSpPr/>
          <p:nvPr/>
        </p:nvSpPr>
        <p:spPr>
          <a:xfrm>
            <a:off x="4654296" y="3099816"/>
            <a:ext cx="4160520" cy="1508760"/>
          </a:xfrm>
          <a:prstGeom prst="roundRect">
            <a:avLst>
              <a:gd name="adj" fmla="val 4848"/>
            </a:avLst>
          </a:prstGeom>
          <a:solidFill>
            <a:srgbClr val="11203A"/>
          </a:solidFill>
          <a:ln w="25400">
            <a:solidFill>
              <a:srgbClr val="3B82F6"/>
            </a:solidFill>
            <a:prstDash val="solid"/>
          </a:ln>
          <a:effectLst>
            <a:outerShdw blurRad="101600" dist="25400" dir="8100000" algn="bl" rotWithShape="0">
              <a:srgbClr val="000000">
                <a:alpha val="25000"/>
              </a:srgbClr>
            </a:outerShdw>
          </a:effectLst>
        </p:spPr>
        <p:txBody>
          <a:bodyPr/>
          <a:lstStyle/>
          <a:p>
            <a:endParaRPr lang="en-GB"/>
          </a:p>
        </p:txBody>
      </p:sp>
      <p:sp>
        <p:nvSpPr>
          <p:cNvPr id="59" name="Shape 56"/>
          <p:cNvSpPr/>
          <p:nvPr/>
        </p:nvSpPr>
        <p:spPr>
          <a:xfrm>
            <a:off x="4654296" y="3099816"/>
            <a:ext cx="54864" cy="1508760"/>
          </a:xfrm>
          <a:prstGeom prst="rect">
            <a:avLst/>
          </a:prstGeom>
          <a:solidFill>
            <a:srgbClr val="3B82F6"/>
          </a:solidFill>
          <a:ln w="12700">
            <a:solidFill>
              <a:srgbClr val="3B82F6"/>
            </a:solidFill>
            <a:prstDash val="solid"/>
          </a:ln>
        </p:spPr>
        <p:txBody>
          <a:bodyPr/>
          <a:lstStyle/>
          <a:p>
            <a:endParaRPr lang="en-GB"/>
          </a:p>
        </p:txBody>
      </p:sp>
      <p:sp>
        <p:nvSpPr>
          <p:cNvPr id="60" name="Shape 57"/>
          <p:cNvSpPr/>
          <p:nvPr/>
        </p:nvSpPr>
        <p:spPr>
          <a:xfrm>
            <a:off x="4818888" y="3264408"/>
            <a:ext cx="457200" cy="457200"/>
          </a:xfrm>
          <a:prstGeom prst="ellipse">
            <a:avLst/>
          </a:prstGeom>
          <a:solidFill>
            <a:srgbClr val="3B82F6"/>
          </a:solidFill>
          <a:ln w="12700">
            <a:solidFill>
              <a:srgbClr val="3B82F6"/>
            </a:solidFill>
            <a:prstDash val="solid"/>
          </a:ln>
        </p:spPr>
        <p:txBody>
          <a:bodyPr/>
          <a:lstStyle/>
          <a:p>
            <a:endParaRPr lang="en-GB"/>
          </a:p>
        </p:txBody>
      </p:sp>
      <p:sp>
        <p:nvSpPr>
          <p:cNvPr id="61" name="Text 58"/>
          <p:cNvSpPr/>
          <p:nvPr/>
        </p:nvSpPr>
        <p:spPr>
          <a:xfrm>
            <a:off x="4818888" y="3264408"/>
            <a:ext cx="457200" cy="457200"/>
          </a:xfrm>
          <a:prstGeom prst="rect">
            <a:avLst/>
          </a:prstGeom>
          <a:noFill/>
          <a:ln/>
        </p:spPr>
        <p:txBody>
          <a:bodyPr wrap="square" lIns="0" tIns="0" rIns="0" bIns="0" rtlCol="0" anchor="ctr"/>
          <a:lstStyle/>
          <a:p>
            <a:pPr marL="0" indent="0" algn="ctr">
              <a:buNone/>
            </a:pPr>
            <a:r>
              <a:rPr lang="en-US" sz="1600" b="1" dirty="0">
                <a:solidFill>
                  <a:srgbClr val="F8FAFC"/>
                </a:solidFill>
                <a:latin typeface="Calibri" pitchFamily="34" charset="0"/>
                <a:ea typeface="Calibri" pitchFamily="34" charset="-122"/>
                <a:cs typeface="Calibri" pitchFamily="34" charset="-120"/>
              </a:rPr>
              <a:t>📏</a:t>
            </a:r>
            <a:endParaRPr lang="en-US" sz="1600" dirty="0"/>
          </a:p>
        </p:txBody>
      </p:sp>
      <p:sp>
        <p:nvSpPr>
          <p:cNvPr id="62" name="Text 59"/>
          <p:cNvSpPr/>
          <p:nvPr/>
        </p:nvSpPr>
        <p:spPr>
          <a:xfrm>
            <a:off x="5431536" y="3236976"/>
            <a:ext cx="3246120" cy="320040"/>
          </a:xfrm>
          <a:prstGeom prst="rect">
            <a:avLst/>
          </a:prstGeom>
          <a:noFill/>
          <a:ln/>
        </p:spPr>
        <p:txBody>
          <a:bodyPr wrap="square" lIns="0" tIns="0" rIns="0" bIns="0" rtlCol="0" anchor="ctr"/>
          <a:lstStyle/>
          <a:p>
            <a:pPr marL="0" indent="0">
              <a:buNone/>
            </a:pPr>
            <a:r>
              <a:rPr lang="en-US" sz="1500" b="1" dirty="0">
                <a:solidFill>
                  <a:srgbClr val="F8FAFC"/>
                </a:solidFill>
                <a:latin typeface="Calibri" pitchFamily="34" charset="0"/>
                <a:ea typeface="Calibri" pitchFamily="34" charset="-122"/>
                <a:cs typeface="Calibri" pitchFamily="34" charset="-120"/>
              </a:rPr>
              <a:t>Tokens &amp; metrics</a:t>
            </a:r>
            <a:endParaRPr lang="en-US" sz="1500" dirty="0"/>
          </a:p>
        </p:txBody>
      </p:sp>
      <p:sp>
        <p:nvSpPr>
          <p:cNvPr id="63" name="Text 60"/>
          <p:cNvSpPr/>
          <p:nvPr/>
        </p:nvSpPr>
        <p:spPr>
          <a:xfrm>
            <a:off x="5431536" y="3557016"/>
            <a:ext cx="3246120" cy="274320"/>
          </a:xfrm>
          <a:prstGeom prst="rect">
            <a:avLst/>
          </a:prstGeom>
          <a:noFill/>
          <a:ln/>
        </p:spPr>
        <p:txBody>
          <a:bodyPr wrap="square" lIns="0" tIns="0" rIns="0" bIns="0" rtlCol="0" anchor="ctr"/>
          <a:lstStyle/>
          <a:p>
            <a:pPr marL="0" indent="0">
              <a:buNone/>
            </a:pPr>
            <a:r>
              <a:rPr lang="en-US" sz="1050" i="1" dirty="0">
                <a:solidFill>
                  <a:srgbClr val="3B82F6"/>
                </a:solidFill>
                <a:latin typeface="Calibri" pitchFamily="34" charset="0"/>
                <a:ea typeface="Calibri" pitchFamily="34" charset="-122"/>
                <a:cs typeface="Calibri" pitchFamily="34" charset="-120"/>
              </a:rPr>
              <a:t>the unit everything is measured in</a:t>
            </a:r>
            <a:endParaRPr lang="en-US" sz="1050" dirty="0"/>
          </a:p>
        </p:txBody>
      </p:sp>
      <p:sp>
        <p:nvSpPr>
          <p:cNvPr id="64" name="Shape 61"/>
          <p:cNvSpPr/>
          <p:nvPr/>
        </p:nvSpPr>
        <p:spPr>
          <a:xfrm>
            <a:off x="4882896" y="3968496"/>
            <a:ext cx="475488" cy="201168"/>
          </a:xfrm>
          <a:prstGeom prst="roundRect">
            <a:avLst>
              <a:gd name="adj" fmla="val 9091"/>
            </a:avLst>
          </a:prstGeom>
          <a:solidFill>
            <a:srgbClr val="1B2D4F"/>
          </a:solidFill>
          <a:ln w="6350">
            <a:solidFill>
              <a:srgbClr val="3B82F6"/>
            </a:solidFill>
            <a:prstDash val="solid"/>
          </a:ln>
        </p:spPr>
        <p:txBody>
          <a:bodyPr/>
          <a:lstStyle/>
          <a:p>
            <a:endParaRPr lang="en-GB"/>
          </a:p>
        </p:txBody>
      </p:sp>
      <p:sp>
        <p:nvSpPr>
          <p:cNvPr id="65" name="Text 62"/>
          <p:cNvSpPr/>
          <p:nvPr/>
        </p:nvSpPr>
        <p:spPr>
          <a:xfrm>
            <a:off x="4882896" y="3968496"/>
            <a:ext cx="475488" cy="201168"/>
          </a:xfrm>
          <a:prstGeom prst="rect">
            <a:avLst/>
          </a:prstGeom>
          <a:noFill/>
          <a:ln/>
        </p:spPr>
        <p:txBody>
          <a:bodyPr wrap="square" lIns="0" tIns="0" rIns="0" bIns="0" rtlCol="0" anchor="ctr"/>
          <a:lstStyle/>
          <a:p>
            <a:pPr marL="0" indent="0" algn="ctr">
              <a:buNone/>
            </a:pPr>
            <a:r>
              <a:rPr lang="en-US" sz="800" b="1" dirty="0">
                <a:solidFill>
                  <a:srgbClr val="F8FAFC"/>
                </a:solidFill>
                <a:latin typeface="Consolas" pitchFamily="34" charset="0"/>
                <a:ea typeface="Consolas" pitchFamily="34" charset="-122"/>
                <a:cs typeface="Consolas" pitchFamily="34" charset="-120"/>
              </a:rPr>
              <a:t>Agen</a:t>
            </a:r>
            <a:endParaRPr lang="en-US" sz="800" dirty="0"/>
          </a:p>
        </p:txBody>
      </p:sp>
      <p:sp>
        <p:nvSpPr>
          <p:cNvPr id="66" name="Shape 63"/>
          <p:cNvSpPr/>
          <p:nvPr/>
        </p:nvSpPr>
        <p:spPr>
          <a:xfrm>
            <a:off x="5394960" y="3968496"/>
            <a:ext cx="429768" cy="201168"/>
          </a:xfrm>
          <a:prstGeom prst="roundRect">
            <a:avLst>
              <a:gd name="adj" fmla="val 9091"/>
            </a:avLst>
          </a:prstGeom>
          <a:solidFill>
            <a:srgbClr val="1D4ED8"/>
          </a:solidFill>
          <a:ln w="6350">
            <a:solidFill>
              <a:srgbClr val="3B82F6"/>
            </a:solidFill>
            <a:prstDash val="solid"/>
          </a:ln>
        </p:spPr>
        <p:txBody>
          <a:bodyPr/>
          <a:lstStyle/>
          <a:p>
            <a:endParaRPr lang="en-GB"/>
          </a:p>
        </p:txBody>
      </p:sp>
      <p:sp>
        <p:nvSpPr>
          <p:cNvPr id="67" name="Text 64"/>
          <p:cNvSpPr/>
          <p:nvPr/>
        </p:nvSpPr>
        <p:spPr>
          <a:xfrm>
            <a:off x="5394960" y="3968496"/>
            <a:ext cx="429768" cy="201168"/>
          </a:xfrm>
          <a:prstGeom prst="rect">
            <a:avLst/>
          </a:prstGeom>
          <a:noFill/>
          <a:ln/>
        </p:spPr>
        <p:txBody>
          <a:bodyPr wrap="square" lIns="0" tIns="0" rIns="0" bIns="0" rtlCol="0" anchor="ctr"/>
          <a:lstStyle/>
          <a:p>
            <a:pPr marL="0" indent="0" algn="ctr">
              <a:buNone/>
            </a:pPr>
            <a:r>
              <a:rPr lang="en-US" sz="800" b="1" dirty="0">
                <a:solidFill>
                  <a:srgbClr val="F8FAFC"/>
                </a:solidFill>
                <a:latin typeface="Consolas" pitchFamily="34" charset="0"/>
                <a:ea typeface="Consolas" pitchFamily="34" charset="-122"/>
                <a:cs typeface="Consolas" pitchFamily="34" charset="-120"/>
              </a:rPr>
              <a:t>tic</a:t>
            </a:r>
            <a:endParaRPr lang="en-US" sz="800" dirty="0"/>
          </a:p>
        </p:txBody>
      </p:sp>
      <p:sp>
        <p:nvSpPr>
          <p:cNvPr id="68" name="Shape 65"/>
          <p:cNvSpPr/>
          <p:nvPr/>
        </p:nvSpPr>
        <p:spPr>
          <a:xfrm>
            <a:off x="5861304" y="3968496"/>
            <a:ext cx="429768" cy="201168"/>
          </a:xfrm>
          <a:prstGeom prst="roundRect">
            <a:avLst>
              <a:gd name="adj" fmla="val 9091"/>
            </a:avLst>
          </a:prstGeom>
          <a:solidFill>
            <a:srgbClr val="1B2D4F"/>
          </a:solidFill>
          <a:ln w="6350">
            <a:solidFill>
              <a:srgbClr val="3B82F6"/>
            </a:solidFill>
            <a:prstDash val="solid"/>
          </a:ln>
        </p:spPr>
        <p:txBody>
          <a:bodyPr/>
          <a:lstStyle/>
          <a:p>
            <a:endParaRPr lang="en-GB"/>
          </a:p>
        </p:txBody>
      </p:sp>
      <p:sp>
        <p:nvSpPr>
          <p:cNvPr id="69" name="Text 66"/>
          <p:cNvSpPr/>
          <p:nvPr/>
        </p:nvSpPr>
        <p:spPr>
          <a:xfrm>
            <a:off x="5861304" y="3968496"/>
            <a:ext cx="429768" cy="201168"/>
          </a:xfrm>
          <a:prstGeom prst="rect">
            <a:avLst/>
          </a:prstGeom>
          <a:noFill/>
          <a:ln/>
        </p:spPr>
        <p:txBody>
          <a:bodyPr wrap="square" lIns="0" tIns="0" rIns="0" bIns="0" rtlCol="0" anchor="ctr"/>
          <a:lstStyle/>
          <a:p>
            <a:pPr marL="0" indent="0" algn="ctr">
              <a:buNone/>
            </a:pPr>
            <a:r>
              <a:rPr lang="en-US" sz="800" b="1" dirty="0">
                <a:solidFill>
                  <a:srgbClr val="F8FAFC"/>
                </a:solidFill>
                <a:latin typeface="Consolas" pitchFamily="34" charset="0"/>
                <a:ea typeface="Consolas" pitchFamily="34" charset="-122"/>
                <a:cs typeface="Consolas" pitchFamily="34" charset="-120"/>
              </a:rPr>
              <a:t> AI</a:t>
            </a:r>
            <a:endParaRPr lang="en-US" sz="800" dirty="0"/>
          </a:p>
        </p:txBody>
      </p:sp>
      <p:sp>
        <p:nvSpPr>
          <p:cNvPr id="70" name="Shape 67"/>
          <p:cNvSpPr/>
          <p:nvPr/>
        </p:nvSpPr>
        <p:spPr>
          <a:xfrm>
            <a:off x="6327648" y="3968496"/>
            <a:ext cx="429768" cy="201168"/>
          </a:xfrm>
          <a:prstGeom prst="roundRect">
            <a:avLst>
              <a:gd name="adj" fmla="val 9091"/>
            </a:avLst>
          </a:prstGeom>
          <a:solidFill>
            <a:srgbClr val="1D4ED8"/>
          </a:solidFill>
          <a:ln w="6350">
            <a:solidFill>
              <a:srgbClr val="3B82F6"/>
            </a:solidFill>
            <a:prstDash val="solid"/>
          </a:ln>
        </p:spPr>
        <p:txBody>
          <a:bodyPr/>
          <a:lstStyle/>
          <a:p>
            <a:endParaRPr lang="en-GB"/>
          </a:p>
        </p:txBody>
      </p:sp>
      <p:sp>
        <p:nvSpPr>
          <p:cNvPr id="71" name="Text 68"/>
          <p:cNvSpPr/>
          <p:nvPr/>
        </p:nvSpPr>
        <p:spPr>
          <a:xfrm>
            <a:off x="6327648" y="3968496"/>
            <a:ext cx="429768" cy="201168"/>
          </a:xfrm>
          <a:prstGeom prst="rect">
            <a:avLst/>
          </a:prstGeom>
          <a:noFill/>
          <a:ln/>
        </p:spPr>
        <p:txBody>
          <a:bodyPr wrap="square" lIns="0" tIns="0" rIns="0" bIns="0" rtlCol="0" anchor="ctr"/>
          <a:lstStyle/>
          <a:p>
            <a:pPr marL="0" indent="0" algn="ctr">
              <a:buNone/>
            </a:pPr>
            <a:r>
              <a:rPr lang="en-US" sz="800" b="1" dirty="0">
                <a:solidFill>
                  <a:srgbClr val="F8FAFC"/>
                </a:solidFill>
                <a:latin typeface="Consolas" pitchFamily="34" charset="0"/>
                <a:ea typeface="Consolas" pitchFamily="34" charset="-122"/>
                <a:cs typeface="Consolas" pitchFamily="34" charset="-120"/>
              </a:rPr>
              <a:t> is</a:t>
            </a:r>
            <a:endParaRPr lang="en-US" sz="800" dirty="0"/>
          </a:p>
        </p:txBody>
      </p:sp>
      <p:sp>
        <p:nvSpPr>
          <p:cNvPr id="72" name="Shape 69"/>
          <p:cNvSpPr/>
          <p:nvPr/>
        </p:nvSpPr>
        <p:spPr>
          <a:xfrm>
            <a:off x="6793992" y="3968496"/>
            <a:ext cx="429768" cy="201168"/>
          </a:xfrm>
          <a:prstGeom prst="roundRect">
            <a:avLst>
              <a:gd name="adj" fmla="val 9091"/>
            </a:avLst>
          </a:prstGeom>
          <a:solidFill>
            <a:srgbClr val="1B2D4F"/>
          </a:solidFill>
          <a:ln w="6350">
            <a:solidFill>
              <a:srgbClr val="3B82F6"/>
            </a:solidFill>
            <a:prstDash val="solid"/>
          </a:ln>
        </p:spPr>
        <p:txBody>
          <a:bodyPr/>
          <a:lstStyle/>
          <a:p>
            <a:endParaRPr lang="en-GB"/>
          </a:p>
        </p:txBody>
      </p:sp>
      <p:sp>
        <p:nvSpPr>
          <p:cNvPr id="73" name="Text 70"/>
          <p:cNvSpPr/>
          <p:nvPr/>
        </p:nvSpPr>
        <p:spPr>
          <a:xfrm>
            <a:off x="6793992" y="3968496"/>
            <a:ext cx="429768" cy="201168"/>
          </a:xfrm>
          <a:prstGeom prst="rect">
            <a:avLst/>
          </a:prstGeom>
          <a:noFill/>
          <a:ln/>
        </p:spPr>
        <p:txBody>
          <a:bodyPr wrap="square" lIns="0" tIns="0" rIns="0" bIns="0" rtlCol="0" anchor="ctr"/>
          <a:lstStyle/>
          <a:p>
            <a:pPr marL="0" indent="0" algn="ctr">
              <a:buNone/>
            </a:pPr>
            <a:r>
              <a:rPr lang="en-US" sz="800" b="1" dirty="0">
                <a:solidFill>
                  <a:srgbClr val="F8FAFC"/>
                </a:solidFill>
                <a:latin typeface="Consolas" pitchFamily="34" charset="0"/>
                <a:ea typeface="Consolas" pitchFamily="34" charset="-122"/>
                <a:cs typeface="Consolas" pitchFamily="34" charset="-120"/>
              </a:rPr>
              <a:t> co</a:t>
            </a:r>
            <a:endParaRPr lang="en-US" sz="800" dirty="0"/>
          </a:p>
        </p:txBody>
      </p:sp>
      <p:sp>
        <p:nvSpPr>
          <p:cNvPr id="74" name="Shape 71"/>
          <p:cNvSpPr/>
          <p:nvPr/>
        </p:nvSpPr>
        <p:spPr>
          <a:xfrm>
            <a:off x="7260336" y="3968496"/>
            <a:ext cx="384048" cy="201168"/>
          </a:xfrm>
          <a:prstGeom prst="roundRect">
            <a:avLst>
              <a:gd name="adj" fmla="val 9091"/>
            </a:avLst>
          </a:prstGeom>
          <a:solidFill>
            <a:srgbClr val="1D4ED8"/>
          </a:solidFill>
          <a:ln w="6350">
            <a:solidFill>
              <a:srgbClr val="3B82F6"/>
            </a:solidFill>
            <a:prstDash val="solid"/>
          </a:ln>
        </p:spPr>
        <p:txBody>
          <a:bodyPr/>
          <a:lstStyle/>
          <a:p>
            <a:endParaRPr lang="en-GB"/>
          </a:p>
        </p:txBody>
      </p:sp>
      <p:sp>
        <p:nvSpPr>
          <p:cNvPr id="75" name="Text 72"/>
          <p:cNvSpPr/>
          <p:nvPr/>
        </p:nvSpPr>
        <p:spPr>
          <a:xfrm>
            <a:off x="7260336" y="3968496"/>
            <a:ext cx="384048" cy="201168"/>
          </a:xfrm>
          <a:prstGeom prst="rect">
            <a:avLst/>
          </a:prstGeom>
          <a:noFill/>
          <a:ln/>
        </p:spPr>
        <p:txBody>
          <a:bodyPr wrap="square" lIns="0" tIns="0" rIns="0" bIns="0" rtlCol="0" anchor="ctr"/>
          <a:lstStyle/>
          <a:p>
            <a:pPr marL="0" indent="0" algn="ctr">
              <a:buNone/>
            </a:pPr>
            <a:r>
              <a:rPr lang="en-US" sz="800" b="1" dirty="0">
                <a:solidFill>
                  <a:srgbClr val="F8FAFC"/>
                </a:solidFill>
                <a:latin typeface="Consolas" pitchFamily="34" charset="0"/>
                <a:ea typeface="Consolas" pitchFamily="34" charset="-122"/>
                <a:cs typeface="Consolas" pitchFamily="34" charset="-120"/>
              </a:rPr>
              <a:t>ol</a:t>
            </a:r>
            <a:endParaRPr lang="en-US" sz="800" dirty="0"/>
          </a:p>
        </p:txBody>
      </p:sp>
      <p:sp>
        <p:nvSpPr>
          <p:cNvPr id="76" name="Text 73"/>
          <p:cNvSpPr/>
          <p:nvPr/>
        </p:nvSpPr>
        <p:spPr>
          <a:xfrm>
            <a:off x="7726680" y="3968496"/>
            <a:ext cx="822960" cy="201168"/>
          </a:xfrm>
          <a:prstGeom prst="rect">
            <a:avLst/>
          </a:prstGeom>
          <a:noFill/>
          <a:ln/>
        </p:spPr>
        <p:txBody>
          <a:bodyPr wrap="square" lIns="0" tIns="0" rIns="0" bIns="0" rtlCol="0" anchor="ctr"/>
          <a:lstStyle/>
          <a:p>
            <a:pPr marL="0" indent="0">
              <a:buNone/>
            </a:pPr>
            <a:r>
              <a:rPr lang="en-US" sz="800" i="1" dirty="0">
                <a:solidFill>
                  <a:srgbClr val="94A3B8"/>
                </a:solidFill>
                <a:latin typeface="Calibri" pitchFamily="34" charset="0"/>
                <a:ea typeface="Calibri" pitchFamily="34" charset="-122"/>
                <a:cs typeface="Calibri" pitchFamily="34" charset="-120"/>
              </a:rPr>
              <a:t>≈ 4 chars / tok</a:t>
            </a:r>
            <a:endParaRPr lang="en-US" sz="800" dirty="0"/>
          </a:p>
        </p:txBody>
      </p:sp>
      <p:sp>
        <p:nvSpPr>
          <p:cNvPr id="77" name="Shape 74"/>
          <p:cNvSpPr/>
          <p:nvPr/>
        </p:nvSpPr>
        <p:spPr>
          <a:xfrm>
            <a:off x="4882896" y="4242816"/>
            <a:ext cx="1234440" cy="292608"/>
          </a:xfrm>
          <a:prstGeom prst="roundRect">
            <a:avLst>
              <a:gd name="adj" fmla="val 12500"/>
            </a:avLst>
          </a:prstGeom>
          <a:solidFill>
            <a:srgbClr val="0A1628"/>
          </a:solidFill>
          <a:ln w="12700">
            <a:solidFill>
              <a:srgbClr val="3B82F6"/>
            </a:solidFill>
            <a:prstDash val="solid"/>
          </a:ln>
        </p:spPr>
        <p:txBody>
          <a:bodyPr/>
          <a:lstStyle/>
          <a:p>
            <a:endParaRPr lang="en-GB"/>
          </a:p>
        </p:txBody>
      </p:sp>
      <p:sp>
        <p:nvSpPr>
          <p:cNvPr id="78" name="Text 75"/>
          <p:cNvSpPr/>
          <p:nvPr/>
        </p:nvSpPr>
        <p:spPr>
          <a:xfrm>
            <a:off x="4882896" y="4242816"/>
            <a:ext cx="1234440" cy="146304"/>
          </a:xfrm>
          <a:prstGeom prst="rect">
            <a:avLst/>
          </a:prstGeom>
          <a:noFill/>
          <a:ln/>
        </p:spPr>
        <p:txBody>
          <a:bodyPr wrap="square" lIns="0" tIns="0" rIns="0" bIns="0" rtlCol="0" anchor="ctr"/>
          <a:lstStyle/>
          <a:p>
            <a:pPr marL="0" indent="0" algn="ctr">
              <a:buNone/>
            </a:pPr>
            <a:r>
              <a:rPr lang="en-US" sz="800" b="1" dirty="0">
                <a:solidFill>
                  <a:srgbClr val="3B82F6"/>
                </a:solidFill>
                <a:latin typeface="Calibri" pitchFamily="34" charset="0"/>
                <a:ea typeface="Calibri" pitchFamily="34" charset="-122"/>
                <a:cs typeface="Calibri" pitchFamily="34" charset="-120"/>
              </a:rPr>
              <a:t>ctx window</a:t>
            </a:r>
            <a:endParaRPr lang="en-US" sz="800" dirty="0"/>
          </a:p>
        </p:txBody>
      </p:sp>
      <p:sp>
        <p:nvSpPr>
          <p:cNvPr id="79" name="Text 76"/>
          <p:cNvSpPr/>
          <p:nvPr/>
        </p:nvSpPr>
        <p:spPr>
          <a:xfrm>
            <a:off x="4882896" y="4370832"/>
            <a:ext cx="1234440" cy="164592"/>
          </a:xfrm>
          <a:prstGeom prst="rect">
            <a:avLst/>
          </a:prstGeom>
          <a:noFill/>
          <a:ln/>
        </p:spPr>
        <p:txBody>
          <a:bodyPr wrap="square" lIns="0" tIns="0" rIns="0" bIns="0" rtlCol="0" anchor="ctr"/>
          <a:lstStyle/>
          <a:p>
            <a:pPr marL="0" indent="0" algn="ctr">
              <a:buNone/>
            </a:pPr>
            <a:r>
              <a:rPr lang="en-US" sz="800" i="1" dirty="0">
                <a:solidFill>
                  <a:srgbClr val="F8FAFC"/>
                </a:solidFill>
                <a:latin typeface="Calibri" pitchFamily="34" charset="0"/>
                <a:ea typeface="Calibri" pitchFamily="34" charset="-122"/>
                <a:cs typeface="Calibri" pitchFamily="34" charset="-120"/>
              </a:rPr>
              <a:t>8K → 1M</a:t>
            </a:r>
            <a:endParaRPr lang="en-US" sz="800" dirty="0"/>
          </a:p>
        </p:txBody>
      </p:sp>
      <p:sp>
        <p:nvSpPr>
          <p:cNvPr id="80" name="Shape 77"/>
          <p:cNvSpPr/>
          <p:nvPr/>
        </p:nvSpPr>
        <p:spPr>
          <a:xfrm>
            <a:off x="6181344" y="4242816"/>
            <a:ext cx="1234440" cy="292608"/>
          </a:xfrm>
          <a:prstGeom prst="roundRect">
            <a:avLst>
              <a:gd name="adj" fmla="val 12500"/>
            </a:avLst>
          </a:prstGeom>
          <a:solidFill>
            <a:srgbClr val="0A1628"/>
          </a:solidFill>
          <a:ln w="12700">
            <a:solidFill>
              <a:srgbClr val="3B82F6"/>
            </a:solidFill>
            <a:prstDash val="solid"/>
          </a:ln>
        </p:spPr>
        <p:txBody>
          <a:bodyPr/>
          <a:lstStyle/>
          <a:p>
            <a:endParaRPr lang="en-GB"/>
          </a:p>
        </p:txBody>
      </p:sp>
      <p:sp>
        <p:nvSpPr>
          <p:cNvPr id="81" name="Text 78"/>
          <p:cNvSpPr/>
          <p:nvPr/>
        </p:nvSpPr>
        <p:spPr>
          <a:xfrm>
            <a:off x="6181344" y="4242816"/>
            <a:ext cx="1234440" cy="146304"/>
          </a:xfrm>
          <a:prstGeom prst="rect">
            <a:avLst/>
          </a:prstGeom>
          <a:noFill/>
          <a:ln/>
        </p:spPr>
        <p:txBody>
          <a:bodyPr wrap="square" lIns="0" tIns="0" rIns="0" bIns="0" rtlCol="0" anchor="ctr"/>
          <a:lstStyle/>
          <a:p>
            <a:pPr marL="0" indent="0" algn="ctr">
              <a:buNone/>
            </a:pPr>
            <a:r>
              <a:rPr lang="en-US" sz="800" b="1" dirty="0">
                <a:solidFill>
                  <a:srgbClr val="3B82F6"/>
                </a:solidFill>
                <a:latin typeface="Calibri" pitchFamily="34" charset="0"/>
                <a:ea typeface="Calibri" pitchFamily="34" charset="-122"/>
                <a:cs typeface="Calibri" pitchFamily="34" charset="-120"/>
              </a:rPr>
              <a:t>$ / Mtok</a:t>
            </a:r>
            <a:endParaRPr lang="en-US" sz="800" dirty="0"/>
          </a:p>
        </p:txBody>
      </p:sp>
      <p:sp>
        <p:nvSpPr>
          <p:cNvPr id="82" name="Text 79"/>
          <p:cNvSpPr/>
          <p:nvPr/>
        </p:nvSpPr>
        <p:spPr>
          <a:xfrm>
            <a:off x="6181344" y="4370832"/>
            <a:ext cx="1234440" cy="164592"/>
          </a:xfrm>
          <a:prstGeom prst="rect">
            <a:avLst/>
          </a:prstGeom>
          <a:noFill/>
          <a:ln/>
        </p:spPr>
        <p:txBody>
          <a:bodyPr wrap="square" lIns="0" tIns="0" rIns="0" bIns="0" rtlCol="0" anchor="ctr"/>
          <a:lstStyle/>
          <a:p>
            <a:pPr marL="0" indent="0" algn="ctr">
              <a:buNone/>
            </a:pPr>
            <a:r>
              <a:rPr lang="en-US" sz="800" i="1" dirty="0">
                <a:solidFill>
                  <a:srgbClr val="F8FAFC"/>
                </a:solidFill>
                <a:latin typeface="Calibri" pitchFamily="34" charset="0"/>
                <a:ea typeface="Calibri" pitchFamily="34" charset="-122"/>
                <a:cs typeface="Calibri" pitchFamily="34" charset="-120"/>
              </a:rPr>
              <a:t>in &amp; out</a:t>
            </a:r>
            <a:endParaRPr lang="en-US" sz="800" dirty="0"/>
          </a:p>
        </p:txBody>
      </p:sp>
      <p:sp>
        <p:nvSpPr>
          <p:cNvPr id="83" name="Shape 80"/>
          <p:cNvSpPr/>
          <p:nvPr/>
        </p:nvSpPr>
        <p:spPr>
          <a:xfrm>
            <a:off x="7479792" y="4242816"/>
            <a:ext cx="1234440" cy="292608"/>
          </a:xfrm>
          <a:prstGeom prst="roundRect">
            <a:avLst>
              <a:gd name="adj" fmla="val 12500"/>
            </a:avLst>
          </a:prstGeom>
          <a:solidFill>
            <a:srgbClr val="0A1628"/>
          </a:solidFill>
          <a:ln w="12700">
            <a:solidFill>
              <a:srgbClr val="3B82F6"/>
            </a:solidFill>
            <a:prstDash val="solid"/>
          </a:ln>
        </p:spPr>
        <p:txBody>
          <a:bodyPr/>
          <a:lstStyle/>
          <a:p>
            <a:endParaRPr lang="en-GB"/>
          </a:p>
        </p:txBody>
      </p:sp>
      <p:sp>
        <p:nvSpPr>
          <p:cNvPr id="84" name="Text 81"/>
          <p:cNvSpPr/>
          <p:nvPr/>
        </p:nvSpPr>
        <p:spPr>
          <a:xfrm>
            <a:off x="7479792" y="4242816"/>
            <a:ext cx="1234440" cy="146304"/>
          </a:xfrm>
          <a:prstGeom prst="rect">
            <a:avLst/>
          </a:prstGeom>
          <a:noFill/>
          <a:ln/>
        </p:spPr>
        <p:txBody>
          <a:bodyPr wrap="square" lIns="0" tIns="0" rIns="0" bIns="0" rtlCol="0" anchor="ctr"/>
          <a:lstStyle/>
          <a:p>
            <a:pPr marL="0" indent="0" algn="ctr">
              <a:buNone/>
            </a:pPr>
            <a:r>
              <a:rPr lang="en-US" sz="800" b="1" dirty="0">
                <a:solidFill>
                  <a:srgbClr val="3B82F6"/>
                </a:solidFill>
                <a:latin typeface="Calibri" pitchFamily="34" charset="0"/>
                <a:ea typeface="Calibri" pitchFamily="34" charset="-122"/>
                <a:cs typeface="Calibri" pitchFamily="34" charset="-120"/>
              </a:rPr>
              <a:t>tok / sec</a:t>
            </a:r>
            <a:endParaRPr lang="en-US" sz="800" dirty="0"/>
          </a:p>
        </p:txBody>
      </p:sp>
      <p:sp>
        <p:nvSpPr>
          <p:cNvPr id="85" name="Text 82"/>
          <p:cNvSpPr/>
          <p:nvPr/>
        </p:nvSpPr>
        <p:spPr>
          <a:xfrm>
            <a:off x="7479792" y="4370832"/>
            <a:ext cx="1234440" cy="164592"/>
          </a:xfrm>
          <a:prstGeom prst="rect">
            <a:avLst/>
          </a:prstGeom>
          <a:noFill/>
          <a:ln/>
        </p:spPr>
        <p:txBody>
          <a:bodyPr wrap="square" lIns="0" tIns="0" rIns="0" bIns="0" rtlCol="0" anchor="ctr"/>
          <a:lstStyle/>
          <a:p>
            <a:pPr marL="0" indent="0" algn="ctr">
              <a:buNone/>
            </a:pPr>
            <a:r>
              <a:rPr lang="en-US" sz="800" i="1" dirty="0">
                <a:solidFill>
                  <a:srgbClr val="F8FAFC"/>
                </a:solidFill>
                <a:latin typeface="Calibri" pitchFamily="34" charset="0"/>
                <a:ea typeface="Calibri" pitchFamily="34" charset="-122"/>
                <a:cs typeface="Calibri" pitchFamily="34" charset="-120"/>
              </a:rPr>
              <a:t>throughput</a:t>
            </a:r>
            <a:endParaRPr lang="en-US" sz="800" dirty="0"/>
          </a:p>
        </p:txBody>
      </p:sp>
      <p:sp>
        <p:nvSpPr>
          <p:cNvPr id="86" name="Shape 83"/>
          <p:cNvSpPr/>
          <p:nvPr/>
        </p:nvSpPr>
        <p:spPr>
          <a:xfrm>
            <a:off x="1380790" y="4709850"/>
            <a:ext cx="6400800" cy="292608"/>
          </a:xfrm>
          <a:prstGeom prst="roundRect">
            <a:avLst>
              <a:gd name="adj" fmla="val 18750"/>
            </a:avLst>
          </a:prstGeom>
          <a:solidFill>
            <a:srgbClr val="11203A"/>
          </a:solidFill>
          <a:ln w="12700">
            <a:solidFill>
              <a:srgbClr val="F97316"/>
            </a:solidFill>
            <a:prstDash val="solid"/>
          </a:ln>
        </p:spPr>
        <p:txBody>
          <a:bodyPr/>
          <a:lstStyle/>
          <a:p>
            <a:endParaRPr lang="en-GB"/>
          </a:p>
        </p:txBody>
      </p:sp>
      <p:sp>
        <p:nvSpPr>
          <p:cNvPr id="87" name="Text 84"/>
          <p:cNvSpPr/>
          <p:nvPr/>
        </p:nvSpPr>
        <p:spPr>
          <a:xfrm>
            <a:off x="1380790" y="4709850"/>
            <a:ext cx="6400800" cy="292608"/>
          </a:xfrm>
          <a:prstGeom prst="rect">
            <a:avLst/>
          </a:prstGeom>
          <a:noFill/>
          <a:ln/>
        </p:spPr>
        <p:txBody>
          <a:bodyPr wrap="square" lIns="0" tIns="0" rIns="0" bIns="0" rtlCol="0" anchor="ctr"/>
          <a:lstStyle/>
          <a:p>
            <a:pPr marL="0" indent="0" algn="ctr">
              <a:buNone/>
            </a:pPr>
            <a:r>
              <a:rPr lang="en-US" sz="1050" b="1" i="1" dirty="0">
                <a:solidFill>
                  <a:srgbClr val="F97316"/>
                </a:solidFill>
                <a:latin typeface="Calibri" pitchFamily="34" charset="0"/>
                <a:ea typeface="Calibri" pitchFamily="34" charset="-122"/>
                <a:cs typeface="Calibri" pitchFamily="34" charset="-120"/>
              </a:rPr>
              <a:t>Pick the smallest model that solves your task — then tune temperature.</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9">
    <p:bg>
      <p:bgPr>
        <a:solidFill>
          <a:srgbClr val="0A1628"/>
        </a:solidFill>
        <a:effectLst/>
      </p:bgPr>
    </p:bg>
    <p:spTree>
      <p:nvGrpSpPr>
        <p:cNvPr id="1" name=""/>
        <p:cNvGrpSpPr/>
        <p:nvPr/>
      </p:nvGrpSpPr>
      <p:grpSpPr>
        <a:xfrm>
          <a:off x="0" y="0"/>
          <a:ext cx="0" cy="0"/>
          <a:chOff x="0" y="0"/>
          <a:chExt cx="0" cy="0"/>
        </a:xfrm>
      </p:grpSpPr>
      <p:sp>
        <p:nvSpPr>
          <p:cNvPr id="3" name="Shape 0"/>
          <p:cNvSpPr/>
          <p:nvPr/>
        </p:nvSpPr>
        <p:spPr>
          <a:xfrm>
            <a:off x="457200" y="411480"/>
            <a:ext cx="320040" cy="54864"/>
          </a:xfrm>
          <a:prstGeom prst="rect">
            <a:avLst/>
          </a:prstGeom>
          <a:solidFill>
            <a:srgbClr val="F97316"/>
          </a:solidFill>
          <a:ln w="12700">
            <a:solidFill>
              <a:srgbClr val="F97316"/>
            </a:solidFill>
            <a:prstDash val="solid"/>
          </a:ln>
        </p:spPr>
        <p:txBody>
          <a:bodyPr/>
          <a:lstStyle/>
          <a:p>
            <a:endParaRPr lang="en-GB"/>
          </a:p>
        </p:txBody>
      </p:sp>
      <p:sp>
        <p:nvSpPr>
          <p:cNvPr id="4" name="Text 1"/>
          <p:cNvSpPr/>
          <p:nvPr/>
        </p:nvSpPr>
        <p:spPr>
          <a:xfrm>
            <a:off x="868680" y="329184"/>
            <a:ext cx="5029200" cy="274320"/>
          </a:xfrm>
          <a:prstGeom prst="rect">
            <a:avLst/>
          </a:prstGeom>
          <a:noFill/>
          <a:ln/>
        </p:spPr>
        <p:txBody>
          <a:bodyPr wrap="square" lIns="0" tIns="0" rIns="0" bIns="0" rtlCol="0" anchor="ctr"/>
          <a:lstStyle/>
          <a:p>
            <a:pPr marL="0" indent="0">
              <a:buNone/>
            </a:pPr>
            <a:r>
              <a:rPr lang="en-US" sz="1000" b="1" kern="0" spc="400" dirty="0">
                <a:solidFill>
                  <a:srgbClr val="F97316"/>
                </a:solidFill>
                <a:latin typeface="Calibri" pitchFamily="34" charset="0"/>
                <a:ea typeface="Calibri" pitchFamily="34" charset="-122"/>
                <a:cs typeface="Calibri" pitchFamily="34" charset="-120"/>
              </a:rPr>
              <a:t>02 · THE LLM</a:t>
            </a:r>
            <a:endParaRPr lang="en-US" sz="1000" dirty="0"/>
          </a:p>
        </p:txBody>
      </p:sp>
      <p:sp>
        <p:nvSpPr>
          <p:cNvPr id="5" name="Text 2"/>
          <p:cNvSpPr/>
          <p:nvPr/>
        </p:nvSpPr>
        <p:spPr>
          <a:xfrm>
            <a:off x="457200" y="640080"/>
            <a:ext cx="8229600" cy="822960"/>
          </a:xfrm>
          <a:prstGeom prst="rect">
            <a:avLst/>
          </a:prstGeom>
          <a:noFill/>
          <a:ln/>
        </p:spPr>
        <p:txBody>
          <a:bodyPr wrap="square" lIns="0" tIns="0" rIns="0" bIns="0" rtlCol="0" anchor="ctr"/>
          <a:lstStyle/>
          <a:p>
            <a:pPr marL="0" indent="0">
              <a:buNone/>
            </a:pPr>
            <a:r>
              <a:rPr lang="en-US" sz="3200" b="1" dirty="0">
                <a:solidFill>
                  <a:srgbClr val="F8FAFC"/>
                </a:solidFill>
                <a:latin typeface="Calibri" pitchFamily="34" charset="0"/>
                <a:ea typeface="Calibri" pitchFamily="34" charset="-122"/>
                <a:cs typeface="Calibri" pitchFamily="34" charset="-120"/>
              </a:rPr>
              <a:t>When an LLM alone isn't enough</a:t>
            </a:r>
            <a:endParaRPr lang="en-US" sz="3200" dirty="0"/>
          </a:p>
        </p:txBody>
      </p:sp>
      <p:sp>
        <p:nvSpPr>
          <p:cNvPr id="6" name="Text 3"/>
          <p:cNvSpPr/>
          <p:nvPr/>
        </p:nvSpPr>
        <p:spPr>
          <a:xfrm>
            <a:off x="457200" y="4754880"/>
            <a:ext cx="4572000" cy="228600"/>
          </a:xfrm>
          <a:prstGeom prst="rect">
            <a:avLst/>
          </a:prstGeom>
          <a:noFill/>
          <a:ln/>
        </p:spPr>
        <p:txBody>
          <a:bodyPr wrap="square" lIns="0" tIns="0" rIns="0" bIns="0" rtlCol="0" anchor="ctr"/>
          <a:lstStyle/>
          <a:p>
            <a:pPr marL="0" indent="0">
              <a:buNone/>
            </a:pPr>
            <a:endParaRPr lang="en-US" sz="900" dirty="0"/>
          </a:p>
        </p:txBody>
      </p:sp>
      <p:sp>
        <p:nvSpPr>
          <p:cNvPr id="7" name="Shape 4"/>
          <p:cNvSpPr/>
          <p:nvPr/>
        </p:nvSpPr>
        <p:spPr>
          <a:xfrm>
            <a:off x="8275320" y="4818888"/>
            <a:ext cx="73152" cy="73152"/>
          </a:xfrm>
          <a:prstGeom prst="ellipse">
            <a:avLst/>
          </a:prstGeom>
          <a:solidFill>
            <a:srgbClr val="F97316"/>
          </a:solidFill>
          <a:ln w="12700">
            <a:solidFill>
              <a:srgbClr val="F97316"/>
            </a:solidFill>
            <a:prstDash val="solid"/>
          </a:ln>
        </p:spPr>
        <p:txBody>
          <a:bodyPr/>
          <a:lstStyle/>
          <a:p>
            <a:endParaRPr lang="en-GB"/>
          </a:p>
        </p:txBody>
      </p:sp>
      <p:sp>
        <p:nvSpPr>
          <p:cNvPr id="8" name="Text 5"/>
          <p:cNvSpPr/>
          <p:nvPr/>
        </p:nvSpPr>
        <p:spPr>
          <a:xfrm>
            <a:off x="8366760" y="4736592"/>
            <a:ext cx="685800" cy="228600"/>
          </a:xfrm>
          <a:prstGeom prst="rect">
            <a:avLst/>
          </a:prstGeom>
          <a:noFill/>
          <a:ln/>
        </p:spPr>
        <p:txBody>
          <a:bodyPr wrap="square" lIns="0" tIns="0" rIns="0" bIns="0" rtlCol="0" anchor="ctr"/>
          <a:lstStyle/>
          <a:p>
            <a:pPr marL="0" indent="0" algn="r">
              <a:buNone/>
            </a:pPr>
            <a:r>
              <a:rPr lang="en-US" sz="900" dirty="0">
                <a:solidFill>
                  <a:srgbClr val="94A3B8"/>
                </a:solidFill>
                <a:latin typeface="Calibri" pitchFamily="34" charset="0"/>
                <a:ea typeface="Calibri" pitchFamily="34" charset="-122"/>
                <a:cs typeface="Calibri" pitchFamily="34" charset="-120"/>
              </a:rPr>
              <a:t>08 / 21</a:t>
            </a:r>
            <a:endParaRPr lang="en-US" sz="900" dirty="0"/>
          </a:p>
        </p:txBody>
      </p:sp>
      <p:sp>
        <p:nvSpPr>
          <p:cNvPr id="9" name="Shape 6"/>
          <p:cNvSpPr/>
          <p:nvPr/>
        </p:nvSpPr>
        <p:spPr>
          <a:xfrm>
            <a:off x="365760" y="1417320"/>
            <a:ext cx="4160520" cy="3154680"/>
          </a:xfrm>
          <a:prstGeom prst="roundRect">
            <a:avLst>
              <a:gd name="adj" fmla="val 2319"/>
            </a:avLst>
          </a:prstGeom>
          <a:solidFill>
            <a:srgbClr val="11203A"/>
          </a:solidFill>
          <a:ln w="12700">
            <a:solidFill>
              <a:srgbClr val="1B2D4F"/>
            </a:solidFill>
            <a:prstDash val="solid"/>
          </a:ln>
          <a:effectLst>
            <a:outerShdw blurRad="101600" dist="25400" dir="8100000" algn="bl" rotWithShape="0">
              <a:srgbClr val="000000">
                <a:alpha val="25000"/>
              </a:srgbClr>
            </a:outerShdw>
          </a:effectLst>
        </p:spPr>
        <p:txBody>
          <a:bodyPr/>
          <a:lstStyle/>
          <a:p>
            <a:endParaRPr lang="en-GB"/>
          </a:p>
        </p:txBody>
      </p:sp>
      <p:sp>
        <p:nvSpPr>
          <p:cNvPr id="10" name="Shape 7"/>
          <p:cNvSpPr/>
          <p:nvPr/>
        </p:nvSpPr>
        <p:spPr>
          <a:xfrm>
            <a:off x="365760" y="1417320"/>
            <a:ext cx="4160520" cy="73152"/>
          </a:xfrm>
          <a:prstGeom prst="rect">
            <a:avLst/>
          </a:prstGeom>
          <a:solidFill>
            <a:srgbClr val="3B82F6"/>
          </a:solidFill>
          <a:ln w="12700">
            <a:solidFill>
              <a:srgbClr val="3B82F6"/>
            </a:solidFill>
            <a:prstDash val="solid"/>
          </a:ln>
        </p:spPr>
        <p:txBody>
          <a:bodyPr/>
          <a:lstStyle/>
          <a:p>
            <a:endParaRPr lang="en-GB"/>
          </a:p>
        </p:txBody>
      </p:sp>
      <p:sp>
        <p:nvSpPr>
          <p:cNvPr id="11" name="Text 8"/>
          <p:cNvSpPr/>
          <p:nvPr/>
        </p:nvSpPr>
        <p:spPr>
          <a:xfrm>
            <a:off x="548640" y="1581912"/>
            <a:ext cx="3794760" cy="274320"/>
          </a:xfrm>
          <a:prstGeom prst="rect">
            <a:avLst/>
          </a:prstGeom>
          <a:noFill/>
          <a:ln/>
        </p:spPr>
        <p:txBody>
          <a:bodyPr wrap="square" lIns="0" tIns="0" rIns="0" bIns="0" rtlCol="0" anchor="ctr"/>
          <a:lstStyle/>
          <a:p>
            <a:pPr marL="0" indent="0">
              <a:buNone/>
            </a:pPr>
            <a:r>
              <a:rPr lang="en-US" sz="1000" b="1" kern="0" spc="400" dirty="0">
                <a:solidFill>
                  <a:srgbClr val="3B82F6"/>
                </a:solidFill>
                <a:latin typeface="Calibri" pitchFamily="34" charset="0"/>
                <a:ea typeface="Calibri" pitchFamily="34" charset="-122"/>
                <a:cs typeface="Calibri" pitchFamily="34" charset="-120"/>
              </a:rPr>
              <a:t>GENERATIVE AI</a:t>
            </a:r>
            <a:endParaRPr lang="en-US" sz="1000" dirty="0"/>
          </a:p>
        </p:txBody>
      </p:sp>
      <p:sp>
        <p:nvSpPr>
          <p:cNvPr id="12" name="Text 9"/>
          <p:cNvSpPr/>
          <p:nvPr/>
        </p:nvSpPr>
        <p:spPr>
          <a:xfrm>
            <a:off x="548640" y="1810512"/>
            <a:ext cx="3794760" cy="274320"/>
          </a:xfrm>
          <a:prstGeom prst="rect">
            <a:avLst/>
          </a:prstGeom>
          <a:noFill/>
          <a:ln/>
        </p:spPr>
        <p:txBody>
          <a:bodyPr wrap="square" lIns="0" tIns="0" rIns="0" bIns="0" rtlCol="0" anchor="ctr"/>
          <a:lstStyle/>
          <a:p>
            <a:pPr marL="0" indent="0">
              <a:buNone/>
            </a:pPr>
            <a:r>
              <a:rPr lang="en-US" sz="1000" i="1" dirty="0">
                <a:solidFill>
                  <a:srgbClr val="94A3B8"/>
                </a:solidFill>
                <a:latin typeface="Calibri" pitchFamily="34" charset="0"/>
                <a:ea typeface="Calibri" pitchFamily="34" charset="-122"/>
                <a:cs typeface="Calibri" pitchFamily="34" charset="-120"/>
              </a:rPr>
              <a:t>One-shot · prompt in → text out</a:t>
            </a:r>
            <a:endParaRPr lang="en-US" sz="1000" dirty="0"/>
          </a:p>
        </p:txBody>
      </p:sp>
      <p:sp>
        <p:nvSpPr>
          <p:cNvPr id="13" name="Shape 10"/>
          <p:cNvSpPr/>
          <p:nvPr/>
        </p:nvSpPr>
        <p:spPr>
          <a:xfrm>
            <a:off x="548640" y="2331720"/>
            <a:ext cx="777240" cy="640080"/>
          </a:xfrm>
          <a:prstGeom prst="roundRect">
            <a:avLst>
              <a:gd name="adj" fmla="val 8571"/>
            </a:avLst>
          </a:prstGeom>
          <a:solidFill>
            <a:srgbClr val="11203A"/>
          </a:solidFill>
          <a:ln w="25400">
            <a:solidFill>
              <a:srgbClr val="94A3B8"/>
            </a:solidFill>
            <a:prstDash val="solid"/>
          </a:ln>
          <a:effectLst>
            <a:outerShdw blurRad="101600" dist="25400" dir="8100000" algn="bl" rotWithShape="0">
              <a:srgbClr val="000000">
                <a:alpha val="25000"/>
              </a:srgbClr>
            </a:outerShdw>
          </a:effectLst>
        </p:spPr>
        <p:txBody>
          <a:bodyPr/>
          <a:lstStyle/>
          <a:p>
            <a:endParaRPr lang="en-GB"/>
          </a:p>
        </p:txBody>
      </p:sp>
      <p:sp>
        <p:nvSpPr>
          <p:cNvPr id="14" name="Text 11"/>
          <p:cNvSpPr/>
          <p:nvPr/>
        </p:nvSpPr>
        <p:spPr>
          <a:xfrm>
            <a:off x="548640" y="2377440"/>
            <a:ext cx="777240" cy="320040"/>
          </a:xfrm>
          <a:prstGeom prst="rect">
            <a:avLst/>
          </a:prstGeom>
          <a:noFill/>
          <a:ln/>
        </p:spPr>
        <p:txBody>
          <a:bodyPr wrap="square" lIns="0" tIns="0" rIns="0" bIns="0" rtlCol="0" anchor="ctr"/>
          <a:lstStyle/>
          <a:p>
            <a:pPr marL="0" indent="0" algn="ctr">
              <a:buNone/>
            </a:pPr>
            <a:r>
              <a:rPr lang="en-US" sz="1400" dirty="0">
                <a:solidFill>
                  <a:srgbClr val="94A3B8"/>
                </a:solidFill>
                <a:latin typeface="Calibri" pitchFamily="34" charset="0"/>
                <a:ea typeface="Calibri" pitchFamily="34" charset="-122"/>
                <a:cs typeface="Calibri" pitchFamily="34" charset="-120"/>
              </a:rPr>
              <a:t>👤</a:t>
            </a:r>
            <a:endParaRPr lang="en-US" sz="1400" dirty="0"/>
          </a:p>
        </p:txBody>
      </p:sp>
      <p:sp>
        <p:nvSpPr>
          <p:cNvPr id="15" name="Text 12"/>
          <p:cNvSpPr/>
          <p:nvPr/>
        </p:nvSpPr>
        <p:spPr>
          <a:xfrm>
            <a:off x="548640" y="2679192"/>
            <a:ext cx="777240" cy="274320"/>
          </a:xfrm>
          <a:prstGeom prst="rect">
            <a:avLst/>
          </a:prstGeom>
          <a:noFill/>
          <a:ln/>
        </p:spPr>
        <p:txBody>
          <a:bodyPr wrap="square" lIns="0" tIns="0" rIns="0" bIns="0" rtlCol="0" anchor="ctr"/>
          <a:lstStyle/>
          <a:p>
            <a:pPr marL="0" indent="0" algn="ctr">
              <a:buNone/>
            </a:pPr>
            <a:r>
              <a:rPr lang="en-US" sz="1100" b="1" dirty="0">
                <a:solidFill>
                  <a:srgbClr val="F8FAFC"/>
                </a:solidFill>
                <a:latin typeface="Calibri" pitchFamily="34" charset="0"/>
                <a:ea typeface="Calibri" pitchFamily="34" charset="-122"/>
                <a:cs typeface="Calibri" pitchFamily="34" charset="-120"/>
              </a:rPr>
              <a:t>User</a:t>
            </a:r>
            <a:endParaRPr lang="en-US" sz="1100" dirty="0"/>
          </a:p>
        </p:txBody>
      </p:sp>
      <p:sp>
        <p:nvSpPr>
          <p:cNvPr id="16" name="Shape 13"/>
          <p:cNvSpPr/>
          <p:nvPr/>
        </p:nvSpPr>
        <p:spPr>
          <a:xfrm>
            <a:off x="1554480" y="2331720"/>
            <a:ext cx="868680" cy="640080"/>
          </a:xfrm>
          <a:prstGeom prst="roundRect">
            <a:avLst>
              <a:gd name="adj" fmla="val 8571"/>
            </a:avLst>
          </a:prstGeom>
          <a:solidFill>
            <a:srgbClr val="11203A"/>
          </a:solidFill>
          <a:ln w="25400">
            <a:solidFill>
              <a:srgbClr val="3B82F6"/>
            </a:solidFill>
            <a:prstDash val="solid"/>
          </a:ln>
          <a:effectLst>
            <a:outerShdw blurRad="101600" dist="25400" dir="8100000" algn="bl" rotWithShape="0">
              <a:srgbClr val="000000">
                <a:alpha val="25000"/>
              </a:srgbClr>
            </a:outerShdw>
          </a:effectLst>
        </p:spPr>
        <p:txBody>
          <a:bodyPr/>
          <a:lstStyle/>
          <a:p>
            <a:endParaRPr lang="en-GB"/>
          </a:p>
        </p:txBody>
      </p:sp>
      <p:sp>
        <p:nvSpPr>
          <p:cNvPr id="17" name="Text 14"/>
          <p:cNvSpPr/>
          <p:nvPr/>
        </p:nvSpPr>
        <p:spPr>
          <a:xfrm>
            <a:off x="1554480" y="2377440"/>
            <a:ext cx="868680" cy="320040"/>
          </a:xfrm>
          <a:prstGeom prst="rect">
            <a:avLst/>
          </a:prstGeom>
          <a:noFill/>
          <a:ln/>
        </p:spPr>
        <p:txBody>
          <a:bodyPr wrap="square" lIns="0" tIns="0" rIns="0" bIns="0" rtlCol="0" anchor="ctr"/>
          <a:lstStyle/>
          <a:p>
            <a:pPr marL="0" indent="0" algn="ctr">
              <a:buNone/>
            </a:pPr>
            <a:r>
              <a:rPr lang="en-US" sz="1400" dirty="0">
                <a:solidFill>
                  <a:srgbClr val="3B82F6"/>
                </a:solidFill>
                <a:latin typeface="Calibri" pitchFamily="34" charset="0"/>
                <a:ea typeface="Calibri" pitchFamily="34" charset="-122"/>
                <a:cs typeface="Calibri" pitchFamily="34" charset="-120"/>
              </a:rPr>
              <a:t>✉️</a:t>
            </a:r>
            <a:endParaRPr lang="en-US" sz="1400" dirty="0"/>
          </a:p>
        </p:txBody>
      </p:sp>
      <p:sp>
        <p:nvSpPr>
          <p:cNvPr id="18" name="Text 15"/>
          <p:cNvSpPr/>
          <p:nvPr/>
        </p:nvSpPr>
        <p:spPr>
          <a:xfrm>
            <a:off x="1554480" y="2679192"/>
            <a:ext cx="868680" cy="274320"/>
          </a:xfrm>
          <a:prstGeom prst="rect">
            <a:avLst/>
          </a:prstGeom>
          <a:noFill/>
          <a:ln/>
        </p:spPr>
        <p:txBody>
          <a:bodyPr wrap="square" lIns="0" tIns="0" rIns="0" bIns="0" rtlCol="0" anchor="ctr"/>
          <a:lstStyle/>
          <a:p>
            <a:pPr marL="0" indent="0" algn="ctr">
              <a:buNone/>
            </a:pPr>
            <a:r>
              <a:rPr lang="en-US" sz="1100" b="1" dirty="0">
                <a:solidFill>
                  <a:srgbClr val="F8FAFC"/>
                </a:solidFill>
                <a:latin typeface="Calibri" pitchFamily="34" charset="0"/>
                <a:ea typeface="Calibri" pitchFamily="34" charset="-122"/>
                <a:cs typeface="Calibri" pitchFamily="34" charset="-120"/>
              </a:rPr>
              <a:t>Prompt</a:t>
            </a:r>
            <a:endParaRPr lang="en-US" sz="1100" dirty="0"/>
          </a:p>
        </p:txBody>
      </p:sp>
      <p:sp>
        <p:nvSpPr>
          <p:cNvPr id="19" name="Shape 16"/>
          <p:cNvSpPr/>
          <p:nvPr/>
        </p:nvSpPr>
        <p:spPr>
          <a:xfrm>
            <a:off x="2651760" y="2331720"/>
            <a:ext cx="777240" cy="640080"/>
          </a:xfrm>
          <a:prstGeom prst="roundRect">
            <a:avLst>
              <a:gd name="adj" fmla="val 8571"/>
            </a:avLst>
          </a:prstGeom>
          <a:solidFill>
            <a:srgbClr val="11203A"/>
          </a:solidFill>
          <a:ln w="25400">
            <a:solidFill>
              <a:srgbClr val="3B82F6"/>
            </a:solidFill>
            <a:prstDash val="solid"/>
          </a:ln>
          <a:effectLst>
            <a:outerShdw blurRad="101600" dist="25400" dir="8100000" algn="bl" rotWithShape="0">
              <a:srgbClr val="000000">
                <a:alpha val="25000"/>
              </a:srgbClr>
            </a:outerShdw>
          </a:effectLst>
        </p:spPr>
        <p:txBody>
          <a:bodyPr/>
          <a:lstStyle/>
          <a:p>
            <a:endParaRPr lang="en-GB"/>
          </a:p>
        </p:txBody>
      </p:sp>
      <p:sp>
        <p:nvSpPr>
          <p:cNvPr id="20" name="Text 17"/>
          <p:cNvSpPr/>
          <p:nvPr/>
        </p:nvSpPr>
        <p:spPr>
          <a:xfrm>
            <a:off x="2651760" y="2377440"/>
            <a:ext cx="777240" cy="320040"/>
          </a:xfrm>
          <a:prstGeom prst="rect">
            <a:avLst/>
          </a:prstGeom>
          <a:noFill/>
          <a:ln/>
        </p:spPr>
        <p:txBody>
          <a:bodyPr wrap="square" lIns="0" tIns="0" rIns="0" bIns="0" rtlCol="0" anchor="ctr"/>
          <a:lstStyle/>
          <a:p>
            <a:pPr marL="0" indent="0" algn="ctr">
              <a:buNone/>
            </a:pPr>
            <a:r>
              <a:rPr lang="en-US" sz="1400" dirty="0">
                <a:solidFill>
                  <a:srgbClr val="3B82F6"/>
                </a:solidFill>
                <a:latin typeface="Calibri" pitchFamily="34" charset="0"/>
                <a:ea typeface="Calibri" pitchFamily="34" charset="-122"/>
                <a:cs typeface="Calibri" pitchFamily="34" charset="-120"/>
              </a:rPr>
              <a:t>🧠</a:t>
            </a:r>
            <a:endParaRPr lang="en-US" sz="1400" dirty="0"/>
          </a:p>
        </p:txBody>
      </p:sp>
      <p:sp>
        <p:nvSpPr>
          <p:cNvPr id="21" name="Text 18"/>
          <p:cNvSpPr/>
          <p:nvPr/>
        </p:nvSpPr>
        <p:spPr>
          <a:xfrm>
            <a:off x="2651760" y="2679192"/>
            <a:ext cx="777240" cy="274320"/>
          </a:xfrm>
          <a:prstGeom prst="rect">
            <a:avLst/>
          </a:prstGeom>
          <a:noFill/>
          <a:ln/>
        </p:spPr>
        <p:txBody>
          <a:bodyPr wrap="square" lIns="0" tIns="0" rIns="0" bIns="0" rtlCol="0" anchor="ctr"/>
          <a:lstStyle/>
          <a:p>
            <a:pPr marL="0" indent="0" algn="ctr">
              <a:buNone/>
            </a:pPr>
            <a:r>
              <a:rPr lang="en-US" sz="1100" b="1" dirty="0">
                <a:solidFill>
                  <a:srgbClr val="F8FAFC"/>
                </a:solidFill>
                <a:latin typeface="Calibri" pitchFamily="34" charset="0"/>
                <a:ea typeface="Calibri" pitchFamily="34" charset="-122"/>
                <a:cs typeface="Calibri" pitchFamily="34" charset="-120"/>
              </a:rPr>
              <a:t>LLM</a:t>
            </a:r>
            <a:endParaRPr lang="en-US" sz="1100" dirty="0"/>
          </a:p>
        </p:txBody>
      </p:sp>
      <p:sp>
        <p:nvSpPr>
          <p:cNvPr id="22" name="Shape 19"/>
          <p:cNvSpPr/>
          <p:nvPr/>
        </p:nvSpPr>
        <p:spPr>
          <a:xfrm>
            <a:off x="3657600" y="2331720"/>
            <a:ext cx="777240" cy="640080"/>
          </a:xfrm>
          <a:prstGeom prst="roundRect">
            <a:avLst>
              <a:gd name="adj" fmla="val 8571"/>
            </a:avLst>
          </a:prstGeom>
          <a:solidFill>
            <a:srgbClr val="11203A"/>
          </a:solidFill>
          <a:ln w="25400">
            <a:solidFill>
              <a:srgbClr val="3B82F6"/>
            </a:solidFill>
            <a:prstDash val="solid"/>
          </a:ln>
          <a:effectLst>
            <a:outerShdw blurRad="101600" dist="25400" dir="8100000" algn="bl" rotWithShape="0">
              <a:srgbClr val="000000">
                <a:alpha val="25000"/>
              </a:srgbClr>
            </a:outerShdw>
          </a:effectLst>
        </p:spPr>
        <p:txBody>
          <a:bodyPr/>
          <a:lstStyle/>
          <a:p>
            <a:endParaRPr lang="en-GB"/>
          </a:p>
        </p:txBody>
      </p:sp>
      <p:sp>
        <p:nvSpPr>
          <p:cNvPr id="23" name="Text 20"/>
          <p:cNvSpPr/>
          <p:nvPr/>
        </p:nvSpPr>
        <p:spPr>
          <a:xfrm>
            <a:off x="3657600" y="2377440"/>
            <a:ext cx="777240" cy="320040"/>
          </a:xfrm>
          <a:prstGeom prst="rect">
            <a:avLst/>
          </a:prstGeom>
          <a:noFill/>
          <a:ln/>
        </p:spPr>
        <p:txBody>
          <a:bodyPr wrap="square" lIns="0" tIns="0" rIns="0" bIns="0" rtlCol="0" anchor="ctr"/>
          <a:lstStyle/>
          <a:p>
            <a:pPr marL="0" indent="0" algn="ctr">
              <a:buNone/>
            </a:pPr>
            <a:r>
              <a:rPr lang="en-US" sz="1400" dirty="0">
                <a:solidFill>
                  <a:srgbClr val="3B82F6"/>
                </a:solidFill>
                <a:latin typeface="Calibri" pitchFamily="34" charset="0"/>
                <a:ea typeface="Calibri" pitchFamily="34" charset="-122"/>
                <a:cs typeface="Calibri" pitchFamily="34" charset="-120"/>
              </a:rPr>
              <a:t>📄</a:t>
            </a:r>
            <a:endParaRPr lang="en-US" sz="1400" dirty="0"/>
          </a:p>
        </p:txBody>
      </p:sp>
      <p:sp>
        <p:nvSpPr>
          <p:cNvPr id="24" name="Text 21"/>
          <p:cNvSpPr/>
          <p:nvPr/>
        </p:nvSpPr>
        <p:spPr>
          <a:xfrm>
            <a:off x="3657600" y="2679192"/>
            <a:ext cx="777240" cy="274320"/>
          </a:xfrm>
          <a:prstGeom prst="rect">
            <a:avLst/>
          </a:prstGeom>
          <a:noFill/>
          <a:ln/>
        </p:spPr>
        <p:txBody>
          <a:bodyPr wrap="square" lIns="0" tIns="0" rIns="0" bIns="0" rtlCol="0" anchor="ctr"/>
          <a:lstStyle/>
          <a:p>
            <a:pPr marL="0" indent="0" algn="ctr">
              <a:buNone/>
            </a:pPr>
            <a:r>
              <a:rPr lang="en-US" sz="1100" b="1" dirty="0">
                <a:solidFill>
                  <a:srgbClr val="F8FAFC"/>
                </a:solidFill>
                <a:latin typeface="Calibri" pitchFamily="34" charset="0"/>
                <a:ea typeface="Calibri" pitchFamily="34" charset="-122"/>
                <a:cs typeface="Calibri" pitchFamily="34" charset="-120"/>
              </a:rPr>
              <a:t>Output</a:t>
            </a:r>
            <a:endParaRPr lang="en-US" sz="1100" dirty="0"/>
          </a:p>
        </p:txBody>
      </p:sp>
      <p:sp>
        <p:nvSpPr>
          <p:cNvPr id="25" name="Shape 22"/>
          <p:cNvSpPr/>
          <p:nvPr/>
        </p:nvSpPr>
        <p:spPr>
          <a:xfrm>
            <a:off x="1325880" y="2651760"/>
            <a:ext cx="228600" cy="0"/>
          </a:xfrm>
          <a:prstGeom prst="line">
            <a:avLst/>
          </a:prstGeom>
          <a:noFill/>
          <a:ln w="19050">
            <a:solidFill>
              <a:srgbClr val="3B82F6"/>
            </a:solidFill>
            <a:prstDash val="solid"/>
            <a:tailEnd type="triangle"/>
          </a:ln>
        </p:spPr>
        <p:txBody>
          <a:bodyPr/>
          <a:lstStyle/>
          <a:p>
            <a:endParaRPr lang="en-GB"/>
          </a:p>
        </p:txBody>
      </p:sp>
      <p:sp>
        <p:nvSpPr>
          <p:cNvPr id="26" name="Shape 23"/>
          <p:cNvSpPr/>
          <p:nvPr/>
        </p:nvSpPr>
        <p:spPr>
          <a:xfrm>
            <a:off x="2423160" y="2651760"/>
            <a:ext cx="228600" cy="0"/>
          </a:xfrm>
          <a:prstGeom prst="line">
            <a:avLst/>
          </a:prstGeom>
          <a:noFill/>
          <a:ln w="19050">
            <a:solidFill>
              <a:srgbClr val="3B82F6"/>
            </a:solidFill>
            <a:prstDash val="solid"/>
            <a:tailEnd type="triangle"/>
          </a:ln>
        </p:spPr>
        <p:txBody>
          <a:bodyPr/>
          <a:lstStyle/>
          <a:p>
            <a:endParaRPr lang="en-GB"/>
          </a:p>
        </p:txBody>
      </p:sp>
      <p:sp>
        <p:nvSpPr>
          <p:cNvPr id="27" name="Shape 24"/>
          <p:cNvSpPr/>
          <p:nvPr/>
        </p:nvSpPr>
        <p:spPr>
          <a:xfrm>
            <a:off x="3429000" y="2651760"/>
            <a:ext cx="228600" cy="0"/>
          </a:xfrm>
          <a:prstGeom prst="line">
            <a:avLst/>
          </a:prstGeom>
          <a:noFill/>
          <a:ln w="19050">
            <a:solidFill>
              <a:srgbClr val="3B82F6"/>
            </a:solidFill>
            <a:prstDash val="solid"/>
            <a:tailEnd type="triangle"/>
          </a:ln>
        </p:spPr>
        <p:txBody>
          <a:bodyPr/>
          <a:lstStyle/>
          <a:p>
            <a:endParaRPr lang="en-GB"/>
          </a:p>
        </p:txBody>
      </p:sp>
      <p:sp>
        <p:nvSpPr>
          <p:cNvPr id="28" name="Shape 25"/>
          <p:cNvSpPr/>
          <p:nvPr/>
        </p:nvSpPr>
        <p:spPr>
          <a:xfrm>
            <a:off x="548640" y="3383280"/>
            <a:ext cx="3794760" cy="960120"/>
          </a:xfrm>
          <a:prstGeom prst="roundRect">
            <a:avLst>
              <a:gd name="adj" fmla="val 5714"/>
            </a:avLst>
          </a:prstGeom>
          <a:solidFill>
            <a:srgbClr val="0A1628"/>
          </a:solidFill>
          <a:ln w="12700">
            <a:solidFill>
              <a:srgbClr val="1E3A5F"/>
            </a:solidFill>
            <a:prstDash val="solid"/>
          </a:ln>
        </p:spPr>
        <p:txBody>
          <a:bodyPr/>
          <a:lstStyle/>
          <a:p>
            <a:endParaRPr lang="en-GB"/>
          </a:p>
        </p:txBody>
      </p:sp>
      <p:sp>
        <p:nvSpPr>
          <p:cNvPr id="29" name="Text 26"/>
          <p:cNvSpPr/>
          <p:nvPr/>
        </p:nvSpPr>
        <p:spPr>
          <a:xfrm>
            <a:off x="685800" y="3429000"/>
            <a:ext cx="3703320" cy="868680"/>
          </a:xfrm>
          <a:prstGeom prst="rect">
            <a:avLst/>
          </a:prstGeom>
          <a:noFill/>
          <a:ln/>
        </p:spPr>
        <p:txBody>
          <a:bodyPr wrap="square" lIns="0" tIns="0" rIns="0" bIns="0" rtlCol="0" anchor="ctr"/>
          <a:lstStyle/>
          <a:p>
            <a:pPr marL="0" indent="0">
              <a:spcAft>
                <a:spcPts val="200"/>
              </a:spcAft>
              <a:buNone/>
            </a:pPr>
            <a:r>
              <a:rPr lang="en-US" sz="900" b="1" kern="0" spc="400" dirty="0">
                <a:solidFill>
                  <a:srgbClr val="3B82F6"/>
                </a:solidFill>
                <a:latin typeface="Calibri" pitchFamily="34" charset="0"/>
                <a:ea typeface="Calibri" pitchFamily="34" charset="-122"/>
                <a:cs typeface="Calibri" pitchFamily="34" charset="-120"/>
              </a:rPr>
              <a:t>EXAMPLE</a:t>
            </a:r>
            <a:endParaRPr lang="en-US" sz="900" dirty="0"/>
          </a:p>
          <a:p>
            <a:pPr marL="0" indent="0">
              <a:spcAft>
                <a:spcPts val="200"/>
              </a:spcAft>
              <a:buNone/>
            </a:pPr>
            <a:r>
              <a:rPr lang="en-US" sz="1300" i="1" dirty="0">
                <a:solidFill>
                  <a:srgbClr val="F8FAFC"/>
                </a:solidFill>
                <a:latin typeface="Calibri" pitchFamily="34" charset="0"/>
                <a:ea typeface="Calibri" pitchFamily="34" charset="-122"/>
                <a:cs typeface="Calibri" pitchFamily="34" charset="-120"/>
              </a:rPr>
              <a:t>“Write me an email.”</a:t>
            </a:r>
            <a:endParaRPr lang="en-US" sz="900" dirty="0"/>
          </a:p>
          <a:p>
            <a:pPr marL="0" indent="0">
              <a:spcAft>
                <a:spcPts val="200"/>
              </a:spcAft>
              <a:buNone/>
            </a:pPr>
            <a:r>
              <a:rPr lang="en-US" sz="1000" dirty="0">
                <a:solidFill>
                  <a:srgbClr val="94A3B8"/>
                </a:solidFill>
                <a:latin typeface="Calibri" pitchFamily="34" charset="0"/>
                <a:ea typeface="Calibri" pitchFamily="34" charset="-122"/>
                <a:cs typeface="Calibri" pitchFamily="34" charset="-120"/>
              </a:rPr>
              <a:t>→ returns the text. Done.</a:t>
            </a:r>
            <a:endParaRPr lang="en-US" sz="900" dirty="0"/>
          </a:p>
        </p:txBody>
      </p:sp>
      <p:sp>
        <p:nvSpPr>
          <p:cNvPr id="30" name="Shape 27"/>
          <p:cNvSpPr>
            <a:spLocks noGrp="1" noRot="1" noMove="1" noResize="1" noEditPoints="1" noAdjustHandles="1" noChangeArrowheads="1" noChangeShapeType="1"/>
          </p:cNvSpPr>
          <p:nvPr/>
        </p:nvSpPr>
        <p:spPr>
          <a:xfrm>
            <a:off x="4617720" y="1417320"/>
            <a:ext cx="4160520" cy="3154680"/>
          </a:xfrm>
          <a:prstGeom prst="roundRect">
            <a:avLst>
              <a:gd name="adj" fmla="val 2319"/>
            </a:avLst>
          </a:prstGeom>
          <a:solidFill>
            <a:srgbClr val="11203A"/>
          </a:solidFill>
          <a:ln w="12700">
            <a:solidFill>
              <a:srgbClr val="F97316"/>
            </a:solidFill>
            <a:prstDash val="solid"/>
          </a:ln>
          <a:effectLst>
            <a:outerShdw blurRad="101600" dist="25400" dir="8100000" algn="bl" rotWithShape="0">
              <a:srgbClr val="000000">
                <a:alpha val="25000"/>
              </a:srgbClr>
            </a:outerShdw>
          </a:effectLst>
        </p:spPr>
        <p:txBody>
          <a:bodyPr/>
          <a:lstStyle/>
          <a:p>
            <a:endParaRPr lang="en-GB" dirty="0"/>
          </a:p>
        </p:txBody>
      </p:sp>
      <p:sp>
        <p:nvSpPr>
          <p:cNvPr id="31" name="Shape 28"/>
          <p:cNvSpPr/>
          <p:nvPr/>
        </p:nvSpPr>
        <p:spPr>
          <a:xfrm>
            <a:off x="4617720" y="1417320"/>
            <a:ext cx="4160520" cy="73152"/>
          </a:xfrm>
          <a:prstGeom prst="rect">
            <a:avLst/>
          </a:prstGeom>
          <a:solidFill>
            <a:srgbClr val="F97316"/>
          </a:solidFill>
          <a:ln w="12700">
            <a:solidFill>
              <a:srgbClr val="F97316"/>
            </a:solidFill>
            <a:prstDash val="solid"/>
          </a:ln>
        </p:spPr>
        <p:txBody>
          <a:bodyPr/>
          <a:lstStyle/>
          <a:p>
            <a:endParaRPr lang="en-GB"/>
          </a:p>
        </p:txBody>
      </p:sp>
      <p:sp>
        <p:nvSpPr>
          <p:cNvPr id="32" name="Text 29"/>
          <p:cNvSpPr/>
          <p:nvPr/>
        </p:nvSpPr>
        <p:spPr>
          <a:xfrm>
            <a:off x="4800600" y="1581912"/>
            <a:ext cx="3794760" cy="274320"/>
          </a:xfrm>
          <a:prstGeom prst="rect">
            <a:avLst/>
          </a:prstGeom>
          <a:noFill/>
          <a:ln/>
        </p:spPr>
        <p:txBody>
          <a:bodyPr wrap="square" lIns="0" tIns="0" rIns="0" bIns="0" rtlCol="0" anchor="ctr"/>
          <a:lstStyle/>
          <a:p>
            <a:pPr marL="0" indent="0">
              <a:buNone/>
            </a:pPr>
            <a:r>
              <a:rPr lang="en-US" sz="1000" b="1" kern="0" spc="400" dirty="0">
                <a:solidFill>
                  <a:srgbClr val="F97316"/>
                </a:solidFill>
                <a:latin typeface="Calibri" pitchFamily="34" charset="0"/>
                <a:ea typeface="Calibri" pitchFamily="34" charset="-122"/>
                <a:cs typeface="Calibri" pitchFamily="34" charset="-120"/>
              </a:rPr>
              <a:t>AGENTIC AI</a:t>
            </a:r>
            <a:endParaRPr lang="en-US" sz="1000" dirty="0"/>
          </a:p>
        </p:txBody>
      </p:sp>
      <p:sp>
        <p:nvSpPr>
          <p:cNvPr id="33" name="Text 30"/>
          <p:cNvSpPr/>
          <p:nvPr/>
        </p:nvSpPr>
        <p:spPr>
          <a:xfrm>
            <a:off x="4800600" y="1810512"/>
            <a:ext cx="3794760" cy="274320"/>
          </a:xfrm>
          <a:prstGeom prst="rect">
            <a:avLst/>
          </a:prstGeom>
          <a:noFill/>
          <a:ln/>
        </p:spPr>
        <p:txBody>
          <a:bodyPr wrap="square" lIns="0" tIns="0" rIns="0" bIns="0" rtlCol="0" anchor="ctr"/>
          <a:lstStyle/>
          <a:p>
            <a:pPr marL="0" indent="0">
              <a:buNone/>
            </a:pPr>
            <a:r>
              <a:rPr lang="en-US" sz="1000" i="1" dirty="0">
                <a:solidFill>
                  <a:srgbClr val="94A3B8"/>
                </a:solidFill>
                <a:latin typeface="Calibri" pitchFamily="34" charset="0"/>
                <a:ea typeface="Calibri" pitchFamily="34" charset="-122"/>
                <a:cs typeface="Calibri" pitchFamily="34" charset="-120"/>
              </a:rPr>
              <a:t>Loops · plans · uses tools · remembers</a:t>
            </a:r>
            <a:endParaRPr lang="en-US" sz="1000" dirty="0"/>
          </a:p>
        </p:txBody>
      </p:sp>
      <p:sp>
        <p:nvSpPr>
          <p:cNvPr id="34" name="Shape 31"/>
          <p:cNvSpPr/>
          <p:nvPr/>
        </p:nvSpPr>
        <p:spPr>
          <a:xfrm>
            <a:off x="4800600" y="2331720"/>
            <a:ext cx="731520" cy="502920"/>
          </a:xfrm>
          <a:prstGeom prst="roundRect">
            <a:avLst>
              <a:gd name="adj" fmla="val 10909"/>
            </a:avLst>
          </a:prstGeom>
          <a:solidFill>
            <a:srgbClr val="11203A"/>
          </a:solidFill>
          <a:ln w="25400">
            <a:solidFill>
              <a:srgbClr val="94A3B8"/>
            </a:solidFill>
            <a:prstDash val="solid"/>
          </a:ln>
          <a:effectLst>
            <a:outerShdw blurRad="101600" dist="25400" dir="8100000" algn="bl" rotWithShape="0">
              <a:srgbClr val="000000">
                <a:alpha val="25000"/>
              </a:srgbClr>
            </a:outerShdw>
          </a:effectLst>
        </p:spPr>
        <p:txBody>
          <a:bodyPr/>
          <a:lstStyle/>
          <a:p>
            <a:endParaRPr lang="en-GB"/>
          </a:p>
        </p:txBody>
      </p:sp>
      <p:sp>
        <p:nvSpPr>
          <p:cNvPr id="35" name="Text 32"/>
          <p:cNvSpPr/>
          <p:nvPr/>
        </p:nvSpPr>
        <p:spPr>
          <a:xfrm>
            <a:off x="4800600" y="2331720"/>
            <a:ext cx="731520" cy="502920"/>
          </a:xfrm>
          <a:prstGeom prst="rect">
            <a:avLst/>
          </a:prstGeom>
          <a:noFill/>
          <a:ln/>
        </p:spPr>
        <p:txBody>
          <a:bodyPr wrap="square" lIns="0" tIns="0" rIns="0" bIns="0" rtlCol="0" anchor="ctr"/>
          <a:lstStyle/>
          <a:p>
            <a:pPr marL="0" indent="0" algn="ctr">
              <a:buNone/>
            </a:pPr>
            <a:r>
              <a:rPr lang="en-US" sz="1100" b="1" dirty="0">
                <a:solidFill>
                  <a:srgbClr val="F8FAFC"/>
                </a:solidFill>
                <a:latin typeface="Calibri" pitchFamily="34" charset="0"/>
                <a:ea typeface="Calibri" pitchFamily="34" charset="-122"/>
                <a:cs typeface="Calibri" pitchFamily="34" charset="-120"/>
              </a:rPr>
              <a:t>User</a:t>
            </a:r>
            <a:endParaRPr lang="en-US" sz="1100" dirty="0"/>
          </a:p>
        </p:txBody>
      </p:sp>
      <p:sp>
        <p:nvSpPr>
          <p:cNvPr id="36" name="Shape 33"/>
          <p:cNvSpPr/>
          <p:nvPr/>
        </p:nvSpPr>
        <p:spPr>
          <a:xfrm>
            <a:off x="4800600" y="3703320"/>
            <a:ext cx="731520" cy="502920"/>
          </a:xfrm>
          <a:prstGeom prst="roundRect">
            <a:avLst>
              <a:gd name="adj" fmla="val 10909"/>
            </a:avLst>
          </a:prstGeom>
          <a:solidFill>
            <a:srgbClr val="11203A"/>
          </a:solidFill>
          <a:ln w="25400">
            <a:solidFill>
              <a:srgbClr val="F97316"/>
            </a:solidFill>
            <a:prstDash val="solid"/>
          </a:ln>
          <a:effectLst>
            <a:outerShdw blurRad="101600" dist="25400" dir="8100000" algn="bl" rotWithShape="0">
              <a:srgbClr val="000000">
                <a:alpha val="25000"/>
              </a:srgbClr>
            </a:outerShdw>
          </a:effectLst>
        </p:spPr>
        <p:txBody>
          <a:bodyPr/>
          <a:lstStyle/>
          <a:p>
            <a:endParaRPr lang="en-GB"/>
          </a:p>
        </p:txBody>
      </p:sp>
      <p:sp>
        <p:nvSpPr>
          <p:cNvPr id="37" name="Text 34"/>
          <p:cNvSpPr/>
          <p:nvPr/>
        </p:nvSpPr>
        <p:spPr>
          <a:xfrm>
            <a:off x="4800600" y="3703320"/>
            <a:ext cx="731520" cy="502920"/>
          </a:xfrm>
          <a:prstGeom prst="rect">
            <a:avLst/>
          </a:prstGeom>
          <a:noFill/>
          <a:ln/>
        </p:spPr>
        <p:txBody>
          <a:bodyPr wrap="square" lIns="0" tIns="0" rIns="0" bIns="0" rtlCol="0" anchor="ctr"/>
          <a:lstStyle/>
          <a:p>
            <a:pPr marL="0" indent="0" algn="ctr">
              <a:buNone/>
            </a:pPr>
            <a:r>
              <a:rPr lang="en-US" sz="1100" b="1" dirty="0">
                <a:solidFill>
                  <a:srgbClr val="F8FAFC"/>
                </a:solidFill>
                <a:latin typeface="Calibri" pitchFamily="34" charset="0"/>
                <a:ea typeface="Calibri" pitchFamily="34" charset="-122"/>
                <a:cs typeface="Calibri" pitchFamily="34" charset="-120"/>
              </a:rPr>
              <a:t>Answer</a:t>
            </a:r>
            <a:endParaRPr lang="en-US" sz="1100" dirty="0"/>
          </a:p>
        </p:txBody>
      </p:sp>
      <p:sp>
        <p:nvSpPr>
          <p:cNvPr id="38" name="Shape 35"/>
          <p:cNvSpPr/>
          <p:nvPr/>
        </p:nvSpPr>
        <p:spPr>
          <a:xfrm>
            <a:off x="5166360" y="2834640"/>
            <a:ext cx="0" cy="868680"/>
          </a:xfrm>
          <a:prstGeom prst="line">
            <a:avLst/>
          </a:prstGeom>
          <a:noFill/>
          <a:ln w="19050">
            <a:solidFill>
              <a:srgbClr val="F97316"/>
            </a:solidFill>
            <a:prstDash val="solid"/>
            <a:tailEnd type="triangle"/>
          </a:ln>
        </p:spPr>
        <p:txBody>
          <a:bodyPr/>
          <a:lstStyle/>
          <a:p>
            <a:endParaRPr lang="en-GB"/>
          </a:p>
        </p:txBody>
      </p:sp>
      <p:sp>
        <p:nvSpPr>
          <p:cNvPr id="39" name="Shape 36"/>
          <p:cNvSpPr/>
          <p:nvPr/>
        </p:nvSpPr>
        <p:spPr>
          <a:xfrm>
            <a:off x="5760720" y="2971800"/>
            <a:ext cx="1371600" cy="640080"/>
          </a:xfrm>
          <a:prstGeom prst="roundRect">
            <a:avLst>
              <a:gd name="adj" fmla="val 11429"/>
            </a:avLst>
          </a:prstGeom>
          <a:solidFill>
            <a:srgbClr val="F97316"/>
          </a:solidFill>
          <a:ln w="12700">
            <a:solidFill>
              <a:srgbClr val="F97316"/>
            </a:solidFill>
            <a:prstDash val="solid"/>
          </a:ln>
          <a:effectLst>
            <a:outerShdw blurRad="101600" dist="25400" dir="8100000" algn="bl" rotWithShape="0">
              <a:srgbClr val="000000">
                <a:alpha val="25000"/>
              </a:srgbClr>
            </a:outerShdw>
          </a:effectLst>
        </p:spPr>
        <p:txBody>
          <a:bodyPr/>
          <a:lstStyle/>
          <a:p>
            <a:endParaRPr lang="en-GB"/>
          </a:p>
        </p:txBody>
      </p:sp>
      <p:sp>
        <p:nvSpPr>
          <p:cNvPr id="40" name="Text 37"/>
          <p:cNvSpPr/>
          <p:nvPr/>
        </p:nvSpPr>
        <p:spPr>
          <a:xfrm>
            <a:off x="5760720" y="2971800"/>
            <a:ext cx="1371600" cy="640080"/>
          </a:xfrm>
          <a:prstGeom prst="rect">
            <a:avLst/>
          </a:prstGeom>
          <a:noFill/>
          <a:ln/>
        </p:spPr>
        <p:txBody>
          <a:bodyPr wrap="square" lIns="0" tIns="0" rIns="0" bIns="0" rtlCol="0" anchor="ctr"/>
          <a:lstStyle/>
          <a:p>
            <a:pPr marL="0" indent="0" algn="ctr">
              <a:buNone/>
            </a:pPr>
            <a:r>
              <a:rPr lang="en-US" sz="1100" b="1" dirty="0">
                <a:solidFill>
                  <a:srgbClr val="0A1628"/>
                </a:solidFill>
                <a:latin typeface="Calibri" pitchFamily="34" charset="0"/>
                <a:ea typeface="Calibri" pitchFamily="34" charset="-122"/>
                <a:cs typeface="Calibri" pitchFamily="34" charset="-120"/>
              </a:rPr>
              <a:t>Orchestrator</a:t>
            </a:r>
            <a:endParaRPr lang="en-US" sz="1100" dirty="0"/>
          </a:p>
        </p:txBody>
      </p:sp>
      <p:sp>
        <p:nvSpPr>
          <p:cNvPr id="41" name="Shape 38"/>
          <p:cNvSpPr/>
          <p:nvPr/>
        </p:nvSpPr>
        <p:spPr>
          <a:xfrm>
            <a:off x="5532120" y="2578608"/>
            <a:ext cx="228600" cy="530352"/>
          </a:xfrm>
          <a:prstGeom prst="line">
            <a:avLst/>
          </a:prstGeom>
          <a:noFill/>
          <a:ln w="19050">
            <a:solidFill>
              <a:srgbClr val="F97316"/>
            </a:solidFill>
            <a:prstDash val="solid"/>
            <a:tailEnd type="triangle"/>
          </a:ln>
        </p:spPr>
        <p:txBody>
          <a:bodyPr/>
          <a:lstStyle/>
          <a:p>
            <a:endParaRPr lang="en-GB"/>
          </a:p>
        </p:txBody>
      </p:sp>
      <p:sp>
        <p:nvSpPr>
          <p:cNvPr id="42" name="Shape 39"/>
          <p:cNvSpPr/>
          <p:nvPr/>
        </p:nvSpPr>
        <p:spPr>
          <a:xfrm flipH="1">
            <a:off x="5532120" y="3520440"/>
            <a:ext cx="228600" cy="502920"/>
          </a:xfrm>
          <a:prstGeom prst="line">
            <a:avLst/>
          </a:prstGeom>
          <a:noFill/>
          <a:ln w="19050">
            <a:solidFill>
              <a:srgbClr val="F97316"/>
            </a:solidFill>
            <a:prstDash val="solid"/>
            <a:tailEnd type="triangle"/>
          </a:ln>
        </p:spPr>
        <p:txBody>
          <a:bodyPr/>
          <a:lstStyle/>
          <a:p>
            <a:endParaRPr lang="en-GB"/>
          </a:p>
        </p:txBody>
      </p:sp>
      <p:sp>
        <p:nvSpPr>
          <p:cNvPr id="45" name="Shape 42"/>
          <p:cNvSpPr/>
          <p:nvPr/>
        </p:nvSpPr>
        <p:spPr>
          <a:xfrm>
            <a:off x="7452360" y="2476691"/>
            <a:ext cx="1143000" cy="502920"/>
          </a:xfrm>
          <a:prstGeom prst="roundRect">
            <a:avLst>
              <a:gd name="adj" fmla="val 10909"/>
            </a:avLst>
          </a:prstGeom>
          <a:solidFill>
            <a:srgbClr val="11203A"/>
          </a:solidFill>
          <a:ln w="25400">
            <a:solidFill>
              <a:srgbClr val="3B82F6"/>
            </a:solidFill>
            <a:prstDash val="solid"/>
          </a:ln>
          <a:effectLst>
            <a:outerShdw blurRad="101600" dist="25400" dir="8100000" algn="bl" rotWithShape="0">
              <a:srgbClr val="000000">
                <a:alpha val="25000"/>
              </a:srgbClr>
            </a:outerShdw>
          </a:effectLst>
        </p:spPr>
        <p:txBody>
          <a:bodyPr/>
          <a:lstStyle/>
          <a:p>
            <a:endParaRPr lang="en-GB"/>
          </a:p>
        </p:txBody>
      </p:sp>
      <p:sp>
        <p:nvSpPr>
          <p:cNvPr id="46" name="Text 43"/>
          <p:cNvSpPr/>
          <p:nvPr/>
        </p:nvSpPr>
        <p:spPr>
          <a:xfrm>
            <a:off x="7452360" y="2476691"/>
            <a:ext cx="1143000" cy="502920"/>
          </a:xfrm>
          <a:prstGeom prst="rect">
            <a:avLst/>
          </a:prstGeom>
          <a:noFill/>
          <a:ln/>
        </p:spPr>
        <p:txBody>
          <a:bodyPr wrap="square" lIns="0" tIns="0" rIns="0" bIns="0" rtlCol="0" anchor="ctr"/>
          <a:lstStyle/>
          <a:p>
            <a:pPr marL="0" indent="0" algn="ctr">
              <a:buNone/>
            </a:pPr>
            <a:r>
              <a:rPr lang="en-US" sz="1100" b="1" dirty="0">
                <a:solidFill>
                  <a:srgbClr val="F8FAFC"/>
                </a:solidFill>
                <a:latin typeface="Calibri" pitchFamily="34" charset="0"/>
                <a:ea typeface="Calibri" pitchFamily="34" charset="-122"/>
                <a:cs typeface="Calibri" pitchFamily="34" charset="-120"/>
              </a:rPr>
              <a:t>Tools/MCP</a:t>
            </a:r>
            <a:endParaRPr lang="en-US" sz="1100" dirty="0"/>
          </a:p>
        </p:txBody>
      </p:sp>
      <p:sp>
        <p:nvSpPr>
          <p:cNvPr id="47" name="Shape 44"/>
          <p:cNvSpPr/>
          <p:nvPr/>
        </p:nvSpPr>
        <p:spPr>
          <a:xfrm>
            <a:off x="7485329" y="3099770"/>
            <a:ext cx="1143000" cy="502920"/>
          </a:xfrm>
          <a:prstGeom prst="roundRect">
            <a:avLst>
              <a:gd name="adj" fmla="val 10909"/>
            </a:avLst>
          </a:prstGeom>
          <a:solidFill>
            <a:srgbClr val="11203A"/>
          </a:solidFill>
          <a:ln w="25400">
            <a:solidFill>
              <a:srgbClr val="3B82F6"/>
            </a:solidFill>
            <a:prstDash val="solid"/>
          </a:ln>
          <a:effectLst>
            <a:outerShdw blurRad="101600" dist="25400" dir="8100000" algn="bl" rotWithShape="0">
              <a:srgbClr val="000000">
                <a:alpha val="25000"/>
              </a:srgbClr>
            </a:outerShdw>
          </a:effectLst>
        </p:spPr>
        <p:txBody>
          <a:bodyPr/>
          <a:lstStyle/>
          <a:p>
            <a:endParaRPr lang="en-GB"/>
          </a:p>
        </p:txBody>
      </p:sp>
      <p:sp>
        <p:nvSpPr>
          <p:cNvPr id="48" name="Text 45"/>
          <p:cNvSpPr/>
          <p:nvPr/>
        </p:nvSpPr>
        <p:spPr>
          <a:xfrm>
            <a:off x="7263105" y="2942082"/>
            <a:ext cx="1554480" cy="822960"/>
          </a:xfrm>
          <a:prstGeom prst="rect">
            <a:avLst/>
          </a:prstGeom>
          <a:noFill/>
          <a:ln/>
        </p:spPr>
        <p:txBody>
          <a:bodyPr wrap="square" lIns="0" tIns="0" rIns="0" bIns="0" rtlCol="0" anchor="ctr"/>
          <a:lstStyle/>
          <a:p>
            <a:pPr marL="0" indent="0" algn="ctr">
              <a:buNone/>
            </a:pPr>
            <a:r>
              <a:rPr lang="en-US" sz="1100" b="1" dirty="0">
                <a:solidFill>
                  <a:srgbClr val="F8FAFC"/>
                </a:solidFill>
                <a:latin typeface="Calibri" pitchFamily="34" charset="0"/>
                <a:ea typeface="Calibri" pitchFamily="34" charset="-122"/>
                <a:cs typeface="Calibri" pitchFamily="34" charset="-120"/>
              </a:rPr>
              <a:t>RAG</a:t>
            </a:r>
            <a:endParaRPr lang="en-US" sz="1100" dirty="0"/>
          </a:p>
        </p:txBody>
      </p:sp>
      <p:sp>
        <p:nvSpPr>
          <p:cNvPr id="49" name="Shape 46"/>
          <p:cNvSpPr/>
          <p:nvPr/>
        </p:nvSpPr>
        <p:spPr>
          <a:xfrm>
            <a:off x="7498080" y="3776472"/>
            <a:ext cx="1143000" cy="502920"/>
          </a:xfrm>
          <a:prstGeom prst="roundRect">
            <a:avLst>
              <a:gd name="adj" fmla="val 10909"/>
            </a:avLst>
          </a:prstGeom>
          <a:solidFill>
            <a:srgbClr val="11203A"/>
          </a:solidFill>
          <a:ln w="25400">
            <a:solidFill>
              <a:srgbClr val="3B82F6"/>
            </a:solidFill>
            <a:prstDash val="solid"/>
          </a:ln>
          <a:effectLst>
            <a:outerShdw blurRad="101600" dist="25400" dir="8100000" algn="bl" rotWithShape="0">
              <a:srgbClr val="000000">
                <a:alpha val="25000"/>
              </a:srgbClr>
            </a:outerShdw>
          </a:effectLst>
        </p:spPr>
        <p:txBody>
          <a:bodyPr/>
          <a:lstStyle/>
          <a:p>
            <a:endParaRPr lang="en-GB"/>
          </a:p>
        </p:txBody>
      </p:sp>
      <p:sp>
        <p:nvSpPr>
          <p:cNvPr id="50" name="Text 47"/>
          <p:cNvSpPr/>
          <p:nvPr/>
        </p:nvSpPr>
        <p:spPr>
          <a:xfrm>
            <a:off x="7498080" y="3776472"/>
            <a:ext cx="1143000" cy="502920"/>
          </a:xfrm>
          <a:prstGeom prst="rect">
            <a:avLst/>
          </a:prstGeom>
          <a:noFill/>
          <a:ln/>
        </p:spPr>
        <p:txBody>
          <a:bodyPr wrap="square" lIns="0" tIns="0" rIns="0" bIns="0" rtlCol="0" anchor="ctr"/>
          <a:lstStyle/>
          <a:p>
            <a:pPr marL="0" indent="0" algn="ctr">
              <a:buNone/>
            </a:pPr>
            <a:r>
              <a:rPr lang="en-US" sz="1100" b="1" dirty="0">
                <a:solidFill>
                  <a:srgbClr val="F8FAFC"/>
                </a:solidFill>
                <a:latin typeface="Calibri" pitchFamily="34" charset="0"/>
                <a:ea typeface="Calibri" pitchFamily="34" charset="-122"/>
                <a:cs typeface="Calibri" pitchFamily="34" charset="-120"/>
              </a:rPr>
              <a:t>Memory</a:t>
            </a:r>
            <a:endParaRPr lang="en-US" sz="1100" dirty="0"/>
          </a:p>
        </p:txBody>
      </p:sp>
      <p:sp>
        <p:nvSpPr>
          <p:cNvPr id="52" name="Shape 49"/>
          <p:cNvSpPr/>
          <p:nvPr/>
        </p:nvSpPr>
        <p:spPr>
          <a:xfrm flipV="1">
            <a:off x="7132320" y="2788920"/>
            <a:ext cx="274319" cy="502920"/>
          </a:xfrm>
          <a:prstGeom prst="line">
            <a:avLst/>
          </a:prstGeom>
          <a:noFill/>
          <a:ln w="19050">
            <a:solidFill>
              <a:srgbClr val="3B82F6"/>
            </a:solidFill>
            <a:prstDash val="solid"/>
            <a:tailEnd type="triangle"/>
          </a:ln>
        </p:spPr>
        <p:txBody>
          <a:bodyPr/>
          <a:lstStyle/>
          <a:p>
            <a:endParaRPr lang="en-GB"/>
          </a:p>
        </p:txBody>
      </p:sp>
      <p:sp>
        <p:nvSpPr>
          <p:cNvPr id="53" name="Shape 50"/>
          <p:cNvSpPr/>
          <p:nvPr/>
        </p:nvSpPr>
        <p:spPr>
          <a:xfrm flipV="1">
            <a:off x="7132320" y="3351276"/>
            <a:ext cx="320040" cy="123444"/>
          </a:xfrm>
          <a:prstGeom prst="line">
            <a:avLst/>
          </a:prstGeom>
          <a:noFill/>
          <a:ln w="19050">
            <a:solidFill>
              <a:srgbClr val="3B82F6"/>
            </a:solidFill>
            <a:prstDash val="solid"/>
            <a:tailEnd type="triangle"/>
          </a:ln>
        </p:spPr>
        <p:txBody>
          <a:bodyPr/>
          <a:lstStyle/>
          <a:p>
            <a:endParaRPr lang="en-GB"/>
          </a:p>
        </p:txBody>
      </p:sp>
      <p:sp>
        <p:nvSpPr>
          <p:cNvPr id="54" name="Shape 51"/>
          <p:cNvSpPr/>
          <p:nvPr/>
        </p:nvSpPr>
        <p:spPr>
          <a:xfrm>
            <a:off x="7132320" y="3611880"/>
            <a:ext cx="274320" cy="371665"/>
          </a:xfrm>
          <a:prstGeom prst="line">
            <a:avLst/>
          </a:prstGeom>
          <a:noFill/>
          <a:ln w="19050">
            <a:solidFill>
              <a:srgbClr val="3B82F6"/>
            </a:solidFill>
            <a:prstDash val="solid"/>
            <a:tailEnd type="triangle"/>
          </a:ln>
        </p:spPr>
        <p:txBody>
          <a:bodyPr/>
          <a:lstStyle/>
          <a:p>
            <a:endParaRPr lang="en-GB"/>
          </a:p>
        </p:txBody>
      </p:sp>
      <p:sp>
        <p:nvSpPr>
          <p:cNvPr id="55" name="Text 52"/>
          <p:cNvSpPr/>
          <p:nvPr/>
        </p:nvSpPr>
        <p:spPr>
          <a:xfrm>
            <a:off x="4800600" y="4206240"/>
            <a:ext cx="2286000" cy="274320"/>
          </a:xfrm>
          <a:prstGeom prst="rect">
            <a:avLst/>
          </a:prstGeom>
          <a:noFill/>
          <a:ln/>
        </p:spPr>
        <p:txBody>
          <a:bodyPr wrap="square" lIns="0" tIns="0" rIns="0" bIns="0" rtlCol="0" anchor="ctr"/>
          <a:lstStyle/>
          <a:p>
            <a:pPr marL="0" indent="0">
              <a:buNone/>
            </a:pPr>
            <a:r>
              <a:rPr lang="en-US" sz="1000" b="1" i="1" dirty="0">
                <a:solidFill>
                  <a:srgbClr val="F97316"/>
                </a:solidFill>
                <a:latin typeface="Calibri" pitchFamily="34" charset="0"/>
                <a:ea typeface="Calibri" pitchFamily="34" charset="-122"/>
                <a:cs typeface="Calibri" pitchFamily="34" charset="-120"/>
              </a:rPr>
              <a:t>↻ loops until goal met</a:t>
            </a:r>
            <a:endParaRPr lang="en-US" sz="1000" dirty="0"/>
          </a:p>
        </p:txBody>
      </p:sp>
      <p:sp>
        <p:nvSpPr>
          <p:cNvPr id="56" name="Text 53"/>
          <p:cNvSpPr/>
          <p:nvPr/>
        </p:nvSpPr>
        <p:spPr>
          <a:xfrm>
            <a:off x="5760720" y="2496312"/>
            <a:ext cx="3794760" cy="274320"/>
          </a:xfrm>
          <a:prstGeom prst="rect">
            <a:avLst/>
          </a:prstGeom>
          <a:noFill/>
          <a:ln/>
        </p:spPr>
        <p:txBody>
          <a:bodyPr wrap="square" lIns="0" tIns="0" rIns="0" bIns="0" rtlCol="0" anchor="ctr"/>
          <a:lstStyle/>
          <a:p>
            <a:pPr marL="0" indent="0">
              <a:buNone/>
            </a:pPr>
            <a:r>
              <a:rPr lang="en-US" sz="1000" i="1" dirty="0">
                <a:solidFill>
                  <a:srgbClr val="94A3B8"/>
                </a:solidFill>
                <a:latin typeface="Calibri" pitchFamily="34" charset="0"/>
                <a:ea typeface="Calibri" pitchFamily="34" charset="-122"/>
                <a:cs typeface="Calibri" pitchFamily="34" charset="-120"/>
              </a:rPr>
              <a:t>“Send an email to my team.”</a:t>
            </a:r>
            <a:endParaRPr lang="en-US" sz="1000" dirty="0"/>
          </a:p>
        </p:txBody>
      </p:sp>
      <p:sp>
        <p:nvSpPr>
          <p:cNvPr id="58" name="Text 55"/>
          <p:cNvSpPr/>
          <p:nvPr/>
        </p:nvSpPr>
        <p:spPr>
          <a:xfrm>
            <a:off x="411480" y="4814316"/>
            <a:ext cx="8229600" cy="228600"/>
          </a:xfrm>
          <a:prstGeom prst="rect">
            <a:avLst/>
          </a:prstGeom>
          <a:noFill/>
          <a:ln/>
        </p:spPr>
        <p:txBody>
          <a:bodyPr wrap="square" lIns="0" tIns="0" rIns="0" bIns="0" rtlCol="0" anchor="ctr"/>
          <a:lstStyle/>
          <a:p>
            <a:pPr marL="0" indent="0" algn="ctr">
              <a:buNone/>
            </a:pPr>
            <a:r>
              <a:rPr lang="en-US" sz="1100" dirty="0">
                <a:solidFill>
                  <a:srgbClr val="94A3B8"/>
                </a:solidFill>
                <a:latin typeface="Calibri" pitchFamily="34" charset="0"/>
                <a:ea typeface="Calibri" pitchFamily="34" charset="-122"/>
                <a:cs typeface="Calibri" pitchFamily="34" charset="-120"/>
              </a:rPr>
              <a:t>Same model. </a:t>
            </a:r>
            <a:r>
              <a:rPr lang="en-US" sz="1100" b="1" dirty="0">
                <a:solidFill>
                  <a:srgbClr val="F97316"/>
                </a:solidFill>
                <a:latin typeface="Calibri" pitchFamily="34" charset="0"/>
                <a:ea typeface="Calibri" pitchFamily="34" charset="-122"/>
                <a:cs typeface="Calibri" pitchFamily="34" charset="-120"/>
              </a:rPr>
              <a:t>Different system around it.</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0">
    <p:bg>
      <p:bgPr>
        <a:solidFill>
          <a:srgbClr val="0A1628"/>
        </a:solidFill>
        <a:effectLst/>
      </p:bgPr>
    </p:bg>
    <p:spTree>
      <p:nvGrpSpPr>
        <p:cNvPr id="1" name=""/>
        <p:cNvGrpSpPr/>
        <p:nvPr/>
      </p:nvGrpSpPr>
      <p:grpSpPr>
        <a:xfrm>
          <a:off x="0" y="0"/>
          <a:ext cx="0" cy="0"/>
          <a:chOff x="0" y="0"/>
          <a:chExt cx="0" cy="0"/>
        </a:xfrm>
      </p:grpSpPr>
      <p:sp>
        <p:nvSpPr>
          <p:cNvPr id="3" name="Shape 0"/>
          <p:cNvSpPr/>
          <p:nvPr/>
        </p:nvSpPr>
        <p:spPr>
          <a:xfrm>
            <a:off x="457200" y="411480"/>
            <a:ext cx="320040" cy="54864"/>
          </a:xfrm>
          <a:prstGeom prst="rect">
            <a:avLst/>
          </a:prstGeom>
          <a:solidFill>
            <a:srgbClr val="F97316"/>
          </a:solidFill>
          <a:ln w="12700">
            <a:solidFill>
              <a:srgbClr val="F97316"/>
            </a:solidFill>
            <a:prstDash val="solid"/>
          </a:ln>
        </p:spPr>
        <p:txBody>
          <a:bodyPr/>
          <a:lstStyle/>
          <a:p>
            <a:endParaRPr lang="en-GB"/>
          </a:p>
        </p:txBody>
      </p:sp>
      <p:sp>
        <p:nvSpPr>
          <p:cNvPr id="4" name="Text 1"/>
          <p:cNvSpPr/>
          <p:nvPr/>
        </p:nvSpPr>
        <p:spPr>
          <a:xfrm>
            <a:off x="868680" y="329184"/>
            <a:ext cx="5029200" cy="274320"/>
          </a:xfrm>
          <a:prstGeom prst="rect">
            <a:avLst/>
          </a:prstGeom>
          <a:noFill/>
          <a:ln/>
        </p:spPr>
        <p:txBody>
          <a:bodyPr wrap="square" lIns="0" tIns="0" rIns="0" bIns="0" rtlCol="0" anchor="ctr"/>
          <a:lstStyle/>
          <a:p>
            <a:pPr marL="0" indent="0">
              <a:buNone/>
            </a:pPr>
            <a:r>
              <a:rPr lang="en-US" sz="1000" b="1" kern="0" spc="400" dirty="0">
                <a:solidFill>
                  <a:srgbClr val="F97316"/>
                </a:solidFill>
                <a:latin typeface="Calibri" pitchFamily="34" charset="0"/>
                <a:ea typeface="Calibri" pitchFamily="34" charset="-122"/>
                <a:cs typeface="Calibri" pitchFamily="34" charset="-120"/>
              </a:rPr>
              <a:t>03 · BUILDING BLOCKS</a:t>
            </a:r>
            <a:endParaRPr lang="en-US" sz="1000" dirty="0"/>
          </a:p>
        </p:txBody>
      </p:sp>
      <p:sp>
        <p:nvSpPr>
          <p:cNvPr id="5" name="Text 2"/>
          <p:cNvSpPr/>
          <p:nvPr/>
        </p:nvSpPr>
        <p:spPr>
          <a:xfrm>
            <a:off x="457200" y="640080"/>
            <a:ext cx="8229600" cy="822960"/>
          </a:xfrm>
          <a:prstGeom prst="rect">
            <a:avLst/>
          </a:prstGeom>
          <a:noFill/>
          <a:ln/>
        </p:spPr>
        <p:txBody>
          <a:bodyPr wrap="square" lIns="0" tIns="0" rIns="0" bIns="0" rtlCol="0" anchor="ctr"/>
          <a:lstStyle/>
          <a:p>
            <a:pPr marL="0" indent="0">
              <a:buNone/>
            </a:pPr>
            <a:r>
              <a:rPr lang="en-US" sz="3200" b="1" dirty="0">
                <a:solidFill>
                  <a:srgbClr val="F8FAFC"/>
                </a:solidFill>
                <a:latin typeface="Calibri" pitchFamily="34" charset="0"/>
                <a:ea typeface="Calibri" pitchFamily="34" charset="-122"/>
                <a:cs typeface="Calibri" pitchFamily="34" charset="-120"/>
              </a:rPr>
              <a:t>Problem #1 — fixed context window</a:t>
            </a:r>
            <a:endParaRPr lang="en-US" sz="3200" dirty="0"/>
          </a:p>
        </p:txBody>
      </p:sp>
      <p:sp>
        <p:nvSpPr>
          <p:cNvPr id="6" name="Text 3"/>
          <p:cNvSpPr/>
          <p:nvPr/>
        </p:nvSpPr>
        <p:spPr>
          <a:xfrm>
            <a:off x="457200" y="4754880"/>
            <a:ext cx="4572000" cy="228600"/>
          </a:xfrm>
          <a:prstGeom prst="rect">
            <a:avLst/>
          </a:prstGeom>
          <a:noFill/>
          <a:ln/>
        </p:spPr>
        <p:txBody>
          <a:bodyPr wrap="square" lIns="0" tIns="0" rIns="0" bIns="0" rtlCol="0" anchor="ctr"/>
          <a:lstStyle/>
          <a:p>
            <a:pPr marL="0" indent="0">
              <a:buNone/>
            </a:pPr>
            <a:endParaRPr lang="en-US" sz="900" dirty="0"/>
          </a:p>
        </p:txBody>
      </p:sp>
      <p:sp>
        <p:nvSpPr>
          <p:cNvPr id="7" name="Shape 4"/>
          <p:cNvSpPr/>
          <p:nvPr/>
        </p:nvSpPr>
        <p:spPr>
          <a:xfrm>
            <a:off x="8275320" y="4818888"/>
            <a:ext cx="73152" cy="73152"/>
          </a:xfrm>
          <a:prstGeom prst="ellipse">
            <a:avLst/>
          </a:prstGeom>
          <a:solidFill>
            <a:srgbClr val="F97316"/>
          </a:solidFill>
          <a:ln w="12700">
            <a:solidFill>
              <a:srgbClr val="F97316"/>
            </a:solidFill>
            <a:prstDash val="solid"/>
          </a:ln>
        </p:spPr>
        <p:txBody>
          <a:bodyPr/>
          <a:lstStyle/>
          <a:p>
            <a:endParaRPr lang="en-GB"/>
          </a:p>
        </p:txBody>
      </p:sp>
      <p:sp>
        <p:nvSpPr>
          <p:cNvPr id="8" name="Text 5"/>
          <p:cNvSpPr/>
          <p:nvPr/>
        </p:nvSpPr>
        <p:spPr>
          <a:xfrm>
            <a:off x="8366760" y="4736592"/>
            <a:ext cx="685800" cy="228600"/>
          </a:xfrm>
          <a:prstGeom prst="rect">
            <a:avLst/>
          </a:prstGeom>
          <a:noFill/>
          <a:ln/>
        </p:spPr>
        <p:txBody>
          <a:bodyPr wrap="square" lIns="0" tIns="0" rIns="0" bIns="0" rtlCol="0" anchor="ctr"/>
          <a:lstStyle/>
          <a:p>
            <a:pPr marL="0" indent="0" algn="r">
              <a:buNone/>
            </a:pPr>
            <a:r>
              <a:rPr lang="en-US" sz="900" dirty="0">
                <a:solidFill>
                  <a:srgbClr val="94A3B8"/>
                </a:solidFill>
                <a:latin typeface="Calibri" pitchFamily="34" charset="0"/>
                <a:ea typeface="Calibri" pitchFamily="34" charset="-122"/>
                <a:cs typeface="Calibri" pitchFamily="34" charset="-120"/>
              </a:rPr>
              <a:t>9 / 21</a:t>
            </a:r>
            <a:endParaRPr lang="en-US" sz="900" dirty="0"/>
          </a:p>
        </p:txBody>
      </p:sp>
      <p:sp>
        <p:nvSpPr>
          <p:cNvPr id="9" name="Text 6"/>
          <p:cNvSpPr/>
          <p:nvPr/>
        </p:nvSpPr>
        <p:spPr>
          <a:xfrm>
            <a:off x="365760" y="1463040"/>
            <a:ext cx="4937760" cy="228600"/>
          </a:xfrm>
          <a:prstGeom prst="rect">
            <a:avLst/>
          </a:prstGeom>
          <a:noFill/>
          <a:ln/>
        </p:spPr>
        <p:txBody>
          <a:bodyPr wrap="square" lIns="0" tIns="0" rIns="0" bIns="0" rtlCol="0" anchor="ctr"/>
          <a:lstStyle/>
          <a:p>
            <a:pPr marL="0" indent="0">
              <a:buNone/>
            </a:pPr>
            <a:r>
              <a:rPr lang="en-US" sz="900" b="1" kern="0" spc="400" dirty="0">
                <a:solidFill>
                  <a:srgbClr val="3B82F6"/>
                </a:solidFill>
                <a:latin typeface="Calibri" pitchFamily="34" charset="0"/>
                <a:ea typeface="Calibri" pitchFamily="34" charset="-122"/>
                <a:cs typeface="Calibri" pitchFamily="34" charset="-120"/>
              </a:rPr>
              <a:t>THE CONVERSATION</a:t>
            </a:r>
            <a:endParaRPr lang="en-US" sz="900" dirty="0"/>
          </a:p>
        </p:txBody>
      </p:sp>
      <p:sp>
        <p:nvSpPr>
          <p:cNvPr id="10" name="Shape 7"/>
          <p:cNvSpPr/>
          <p:nvPr/>
        </p:nvSpPr>
        <p:spPr>
          <a:xfrm>
            <a:off x="365760" y="1737360"/>
            <a:ext cx="4389120" cy="246888"/>
          </a:xfrm>
          <a:prstGeom prst="roundRect">
            <a:avLst>
              <a:gd name="adj" fmla="val 14815"/>
            </a:avLst>
          </a:prstGeom>
          <a:solidFill>
            <a:srgbClr val="11203A"/>
          </a:solidFill>
          <a:ln w="12700">
            <a:solidFill>
              <a:srgbClr val="3B82F6"/>
            </a:solidFill>
            <a:prstDash val="solid"/>
          </a:ln>
        </p:spPr>
        <p:txBody>
          <a:bodyPr/>
          <a:lstStyle/>
          <a:p>
            <a:endParaRPr lang="en-GB"/>
          </a:p>
        </p:txBody>
      </p:sp>
      <p:sp>
        <p:nvSpPr>
          <p:cNvPr id="11" name="Text 8"/>
          <p:cNvSpPr/>
          <p:nvPr/>
        </p:nvSpPr>
        <p:spPr>
          <a:xfrm>
            <a:off x="457200" y="1737360"/>
            <a:ext cx="3931920" cy="246888"/>
          </a:xfrm>
          <a:prstGeom prst="rect">
            <a:avLst/>
          </a:prstGeom>
          <a:noFill/>
          <a:ln/>
        </p:spPr>
        <p:txBody>
          <a:bodyPr wrap="square" lIns="0" tIns="0" rIns="0" bIns="0" rtlCol="0" anchor="ctr"/>
          <a:lstStyle/>
          <a:p>
            <a:pPr marL="0" indent="0">
              <a:buNone/>
            </a:pPr>
            <a:r>
              <a:rPr lang="en-US" sz="1000" dirty="0">
                <a:solidFill>
                  <a:srgbClr val="F8FAFC"/>
                </a:solidFill>
                <a:latin typeface="Calibri" pitchFamily="34" charset="0"/>
                <a:ea typeface="Calibri" pitchFamily="34" charset="-122"/>
                <a:cs typeface="Calibri" pitchFamily="34" charset="-120"/>
              </a:rPr>
              <a:t>👤  Find me the cheapest flight Paris → NYC in May.</a:t>
            </a:r>
            <a:endParaRPr lang="en-US" sz="1000" dirty="0"/>
          </a:p>
        </p:txBody>
      </p:sp>
      <p:sp>
        <p:nvSpPr>
          <p:cNvPr id="12" name="Text 9"/>
          <p:cNvSpPr/>
          <p:nvPr/>
        </p:nvSpPr>
        <p:spPr>
          <a:xfrm>
            <a:off x="4434840" y="1737360"/>
            <a:ext cx="274320" cy="246888"/>
          </a:xfrm>
          <a:prstGeom prst="rect">
            <a:avLst/>
          </a:prstGeom>
          <a:noFill/>
          <a:ln/>
        </p:spPr>
        <p:txBody>
          <a:bodyPr wrap="square" lIns="0" tIns="0" rIns="0" bIns="0" rtlCol="0" anchor="ctr"/>
          <a:lstStyle/>
          <a:p>
            <a:pPr marL="0" indent="0" algn="r">
              <a:buNone/>
            </a:pPr>
            <a:r>
              <a:rPr lang="en-US" sz="800" b="1" dirty="0">
                <a:solidFill>
                  <a:srgbClr val="3B82F6"/>
                </a:solidFill>
                <a:latin typeface="Calibri" pitchFamily="34" charset="0"/>
                <a:ea typeface="Calibri" pitchFamily="34" charset="-122"/>
                <a:cs typeface="Calibri" pitchFamily="34" charset="-120"/>
              </a:rPr>
              <a:t>T1</a:t>
            </a:r>
            <a:endParaRPr lang="en-US" sz="800" dirty="0"/>
          </a:p>
        </p:txBody>
      </p:sp>
      <p:sp>
        <p:nvSpPr>
          <p:cNvPr id="13" name="Shape 10"/>
          <p:cNvSpPr/>
          <p:nvPr/>
        </p:nvSpPr>
        <p:spPr>
          <a:xfrm>
            <a:off x="914400" y="2029968"/>
            <a:ext cx="4389120" cy="246888"/>
          </a:xfrm>
          <a:prstGeom prst="roundRect">
            <a:avLst>
              <a:gd name="adj" fmla="val 14815"/>
            </a:avLst>
          </a:prstGeom>
          <a:solidFill>
            <a:srgbClr val="0A1628"/>
          </a:solidFill>
          <a:ln w="12700">
            <a:solidFill>
              <a:srgbClr val="94A3B8"/>
            </a:solidFill>
            <a:prstDash val="solid"/>
          </a:ln>
        </p:spPr>
        <p:txBody>
          <a:bodyPr/>
          <a:lstStyle/>
          <a:p>
            <a:endParaRPr lang="en-GB"/>
          </a:p>
        </p:txBody>
      </p:sp>
      <p:sp>
        <p:nvSpPr>
          <p:cNvPr id="14" name="Text 11"/>
          <p:cNvSpPr/>
          <p:nvPr/>
        </p:nvSpPr>
        <p:spPr>
          <a:xfrm>
            <a:off x="1005840" y="2029968"/>
            <a:ext cx="3931920" cy="246888"/>
          </a:xfrm>
          <a:prstGeom prst="rect">
            <a:avLst/>
          </a:prstGeom>
          <a:noFill/>
          <a:ln/>
        </p:spPr>
        <p:txBody>
          <a:bodyPr wrap="square" lIns="0" tIns="0" rIns="0" bIns="0" rtlCol="0" anchor="ctr"/>
          <a:lstStyle/>
          <a:p>
            <a:pPr marL="0" indent="0">
              <a:buNone/>
            </a:pPr>
            <a:r>
              <a:rPr lang="en-US" sz="1000" dirty="0">
                <a:solidFill>
                  <a:srgbClr val="F8FAFC"/>
                </a:solidFill>
                <a:latin typeface="Calibri" pitchFamily="34" charset="0"/>
                <a:ea typeface="Calibri" pitchFamily="34" charset="-122"/>
                <a:cs typeface="Calibri" pitchFamily="34" charset="-120"/>
              </a:rPr>
              <a:t>🤖  Air France, 12 May, €430.</a:t>
            </a:r>
            <a:endParaRPr lang="en-US" sz="1000" dirty="0"/>
          </a:p>
        </p:txBody>
      </p:sp>
      <p:sp>
        <p:nvSpPr>
          <p:cNvPr id="15" name="Text 12"/>
          <p:cNvSpPr/>
          <p:nvPr/>
        </p:nvSpPr>
        <p:spPr>
          <a:xfrm>
            <a:off x="4983480" y="2029968"/>
            <a:ext cx="274320" cy="246888"/>
          </a:xfrm>
          <a:prstGeom prst="rect">
            <a:avLst/>
          </a:prstGeom>
          <a:noFill/>
          <a:ln/>
        </p:spPr>
        <p:txBody>
          <a:bodyPr wrap="square" lIns="0" tIns="0" rIns="0" bIns="0" rtlCol="0" anchor="ctr"/>
          <a:lstStyle/>
          <a:p>
            <a:pPr marL="0" indent="0" algn="r">
              <a:buNone/>
            </a:pPr>
            <a:r>
              <a:rPr lang="en-US" sz="800" b="1" dirty="0">
                <a:solidFill>
                  <a:srgbClr val="94A3B8"/>
                </a:solidFill>
                <a:latin typeface="Calibri" pitchFamily="34" charset="0"/>
                <a:ea typeface="Calibri" pitchFamily="34" charset="-122"/>
                <a:cs typeface="Calibri" pitchFamily="34" charset="-120"/>
              </a:rPr>
              <a:t>T1</a:t>
            </a:r>
            <a:endParaRPr lang="en-US" sz="800" dirty="0"/>
          </a:p>
        </p:txBody>
      </p:sp>
      <p:sp>
        <p:nvSpPr>
          <p:cNvPr id="16" name="Shape 13"/>
          <p:cNvSpPr/>
          <p:nvPr/>
        </p:nvSpPr>
        <p:spPr>
          <a:xfrm>
            <a:off x="365760" y="2322576"/>
            <a:ext cx="4389120" cy="246888"/>
          </a:xfrm>
          <a:prstGeom prst="roundRect">
            <a:avLst>
              <a:gd name="adj" fmla="val 14815"/>
            </a:avLst>
          </a:prstGeom>
          <a:solidFill>
            <a:srgbClr val="11203A"/>
          </a:solidFill>
          <a:ln w="12700">
            <a:solidFill>
              <a:srgbClr val="3B82F6"/>
            </a:solidFill>
            <a:prstDash val="solid"/>
          </a:ln>
        </p:spPr>
        <p:txBody>
          <a:bodyPr/>
          <a:lstStyle/>
          <a:p>
            <a:endParaRPr lang="en-GB"/>
          </a:p>
        </p:txBody>
      </p:sp>
      <p:sp>
        <p:nvSpPr>
          <p:cNvPr id="17" name="Text 14"/>
          <p:cNvSpPr/>
          <p:nvPr/>
        </p:nvSpPr>
        <p:spPr>
          <a:xfrm>
            <a:off x="457200" y="2322576"/>
            <a:ext cx="3931920" cy="246888"/>
          </a:xfrm>
          <a:prstGeom prst="rect">
            <a:avLst/>
          </a:prstGeom>
          <a:noFill/>
          <a:ln/>
        </p:spPr>
        <p:txBody>
          <a:bodyPr wrap="square" lIns="0" tIns="0" rIns="0" bIns="0" rtlCol="0" anchor="ctr"/>
          <a:lstStyle/>
          <a:p>
            <a:pPr marL="0" indent="0">
              <a:buNone/>
            </a:pPr>
            <a:r>
              <a:rPr lang="en-US" sz="1000" dirty="0">
                <a:solidFill>
                  <a:srgbClr val="F8FAFC"/>
                </a:solidFill>
                <a:latin typeface="Calibri" pitchFamily="34" charset="0"/>
                <a:ea typeface="Calibri" pitchFamily="34" charset="-122"/>
                <a:cs typeface="Calibri" pitchFamily="34" charset="-120"/>
              </a:rPr>
              <a:t>👤  What about from Lyon?</a:t>
            </a:r>
            <a:endParaRPr lang="en-US" sz="1000" dirty="0"/>
          </a:p>
        </p:txBody>
      </p:sp>
      <p:sp>
        <p:nvSpPr>
          <p:cNvPr id="18" name="Text 15"/>
          <p:cNvSpPr/>
          <p:nvPr/>
        </p:nvSpPr>
        <p:spPr>
          <a:xfrm>
            <a:off x="4434840" y="2322576"/>
            <a:ext cx="274320" cy="246888"/>
          </a:xfrm>
          <a:prstGeom prst="rect">
            <a:avLst/>
          </a:prstGeom>
          <a:noFill/>
          <a:ln/>
        </p:spPr>
        <p:txBody>
          <a:bodyPr wrap="square" lIns="0" tIns="0" rIns="0" bIns="0" rtlCol="0" anchor="ctr"/>
          <a:lstStyle/>
          <a:p>
            <a:pPr marL="0" indent="0" algn="r">
              <a:buNone/>
            </a:pPr>
            <a:r>
              <a:rPr lang="en-US" sz="800" b="1" dirty="0">
                <a:solidFill>
                  <a:srgbClr val="3B82F6"/>
                </a:solidFill>
                <a:latin typeface="Calibri" pitchFamily="34" charset="0"/>
                <a:ea typeface="Calibri" pitchFamily="34" charset="-122"/>
                <a:cs typeface="Calibri" pitchFamily="34" charset="-120"/>
              </a:rPr>
              <a:t>T2</a:t>
            </a:r>
            <a:endParaRPr lang="en-US" sz="800" dirty="0"/>
          </a:p>
        </p:txBody>
      </p:sp>
      <p:sp>
        <p:nvSpPr>
          <p:cNvPr id="19" name="Shape 16"/>
          <p:cNvSpPr/>
          <p:nvPr/>
        </p:nvSpPr>
        <p:spPr>
          <a:xfrm>
            <a:off x="914400" y="2615184"/>
            <a:ext cx="4389120" cy="246888"/>
          </a:xfrm>
          <a:prstGeom prst="roundRect">
            <a:avLst>
              <a:gd name="adj" fmla="val 14815"/>
            </a:avLst>
          </a:prstGeom>
          <a:solidFill>
            <a:srgbClr val="0A1628"/>
          </a:solidFill>
          <a:ln w="12700">
            <a:solidFill>
              <a:srgbClr val="94A3B8"/>
            </a:solidFill>
            <a:prstDash val="solid"/>
          </a:ln>
        </p:spPr>
        <p:txBody>
          <a:bodyPr/>
          <a:lstStyle/>
          <a:p>
            <a:endParaRPr lang="en-GB"/>
          </a:p>
        </p:txBody>
      </p:sp>
      <p:sp>
        <p:nvSpPr>
          <p:cNvPr id="20" name="Text 17"/>
          <p:cNvSpPr/>
          <p:nvPr/>
        </p:nvSpPr>
        <p:spPr>
          <a:xfrm>
            <a:off x="1005840" y="2615184"/>
            <a:ext cx="3931920" cy="246888"/>
          </a:xfrm>
          <a:prstGeom prst="rect">
            <a:avLst/>
          </a:prstGeom>
          <a:noFill/>
          <a:ln/>
        </p:spPr>
        <p:txBody>
          <a:bodyPr wrap="square" lIns="0" tIns="0" rIns="0" bIns="0" rtlCol="0" anchor="ctr"/>
          <a:lstStyle/>
          <a:p>
            <a:pPr marL="0" indent="0">
              <a:buNone/>
            </a:pPr>
            <a:r>
              <a:rPr lang="en-US" sz="1000" dirty="0">
                <a:solidFill>
                  <a:srgbClr val="F8FAFC"/>
                </a:solidFill>
                <a:latin typeface="Calibri" pitchFamily="34" charset="0"/>
                <a:ea typeface="Calibri" pitchFamily="34" charset="-122"/>
                <a:cs typeface="Calibri" pitchFamily="34" charset="-120"/>
              </a:rPr>
              <a:t>🤖  Delta, 15 May, €510.</a:t>
            </a:r>
            <a:endParaRPr lang="en-US" sz="1000" dirty="0"/>
          </a:p>
        </p:txBody>
      </p:sp>
      <p:sp>
        <p:nvSpPr>
          <p:cNvPr id="21" name="Text 18"/>
          <p:cNvSpPr/>
          <p:nvPr/>
        </p:nvSpPr>
        <p:spPr>
          <a:xfrm>
            <a:off x="4983480" y="2615184"/>
            <a:ext cx="274320" cy="246888"/>
          </a:xfrm>
          <a:prstGeom prst="rect">
            <a:avLst/>
          </a:prstGeom>
          <a:noFill/>
          <a:ln/>
        </p:spPr>
        <p:txBody>
          <a:bodyPr wrap="square" lIns="0" tIns="0" rIns="0" bIns="0" rtlCol="0" anchor="ctr"/>
          <a:lstStyle/>
          <a:p>
            <a:pPr marL="0" indent="0" algn="r">
              <a:buNone/>
            </a:pPr>
            <a:r>
              <a:rPr lang="en-US" sz="800" b="1" dirty="0">
                <a:solidFill>
                  <a:srgbClr val="94A3B8"/>
                </a:solidFill>
                <a:latin typeface="Calibri" pitchFamily="34" charset="0"/>
                <a:ea typeface="Calibri" pitchFamily="34" charset="-122"/>
                <a:cs typeface="Calibri" pitchFamily="34" charset="-120"/>
              </a:rPr>
              <a:t>T2</a:t>
            </a:r>
            <a:endParaRPr lang="en-US" sz="800" dirty="0"/>
          </a:p>
        </p:txBody>
      </p:sp>
      <p:sp>
        <p:nvSpPr>
          <p:cNvPr id="22" name="Shape 19"/>
          <p:cNvSpPr/>
          <p:nvPr/>
        </p:nvSpPr>
        <p:spPr>
          <a:xfrm>
            <a:off x="365760" y="2907792"/>
            <a:ext cx="4389120" cy="246888"/>
          </a:xfrm>
          <a:prstGeom prst="roundRect">
            <a:avLst>
              <a:gd name="adj" fmla="val 14815"/>
            </a:avLst>
          </a:prstGeom>
          <a:solidFill>
            <a:srgbClr val="11203A"/>
          </a:solidFill>
          <a:ln w="12700">
            <a:solidFill>
              <a:srgbClr val="3B82F6"/>
            </a:solidFill>
            <a:prstDash val="solid"/>
          </a:ln>
        </p:spPr>
        <p:txBody>
          <a:bodyPr/>
          <a:lstStyle/>
          <a:p>
            <a:endParaRPr lang="en-GB"/>
          </a:p>
        </p:txBody>
      </p:sp>
      <p:sp>
        <p:nvSpPr>
          <p:cNvPr id="23" name="Text 20"/>
          <p:cNvSpPr/>
          <p:nvPr/>
        </p:nvSpPr>
        <p:spPr>
          <a:xfrm>
            <a:off x="457200" y="2907792"/>
            <a:ext cx="3931920" cy="246888"/>
          </a:xfrm>
          <a:prstGeom prst="rect">
            <a:avLst/>
          </a:prstGeom>
          <a:noFill/>
          <a:ln/>
        </p:spPr>
        <p:txBody>
          <a:bodyPr wrap="square" lIns="0" tIns="0" rIns="0" bIns="0" rtlCol="0" anchor="ctr"/>
          <a:lstStyle/>
          <a:p>
            <a:pPr marL="0" indent="0">
              <a:buNone/>
            </a:pPr>
            <a:r>
              <a:rPr lang="en-US" sz="1000" dirty="0">
                <a:solidFill>
                  <a:srgbClr val="F8FAFC"/>
                </a:solidFill>
                <a:latin typeface="Calibri" pitchFamily="34" charset="0"/>
                <a:ea typeface="Calibri" pitchFamily="34" charset="-122"/>
                <a:cs typeface="Calibri" pitchFamily="34" charset="-120"/>
              </a:rPr>
              <a:t>👤  Compare with hotel cost in NYC.</a:t>
            </a:r>
            <a:endParaRPr lang="en-US" sz="1000" dirty="0"/>
          </a:p>
        </p:txBody>
      </p:sp>
      <p:sp>
        <p:nvSpPr>
          <p:cNvPr id="24" name="Text 21"/>
          <p:cNvSpPr/>
          <p:nvPr/>
        </p:nvSpPr>
        <p:spPr>
          <a:xfrm>
            <a:off x="4434840" y="2907792"/>
            <a:ext cx="274320" cy="246888"/>
          </a:xfrm>
          <a:prstGeom prst="rect">
            <a:avLst/>
          </a:prstGeom>
          <a:noFill/>
          <a:ln/>
        </p:spPr>
        <p:txBody>
          <a:bodyPr wrap="square" lIns="0" tIns="0" rIns="0" bIns="0" rtlCol="0" anchor="ctr"/>
          <a:lstStyle/>
          <a:p>
            <a:pPr marL="0" indent="0" algn="r">
              <a:buNone/>
            </a:pPr>
            <a:r>
              <a:rPr lang="en-US" sz="800" b="1" dirty="0">
                <a:solidFill>
                  <a:srgbClr val="3B82F6"/>
                </a:solidFill>
                <a:latin typeface="Calibri" pitchFamily="34" charset="0"/>
                <a:ea typeface="Calibri" pitchFamily="34" charset="-122"/>
                <a:cs typeface="Calibri" pitchFamily="34" charset="-120"/>
              </a:rPr>
              <a:t>T3</a:t>
            </a:r>
            <a:endParaRPr lang="en-US" sz="800" dirty="0"/>
          </a:p>
        </p:txBody>
      </p:sp>
      <p:sp>
        <p:nvSpPr>
          <p:cNvPr id="25" name="Shape 22"/>
          <p:cNvSpPr/>
          <p:nvPr/>
        </p:nvSpPr>
        <p:spPr>
          <a:xfrm>
            <a:off x="914400" y="3200400"/>
            <a:ext cx="4389120" cy="246888"/>
          </a:xfrm>
          <a:prstGeom prst="roundRect">
            <a:avLst>
              <a:gd name="adj" fmla="val 14815"/>
            </a:avLst>
          </a:prstGeom>
          <a:solidFill>
            <a:srgbClr val="0A1628"/>
          </a:solidFill>
          <a:ln w="12700">
            <a:solidFill>
              <a:srgbClr val="94A3B8"/>
            </a:solidFill>
            <a:prstDash val="solid"/>
          </a:ln>
        </p:spPr>
        <p:txBody>
          <a:bodyPr/>
          <a:lstStyle/>
          <a:p>
            <a:endParaRPr lang="en-GB"/>
          </a:p>
        </p:txBody>
      </p:sp>
      <p:sp>
        <p:nvSpPr>
          <p:cNvPr id="26" name="Text 23"/>
          <p:cNvSpPr/>
          <p:nvPr/>
        </p:nvSpPr>
        <p:spPr>
          <a:xfrm>
            <a:off x="1005840" y="3200400"/>
            <a:ext cx="3931920" cy="246888"/>
          </a:xfrm>
          <a:prstGeom prst="rect">
            <a:avLst/>
          </a:prstGeom>
          <a:noFill/>
          <a:ln/>
        </p:spPr>
        <p:txBody>
          <a:bodyPr wrap="square" lIns="0" tIns="0" rIns="0" bIns="0" rtlCol="0" anchor="ctr"/>
          <a:lstStyle/>
          <a:p>
            <a:pPr marL="0" indent="0">
              <a:buNone/>
            </a:pPr>
            <a:r>
              <a:rPr lang="en-US" sz="1000" dirty="0">
                <a:solidFill>
                  <a:srgbClr val="F8FAFC"/>
                </a:solidFill>
                <a:latin typeface="Calibri" pitchFamily="34" charset="0"/>
                <a:ea typeface="Calibri" pitchFamily="34" charset="-122"/>
                <a:cs typeface="Calibri" pitchFamily="34" charset="-120"/>
              </a:rPr>
              <a:t>🤖  Hotels ~€280/night midtown.</a:t>
            </a:r>
            <a:endParaRPr lang="en-US" sz="1000" dirty="0"/>
          </a:p>
        </p:txBody>
      </p:sp>
      <p:sp>
        <p:nvSpPr>
          <p:cNvPr id="27" name="Text 24"/>
          <p:cNvSpPr/>
          <p:nvPr/>
        </p:nvSpPr>
        <p:spPr>
          <a:xfrm>
            <a:off x="4983480" y="3200400"/>
            <a:ext cx="274320" cy="246888"/>
          </a:xfrm>
          <a:prstGeom prst="rect">
            <a:avLst/>
          </a:prstGeom>
          <a:noFill/>
          <a:ln/>
        </p:spPr>
        <p:txBody>
          <a:bodyPr wrap="square" lIns="0" tIns="0" rIns="0" bIns="0" rtlCol="0" anchor="ctr"/>
          <a:lstStyle/>
          <a:p>
            <a:pPr marL="0" indent="0" algn="r">
              <a:buNone/>
            </a:pPr>
            <a:r>
              <a:rPr lang="en-US" sz="800" b="1" dirty="0">
                <a:solidFill>
                  <a:srgbClr val="94A3B8"/>
                </a:solidFill>
                <a:latin typeface="Calibri" pitchFamily="34" charset="0"/>
                <a:ea typeface="Calibri" pitchFamily="34" charset="-122"/>
                <a:cs typeface="Calibri" pitchFamily="34" charset="-120"/>
              </a:rPr>
              <a:t>T3</a:t>
            </a:r>
            <a:endParaRPr lang="en-US" sz="800" dirty="0"/>
          </a:p>
        </p:txBody>
      </p:sp>
      <p:sp>
        <p:nvSpPr>
          <p:cNvPr id="28" name="Shape 25"/>
          <p:cNvSpPr/>
          <p:nvPr/>
        </p:nvSpPr>
        <p:spPr>
          <a:xfrm>
            <a:off x="365760" y="3493008"/>
            <a:ext cx="4389120" cy="246888"/>
          </a:xfrm>
          <a:prstGeom prst="roundRect">
            <a:avLst>
              <a:gd name="adj" fmla="val 14815"/>
            </a:avLst>
          </a:prstGeom>
          <a:solidFill>
            <a:srgbClr val="11203A"/>
          </a:solidFill>
          <a:ln w="12700">
            <a:solidFill>
              <a:srgbClr val="F97316"/>
            </a:solidFill>
            <a:prstDash val="solid"/>
          </a:ln>
        </p:spPr>
        <p:txBody>
          <a:bodyPr/>
          <a:lstStyle/>
          <a:p>
            <a:endParaRPr lang="en-GB"/>
          </a:p>
        </p:txBody>
      </p:sp>
      <p:sp>
        <p:nvSpPr>
          <p:cNvPr id="29" name="Text 26"/>
          <p:cNvSpPr/>
          <p:nvPr/>
        </p:nvSpPr>
        <p:spPr>
          <a:xfrm>
            <a:off x="457200" y="3493008"/>
            <a:ext cx="3931920" cy="246888"/>
          </a:xfrm>
          <a:prstGeom prst="rect">
            <a:avLst/>
          </a:prstGeom>
          <a:noFill/>
          <a:ln/>
        </p:spPr>
        <p:txBody>
          <a:bodyPr wrap="square" lIns="0" tIns="0" rIns="0" bIns="0" rtlCol="0" anchor="ctr"/>
          <a:lstStyle/>
          <a:p>
            <a:pPr marL="0" indent="0">
              <a:buNone/>
            </a:pPr>
            <a:r>
              <a:rPr lang="en-US" sz="1000" dirty="0">
                <a:solidFill>
                  <a:srgbClr val="F8FAFC"/>
                </a:solidFill>
                <a:latin typeface="Calibri" pitchFamily="34" charset="0"/>
                <a:ea typeface="Calibri" pitchFamily="34" charset="-122"/>
                <a:cs typeface="Calibri" pitchFamily="34" charset="-120"/>
              </a:rPr>
              <a:t>👤  Build me a 5-day itinerary.</a:t>
            </a:r>
            <a:endParaRPr lang="en-US" sz="1000" dirty="0"/>
          </a:p>
        </p:txBody>
      </p:sp>
      <p:sp>
        <p:nvSpPr>
          <p:cNvPr id="30" name="Text 27"/>
          <p:cNvSpPr/>
          <p:nvPr/>
        </p:nvSpPr>
        <p:spPr>
          <a:xfrm>
            <a:off x="4434840" y="3493008"/>
            <a:ext cx="274320" cy="246888"/>
          </a:xfrm>
          <a:prstGeom prst="rect">
            <a:avLst/>
          </a:prstGeom>
          <a:noFill/>
          <a:ln/>
        </p:spPr>
        <p:txBody>
          <a:bodyPr wrap="square" lIns="0" tIns="0" rIns="0" bIns="0" rtlCol="0" anchor="ctr"/>
          <a:lstStyle/>
          <a:p>
            <a:pPr marL="0" indent="0" algn="r">
              <a:buNone/>
            </a:pPr>
            <a:r>
              <a:rPr lang="en-US" sz="800" b="1" dirty="0">
                <a:solidFill>
                  <a:srgbClr val="F97316"/>
                </a:solidFill>
                <a:latin typeface="Calibri" pitchFamily="34" charset="0"/>
                <a:ea typeface="Calibri" pitchFamily="34" charset="-122"/>
                <a:cs typeface="Calibri" pitchFamily="34" charset="-120"/>
              </a:rPr>
              <a:t>T4</a:t>
            </a:r>
            <a:endParaRPr lang="en-US" sz="800" dirty="0"/>
          </a:p>
        </p:txBody>
      </p:sp>
      <p:sp>
        <p:nvSpPr>
          <p:cNvPr id="31" name="Text 28"/>
          <p:cNvSpPr/>
          <p:nvPr/>
        </p:nvSpPr>
        <p:spPr>
          <a:xfrm>
            <a:off x="5577840" y="1463040"/>
            <a:ext cx="3200400" cy="228600"/>
          </a:xfrm>
          <a:prstGeom prst="rect">
            <a:avLst/>
          </a:prstGeom>
          <a:noFill/>
          <a:ln/>
        </p:spPr>
        <p:txBody>
          <a:bodyPr wrap="square" lIns="0" tIns="0" rIns="0" bIns="0" rtlCol="0" anchor="ctr"/>
          <a:lstStyle/>
          <a:p>
            <a:pPr marL="0" indent="0">
              <a:buNone/>
            </a:pPr>
            <a:r>
              <a:rPr lang="en-US" sz="900" b="1" kern="0" spc="300" dirty="0">
                <a:solidFill>
                  <a:srgbClr val="F97316"/>
                </a:solidFill>
                <a:latin typeface="Calibri" pitchFamily="34" charset="0"/>
                <a:ea typeface="Calibri" pitchFamily="34" charset="-122"/>
                <a:cs typeface="Calibri" pitchFamily="34" charset="-120"/>
              </a:rPr>
              <a:t>WHAT'S ACTUALLY SENT (every call)</a:t>
            </a:r>
            <a:endParaRPr lang="en-US" sz="900" dirty="0"/>
          </a:p>
        </p:txBody>
      </p:sp>
      <p:sp>
        <p:nvSpPr>
          <p:cNvPr id="32" name="Shape 29"/>
          <p:cNvSpPr/>
          <p:nvPr/>
        </p:nvSpPr>
        <p:spPr>
          <a:xfrm>
            <a:off x="5577840" y="1737360"/>
            <a:ext cx="3200400" cy="2377440"/>
          </a:xfrm>
          <a:prstGeom prst="rect">
            <a:avLst/>
          </a:prstGeom>
          <a:solidFill>
            <a:srgbClr val="11203A"/>
          </a:solidFill>
          <a:ln w="19050">
            <a:solidFill>
              <a:srgbClr val="F97316"/>
            </a:solidFill>
            <a:prstDash val="dash"/>
          </a:ln>
        </p:spPr>
        <p:txBody>
          <a:bodyPr/>
          <a:lstStyle/>
          <a:p>
            <a:endParaRPr lang="en-GB"/>
          </a:p>
        </p:txBody>
      </p:sp>
      <p:sp>
        <p:nvSpPr>
          <p:cNvPr id="33" name="Text 30"/>
          <p:cNvSpPr/>
          <p:nvPr/>
        </p:nvSpPr>
        <p:spPr>
          <a:xfrm>
            <a:off x="5577840" y="4133088"/>
            <a:ext cx="3200400" cy="201168"/>
          </a:xfrm>
          <a:prstGeom prst="rect">
            <a:avLst/>
          </a:prstGeom>
          <a:noFill/>
          <a:ln/>
        </p:spPr>
        <p:txBody>
          <a:bodyPr wrap="square" lIns="0" tIns="0" rIns="0" bIns="0" rtlCol="0" anchor="ctr"/>
          <a:lstStyle/>
          <a:p>
            <a:pPr marL="0" indent="0" algn="ctr">
              <a:buNone/>
            </a:pPr>
            <a:r>
              <a:rPr lang="en-US" sz="800" i="1" dirty="0">
                <a:solidFill>
                  <a:srgbClr val="94A3B8"/>
                </a:solidFill>
                <a:latin typeface="Calibri" pitchFamily="34" charset="0"/>
                <a:ea typeface="Calibri" pitchFamily="34" charset="-122"/>
                <a:cs typeface="Calibri" pitchFamily="34" charset="-120"/>
              </a:rPr>
              <a:t>context window — 8K tokens</a:t>
            </a:r>
            <a:endParaRPr lang="en-US" sz="800" dirty="0"/>
          </a:p>
        </p:txBody>
      </p:sp>
      <p:sp>
        <p:nvSpPr>
          <p:cNvPr id="34" name="Shape 31"/>
          <p:cNvSpPr/>
          <p:nvPr/>
        </p:nvSpPr>
        <p:spPr>
          <a:xfrm>
            <a:off x="5614416" y="1773936"/>
            <a:ext cx="3127248" cy="230429"/>
          </a:xfrm>
          <a:prstGeom prst="rect">
            <a:avLst/>
          </a:prstGeom>
          <a:solidFill>
            <a:srgbClr val="1D4ED8"/>
          </a:solidFill>
          <a:ln w="12700">
            <a:solidFill>
              <a:srgbClr val="1D4ED8"/>
            </a:solidFill>
            <a:prstDash val="solid"/>
          </a:ln>
        </p:spPr>
        <p:txBody>
          <a:bodyPr/>
          <a:lstStyle/>
          <a:p>
            <a:endParaRPr lang="en-GB"/>
          </a:p>
        </p:txBody>
      </p:sp>
      <p:sp>
        <p:nvSpPr>
          <p:cNvPr id="35" name="Text 32"/>
          <p:cNvSpPr/>
          <p:nvPr/>
        </p:nvSpPr>
        <p:spPr>
          <a:xfrm>
            <a:off x="5669280" y="1773936"/>
            <a:ext cx="3017520" cy="230429"/>
          </a:xfrm>
          <a:prstGeom prst="rect">
            <a:avLst/>
          </a:prstGeom>
          <a:noFill/>
          <a:ln/>
        </p:spPr>
        <p:txBody>
          <a:bodyPr wrap="square" lIns="0" tIns="0" rIns="0" bIns="0" rtlCol="0" anchor="ctr"/>
          <a:lstStyle/>
          <a:p>
            <a:pPr marL="0" indent="0">
              <a:buNone/>
            </a:pPr>
            <a:r>
              <a:rPr lang="en-US" sz="900" b="1" dirty="0">
                <a:solidFill>
                  <a:srgbClr val="F8FAFC"/>
                </a:solidFill>
                <a:latin typeface="Calibri" pitchFamily="34" charset="0"/>
                <a:ea typeface="Calibri" pitchFamily="34" charset="-122"/>
                <a:cs typeface="Calibri" pitchFamily="34" charset="-120"/>
              </a:rPr>
              <a:t>system prompt  ·  60 tok</a:t>
            </a:r>
            <a:endParaRPr lang="en-US" sz="900" dirty="0"/>
          </a:p>
        </p:txBody>
      </p:sp>
      <p:sp>
        <p:nvSpPr>
          <p:cNvPr id="36" name="Shape 33"/>
          <p:cNvSpPr/>
          <p:nvPr/>
        </p:nvSpPr>
        <p:spPr>
          <a:xfrm>
            <a:off x="5614416" y="2004365"/>
            <a:ext cx="3127248" cy="307238"/>
          </a:xfrm>
          <a:prstGeom prst="rect">
            <a:avLst/>
          </a:prstGeom>
          <a:solidFill>
            <a:srgbClr val="3B82F6"/>
          </a:solidFill>
          <a:ln w="12700">
            <a:solidFill>
              <a:srgbClr val="3B82F6"/>
            </a:solidFill>
            <a:prstDash val="solid"/>
          </a:ln>
        </p:spPr>
        <p:txBody>
          <a:bodyPr/>
          <a:lstStyle/>
          <a:p>
            <a:endParaRPr lang="en-GB"/>
          </a:p>
        </p:txBody>
      </p:sp>
      <p:sp>
        <p:nvSpPr>
          <p:cNvPr id="37" name="Text 34"/>
          <p:cNvSpPr/>
          <p:nvPr/>
        </p:nvSpPr>
        <p:spPr>
          <a:xfrm>
            <a:off x="5669280" y="2004365"/>
            <a:ext cx="3017520" cy="307238"/>
          </a:xfrm>
          <a:prstGeom prst="rect">
            <a:avLst/>
          </a:prstGeom>
          <a:noFill/>
          <a:ln/>
        </p:spPr>
        <p:txBody>
          <a:bodyPr wrap="square" lIns="0" tIns="0" rIns="0" bIns="0" rtlCol="0" anchor="ctr"/>
          <a:lstStyle/>
          <a:p>
            <a:pPr marL="0" indent="0">
              <a:buNone/>
            </a:pPr>
            <a:r>
              <a:rPr lang="en-US" sz="900" b="1" dirty="0">
                <a:solidFill>
                  <a:srgbClr val="F8FAFC"/>
                </a:solidFill>
                <a:latin typeface="Calibri" pitchFamily="34" charset="0"/>
                <a:ea typeface="Calibri" pitchFamily="34" charset="-122"/>
                <a:cs typeface="Calibri" pitchFamily="34" charset="-120"/>
              </a:rPr>
              <a:t>T1 user + ai  ·  80 tok</a:t>
            </a:r>
            <a:endParaRPr lang="en-US" sz="900" dirty="0"/>
          </a:p>
        </p:txBody>
      </p:sp>
      <p:sp>
        <p:nvSpPr>
          <p:cNvPr id="38" name="Shape 35"/>
          <p:cNvSpPr/>
          <p:nvPr/>
        </p:nvSpPr>
        <p:spPr>
          <a:xfrm>
            <a:off x="5614416" y="2311603"/>
            <a:ext cx="3127248" cy="422453"/>
          </a:xfrm>
          <a:prstGeom prst="rect">
            <a:avLst/>
          </a:prstGeom>
          <a:solidFill>
            <a:srgbClr val="3B82F6"/>
          </a:solidFill>
          <a:ln w="12700">
            <a:solidFill>
              <a:srgbClr val="3B82F6"/>
            </a:solidFill>
            <a:prstDash val="solid"/>
          </a:ln>
        </p:spPr>
        <p:txBody>
          <a:bodyPr/>
          <a:lstStyle/>
          <a:p>
            <a:endParaRPr lang="en-GB"/>
          </a:p>
        </p:txBody>
      </p:sp>
      <p:sp>
        <p:nvSpPr>
          <p:cNvPr id="39" name="Text 36"/>
          <p:cNvSpPr/>
          <p:nvPr/>
        </p:nvSpPr>
        <p:spPr>
          <a:xfrm>
            <a:off x="5669280" y="2311603"/>
            <a:ext cx="3017520" cy="422453"/>
          </a:xfrm>
          <a:prstGeom prst="rect">
            <a:avLst/>
          </a:prstGeom>
          <a:noFill/>
          <a:ln/>
        </p:spPr>
        <p:txBody>
          <a:bodyPr wrap="square" lIns="0" tIns="0" rIns="0" bIns="0" rtlCol="0" anchor="ctr"/>
          <a:lstStyle/>
          <a:p>
            <a:pPr marL="0" indent="0">
              <a:buNone/>
            </a:pPr>
            <a:r>
              <a:rPr lang="en-US" sz="900" b="1" dirty="0">
                <a:solidFill>
                  <a:srgbClr val="F8FAFC"/>
                </a:solidFill>
                <a:latin typeface="Calibri" pitchFamily="34" charset="0"/>
                <a:ea typeface="Calibri" pitchFamily="34" charset="-122"/>
                <a:cs typeface="Calibri" pitchFamily="34" charset="-120"/>
              </a:rPr>
              <a:t>T2 user + ai  ·  110 tok</a:t>
            </a:r>
            <a:endParaRPr lang="en-US" sz="900" dirty="0"/>
          </a:p>
        </p:txBody>
      </p:sp>
      <p:sp>
        <p:nvSpPr>
          <p:cNvPr id="40" name="Shape 37"/>
          <p:cNvSpPr/>
          <p:nvPr/>
        </p:nvSpPr>
        <p:spPr>
          <a:xfrm>
            <a:off x="5614416" y="2734056"/>
            <a:ext cx="3127248" cy="614477"/>
          </a:xfrm>
          <a:prstGeom prst="rect">
            <a:avLst/>
          </a:prstGeom>
          <a:solidFill>
            <a:srgbClr val="3B82F6"/>
          </a:solidFill>
          <a:ln w="12700">
            <a:solidFill>
              <a:srgbClr val="3B82F6"/>
            </a:solidFill>
            <a:prstDash val="solid"/>
          </a:ln>
        </p:spPr>
        <p:txBody>
          <a:bodyPr/>
          <a:lstStyle/>
          <a:p>
            <a:endParaRPr lang="en-GB"/>
          </a:p>
        </p:txBody>
      </p:sp>
      <p:sp>
        <p:nvSpPr>
          <p:cNvPr id="41" name="Text 38"/>
          <p:cNvSpPr/>
          <p:nvPr/>
        </p:nvSpPr>
        <p:spPr>
          <a:xfrm>
            <a:off x="5669280" y="2734056"/>
            <a:ext cx="3017520" cy="614477"/>
          </a:xfrm>
          <a:prstGeom prst="rect">
            <a:avLst/>
          </a:prstGeom>
          <a:noFill/>
          <a:ln/>
        </p:spPr>
        <p:txBody>
          <a:bodyPr wrap="square" lIns="0" tIns="0" rIns="0" bIns="0" rtlCol="0" anchor="ctr"/>
          <a:lstStyle/>
          <a:p>
            <a:pPr marL="0" indent="0">
              <a:buNone/>
            </a:pPr>
            <a:r>
              <a:rPr lang="en-US" sz="900" b="1" dirty="0">
                <a:solidFill>
                  <a:srgbClr val="F8FAFC"/>
                </a:solidFill>
                <a:latin typeface="Calibri" pitchFamily="34" charset="0"/>
                <a:ea typeface="Calibri" pitchFamily="34" charset="-122"/>
                <a:cs typeface="Calibri" pitchFamily="34" charset="-120"/>
              </a:rPr>
              <a:t>T3 user + ai  ·  160 tok</a:t>
            </a:r>
            <a:endParaRPr lang="en-US" sz="900" dirty="0"/>
          </a:p>
        </p:txBody>
      </p:sp>
      <p:sp>
        <p:nvSpPr>
          <p:cNvPr id="42" name="Shape 39"/>
          <p:cNvSpPr/>
          <p:nvPr/>
        </p:nvSpPr>
        <p:spPr>
          <a:xfrm>
            <a:off x="5614416" y="3348533"/>
            <a:ext cx="3127248" cy="134417"/>
          </a:xfrm>
          <a:prstGeom prst="rect">
            <a:avLst/>
          </a:prstGeom>
          <a:solidFill>
            <a:srgbClr val="F97316"/>
          </a:solidFill>
          <a:ln w="12700">
            <a:solidFill>
              <a:srgbClr val="F97316"/>
            </a:solidFill>
            <a:prstDash val="solid"/>
          </a:ln>
        </p:spPr>
        <p:txBody>
          <a:bodyPr/>
          <a:lstStyle/>
          <a:p>
            <a:endParaRPr lang="en-GB"/>
          </a:p>
        </p:txBody>
      </p:sp>
      <p:sp>
        <p:nvSpPr>
          <p:cNvPr id="43" name="Text 40"/>
          <p:cNvSpPr/>
          <p:nvPr/>
        </p:nvSpPr>
        <p:spPr>
          <a:xfrm>
            <a:off x="5669280" y="3348533"/>
            <a:ext cx="3017520" cy="134417"/>
          </a:xfrm>
          <a:prstGeom prst="rect">
            <a:avLst/>
          </a:prstGeom>
          <a:noFill/>
          <a:ln/>
        </p:spPr>
        <p:txBody>
          <a:bodyPr wrap="square" lIns="0" tIns="0" rIns="0" bIns="0" rtlCol="0" anchor="ctr"/>
          <a:lstStyle/>
          <a:p>
            <a:pPr marL="0" indent="0">
              <a:buNone/>
            </a:pPr>
            <a:r>
              <a:rPr lang="en-US" sz="900" b="1" dirty="0">
                <a:solidFill>
                  <a:srgbClr val="F8FAFC"/>
                </a:solidFill>
                <a:latin typeface="Calibri" pitchFamily="34" charset="0"/>
                <a:ea typeface="Calibri" pitchFamily="34" charset="-122"/>
                <a:cs typeface="Calibri" pitchFamily="34" charset="-120"/>
              </a:rPr>
              <a:t>T4 user (now)  ·  35 tok</a:t>
            </a:r>
            <a:endParaRPr lang="en-US" sz="900" dirty="0"/>
          </a:p>
        </p:txBody>
      </p:sp>
      <p:sp>
        <p:nvSpPr>
          <p:cNvPr id="44" name="Text 41"/>
          <p:cNvSpPr/>
          <p:nvPr/>
        </p:nvSpPr>
        <p:spPr>
          <a:xfrm>
            <a:off x="5669280" y="3528670"/>
            <a:ext cx="3017520" cy="201168"/>
          </a:xfrm>
          <a:prstGeom prst="rect">
            <a:avLst/>
          </a:prstGeom>
          <a:noFill/>
          <a:ln/>
        </p:spPr>
        <p:txBody>
          <a:bodyPr wrap="square" lIns="0" tIns="0" rIns="0" bIns="0" rtlCol="0" anchor="ctr"/>
          <a:lstStyle/>
          <a:p>
            <a:pPr marL="0" indent="0">
              <a:buNone/>
            </a:pPr>
            <a:r>
              <a:rPr lang="en-US" sz="850" i="1" dirty="0">
                <a:solidFill>
                  <a:srgbClr val="94A3B8"/>
                </a:solidFill>
                <a:latin typeface="Calibri" pitchFamily="34" charset="0"/>
                <a:ea typeface="Calibri" pitchFamily="34" charset="-122"/>
                <a:cs typeface="Calibri" pitchFamily="34" charset="-120"/>
              </a:rPr>
              <a:t>+ retrieved docs + tool defs…  =  445 tok used</a:t>
            </a:r>
            <a:endParaRPr lang="en-US" sz="850" dirty="0"/>
          </a:p>
        </p:txBody>
      </p:sp>
      <p:sp>
        <p:nvSpPr>
          <p:cNvPr id="45" name="Shape 42"/>
          <p:cNvSpPr/>
          <p:nvPr/>
        </p:nvSpPr>
        <p:spPr>
          <a:xfrm>
            <a:off x="365760" y="4434840"/>
            <a:ext cx="8412480" cy="365760"/>
          </a:xfrm>
          <a:prstGeom prst="roundRect">
            <a:avLst>
              <a:gd name="adj" fmla="val 12500"/>
            </a:avLst>
          </a:prstGeom>
          <a:solidFill>
            <a:srgbClr val="11203A"/>
          </a:solidFill>
          <a:ln w="12700">
            <a:solidFill>
              <a:srgbClr val="F97316"/>
            </a:solidFill>
            <a:prstDash val="solid"/>
          </a:ln>
        </p:spPr>
        <p:txBody>
          <a:bodyPr/>
          <a:lstStyle/>
          <a:p>
            <a:endParaRPr lang="en-GB"/>
          </a:p>
        </p:txBody>
      </p:sp>
      <p:sp>
        <p:nvSpPr>
          <p:cNvPr id="46" name="Text 43"/>
          <p:cNvSpPr/>
          <p:nvPr/>
        </p:nvSpPr>
        <p:spPr>
          <a:xfrm>
            <a:off x="365760" y="4434840"/>
            <a:ext cx="8412480" cy="365760"/>
          </a:xfrm>
          <a:prstGeom prst="rect">
            <a:avLst/>
          </a:prstGeom>
          <a:noFill/>
          <a:ln/>
        </p:spPr>
        <p:txBody>
          <a:bodyPr wrap="square" lIns="0" tIns="0" rIns="0" bIns="0" rtlCol="0" anchor="ctr"/>
          <a:lstStyle/>
          <a:p>
            <a:pPr marL="0" indent="0" algn="ctr">
              <a:buNone/>
            </a:pPr>
            <a:r>
              <a:rPr lang="en-US" sz="1100" b="1" dirty="0">
                <a:solidFill>
                  <a:srgbClr val="F97316"/>
                </a:solidFill>
                <a:latin typeface="Calibri" pitchFamily="34" charset="0"/>
                <a:ea typeface="Calibri" pitchFamily="34" charset="-122"/>
                <a:cs typeface="Calibri" pitchFamily="34" charset="-120"/>
              </a:rPr>
              <a:t>Consequence: </a:t>
            </a:r>
            <a:r>
              <a:rPr lang="en-US" sz="1100" dirty="0">
                <a:solidFill>
                  <a:srgbClr val="F8FAFC"/>
                </a:solidFill>
                <a:latin typeface="Calibri" pitchFamily="34" charset="0"/>
                <a:ea typeface="Calibri" pitchFamily="34" charset="-122"/>
                <a:cs typeface="Calibri" pitchFamily="34" charset="-120"/>
              </a:rPr>
              <a:t>every turn re-sends the past · cost &amp; latency grow · hit the limit and quality collapses.</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9">
    <p:bg>
      <p:bgPr>
        <a:solidFill>
          <a:srgbClr val="0A1628"/>
        </a:solidFill>
        <a:effectLst/>
      </p:bgPr>
    </p:bg>
    <p:spTree>
      <p:nvGrpSpPr>
        <p:cNvPr id="1" name=""/>
        <p:cNvGrpSpPr/>
        <p:nvPr/>
      </p:nvGrpSpPr>
      <p:grpSpPr>
        <a:xfrm>
          <a:off x="0" y="0"/>
          <a:ext cx="0" cy="0"/>
          <a:chOff x="0" y="0"/>
          <a:chExt cx="0" cy="0"/>
        </a:xfrm>
      </p:grpSpPr>
      <p:sp>
        <p:nvSpPr>
          <p:cNvPr id="3" name="Shape 0"/>
          <p:cNvSpPr/>
          <p:nvPr/>
        </p:nvSpPr>
        <p:spPr>
          <a:xfrm>
            <a:off x="457200" y="411480"/>
            <a:ext cx="320040" cy="54864"/>
          </a:xfrm>
          <a:prstGeom prst="rect">
            <a:avLst/>
          </a:prstGeom>
          <a:solidFill>
            <a:srgbClr val="F97316"/>
          </a:solidFill>
          <a:ln w="12700">
            <a:solidFill>
              <a:srgbClr val="F97316"/>
            </a:solidFill>
            <a:prstDash val="solid"/>
          </a:ln>
        </p:spPr>
        <p:txBody>
          <a:bodyPr/>
          <a:lstStyle/>
          <a:p>
            <a:endParaRPr lang="en-GB"/>
          </a:p>
        </p:txBody>
      </p:sp>
      <p:sp>
        <p:nvSpPr>
          <p:cNvPr id="4" name="Text 1"/>
          <p:cNvSpPr/>
          <p:nvPr/>
        </p:nvSpPr>
        <p:spPr>
          <a:xfrm>
            <a:off x="868680" y="329184"/>
            <a:ext cx="5029200" cy="274320"/>
          </a:xfrm>
          <a:prstGeom prst="rect">
            <a:avLst/>
          </a:prstGeom>
          <a:noFill/>
          <a:ln/>
        </p:spPr>
        <p:txBody>
          <a:bodyPr wrap="square" lIns="0" tIns="0" rIns="0" bIns="0" rtlCol="0" anchor="ctr"/>
          <a:lstStyle/>
          <a:p>
            <a:pPr marL="0" indent="0">
              <a:buNone/>
            </a:pPr>
            <a:r>
              <a:rPr lang="en-US" sz="1000" b="1" kern="0" spc="400" dirty="0">
                <a:solidFill>
                  <a:srgbClr val="F97316"/>
                </a:solidFill>
                <a:latin typeface="Calibri" pitchFamily="34" charset="0"/>
                <a:ea typeface="Calibri" pitchFamily="34" charset="-122"/>
                <a:cs typeface="Calibri" pitchFamily="34" charset="-120"/>
              </a:rPr>
              <a:t>05 · PRODUCTION</a:t>
            </a:r>
            <a:endParaRPr lang="en-US" sz="1000" dirty="0"/>
          </a:p>
        </p:txBody>
      </p:sp>
      <p:sp>
        <p:nvSpPr>
          <p:cNvPr id="5" name="Text 2"/>
          <p:cNvSpPr/>
          <p:nvPr/>
        </p:nvSpPr>
        <p:spPr>
          <a:xfrm>
            <a:off x="457200" y="640080"/>
            <a:ext cx="8229600" cy="822960"/>
          </a:xfrm>
          <a:prstGeom prst="rect">
            <a:avLst/>
          </a:prstGeom>
          <a:noFill/>
          <a:ln/>
        </p:spPr>
        <p:txBody>
          <a:bodyPr wrap="square" lIns="0" tIns="0" rIns="0" bIns="0" rtlCol="0" anchor="ctr"/>
          <a:lstStyle/>
          <a:p>
            <a:pPr marL="0" indent="0">
              <a:buNone/>
            </a:pPr>
            <a:r>
              <a:rPr lang="en-US" sz="3200" b="1" dirty="0">
                <a:solidFill>
                  <a:srgbClr val="F8FAFC"/>
                </a:solidFill>
                <a:latin typeface="Calibri" pitchFamily="34" charset="0"/>
                <a:ea typeface="Calibri" pitchFamily="34" charset="-122"/>
                <a:cs typeface="Calibri" pitchFamily="34" charset="-120"/>
              </a:rPr>
              <a:t>Context Window Management</a:t>
            </a:r>
            <a:endParaRPr lang="en-US" sz="3200" dirty="0"/>
          </a:p>
        </p:txBody>
      </p:sp>
      <p:sp>
        <p:nvSpPr>
          <p:cNvPr id="6" name="Text 3"/>
          <p:cNvSpPr/>
          <p:nvPr/>
        </p:nvSpPr>
        <p:spPr>
          <a:xfrm>
            <a:off x="457200" y="4754880"/>
            <a:ext cx="4572000" cy="228600"/>
          </a:xfrm>
          <a:prstGeom prst="rect">
            <a:avLst/>
          </a:prstGeom>
          <a:noFill/>
          <a:ln/>
        </p:spPr>
        <p:txBody>
          <a:bodyPr wrap="square" lIns="0" tIns="0" rIns="0" bIns="0" rtlCol="0" anchor="ctr"/>
          <a:lstStyle/>
          <a:p>
            <a:pPr marL="0" indent="0">
              <a:buNone/>
            </a:pPr>
            <a:endParaRPr lang="en-US" sz="900" dirty="0"/>
          </a:p>
        </p:txBody>
      </p:sp>
      <p:sp>
        <p:nvSpPr>
          <p:cNvPr id="7" name="Shape 4"/>
          <p:cNvSpPr/>
          <p:nvPr/>
        </p:nvSpPr>
        <p:spPr>
          <a:xfrm>
            <a:off x="8275320" y="4818888"/>
            <a:ext cx="73152" cy="73152"/>
          </a:xfrm>
          <a:prstGeom prst="ellipse">
            <a:avLst/>
          </a:prstGeom>
          <a:solidFill>
            <a:srgbClr val="F97316"/>
          </a:solidFill>
          <a:ln w="12700">
            <a:solidFill>
              <a:srgbClr val="F97316"/>
            </a:solidFill>
            <a:prstDash val="solid"/>
          </a:ln>
        </p:spPr>
        <p:txBody>
          <a:bodyPr/>
          <a:lstStyle/>
          <a:p>
            <a:endParaRPr lang="en-GB"/>
          </a:p>
        </p:txBody>
      </p:sp>
      <p:sp>
        <p:nvSpPr>
          <p:cNvPr id="8" name="Text 5"/>
          <p:cNvSpPr/>
          <p:nvPr/>
        </p:nvSpPr>
        <p:spPr>
          <a:xfrm>
            <a:off x="8366760" y="4736592"/>
            <a:ext cx="685800" cy="228600"/>
          </a:xfrm>
          <a:prstGeom prst="rect">
            <a:avLst/>
          </a:prstGeom>
          <a:noFill/>
          <a:ln/>
        </p:spPr>
        <p:txBody>
          <a:bodyPr wrap="square" lIns="0" tIns="0" rIns="0" bIns="0" rtlCol="0" anchor="ctr"/>
          <a:lstStyle/>
          <a:p>
            <a:pPr marL="0" indent="0" algn="r">
              <a:buNone/>
            </a:pPr>
            <a:r>
              <a:rPr lang="en-US" sz="900" dirty="0">
                <a:solidFill>
                  <a:srgbClr val="94A3B8"/>
                </a:solidFill>
                <a:latin typeface="Calibri" pitchFamily="34" charset="0"/>
                <a:ea typeface="Calibri" pitchFamily="34" charset="-122"/>
                <a:cs typeface="Calibri" pitchFamily="34" charset="-120"/>
              </a:rPr>
              <a:t>10 / 21</a:t>
            </a:r>
            <a:endParaRPr lang="en-US" sz="900" dirty="0"/>
          </a:p>
        </p:txBody>
      </p:sp>
      <p:sp>
        <p:nvSpPr>
          <p:cNvPr id="9" name="Text 6"/>
          <p:cNvSpPr/>
          <p:nvPr/>
        </p:nvSpPr>
        <p:spPr>
          <a:xfrm>
            <a:off x="548640" y="1463040"/>
            <a:ext cx="4114800" cy="274320"/>
          </a:xfrm>
          <a:prstGeom prst="rect">
            <a:avLst/>
          </a:prstGeom>
          <a:noFill/>
          <a:ln/>
        </p:spPr>
        <p:txBody>
          <a:bodyPr wrap="square" lIns="0" tIns="0" rIns="0" bIns="0" rtlCol="0" anchor="ctr"/>
          <a:lstStyle/>
          <a:p>
            <a:pPr marL="0" indent="0">
              <a:buNone/>
            </a:pPr>
            <a:r>
              <a:rPr lang="en-US" sz="1000" i="1" dirty="0">
                <a:solidFill>
                  <a:srgbClr val="94A3B8"/>
                </a:solidFill>
                <a:latin typeface="Calibri" pitchFamily="34" charset="0"/>
                <a:ea typeface="Calibri" pitchFamily="34" charset="-122"/>
                <a:cs typeface="Calibri" pitchFamily="34" charset="-120"/>
              </a:rPr>
              <a:t>Context window — finite (8K → 1M tokens)</a:t>
            </a:r>
            <a:endParaRPr lang="en-US" sz="1000" dirty="0"/>
          </a:p>
        </p:txBody>
      </p:sp>
      <p:sp>
        <p:nvSpPr>
          <p:cNvPr id="10" name="Shape 7"/>
          <p:cNvSpPr/>
          <p:nvPr/>
        </p:nvSpPr>
        <p:spPr>
          <a:xfrm>
            <a:off x="548640" y="1783080"/>
            <a:ext cx="4114800" cy="640080"/>
          </a:xfrm>
          <a:prstGeom prst="rect">
            <a:avLst/>
          </a:prstGeom>
          <a:solidFill>
            <a:srgbClr val="11203A"/>
          </a:solidFill>
          <a:ln w="12700">
            <a:solidFill>
              <a:srgbClr val="1E3A5F"/>
            </a:solidFill>
            <a:prstDash val="solid"/>
          </a:ln>
        </p:spPr>
        <p:txBody>
          <a:bodyPr/>
          <a:lstStyle/>
          <a:p>
            <a:endParaRPr lang="en-GB"/>
          </a:p>
        </p:txBody>
      </p:sp>
      <p:sp>
        <p:nvSpPr>
          <p:cNvPr id="11" name="Shape 8"/>
          <p:cNvSpPr/>
          <p:nvPr/>
        </p:nvSpPr>
        <p:spPr>
          <a:xfrm>
            <a:off x="548640" y="1783080"/>
            <a:ext cx="731520" cy="640080"/>
          </a:xfrm>
          <a:prstGeom prst="rect">
            <a:avLst/>
          </a:prstGeom>
          <a:solidFill>
            <a:srgbClr val="1D4ED8"/>
          </a:solidFill>
          <a:ln w="12700">
            <a:solidFill>
              <a:srgbClr val="1D4ED8"/>
            </a:solidFill>
            <a:prstDash val="solid"/>
          </a:ln>
        </p:spPr>
        <p:txBody>
          <a:bodyPr/>
          <a:lstStyle/>
          <a:p>
            <a:endParaRPr lang="en-GB"/>
          </a:p>
        </p:txBody>
      </p:sp>
      <p:sp>
        <p:nvSpPr>
          <p:cNvPr id="12" name="Text 9"/>
          <p:cNvSpPr/>
          <p:nvPr/>
        </p:nvSpPr>
        <p:spPr>
          <a:xfrm>
            <a:off x="548640" y="1783080"/>
            <a:ext cx="731520" cy="640080"/>
          </a:xfrm>
          <a:prstGeom prst="rect">
            <a:avLst/>
          </a:prstGeom>
          <a:noFill/>
          <a:ln/>
        </p:spPr>
        <p:txBody>
          <a:bodyPr wrap="square" lIns="0" tIns="0" rIns="0" bIns="0" rtlCol="0" anchor="ctr"/>
          <a:lstStyle/>
          <a:p>
            <a:pPr marL="0" indent="0" algn="ctr">
              <a:buNone/>
            </a:pPr>
            <a:r>
              <a:rPr lang="en-US" sz="900" b="1" dirty="0">
                <a:solidFill>
                  <a:srgbClr val="F8FAFC"/>
                </a:solidFill>
                <a:latin typeface="Calibri" pitchFamily="34" charset="0"/>
                <a:ea typeface="Calibri" pitchFamily="34" charset="-122"/>
                <a:cs typeface="Calibri" pitchFamily="34" charset="-120"/>
              </a:rPr>
              <a:t>System</a:t>
            </a:r>
            <a:endParaRPr lang="en-US" sz="900" dirty="0"/>
          </a:p>
        </p:txBody>
      </p:sp>
      <p:sp>
        <p:nvSpPr>
          <p:cNvPr id="13" name="Shape 10"/>
          <p:cNvSpPr/>
          <p:nvPr/>
        </p:nvSpPr>
        <p:spPr>
          <a:xfrm>
            <a:off x="1280160" y="1783080"/>
            <a:ext cx="1371600" cy="640080"/>
          </a:xfrm>
          <a:prstGeom prst="rect">
            <a:avLst/>
          </a:prstGeom>
          <a:solidFill>
            <a:srgbClr val="3B82F6"/>
          </a:solidFill>
          <a:ln w="12700">
            <a:solidFill>
              <a:srgbClr val="3B82F6"/>
            </a:solidFill>
            <a:prstDash val="solid"/>
          </a:ln>
        </p:spPr>
        <p:txBody>
          <a:bodyPr/>
          <a:lstStyle/>
          <a:p>
            <a:endParaRPr lang="en-GB"/>
          </a:p>
        </p:txBody>
      </p:sp>
      <p:sp>
        <p:nvSpPr>
          <p:cNvPr id="14" name="Text 11"/>
          <p:cNvSpPr/>
          <p:nvPr/>
        </p:nvSpPr>
        <p:spPr>
          <a:xfrm>
            <a:off x="1280160" y="1783080"/>
            <a:ext cx="1371600" cy="640080"/>
          </a:xfrm>
          <a:prstGeom prst="rect">
            <a:avLst/>
          </a:prstGeom>
          <a:noFill/>
          <a:ln/>
        </p:spPr>
        <p:txBody>
          <a:bodyPr wrap="square" lIns="0" tIns="0" rIns="0" bIns="0" rtlCol="0" anchor="ctr"/>
          <a:lstStyle/>
          <a:p>
            <a:pPr marL="0" indent="0" algn="ctr">
              <a:buNone/>
            </a:pPr>
            <a:r>
              <a:rPr lang="en-US" sz="900" b="1" dirty="0">
                <a:solidFill>
                  <a:srgbClr val="F8FAFC"/>
                </a:solidFill>
                <a:latin typeface="Calibri" pitchFamily="34" charset="0"/>
                <a:ea typeface="Calibri" pitchFamily="34" charset="-122"/>
                <a:cs typeface="Calibri" pitchFamily="34" charset="-120"/>
              </a:rPr>
              <a:t>History</a:t>
            </a:r>
            <a:endParaRPr lang="en-US" sz="900" dirty="0"/>
          </a:p>
        </p:txBody>
      </p:sp>
      <p:sp>
        <p:nvSpPr>
          <p:cNvPr id="15" name="Shape 12"/>
          <p:cNvSpPr/>
          <p:nvPr/>
        </p:nvSpPr>
        <p:spPr>
          <a:xfrm>
            <a:off x="2651760" y="1783080"/>
            <a:ext cx="1005840" cy="640080"/>
          </a:xfrm>
          <a:prstGeom prst="rect">
            <a:avLst/>
          </a:prstGeom>
          <a:solidFill>
            <a:srgbClr val="F97316"/>
          </a:solidFill>
          <a:ln w="12700">
            <a:solidFill>
              <a:srgbClr val="F97316"/>
            </a:solidFill>
            <a:prstDash val="solid"/>
          </a:ln>
        </p:spPr>
        <p:txBody>
          <a:bodyPr/>
          <a:lstStyle/>
          <a:p>
            <a:endParaRPr lang="en-GB"/>
          </a:p>
        </p:txBody>
      </p:sp>
      <p:sp>
        <p:nvSpPr>
          <p:cNvPr id="16" name="Text 13"/>
          <p:cNvSpPr/>
          <p:nvPr/>
        </p:nvSpPr>
        <p:spPr>
          <a:xfrm>
            <a:off x="2651760" y="1783080"/>
            <a:ext cx="1005840" cy="640080"/>
          </a:xfrm>
          <a:prstGeom prst="rect">
            <a:avLst/>
          </a:prstGeom>
          <a:noFill/>
          <a:ln/>
        </p:spPr>
        <p:txBody>
          <a:bodyPr wrap="square" lIns="0" tIns="0" rIns="0" bIns="0" rtlCol="0" anchor="ctr"/>
          <a:lstStyle/>
          <a:p>
            <a:pPr marL="0" indent="0" algn="ctr">
              <a:buNone/>
            </a:pPr>
            <a:r>
              <a:rPr lang="en-US" sz="900" b="1" dirty="0">
                <a:solidFill>
                  <a:srgbClr val="F8FAFC"/>
                </a:solidFill>
                <a:latin typeface="Calibri" pitchFamily="34" charset="0"/>
                <a:ea typeface="Calibri" pitchFamily="34" charset="-122"/>
                <a:cs typeface="Calibri" pitchFamily="34" charset="-120"/>
              </a:rPr>
              <a:t>Retrieved</a:t>
            </a:r>
            <a:endParaRPr lang="en-US" sz="900" dirty="0"/>
          </a:p>
        </p:txBody>
      </p:sp>
      <p:sp>
        <p:nvSpPr>
          <p:cNvPr id="17" name="Shape 14"/>
          <p:cNvSpPr/>
          <p:nvPr/>
        </p:nvSpPr>
        <p:spPr>
          <a:xfrm>
            <a:off x="3657600" y="1783080"/>
            <a:ext cx="640080" cy="640080"/>
          </a:xfrm>
          <a:prstGeom prst="rect">
            <a:avLst/>
          </a:prstGeom>
          <a:solidFill>
            <a:srgbClr val="FB923C"/>
          </a:solidFill>
          <a:ln w="12700">
            <a:solidFill>
              <a:srgbClr val="FB923C"/>
            </a:solidFill>
            <a:prstDash val="solid"/>
          </a:ln>
        </p:spPr>
        <p:txBody>
          <a:bodyPr/>
          <a:lstStyle/>
          <a:p>
            <a:endParaRPr lang="en-GB"/>
          </a:p>
        </p:txBody>
      </p:sp>
      <p:sp>
        <p:nvSpPr>
          <p:cNvPr id="18" name="Text 15"/>
          <p:cNvSpPr/>
          <p:nvPr/>
        </p:nvSpPr>
        <p:spPr>
          <a:xfrm>
            <a:off x="3657600" y="1783080"/>
            <a:ext cx="640080" cy="640080"/>
          </a:xfrm>
          <a:prstGeom prst="rect">
            <a:avLst/>
          </a:prstGeom>
          <a:noFill/>
          <a:ln/>
        </p:spPr>
        <p:txBody>
          <a:bodyPr wrap="square" lIns="0" tIns="0" rIns="0" bIns="0" rtlCol="0" anchor="ctr"/>
          <a:lstStyle/>
          <a:p>
            <a:pPr marL="0" indent="0" algn="ctr">
              <a:buNone/>
            </a:pPr>
            <a:r>
              <a:rPr lang="en-US" sz="900" b="1" dirty="0">
                <a:solidFill>
                  <a:srgbClr val="F8FAFC"/>
                </a:solidFill>
                <a:latin typeface="Calibri" pitchFamily="34" charset="0"/>
                <a:ea typeface="Calibri" pitchFamily="34" charset="-122"/>
                <a:cs typeface="Calibri" pitchFamily="34" charset="-120"/>
              </a:rPr>
              <a:t>Tools</a:t>
            </a:r>
            <a:endParaRPr lang="en-US" sz="900" dirty="0"/>
          </a:p>
        </p:txBody>
      </p:sp>
      <p:sp>
        <p:nvSpPr>
          <p:cNvPr id="19" name="Shape 16"/>
          <p:cNvSpPr/>
          <p:nvPr/>
        </p:nvSpPr>
        <p:spPr>
          <a:xfrm>
            <a:off x="4297680" y="1783080"/>
            <a:ext cx="365760" cy="640080"/>
          </a:xfrm>
          <a:prstGeom prst="rect">
            <a:avLst/>
          </a:prstGeom>
          <a:solidFill>
            <a:srgbClr val="94A3B8"/>
          </a:solidFill>
          <a:ln w="12700">
            <a:solidFill>
              <a:srgbClr val="94A3B8"/>
            </a:solidFill>
            <a:prstDash val="solid"/>
          </a:ln>
        </p:spPr>
        <p:txBody>
          <a:bodyPr/>
          <a:lstStyle/>
          <a:p>
            <a:endParaRPr lang="en-GB"/>
          </a:p>
        </p:txBody>
      </p:sp>
      <p:sp>
        <p:nvSpPr>
          <p:cNvPr id="20" name="Shape 17"/>
          <p:cNvSpPr/>
          <p:nvPr/>
        </p:nvSpPr>
        <p:spPr>
          <a:xfrm>
            <a:off x="548640" y="2697480"/>
            <a:ext cx="457200" cy="457200"/>
          </a:xfrm>
          <a:prstGeom prst="ellipse">
            <a:avLst/>
          </a:prstGeom>
          <a:solidFill>
            <a:srgbClr val="1D4ED8"/>
          </a:solidFill>
          <a:ln w="12700">
            <a:solidFill>
              <a:srgbClr val="1D4ED8"/>
            </a:solidFill>
            <a:prstDash val="solid"/>
          </a:ln>
        </p:spPr>
        <p:txBody>
          <a:bodyPr/>
          <a:lstStyle/>
          <a:p>
            <a:endParaRPr lang="en-GB"/>
          </a:p>
        </p:txBody>
      </p:sp>
      <p:sp>
        <p:nvSpPr>
          <p:cNvPr id="21" name="Text 18"/>
          <p:cNvSpPr/>
          <p:nvPr/>
        </p:nvSpPr>
        <p:spPr>
          <a:xfrm>
            <a:off x="548640" y="2697480"/>
            <a:ext cx="457200" cy="457200"/>
          </a:xfrm>
          <a:prstGeom prst="rect">
            <a:avLst/>
          </a:prstGeom>
          <a:noFill/>
          <a:ln/>
        </p:spPr>
        <p:txBody>
          <a:bodyPr wrap="square" lIns="0" tIns="0" rIns="0" bIns="0" rtlCol="0" anchor="ctr"/>
          <a:lstStyle/>
          <a:p>
            <a:pPr marL="0" indent="0" algn="ctr">
              <a:buNone/>
            </a:pPr>
            <a:r>
              <a:rPr lang="en-US" sz="1400" b="1" dirty="0">
                <a:solidFill>
                  <a:srgbClr val="F8FAFC"/>
                </a:solidFill>
                <a:latin typeface="Calibri" pitchFamily="34" charset="0"/>
                <a:ea typeface="Calibri" pitchFamily="34" charset="-122"/>
                <a:cs typeface="Calibri" pitchFamily="34" charset="-120"/>
              </a:rPr>
              <a:t>📜</a:t>
            </a:r>
            <a:endParaRPr lang="en-US" sz="1400" dirty="0"/>
          </a:p>
        </p:txBody>
      </p:sp>
      <p:sp>
        <p:nvSpPr>
          <p:cNvPr id="22" name="Text 19"/>
          <p:cNvSpPr/>
          <p:nvPr/>
        </p:nvSpPr>
        <p:spPr>
          <a:xfrm>
            <a:off x="1143000" y="2697480"/>
            <a:ext cx="1463040" cy="274320"/>
          </a:xfrm>
          <a:prstGeom prst="rect">
            <a:avLst/>
          </a:prstGeom>
          <a:noFill/>
          <a:ln/>
        </p:spPr>
        <p:txBody>
          <a:bodyPr wrap="square" lIns="0" tIns="0" rIns="0" bIns="0" rtlCol="0" anchor="ctr"/>
          <a:lstStyle/>
          <a:p>
            <a:pPr marL="0" indent="0">
              <a:buNone/>
            </a:pPr>
            <a:r>
              <a:rPr lang="en-US" sz="1200" b="1" dirty="0">
                <a:solidFill>
                  <a:srgbClr val="F8FAFC"/>
                </a:solidFill>
                <a:latin typeface="Calibri" pitchFamily="34" charset="0"/>
                <a:ea typeface="Calibri" pitchFamily="34" charset="-122"/>
                <a:cs typeface="Calibri" pitchFamily="34" charset="-120"/>
              </a:rPr>
              <a:t>Sliding window</a:t>
            </a:r>
            <a:endParaRPr lang="en-US" sz="1200" dirty="0"/>
          </a:p>
        </p:txBody>
      </p:sp>
      <p:sp>
        <p:nvSpPr>
          <p:cNvPr id="23" name="Text 20"/>
          <p:cNvSpPr/>
          <p:nvPr/>
        </p:nvSpPr>
        <p:spPr>
          <a:xfrm>
            <a:off x="1143000" y="2953512"/>
            <a:ext cx="1463040" cy="274320"/>
          </a:xfrm>
          <a:prstGeom prst="rect">
            <a:avLst/>
          </a:prstGeom>
          <a:noFill/>
          <a:ln/>
        </p:spPr>
        <p:txBody>
          <a:bodyPr wrap="square" lIns="0" tIns="0" rIns="0" bIns="0" rtlCol="0" anchor="ctr"/>
          <a:lstStyle/>
          <a:p>
            <a:pPr marL="0" indent="0">
              <a:buNone/>
            </a:pPr>
            <a:r>
              <a:rPr lang="en-US" sz="1000" dirty="0">
                <a:solidFill>
                  <a:srgbClr val="94A3B8"/>
                </a:solidFill>
                <a:latin typeface="Calibri" pitchFamily="34" charset="0"/>
                <a:ea typeface="Calibri" pitchFamily="34" charset="-122"/>
                <a:cs typeface="Calibri" pitchFamily="34" charset="-120"/>
              </a:rPr>
              <a:t>drop oldest turns</a:t>
            </a:r>
            <a:endParaRPr lang="en-US" sz="1000" dirty="0"/>
          </a:p>
        </p:txBody>
      </p:sp>
      <p:sp>
        <p:nvSpPr>
          <p:cNvPr id="24" name="Shape 21"/>
          <p:cNvSpPr/>
          <p:nvPr/>
        </p:nvSpPr>
        <p:spPr>
          <a:xfrm>
            <a:off x="2651760" y="2697480"/>
            <a:ext cx="457200" cy="457200"/>
          </a:xfrm>
          <a:prstGeom prst="ellipse">
            <a:avLst/>
          </a:prstGeom>
          <a:solidFill>
            <a:srgbClr val="1D4ED8"/>
          </a:solidFill>
          <a:ln w="12700">
            <a:solidFill>
              <a:srgbClr val="1D4ED8"/>
            </a:solidFill>
            <a:prstDash val="solid"/>
          </a:ln>
        </p:spPr>
        <p:txBody>
          <a:bodyPr/>
          <a:lstStyle/>
          <a:p>
            <a:endParaRPr lang="en-GB"/>
          </a:p>
        </p:txBody>
      </p:sp>
      <p:sp>
        <p:nvSpPr>
          <p:cNvPr id="25" name="Text 22"/>
          <p:cNvSpPr/>
          <p:nvPr/>
        </p:nvSpPr>
        <p:spPr>
          <a:xfrm>
            <a:off x="2651760" y="2697480"/>
            <a:ext cx="457200" cy="457200"/>
          </a:xfrm>
          <a:prstGeom prst="rect">
            <a:avLst/>
          </a:prstGeom>
          <a:noFill/>
          <a:ln/>
        </p:spPr>
        <p:txBody>
          <a:bodyPr wrap="square" lIns="0" tIns="0" rIns="0" bIns="0" rtlCol="0" anchor="ctr"/>
          <a:lstStyle/>
          <a:p>
            <a:pPr marL="0" indent="0" algn="ctr">
              <a:buNone/>
            </a:pPr>
            <a:r>
              <a:rPr lang="en-US" sz="1400" b="1" dirty="0">
                <a:solidFill>
                  <a:srgbClr val="F8FAFC"/>
                </a:solidFill>
                <a:latin typeface="Calibri" pitchFamily="34" charset="0"/>
                <a:ea typeface="Calibri" pitchFamily="34" charset="-122"/>
                <a:cs typeface="Calibri" pitchFamily="34" charset="-120"/>
              </a:rPr>
              <a:t>📝</a:t>
            </a:r>
            <a:endParaRPr lang="en-US" sz="1400" dirty="0"/>
          </a:p>
        </p:txBody>
      </p:sp>
      <p:sp>
        <p:nvSpPr>
          <p:cNvPr id="26" name="Text 23"/>
          <p:cNvSpPr/>
          <p:nvPr/>
        </p:nvSpPr>
        <p:spPr>
          <a:xfrm>
            <a:off x="3246120" y="2697480"/>
            <a:ext cx="1463040" cy="274320"/>
          </a:xfrm>
          <a:prstGeom prst="rect">
            <a:avLst/>
          </a:prstGeom>
          <a:noFill/>
          <a:ln/>
        </p:spPr>
        <p:txBody>
          <a:bodyPr wrap="square" lIns="0" tIns="0" rIns="0" bIns="0" rtlCol="0" anchor="ctr"/>
          <a:lstStyle/>
          <a:p>
            <a:pPr marL="0" indent="0">
              <a:buNone/>
            </a:pPr>
            <a:r>
              <a:rPr lang="en-US" sz="1200" b="1" dirty="0">
                <a:solidFill>
                  <a:srgbClr val="F8FAFC"/>
                </a:solidFill>
                <a:latin typeface="Calibri" pitchFamily="34" charset="0"/>
                <a:ea typeface="Calibri" pitchFamily="34" charset="-122"/>
                <a:cs typeface="Calibri" pitchFamily="34" charset="-120"/>
              </a:rPr>
              <a:t>Summarization</a:t>
            </a:r>
            <a:endParaRPr lang="en-US" sz="1200" dirty="0"/>
          </a:p>
        </p:txBody>
      </p:sp>
      <p:sp>
        <p:nvSpPr>
          <p:cNvPr id="27" name="Text 24"/>
          <p:cNvSpPr/>
          <p:nvPr/>
        </p:nvSpPr>
        <p:spPr>
          <a:xfrm>
            <a:off x="3246120" y="2953512"/>
            <a:ext cx="1463040" cy="274320"/>
          </a:xfrm>
          <a:prstGeom prst="rect">
            <a:avLst/>
          </a:prstGeom>
          <a:noFill/>
          <a:ln/>
        </p:spPr>
        <p:txBody>
          <a:bodyPr wrap="square" lIns="0" tIns="0" rIns="0" bIns="0" rtlCol="0" anchor="ctr"/>
          <a:lstStyle/>
          <a:p>
            <a:pPr marL="0" indent="0">
              <a:buNone/>
            </a:pPr>
            <a:r>
              <a:rPr lang="en-US" sz="1000" dirty="0">
                <a:solidFill>
                  <a:srgbClr val="94A3B8"/>
                </a:solidFill>
                <a:latin typeface="Calibri" pitchFamily="34" charset="0"/>
                <a:ea typeface="Calibri" pitchFamily="34" charset="-122"/>
                <a:cs typeface="Calibri" pitchFamily="34" charset="-120"/>
              </a:rPr>
              <a:t>compress history into facts</a:t>
            </a:r>
            <a:endParaRPr lang="en-US" sz="1000" dirty="0"/>
          </a:p>
        </p:txBody>
      </p:sp>
      <p:sp>
        <p:nvSpPr>
          <p:cNvPr id="28" name="Shape 25"/>
          <p:cNvSpPr/>
          <p:nvPr/>
        </p:nvSpPr>
        <p:spPr>
          <a:xfrm>
            <a:off x="548640" y="3474720"/>
            <a:ext cx="457200" cy="457200"/>
          </a:xfrm>
          <a:prstGeom prst="ellipse">
            <a:avLst/>
          </a:prstGeom>
          <a:solidFill>
            <a:srgbClr val="1D4ED8"/>
          </a:solidFill>
          <a:ln w="12700">
            <a:solidFill>
              <a:srgbClr val="1D4ED8"/>
            </a:solidFill>
            <a:prstDash val="solid"/>
          </a:ln>
        </p:spPr>
        <p:txBody>
          <a:bodyPr/>
          <a:lstStyle/>
          <a:p>
            <a:endParaRPr lang="en-GB"/>
          </a:p>
        </p:txBody>
      </p:sp>
      <p:sp>
        <p:nvSpPr>
          <p:cNvPr id="29" name="Text 26"/>
          <p:cNvSpPr/>
          <p:nvPr/>
        </p:nvSpPr>
        <p:spPr>
          <a:xfrm>
            <a:off x="548640" y="3474720"/>
            <a:ext cx="457200" cy="457200"/>
          </a:xfrm>
          <a:prstGeom prst="rect">
            <a:avLst/>
          </a:prstGeom>
          <a:noFill/>
          <a:ln/>
        </p:spPr>
        <p:txBody>
          <a:bodyPr wrap="square" lIns="0" tIns="0" rIns="0" bIns="0" rtlCol="0" anchor="ctr"/>
          <a:lstStyle/>
          <a:p>
            <a:pPr marL="0" indent="0" algn="ctr">
              <a:buNone/>
            </a:pPr>
            <a:r>
              <a:rPr lang="en-US" sz="1400" b="1" dirty="0">
                <a:solidFill>
                  <a:srgbClr val="F8FAFC"/>
                </a:solidFill>
                <a:latin typeface="Calibri" pitchFamily="34" charset="0"/>
                <a:ea typeface="Calibri" pitchFamily="34" charset="-122"/>
                <a:cs typeface="Calibri" pitchFamily="34" charset="-120"/>
              </a:rPr>
              <a:t>✂️</a:t>
            </a:r>
            <a:endParaRPr lang="en-US" sz="1400" dirty="0"/>
          </a:p>
        </p:txBody>
      </p:sp>
      <p:sp>
        <p:nvSpPr>
          <p:cNvPr id="30" name="Text 27"/>
          <p:cNvSpPr/>
          <p:nvPr/>
        </p:nvSpPr>
        <p:spPr>
          <a:xfrm>
            <a:off x="1143000" y="3474720"/>
            <a:ext cx="1463040" cy="274320"/>
          </a:xfrm>
          <a:prstGeom prst="rect">
            <a:avLst/>
          </a:prstGeom>
          <a:noFill/>
          <a:ln/>
        </p:spPr>
        <p:txBody>
          <a:bodyPr wrap="square" lIns="0" tIns="0" rIns="0" bIns="0" rtlCol="0" anchor="ctr"/>
          <a:lstStyle/>
          <a:p>
            <a:pPr marL="0" indent="0">
              <a:buNone/>
            </a:pPr>
            <a:r>
              <a:rPr lang="en-US" sz="1200" b="1" dirty="0">
                <a:solidFill>
                  <a:srgbClr val="F8FAFC"/>
                </a:solidFill>
                <a:latin typeface="Calibri" pitchFamily="34" charset="0"/>
                <a:ea typeface="Calibri" pitchFamily="34" charset="-122"/>
                <a:cs typeface="Calibri" pitchFamily="34" charset="-120"/>
              </a:rPr>
              <a:t>Pruning</a:t>
            </a:r>
            <a:endParaRPr lang="en-US" sz="1200" dirty="0"/>
          </a:p>
        </p:txBody>
      </p:sp>
      <p:sp>
        <p:nvSpPr>
          <p:cNvPr id="31" name="Text 28"/>
          <p:cNvSpPr/>
          <p:nvPr/>
        </p:nvSpPr>
        <p:spPr>
          <a:xfrm>
            <a:off x="1143000" y="3730752"/>
            <a:ext cx="1463040" cy="274320"/>
          </a:xfrm>
          <a:prstGeom prst="rect">
            <a:avLst/>
          </a:prstGeom>
          <a:noFill/>
          <a:ln/>
        </p:spPr>
        <p:txBody>
          <a:bodyPr wrap="square" lIns="0" tIns="0" rIns="0" bIns="0" rtlCol="0" anchor="ctr"/>
          <a:lstStyle/>
          <a:p>
            <a:pPr marL="0" indent="0">
              <a:buNone/>
            </a:pPr>
            <a:r>
              <a:rPr lang="en-US" sz="1000" dirty="0">
                <a:solidFill>
                  <a:srgbClr val="94A3B8"/>
                </a:solidFill>
                <a:latin typeface="Calibri" pitchFamily="34" charset="0"/>
                <a:ea typeface="Calibri" pitchFamily="34" charset="-122"/>
                <a:cs typeface="Calibri" pitchFamily="34" charset="-120"/>
              </a:rPr>
              <a:t>remove stale tool calls</a:t>
            </a:r>
            <a:endParaRPr lang="en-US" sz="1000" dirty="0"/>
          </a:p>
        </p:txBody>
      </p:sp>
      <p:sp>
        <p:nvSpPr>
          <p:cNvPr id="32" name="Shape 29"/>
          <p:cNvSpPr/>
          <p:nvPr/>
        </p:nvSpPr>
        <p:spPr>
          <a:xfrm>
            <a:off x="2651760" y="3474720"/>
            <a:ext cx="457200" cy="457200"/>
          </a:xfrm>
          <a:prstGeom prst="ellipse">
            <a:avLst/>
          </a:prstGeom>
          <a:solidFill>
            <a:srgbClr val="1D4ED8"/>
          </a:solidFill>
          <a:ln w="12700">
            <a:solidFill>
              <a:srgbClr val="1D4ED8"/>
            </a:solidFill>
            <a:prstDash val="solid"/>
          </a:ln>
        </p:spPr>
        <p:txBody>
          <a:bodyPr/>
          <a:lstStyle/>
          <a:p>
            <a:endParaRPr lang="en-GB"/>
          </a:p>
        </p:txBody>
      </p:sp>
      <p:sp>
        <p:nvSpPr>
          <p:cNvPr id="33" name="Text 30"/>
          <p:cNvSpPr/>
          <p:nvPr/>
        </p:nvSpPr>
        <p:spPr>
          <a:xfrm>
            <a:off x="2651760" y="3474720"/>
            <a:ext cx="457200" cy="457200"/>
          </a:xfrm>
          <a:prstGeom prst="rect">
            <a:avLst/>
          </a:prstGeom>
          <a:noFill/>
          <a:ln/>
        </p:spPr>
        <p:txBody>
          <a:bodyPr wrap="square" lIns="0" tIns="0" rIns="0" bIns="0" rtlCol="0" anchor="ctr"/>
          <a:lstStyle/>
          <a:p>
            <a:pPr marL="0" indent="0" algn="ctr">
              <a:buNone/>
            </a:pPr>
            <a:r>
              <a:rPr lang="en-US" sz="1400" b="1" dirty="0">
                <a:solidFill>
                  <a:srgbClr val="F8FAFC"/>
                </a:solidFill>
                <a:latin typeface="Calibri" pitchFamily="34" charset="0"/>
                <a:ea typeface="Calibri" pitchFamily="34" charset="-122"/>
                <a:cs typeface="Calibri" pitchFamily="34" charset="-120"/>
              </a:rPr>
              <a:t>🛠️</a:t>
            </a:r>
            <a:endParaRPr lang="en-US" sz="1400" dirty="0"/>
          </a:p>
        </p:txBody>
      </p:sp>
      <p:sp>
        <p:nvSpPr>
          <p:cNvPr id="34" name="Text 31"/>
          <p:cNvSpPr/>
          <p:nvPr/>
        </p:nvSpPr>
        <p:spPr>
          <a:xfrm>
            <a:off x="3246120" y="3474720"/>
            <a:ext cx="1463040" cy="274320"/>
          </a:xfrm>
          <a:prstGeom prst="rect">
            <a:avLst/>
          </a:prstGeom>
          <a:noFill/>
          <a:ln/>
        </p:spPr>
        <p:txBody>
          <a:bodyPr wrap="square" lIns="0" tIns="0" rIns="0" bIns="0" rtlCol="0" anchor="ctr"/>
          <a:lstStyle/>
          <a:p>
            <a:pPr marL="0" indent="0">
              <a:buNone/>
            </a:pPr>
            <a:r>
              <a:rPr lang="en-US" sz="1200" b="1" dirty="0">
                <a:solidFill>
                  <a:srgbClr val="F8FAFC"/>
                </a:solidFill>
                <a:latin typeface="Calibri" pitchFamily="34" charset="0"/>
                <a:ea typeface="Calibri" pitchFamily="34" charset="-122"/>
                <a:cs typeface="Calibri" pitchFamily="34" charset="-120"/>
              </a:rPr>
              <a:t>Selective edit</a:t>
            </a:r>
            <a:endParaRPr lang="en-US" sz="1200" dirty="0"/>
          </a:p>
        </p:txBody>
      </p:sp>
      <p:sp>
        <p:nvSpPr>
          <p:cNvPr id="35" name="Text 32"/>
          <p:cNvSpPr/>
          <p:nvPr/>
        </p:nvSpPr>
        <p:spPr>
          <a:xfrm>
            <a:off x="3246120" y="3730752"/>
            <a:ext cx="1463040" cy="274320"/>
          </a:xfrm>
          <a:prstGeom prst="rect">
            <a:avLst/>
          </a:prstGeom>
          <a:noFill/>
          <a:ln/>
        </p:spPr>
        <p:txBody>
          <a:bodyPr wrap="square" lIns="0" tIns="0" rIns="0" bIns="0" rtlCol="0" anchor="ctr"/>
          <a:lstStyle/>
          <a:p>
            <a:pPr marL="0" indent="0">
              <a:buNone/>
            </a:pPr>
            <a:r>
              <a:rPr lang="en-US" sz="1000" dirty="0">
                <a:solidFill>
                  <a:srgbClr val="94A3B8"/>
                </a:solidFill>
                <a:latin typeface="Calibri" pitchFamily="34" charset="0"/>
                <a:ea typeface="Calibri" pitchFamily="34" charset="-122"/>
                <a:cs typeface="Calibri" pitchFamily="34" charset="-120"/>
              </a:rPr>
              <a:t>programmatic state edits</a:t>
            </a:r>
            <a:endParaRPr lang="en-US" sz="1000" dirty="0"/>
          </a:p>
        </p:txBody>
      </p:sp>
      <p:sp>
        <p:nvSpPr>
          <p:cNvPr id="36" name="Shape 33"/>
          <p:cNvSpPr/>
          <p:nvPr/>
        </p:nvSpPr>
        <p:spPr>
          <a:xfrm>
            <a:off x="5029200" y="1691640"/>
            <a:ext cx="3657600" cy="2788920"/>
          </a:xfrm>
          <a:prstGeom prst="roundRect">
            <a:avLst>
              <a:gd name="adj" fmla="val 2623"/>
            </a:avLst>
          </a:prstGeom>
          <a:solidFill>
            <a:srgbClr val="11203A"/>
          </a:solidFill>
          <a:ln w="12700">
            <a:solidFill>
              <a:srgbClr val="1B2D4F"/>
            </a:solidFill>
            <a:prstDash val="solid"/>
          </a:ln>
          <a:effectLst>
            <a:outerShdw blurRad="101600" dist="25400" dir="8100000" algn="bl" rotWithShape="0">
              <a:srgbClr val="000000">
                <a:alpha val="25000"/>
              </a:srgbClr>
            </a:outerShdw>
          </a:effectLst>
        </p:spPr>
        <p:txBody>
          <a:bodyPr/>
          <a:lstStyle/>
          <a:p>
            <a:endParaRPr lang="en-GB"/>
          </a:p>
        </p:txBody>
      </p:sp>
      <p:sp>
        <p:nvSpPr>
          <p:cNvPr id="37" name="Shape 34"/>
          <p:cNvSpPr/>
          <p:nvPr/>
        </p:nvSpPr>
        <p:spPr>
          <a:xfrm>
            <a:off x="5029200" y="1691640"/>
            <a:ext cx="73152" cy="2788920"/>
          </a:xfrm>
          <a:prstGeom prst="rect">
            <a:avLst/>
          </a:prstGeom>
          <a:solidFill>
            <a:srgbClr val="F97316"/>
          </a:solidFill>
          <a:ln w="12700">
            <a:solidFill>
              <a:srgbClr val="F97316"/>
            </a:solidFill>
            <a:prstDash val="solid"/>
          </a:ln>
        </p:spPr>
        <p:txBody>
          <a:bodyPr/>
          <a:lstStyle/>
          <a:p>
            <a:endParaRPr lang="en-GB"/>
          </a:p>
        </p:txBody>
      </p:sp>
      <p:sp>
        <p:nvSpPr>
          <p:cNvPr id="38" name="Text 35"/>
          <p:cNvSpPr/>
          <p:nvPr/>
        </p:nvSpPr>
        <p:spPr>
          <a:xfrm>
            <a:off x="5303520" y="1920240"/>
            <a:ext cx="3200400" cy="502920"/>
          </a:xfrm>
          <a:prstGeom prst="rect">
            <a:avLst/>
          </a:prstGeom>
          <a:noFill/>
          <a:ln/>
        </p:spPr>
        <p:txBody>
          <a:bodyPr wrap="square" lIns="0" tIns="0" rIns="0" bIns="0" rtlCol="0" anchor="ctr"/>
          <a:lstStyle/>
          <a:p>
            <a:pPr marL="0" indent="0">
              <a:buNone/>
            </a:pPr>
            <a:r>
              <a:rPr lang="en-US" sz="2000" b="1" dirty="0">
                <a:solidFill>
                  <a:srgbClr val="F8FAFC"/>
                </a:solidFill>
                <a:latin typeface="Calibri" pitchFamily="34" charset="0"/>
                <a:ea typeface="Calibri" pitchFamily="34" charset="-122"/>
                <a:cs typeface="Calibri" pitchFamily="34" charset="-120"/>
              </a:rPr>
              <a:t>Bad context = bad agent</a:t>
            </a:r>
            <a:endParaRPr lang="en-US" sz="2000" dirty="0"/>
          </a:p>
        </p:txBody>
      </p:sp>
      <p:sp>
        <p:nvSpPr>
          <p:cNvPr id="39" name="Text 36"/>
          <p:cNvSpPr/>
          <p:nvPr/>
        </p:nvSpPr>
        <p:spPr>
          <a:xfrm>
            <a:off x="5303520" y="2514600"/>
            <a:ext cx="3200400" cy="1828800"/>
          </a:xfrm>
          <a:prstGeom prst="rect">
            <a:avLst/>
          </a:prstGeom>
          <a:noFill/>
          <a:ln/>
        </p:spPr>
        <p:txBody>
          <a:bodyPr wrap="square" lIns="0" tIns="0" rIns="0" bIns="0" rtlCol="0" anchor="ctr"/>
          <a:lstStyle/>
          <a:p>
            <a:pPr marL="342900" indent="-342900">
              <a:spcAft>
                <a:spcPts val="600"/>
              </a:spcAft>
              <a:buSzPct val="100000"/>
              <a:buChar char="•"/>
            </a:pPr>
            <a:r>
              <a:rPr lang="en-US" sz="1200" dirty="0">
                <a:solidFill>
                  <a:srgbClr val="F8FAFC"/>
                </a:solidFill>
                <a:latin typeface="Calibri" pitchFamily="34" charset="0"/>
                <a:ea typeface="Calibri" pitchFamily="34" charset="-122"/>
                <a:cs typeface="Calibri" pitchFamily="34" charset="-120"/>
              </a:rPr>
              <a:t>Context is finite — manage it.</a:t>
            </a:r>
            <a:endParaRPr lang="en-US" sz="1200" dirty="0"/>
          </a:p>
          <a:p>
            <a:pPr marL="342900" indent="-342900">
              <a:spcAft>
                <a:spcPts val="600"/>
              </a:spcAft>
              <a:buSzPct val="100000"/>
              <a:buChar char="•"/>
            </a:pPr>
            <a:r>
              <a:rPr lang="en-US" sz="1200" dirty="0">
                <a:solidFill>
                  <a:srgbClr val="F8FAFC"/>
                </a:solidFill>
                <a:latin typeface="Calibri" pitchFamily="34" charset="0"/>
                <a:ea typeface="Calibri" pitchFamily="34" charset="-122"/>
                <a:cs typeface="Calibri" pitchFamily="34" charset="-120"/>
              </a:rPr>
              <a:t>LangGraph/LangChain expose primitives.</a:t>
            </a:r>
            <a:endParaRPr lang="en-US" sz="1200" dirty="0"/>
          </a:p>
          <a:p>
            <a:pPr marL="342900" indent="-342900">
              <a:spcAft>
                <a:spcPts val="600"/>
              </a:spcAft>
              <a:buSzPct val="100000"/>
              <a:buChar char="•"/>
            </a:pPr>
            <a:r>
              <a:rPr lang="en-US" sz="1200" dirty="0">
                <a:solidFill>
                  <a:srgbClr val="F8FAFC"/>
                </a:solidFill>
                <a:latin typeface="Calibri" pitchFamily="34" charset="0"/>
                <a:ea typeface="Calibri" pitchFamily="34" charset="-122"/>
                <a:cs typeface="Calibri" pitchFamily="34" charset="-120"/>
              </a:rPr>
              <a:t>Costs &amp; latency follow length.</a:t>
            </a:r>
            <a:endParaRPr lang="en-US" sz="1200" dirty="0"/>
          </a:p>
          <a:p>
            <a:pPr marL="342900" indent="-342900">
              <a:spcAft>
                <a:spcPts val="600"/>
              </a:spcAft>
              <a:buSzPct val="100000"/>
              <a:buChar char="•"/>
            </a:pPr>
            <a:r>
              <a:rPr lang="en-US" sz="1200" dirty="0">
                <a:solidFill>
                  <a:srgbClr val="F8FAFC"/>
                </a:solidFill>
                <a:latin typeface="Calibri" pitchFamily="34" charset="0"/>
                <a:ea typeface="Calibri" pitchFamily="34" charset="-122"/>
                <a:cs typeface="Calibri" pitchFamily="34" charset="-120"/>
              </a:rPr>
              <a:t>Junior trap — leave it to the LLM.</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1628"/>
        </a:solidFill>
        <a:effectLst/>
      </p:bgPr>
    </p:bg>
    <p:spTree>
      <p:nvGrpSpPr>
        <p:cNvPr id="1" name=""/>
        <p:cNvGrpSpPr/>
        <p:nvPr/>
      </p:nvGrpSpPr>
      <p:grpSpPr>
        <a:xfrm>
          <a:off x="0" y="0"/>
          <a:ext cx="0" cy="0"/>
          <a:chOff x="0" y="0"/>
          <a:chExt cx="0" cy="0"/>
        </a:xfrm>
      </p:grpSpPr>
      <p:sp>
        <p:nvSpPr>
          <p:cNvPr id="3" name="Shape 0"/>
          <p:cNvSpPr/>
          <p:nvPr/>
        </p:nvSpPr>
        <p:spPr>
          <a:xfrm>
            <a:off x="457200" y="411480"/>
            <a:ext cx="320040" cy="54864"/>
          </a:xfrm>
          <a:prstGeom prst="rect">
            <a:avLst/>
          </a:prstGeom>
          <a:solidFill>
            <a:srgbClr val="F97316"/>
          </a:solidFill>
          <a:ln w="12700">
            <a:solidFill>
              <a:srgbClr val="F97316"/>
            </a:solidFill>
            <a:prstDash val="solid"/>
          </a:ln>
        </p:spPr>
        <p:txBody>
          <a:bodyPr/>
          <a:lstStyle/>
          <a:p>
            <a:endParaRPr lang="en-GB"/>
          </a:p>
        </p:txBody>
      </p:sp>
      <p:sp>
        <p:nvSpPr>
          <p:cNvPr id="4" name="Text 1"/>
          <p:cNvSpPr/>
          <p:nvPr/>
        </p:nvSpPr>
        <p:spPr>
          <a:xfrm>
            <a:off x="868680" y="329184"/>
            <a:ext cx="5029200" cy="274320"/>
          </a:xfrm>
          <a:prstGeom prst="rect">
            <a:avLst/>
          </a:prstGeom>
          <a:noFill/>
          <a:ln/>
        </p:spPr>
        <p:txBody>
          <a:bodyPr wrap="square" lIns="0" tIns="0" rIns="0" bIns="0" rtlCol="0" anchor="ctr"/>
          <a:lstStyle/>
          <a:p>
            <a:pPr marL="0" indent="0">
              <a:buNone/>
            </a:pPr>
            <a:r>
              <a:rPr lang="en-US" sz="1000" b="1" kern="0" spc="400" dirty="0">
                <a:solidFill>
                  <a:srgbClr val="F97316"/>
                </a:solidFill>
                <a:latin typeface="Calibri" pitchFamily="34" charset="0"/>
                <a:ea typeface="Calibri" pitchFamily="34" charset="-122"/>
                <a:cs typeface="Calibri" pitchFamily="34" charset="-120"/>
              </a:rPr>
              <a:t>03 · BUILDING BLOCKS</a:t>
            </a:r>
            <a:endParaRPr lang="en-US" sz="1000" dirty="0"/>
          </a:p>
        </p:txBody>
      </p:sp>
      <p:sp>
        <p:nvSpPr>
          <p:cNvPr id="5" name="Text 2"/>
          <p:cNvSpPr/>
          <p:nvPr/>
        </p:nvSpPr>
        <p:spPr>
          <a:xfrm>
            <a:off x="457200" y="640080"/>
            <a:ext cx="8229600" cy="822960"/>
          </a:xfrm>
          <a:prstGeom prst="rect">
            <a:avLst/>
          </a:prstGeom>
          <a:noFill/>
          <a:ln/>
        </p:spPr>
        <p:txBody>
          <a:bodyPr wrap="square" lIns="0" tIns="0" rIns="0" bIns="0" rtlCol="0" anchor="ctr"/>
          <a:lstStyle/>
          <a:p>
            <a:pPr marL="0" indent="0">
              <a:buNone/>
            </a:pPr>
            <a:r>
              <a:rPr lang="en-US" sz="3200" b="1" dirty="0">
                <a:solidFill>
                  <a:srgbClr val="F8FAFC"/>
                </a:solidFill>
                <a:latin typeface="Calibri" pitchFamily="34" charset="0"/>
                <a:ea typeface="Calibri" pitchFamily="34" charset="-122"/>
                <a:cs typeface="Calibri" pitchFamily="34" charset="-120"/>
              </a:rPr>
              <a:t>Problem #2 — the LLM doesn't know your stuff</a:t>
            </a:r>
            <a:endParaRPr lang="en-US" sz="3200" dirty="0"/>
          </a:p>
        </p:txBody>
      </p:sp>
      <p:sp>
        <p:nvSpPr>
          <p:cNvPr id="6" name="Text 3"/>
          <p:cNvSpPr/>
          <p:nvPr/>
        </p:nvSpPr>
        <p:spPr>
          <a:xfrm>
            <a:off x="457200" y="4754880"/>
            <a:ext cx="4572000" cy="228600"/>
          </a:xfrm>
          <a:prstGeom prst="rect">
            <a:avLst/>
          </a:prstGeom>
          <a:noFill/>
          <a:ln/>
        </p:spPr>
        <p:txBody>
          <a:bodyPr wrap="square" lIns="0" tIns="0" rIns="0" bIns="0" rtlCol="0" anchor="ctr"/>
          <a:lstStyle/>
          <a:p>
            <a:pPr marL="0" indent="0">
              <a:buNone/>
            </a:pPr>
            <a:endParaRPr lang="en-US" sz="900" dirty="0"/>
          </a:p>
        </p:txBody>
      </p:sp>
      <p:sp>
        <p:nvSpPr>
          <p:cNvPr id="7" name="Shape 4"/>
          <p:cNvSpPr/>
          <p:nvPr/>
        </p:nvSpPr>
        <p:spPr>
          <a:xfrm>
            <a:off x="8275320" y="4818888"/>
            <a:ext cx="73152" cy="73152"/>
          </a:xfrm>
          <a:prstGeom prst="ellipse">
            <a:avLst/>
          </a:prstGeom>
          <a:solidFill>
            <a:srgbClr val="F97316"/>
          </a:solidFill>
          <a:ln w="12700">
            <a:solidFill>
              <a:srgbClr val="F97316"/>
            </a:solidFill>
            <a:prstDash val="solid"/>
          </a:ln>
        </p:spPr>
        <p:txBody>
          <a:bodyPr/>
          <a:lstStyle/>
          <a:p>
            <a:endParaRPr lang="en-GB"/>
          </a:p>
        </p:txBody>
      </p:sp>
      <p:sp>
        <p:nvSpPr>
          <p:cNvPr id="8" name="Text 5"/>
          <p:cNvSpPr/>
          <p:nvPr/>
        </p:nvSpPr>
        <p:spPr>
          <a:xfrm>
            <a:off x="8366760" y="4736592"/>
            <a:ext cx="685800" cy="228600"/>
          </a:xfrm>
          <a:prstGeom prst="rect">
            <a:avLst/>
          </a:prstGeom>
          <a:noFill/>
          <a:ln/>
        </p:spPr>
        <p:txBody>
          <a:bodyPr wrap="square" lIns="0" tIns="0" rIns="0" bIns="0" rtlCol="0" anchor="ctr"/>
          <a:lstStyle/>
          <a:p>
            <a:pPr marL="0" indent="0" algn="r">
              <a:buNone/>
            </a:pPr>
            <a:r>
              <a:rPr lang="en-US" sz="900" dirty="0">
                <a:solidFill>
                  <a:srgbClr val="94A3B8"/>
                </a:solidFill>
                <a:latin typeface="Calibri" pitchFamily="34" charset="0"/>
                <a:ea typeface="Calibri" pitchFamily="34" charset="-122"/>
                <a:cs typeface="Calibri" pitchFamily="34" charset="-120"/>
              </a:rPr>
              <a:t>11 / 21</a:t>
            </a:r>
            <a:endParaRPr lang="en-US" sz="900" dirty="0"/>
          </a:p>
        </p:txBody>
      </p:sp>
      <p:sp>
        <p:nvSpPr>
          <p:cNvPr id="9" name="Shape 6"/>
          <p:cNvSpPr/>
          <p:nvPr/>
        </p:nvSpPr>
        <p:spPr>
          <a:xfrm>
            <a:off x="365760" y="1463040"/>
            <a:ext cx="3291840" cy="3017520"/>
          </a:xfrm>
          <a:prstGeom prst="roundRect">
            <a:avLst>
              <a:gd name="adj" fmla="val 2424"/>
            </a:avLst>
          </a:prstGeom>
          <a:solidFill>
            <a:srgbClr val="11203A"/>
          </a:solidFill>
          <a:ln w="12700">
            <a:solidFill>
              <a:srgbClr val="1B2D4F"/>
            </a:solidFill>
            <a:prstDash val="solid"/>
          </a:ln>
          <a:effectLst>
            <a:outerShdw blurRad="101600" dist="25400" dir="8100000" algn="bl" rotWithShape="0">
              <a:srgbClr val="000000">
                <a:alpha val="25000"/>
              </a:srgbClr>
            </a:outerShdw>
          </a:effectLst>
        </p:spPr>
        <p:txBody>
          <a:bodyPr/>
          <a:lstStyle/>
          <a:p>
            <a:endParaRPr lang="en-GB"/>
          </a:p>
        </p:txBody>
      </p:sp>
      <p:sp>
        <p:nvSpPr>
          <p:cNvPr id="10" name="Shape 7"/>
          <p:cNvSpPr/>
          <p:nvPr/>
        </p:nvSpPr>
        <p:spPr>
          <a:xfrm>
            <a:off x="365760" y="1463040"/>
            <a:ext cx="3291840" cy="73152"/>
          </a:xfrm>
          <a:prstGeom prst="rect">
            <a:avLst/>
          </a:prstGeom>
          <a:solidFill>
            <a:srgbClr val="94A3B8"/>
          </a:solidFill>
          <a:ln w="12700">
            <a:solidFill>
              <a:srgbClr val="94A3B8"/>
            </a:solidFill>
            <a:prstDash val="solid"/>
          </a:ln>
        </p:spPr>
        <p:txBody>
          <a:bodyPr/>
          <a:lstStyle/>
          <a:p>
            <a:endParaRPr lang="en-GB"/>
          </a:p>
        </p:txBody>
      </p:sp>
      <p:sp>
        <p:nvSpPr>
          <p:cNvPr id="11" name="Text 8"/>
          <p:cNvSpPr/>
          <p:nvPr/>
        </p:nvSpPr>
        <p:spPr>
          <a:xfrm>
            <a:off x="548640" y="1627632"/>
            <a:ext cx="2926080" cy="274320"/>
          </a:xfrm>
          <a:prstGeom prst="rect">
            <a:avLst/>
          </a:prstGeom>
          <a:noFill/>
          <a:ln/>
        </p:spPr>
        <p:txBody>
          <a:bodyPr wrap="square" lIns="0" tIns="0" rIns="0" bIns="0" rtlCol="0" anchor="ctr"/>
          <a:lstStyle/>
          <a:p>
            <a:pPr marL="0" indent="0">
              <a:buNone/>
            </a:pPr>
            <a:r>
              <a:rPr lang="en-US" sz="1000" b="1" kern="0" spc="300" dirty="0">
                <a:solidFill>
                  <a:srgbClr val="94A3B8"/>
                </a:solidFill>
                <a:latin typeface="Calibri" pitchFamily="34" charset="0"/>
                <a:ea typeface="Calibri" pitchFamily="34" charset="-122"/>
                <a:cs typeface="Calibri" pitchFamily="34" charset="-120"/>
              </a:rPr>
              <a:t>ASK A BASIC LLM</a:t>
            </a:r>
            <a:endParaRPr lang="en-US" sz="1000" dirty="0"/>
          </a:p>
        </p:txBody>
      </p:sp>
      <p:sp>
        <p:nvSpPr>
          <p:cNvPr id="12" name="Shape 9"/>
          <p:cNvSpPr/>
          <p:nvPr/>
        </p:nvSpPr>
        <p:spPr>
          <a:xfrm>
            <a:off x="640080" y="2057400"/>
            <a:ext cx="2743200" cy="640080"/>
          </a:xfrm>
          <a:prstGeom prst="roundRect">
            <a:avLst>
              <a:gd name="adj" fmla="val 8571"/>
            </a:avLst>
          </a:prstGeom>
          <a:solidFill>
            <a:srgbClr val="0A1628"/>
          </a:solidFill>
          <a:ln w="12700">
            <a:solidFill>
              <a:srgbClr val="3B82F6"/>
            </a:solidFill>
            <a:prstDash val="solid"/>
          </a:ln>
        </p:spPr>
        <p:txBody>
          <a:bodyPr/>
          <a:lstStyle/>
          <a:p>
            <a:endParaRPr lang="en-GB"/>
          </a:p>
        </p:txBody>
      </p:sp>
      <p:sp>
        <p:nvSpPr>
          <p:cNvPr id="13" name="Text 10"/>
          <p:cNvSpPr/>
          <p:nvPr/>
        </p:nvSpPr>
        <p:spPr>
          <a:xfrm>
            <a:off x="731520" y="2057400"/>
            <a:ext cx="2560320" cy="640080"/>
          </a:xfrm>
          <a:prstGeom prst="rect">
            <a:avLst/>
          </a:prstGeom>
          <a:noFill/>
          <a:ln/>
        </p:spPr>
        <p:txBody>
          <a:bodyPr wrap="square" lIns="0" tIns="0" rIns="0" bIns="0" rtlCol="0" anchor="ctr"/>
          <a:lstStyle/>
          <a:p>
            <a:pPr marL="0" indent="0">
              <a:buNone/>
            </a:pPr>
            <a:r>
              <a:rPr lang="en-US" sz="1000" dirty="0">
                <a:solidFill>
                  <a:srgbClr val="F8FAFC"/>
                </a:solidFill>
                <a:latin typeface="Calibri" pitchFamily="34" charset="0"/>
                <a:ea typeface="Calibri" pitchFamily="34" charset="-122"/>
                <a:cs typeface="Calibri" pitchFamily="34" charset="-120"/>
              </a:rPr>
              <a:t>👤  “What's the refund policy in our 2024 contract with Vendor X?”</a:t>
            </a:r>
            <a:endParaRPr lang="en-US" sz="1000" dirty="0"/>
          </a:p>
        </p:txBody>
      </p:sp>
      <p:sp>
        <p:nvSpPr>
          <p:cNvPr id="14" name="Shape 11"/>
          <p:cNvSpPr/>
          <p:nvPr/>
        </p:nvSpPr>
        <p:spPr>
          <a:xfrm>
            <a:off x="1645920" y="2880360"/>
            <a:ext cx="731520" cy="731520"/>
          </a:xfrm>
          <a:prstGeom prst="ellipse">
            <a:avLst/>
          </a:prstGeom>
          <a:solidFill>
            <a:srgbClr val="1D4ED8"/>
          </a:solidFill>
          <a:ln w="25400">
            <a:solidFill>
              <a:srgbClr val="3B82F6"/>
            </a:solidFill>
            <a:prstDash val="solid"/>
          </a:ln>
        </p:spPr>
        <p:txBody>
          <a:bodyPr/>
          <a:lstStyle/>
          <a:p>
            <a:endParaRPr lang="en-GB"/>
          </a:p>
        </p:txBody>
      </p:sp>
      <p:sp>
        <p:nvSpPr>
          <p:cNvPr id="15" name="Text 12"/>
          <p:cNvSpPr/>
          <p:nvPr/>
        </p:nvSpPr>
        <p:spPr>
          <a:xfrm>
            <a:off x="1645920" y="2880360"/>
            <a:ext cx="731520" cy="731520"/>
          </a:xfrm>
          <a:prstGeom prst="rect">
            <a:avLst/>
          </a:prstGeom>
          <a:noFill/>
          <a:ln/>
        </p:spPr>
        <p:txBody>
          <a:bodyPr wrap="square" lIns="0" tIns="0" rIns="0" bIns="0" rtlCol="0" anchor="ctr"/>
          <a:lstStyle/>
          <a:p>
            <a:pPr marL="0" indent="0" algn="ctr">
              <a:buNone/>
            </a:pPr>
            <a:r>
              <a:rPr lang="en-US" sz="2600" dirty="0">
                <a:solidFill>
                  <a:srgbClr val="F8FAFC"/>
                </a:solidFill>
                <a:latin typeface="Calibri" pitchFamily="34" charset="0"/>
                <a:ea typeface="Calibri" pitchFamily="34" charset="-122"/>
                <a:cs typeface="Calibri" pitchFamily="34" charset="-120"/>
              </a:rPr>
              <a:t>🧠</a:t>
            </a:r>
            <a:endParaRPr lang="en-US" sz="2600" dirty="0"/>
          </a:p>
        </p:txBody>
      </p:sp>
      <p:sp>
        <p:nvSpPr>
          <p:cNvPr id="16" name="Shape 13"/>
          <p:cNvSpPr/>
          <p:nvPr/>
        </p:nvSpPr>
        <p:spPr>
          <a:xfrm>
            <a:off x="640080" y="3749040"/>
            <a:ext cx="2743200" cy="594360"/>
          </a:xfrm>
          <a:prstGeom prst="roundRect">
            <a:avLst>
              <a:gd name="adj" fmla="val 9231"/>
            </a:avLst>
          </a:prstGeom>
          <a:solidFill>
            <a:srgbClr val="0A1628"/>
          </a:solidFill>
          <a:ln w="12700">
            <a:solidFill>
              <a:srgbClr val="F97316"/>
            </a:solidFill>
            <a:prstDash val="solid"/>
          </a:ln>
        </p:spPr>
        <p:txBody>
          <a:bodyPr/>
          <a:lstStyle/>
          <a:p>
            <a:endParaRPr lang="en-GB"/>
          </a:p>
        </p:txBody>
      </p:sp>
      <p:sp>
        <p:nvSpPr>
          <p:cNvPr id="17" name="Text 14"/>
          <p:cNvSpPr/>
          <p:nvPr/>
        </p:nvSpPr>
        <p:spPr>
          <a:xfrm>
            <a:off x="731520" y="3749040"/>
            <a:ext cx="2560320" cy="594360"/>
          </a:xfrm>
          <a:prstGeom prst="rect">
            <a:avLst/>
          </a:prstGeom>
          <a:noFill/>
          <a:ln/>
        </p:spPr>
        <p:txBody>
          <a:bodyPr wrap="square" lIns="0" tIns="0" rIns="0" bIns="0" rtlCol="0" anchor="ctr"/>
          <a:lstStyle/>
          <a:p>
            <a:pPr marL="0" indent="0">
              <a:buNone/>
            </a:pPr>
            <a:r>
              <a:rPr lang="en-US" sz="1100" i="1" dirty="0">
                <a:solidFill>
                  <a:srgbClr val="F97316"/>
                </a:solidFill>
                <a:latin typeface="Calibri" pitchFamily="34" charset="0"/>
                <a:ea typeface="Calibri" pitchFamily="34" charset="-122"/>
                <a:cs typeface="Calibri" pitchFamily="34" charset="-120"/>
              </a:rPr>
              <a:t>🤖  “I don't have that information.”</a:t>
            </a:r>
            <a:endParaRPr lang="en-US" sz="1100" dirty="0"/>
          </a:p>
        </p:txBody>
      </p:sp>
      <p:sp>
        <p:nvSpPr>
          <p:cNvPr id="18" name="Text 15"/>
          <p:cNvSpPr/>
          <p:nvPr/>
        </p:nvSpPr>
        <p:spPr>
          <a:xfrm>
            <a:off x="3840480" y="1463040"/>
            <a:ext cx="4937760" cy="274320"/>
          </a:xfrm>
          <a:prstGeom prst="rect">
            <a:avLst/>
          </a:prstGeom>
          <a:noFill/>
          <a:ln/>
        </p:spPr>
        <p:txBody>
          <a:bodyPr wrap="square" lIns="0" tIns="0" rIns="0" bIns="0" rtlCol="0" anchor="ctr"/>
          <a:lstStyle/>
          <a:p>
            <a:pPr marL="0" indent="0">
              <a:buNone/>
            </a:pPr>
            <a:r>
              <a:rPr lang="en-US" sz="1000" b="1" kern="0" spc="400" dirty="0">
                <a:solidFill>
                  <a:srgbClr val="F97316"/>
                </a:solidFill>
                <a:latin typeface="Calibri" pitchFamily="34" charset="0"/>
                <a:ea typeface="Calibri" pitchFamily="34" charset="-122"/>
                <a:cs typeface="Calibri" pitchFamily="34" charset="-120"/>
              </a:rPr>
              <a:t>THREE REASONS YOU NEED RAG</a:t>
            </a:r>
            <a:endParaRPr lang="en-US" sz="1000" dirty="0"/>
          </a:p>
        </p:txBody>
      </p:sp>
      <p:sp>
        <p:nvSpPr>
          <p:cNvPr id="19" name="Shape 16"/>
          <p:cNvSpPr/>
          <p:nvPr/>
        </p:nvSpPr>
        <p:spPr>
          <a:xfrm>
            <a:off x="3840480" y="1828800"/>
            <a:ext cx="4937760" cy="822960"/>
          </a:xfrm>
          <a:prstGeom prst="roundRect">
            <a:avLst>
              <a:gd name="adj" fmla="val 6667"/>
            </a:avLst>
          </a:prstGeom>
          <a:solidFill>
            <a:srgbClr val="11203A"/>
          </a:solidFill>
          <a:ln w="19050">
            <a:solidFill>
              <a:srgbClr val="F97316"/>
            </a:solidFill>
            <a:prstDash val="solid"/>
          </a:ln>
          <a:effectLst>
            <a:outerShdw blurRad="101600" dist="25400" dir="8100000" algn="bl" rotWithShape="0">
              <a:srgbClr val="000000">
                <a:alpha val="25000"/>
              </a:srgbClr>
            </a:outerShdw>
          </a:effectLst>
        </p:spPr>
        <p:txBody>
          <a:bodyPr/>
          <a:lstStyle/>
          <a:p>
            <a:endParaRPr lang="en-GB"/>
          </a:p>
        </p:txBody>
      </p:sp>
      <p:sp>
        <p:nvSpPr>
          <p:cNvPr id="20" name="Shape 17"/>
          <p:cNvSpPr/>
          <p:nvPr/>
        </p:nvSpPr>
        <p:spPr>
          <a:xfrm>
            <a:off x="3840480" y="1828800"/>
            <a:ext cx="54864" cy="822960"/>
          </a:xfrm>
          <a:prstGeom prst="rect">
            <a:avLst/>
          </a:prstGeom>
          <a:solidFill>
            <a:srgbClr val="F97316"/>
          </a:solidFill>
          <a:ln w="12700">
            <a:solidFill>
              <a:srgbClr val="F97316"/>
            </a:solidFill>
            <a:prstDash val="solid"/>
          </a:ln>
        </p:spPr>
        <p:txBody>
          <a:bodyPr/>
          <a:lstStyle/>
          <a:p>
            <a:endParaRPr lang="en-GB"/>
          </a:p>
        </p:txBody>
      </p:sp>
      <p:sp>
        <p:nvSpPr>
          <p:cNvPr id="21" name="Shape 18"/>
          <p:cNvSpPr/>
          <p:nvPr/>
        </p:nvSpPr>
        <p:spPr>
          <a:xfrm>
            <a:off x="4023360" y="1993392"/>
            <a:ext cx="502920" cy="502920"/>
          </a:xfrm>
          <a:prstGeom prst="ellipse">
            <a:avLst/>
          </a:prstGeom>
          <a:solidFill>
            <a:srgbClr val="F97316"/>
          </a:solidFill>
          <a:ln w="12700">
            <a:solidFill>
              <a:srgbClr val="F97316"/>
            </a:solidFill>
            <a:prstDash val="solid"/>
          </a:ln>
        </p:spPr>
        <p:txBody>
          <a:bodyPr/>
          <a:lstStyle/>
          <a:p>
            <a:endParaRPr lang="en-GB"/>
          </a:p>
        </p:txBody>
      </p:sp>
      <p:sp>
        <p:nvSpPr>
          <p:cNvPr id="22" name="Text 19"/>
          <p:cNvSpPr/>
          <p:nvPr/>
        </p:nvSpPr>
        <p:spPr>
          <a:xfrm>
            <a:off x="4023360" y="1993392"/>
            <a:ext cx="502920" cy="502920"/>
          </a:xfrm>
          <a:prstGeom prst="rect">
            <a:avLst/>
          </a:prstGeom>
          <a:noFill/>
          <a:ln/>
        </p:spPr>
        <p:txBody>
          <a:bodyPr wrap="square" lIns="0" tIns="0" rIns="0" bIns="0" rtlCol="0" anchor="ctr"/>
          <a:lstStyle/>
          <a:p>
            <a:pPr marL="0" indent="0" algn="ctr">
              <a:buNone/>
            </a:pPr>
            <a:r>
              <a:rPr lang="en-US" sz="1600" b="1" dirty="0">
                <a:solidFill>
                  <a:srgbClr val="F8FAFC"/>
                </a:solidFill>
                <a:latin typeface="Calibri" pitchFamily="34" charset="0"/>
                <a:ea typeface="Calibri" pitchFamily="34" charset="-122"/>
                <a:cs typeface="Calibri" pitchFamily="34" charset="-120"/>
              </a:rPr>
              <a:t>📚</a:t>
            </a:r>
            <a:endParaRPr lang="en-US" sz="1600" dirty="0"/>
          </a:p>
        </p:txBody>
      </p:sp>
      <p:sp>
        <p:nvSpPr>
          <p:cNvPr id="23" name="Text 20"/>
          <p:cNvSpPr/>
          <p:nvPr/>
        </p:nvSpPr>
        <p:spPr>
          <a:xfrm>
            <a:off x="4709160" y="1920240"/>
            <a:ext cx="3931920" cy="320040"/>
          </a:xfrm>
          <a:prstGeom prst="rect">
            <a:avLst/>
          </a:prstGeom>
          <a:noFill/>
          <a:ln/>
        </p:spPr>
        <p:txBody>
          <a:bodyPr wrap="square" lIns="0" tIns="0" rIns="0" bIns="0" rtlCol="0" anchor="ctr"/>
          <a:lstStyle/>
          <a:p>
            <a:pPr marL="0" indent="0">
              <a:buNone/>
            </a:pPr>
            <a:r>
              <a:rPr lang="en-US" sz="1300" b="1" dirty="0">
                <a:solidFill>
                  <a:srgbClr val="F8FAFC"/>
                </a:solidFill>
                <a:latin typeface="Calibri" pitchFamily="34" charset="0"/>
                <a:ea typeface="Calibri" pitchFamily="34" charset="-122"/>
                <a:cs typeface="Calibri" pitchFamily="34" charset="-120"/>
              </a:rPr>
              <a:t>Big private documentation</a:t>
            </a:r>
            <a:endParaRPr lang="en-US" sz="1300" dirty="0"/>
          </a:p>
        </p:txBody>
      </p:sp>
      <p:sp>
        <p:nvSpPr>
          <p:cNvPr id="24" name="Text 21"/>
          <p:cNvSpPr/>
          <p:nvPr/>
        </p:nvSpPr>
        <p:spPr>
          <a:xfrm>
            <a:off x="4709160" y="2212848"/>
            <a:ext cx="3931920" cy="457200"/>
          </a:xfrm>
          <a:prstGeom prst="rect">
            <a:avLst/>
          </a:prstGeom>
          <a:noFill/>
          <a:ln/>
        </p:spPr>
        <p:txBody>
          <a:bodyPr wrap="square" lIns="0" tIns="0" rIns="0" bIns="0" rtlCol="0" anchor="ctr"/>
          <a:lstStyle/>
          <a:p>
            <a:pPr marL="0" indent="0">
              <a:buNone/>
            </a:pPr>
            <a:r>
              <a:rPr lang="en-US" sz="1050" dirty="0">
                <a:solidFill>
                  <a:srgbClr val="94A3B8"/>
                </a:solidFill>
                <a:latin typeface="Calibri" pitchFamily="34" charset="0"/>
                <a:ea typeface="Calibri" pitchFamily="34" charset="-122"/>
                <a:cs typeface="Calibri" pitchFamily="34" charset="-120"/>
              </a:rPr>
              <a:t>Hundreds of pages of internal wikis, PDFs, contracts, support tickets — way too much to fit in any prompt.</a:t>
            </a:r>
            <a:endParaRPr lang="en-US" sz="1050" dirty="0"/>
          </a:p>
        </p:txBody>
      </p:sp>
      <p:sp>
        <p:nvSpPr>
          <p:cNvPr id="25" name="Shape 22"/>
          <p:cNvSpPr/>
          <p:nvPr/>
        </p:nvSpPr>
        <p:spPr>
          <a:xfrm>
            <a:off x="3840480" y="2743200"/>
            <a:ext cx="4937760" cy="822960"/>
          </a:xfrm>
          <a:prstGeom prst="roundRect">
            <a:avLst>
              <a:gd name="adj" fmla="val 6667"/>
            </a:avLst>
          </a:prstGeom>
          <a:solidFill>
            <a:srgbClr val="11203A"/>
          </a:solidFill>
          <a:ln w="19050">
            <a:solidFill>
              <a:srgbClr val="F97316"/>
            </a:solidFill>
            <a:prstDash val="solid"/>
          </a:ln>
          <a:effectLst>
            <a:outerShdw blurRad="101600" dist="25400" dir="8100000" algn="bl" rotWithShape="0">
              <a:srgbClr val="000000">
                <a:alpha val="25000"/>
              </a:srgbClr>
            </a:outerShdw>
          </a:effectLst>
        </p:spPr>
        <p:txBody>
          <a:bodyPr/>
          <a:lstStyle/>
          <a:p>
            <a:endParaRPr lang="en-GB"/>
          </a:p>
        </p:txBody>
      </p:sp>
      <p:sp>
        <p:nvSpPr>
          <p:cNvPr id="26" name="Shape 23"/>
          <p:cNvSpPr/>
          <p:nvPr/>
        </p:nvSpPr>
        <p:spPr>
          <a:xfrm>
            <a:off x="3840480" y="2743200"/>
            <a:ext cx="54864" cy="822960"/>
          </a:xfrm>
          <a:prstGeom prst="rect">
            <a:avLst/>
          </a:prstGeom>
          <a:solidFill>
            <a:srgbClr val="F97316"/>
          </a:solidFill>
          <a:ln w="12700">
            <a:solidFill>
              <a:srgbClr val="F97316"/>
            </a:solidFill>
            <a:prstDash val="solid"/>
          </a:ln>
        </p:spPr>
        <p:txBody>
          <a:bodyPr/>
          <a:lstStyle/>
          <a:p>
            <a:endParaRPr lang="en-GB"/>
          </a:p>
        </p:txBody>
      </p:sp>
      <p:sp>
        <p:nvSpPr>
          <p:cNvPr id="27" name="Shape 24"/>
          <p:cNvSpPr/>
          <p:nvPr/>
        </p:nvSpPr>
        <p:spPr>
          <a:xfrm>
            <a:off x="4023360" y="2907792"/>
            <a:ext cx="502920" cy="502920"/>
          </a:xfrm>
          <a:prstGeom prst="ellipse">
            <a:avLst/>
          </a:prstGeom>
          <a:solidFill>
            <a:srgbClr val="F97316"/>
          </a:solidFill>
          <a:ln w="12700">
            <a:solidFill>
              <a:srgbClr val="F97316"/>
            </a:solidFill>
            <a:prstDash val="solid"/>
          </a:ln>
        </p:spPr>
        <p:txBody>
          <a:bodyPr/>
          <a:lstStyle/>
          <a:p>
            <a:endParaRPr lang="en-GB"/>
          </a:p>
        </p:txBody>
      </p:sp>
      <p:sp>
        <p:nvSpPr>
          <p:cNvPr id="28" name="Text 25"/>
          <p:cNvSpPr/>
          <p:nvPr/>
        </p:nvSpPr>
        <p:spPr>
          <a:xfrm>
            <a:off x="4023360" y="2907792"/>
            <a:ext cx="502920" cy="502920"/>
          </a:xfrm>
          <a:prstGeom prst="rect">
            <a:avLst/>
          </a:prstGeom>
          <a:noFill/>
          <a:ln/>
        </p:spPr>
        <p:txBody>
          <a:bodyPr wrap="square" lIns="0" tIns="0" rIns="0" bIns="0" rtlCol="0" anchor="ctr"/>
          <a:lstStyle/>
          <a:p>
            <a:pPr marL="0" indent="0" algn="ctr">
              <a:buNone/>
            </a:pPr>
            <a:r>
              <a:rPr lang="en-US" sz="1600" b="1" dirty="0">
                <a:solidFill>
                  <a:srgbClr val="F8FAFC"/>
                </a:solidFill>
                <a:latin typeface="Calibri" pitchFamily="34" charset="0"/>
                <a:ea typeface="Calibri" pitchFamily="34" charset="-122"/>
                <a:cs typeface="Calibri" pitchFamily="34" charset="-120"/>
              </a:rPr>
              <a:t>🔒</a:t>
            </a:r>
            <a:endParaRPr lang="en-US" sz="1600" dirty="0"/>
          </a:p>
        </p:txBody>
      </p:sp>
      <p:sp>
        <p:nvSpPr>
          <p:cNvPr id="29" name="Text 26"/>
          <p:cNvSpPr/>
          <p:nvPr/>
        </p:nvSpPr>
        <p:spPr>
          <a:xfrm>
            <a:off x="4709160" y="2834640"/>
            <a:ext cx="3931920" cy="320040"/>
          </a:xfrm>
          <a:prstGeom prst="rect">
            <a:avLst/>
          </a:prstGeom>
          <a:noFill/>
          <a:ln/>
        </p:spPr>
        <p:txBody>
          <a:bodyPr wrap="square" lIns="0" tIns="0" rIns="0" bIns="0" rtlCol="0" anchor="ctr"/>
          <a:lstStyle/>
          <a:p>
            <a:pPr marL="0" indent="0">
              <a:buNone/>
            </a:pPr>
            <a:r>
              <a:rPr lang="en-US" sz="1300" b="1" dirty="0">
                <a:solidFill>
                  <a:srgbClr val="F8FAFC"/>
                </a:solidFill>
                <a:latin typeface="Calibri" pitchFamily="34" charset="0"/>
                <a:ea typeface="Calibri" pitchFamily="34" charset="-122"/>
                <a:cs typeface="Calibri" pitchFamily="34" charset="-120"/>
              </a:rPr>
              <a:t>Security &amp; offline data</a:t>
            </a:r>
            <a:endParaRPr lang="en-US" sz="1300" dirty="0"/>
          </a:p>
        </p:txBody>
      </p:sp>
      <p:sp>
        <p:nvSpPr>
          <p:cNvPr id="30" name="Text 27"/>
          <p:cNvSpPr/>
          <p:nvPr/>
        </p:nvSpPr>
        <p:spPr>
          <a:xfrm>
            <a:off x="4709160" y="3127248"/>
            <a:ext cx="3931920" cy="457200"/>
          </a:xfrm>
          <a:prstGeom prst="rect">
            <a:avLst/>
          </a:prstGeom>
          <a:noFill/>
          <a:ln/>
        </p:spPr>
        <p:txBody>
          <a:bodyPr wrap="square" lIns="0" tIns="0" rIns="0" bIns="0" rtlCol="0" anchor="ctr"/>
          <a:lstStyle/>
          <a:p>
            <a:pPr marL="0" indent="0">
              <a:buNone/>
            </a:pPr>
            <a:r>
              <a:rPr lang="en-US" sz="1050" dirty="0">
                <a:solidFill>
                  <a:srgbClr val="94A3B8"/>
                </a:solidFill>
                <a:latin typeface="Calibri" pitchFamily="34" charset="0"/>
                <a:ea typeface="Calibri" pitchFamily="34" charset="-122"/>
                <a:cs typeface="Calibri" pitchFamily="34" charset="-120"/>
              </a:rPr>
              <a:t>Confidential data can't be shipped to a public API. Many clients run fully offline or behind a firewall.</a:t>
            </a:r>
            <a:endParaRPr lang="en-US" sz="1050" dirty="0"/>
          </a:p>
        </p:txBody>
      </p:sp>
      <p:sp>
        <p:nvSpPr>
          <p:cNvPr id="31" name="Shape 28"/>
          <p:cNvSpPr/>
          <p:nvPr/>
        </p:nvSpPr>
        <p:spPr>
          <a:xfrm>
            <a:off x="3840480" y="3657600"/>
            <a:ext cx="4937760" cy="822960"/>
          </a:xfrm>
          <a:prstGeom prst="roundRect">
            <a:avLst>
              <a:gd name="adj" fmla="val 6667"/>
            </a:avLst>
          </a:prstGeom>
          <a:solidFill>
            <a:srgbClr val="11203A"/>
          </a:solidFill>
          <a:ln w="19050">
            <a:solidFill>
              <a:srgbClr val="F97316"/>
            </a:solidFill>
            <a:prstDash val="solid"/>
          </a:ln>
          <a:effectLst>
            <a:outerShdw blurRad="101600" dist="25400" dir="8100000" algn="bl" rotWithShape="0">
              <a:srgbClr val="000000">
                <a:alpha val="25000"/>
              </a:srgbClr>
            </a:outerShdw>
          </a:effectLst>
        </p:spPr>
        <p:txBody>
          <a:bodyPr/>
          <a:lstStyle/>
          <a:p>
            <a:endParaRPr lang="en-GB"/>
          </a:p>
        </p:txBody>
      </p:sp>
      <p:sp>
        <p:nvSpPr>
          <p:cNvPr id="32" name="Shape 29"/>
          <p:cNvSpPr/>
          <p:nvPr/>
        </p:nvSpPr>
        <p:spPr>
          <a:xfrm>
            <a:off x="3840480" y="3657600"/>
            <a:ext cx="54864" cy="822960"/>
          </a:xfrm>
          <a:prstGeom prst="rect">
            <a:avLst/>
          </a:prstGeom>
          <a:solidFill>
            <a:srgbClr val="F97316"/>
          </a:solidFill>
          <a:ln w="12700">
            <a:solidFill>
              <a:srgbClr val="F97316"/>
            </a:solidFill>
            <a:prstDash val="solid"/>
          </a:ln>
        </p:spPr>
        <p:txBody>
          <a:bodyPr/>
          <a:lstStyle/>
          <a:p>
            <a:endParaRPr lang="en-GB"/>
          </a:p>
        </p:txBody>
      </p:sp>
      <p:sp>
        <p:nvSpPr>
          <p:cNvPr id="33" name="Shape 30"/>
          <p:cNvSpPr/>
          <p:nvPr/>
        </p:nvSpPr>
        <p:spPr>
          <a:xfrm>
            <a:off x="4023360" y="3822192"/>
            <a:ext cx="502920" cy="502920"/>
          </a:xfrm>
          <a:prstGeom prst="ellipse">
            <a:avLst/>
          </a:prstGeom>
          <a:solidFill>
            <a:srgbClr val="F97316"/>
          </a:solidFill>
          <a:ln w="12700">
            <a:solidFill>
              <a:srgbClr val="F97316"/>
            </a:solidFill>
            <a:prstDash val="solid"/>
          </a:ln>
        </p:spPr>
        <p:txBody>
          <a:bodyPr/>
          <a:lstStyle/>
          <a:p>
            <a:endParaRPr lang="en-GB"/>
          </a:p>
        </p:txBody>
      </p:sp>
      <p:sp>
        <p:nvSpPr>
          <p:cNvPr id="34" name="Text 31"/>
          <p:cNvSpPr/>
          <p:nvPr/>
        </p:nvSpPr>
        <p:spPr>
          <a:xfrm>
            <a:off x="4023360" y="3822192"/>
            <a:ext cx="502920" cy="502920"/>
          </a:xfrm>
          <a:prstGeom prst="rect">
            <a:avLst/>
          </a:prstGeom>
          <a:noFill/>
          <a:ln/>
        </p:spPr>
        <p:txBody>
          <a:bodyPr wrap="square" lIns="0" tIns="0" rIns="0" bIns="0" rtlCol="0" anchor="ctr"/>
          <a:lstStyle/>
          <a:p>
            <a:pPr marL="0" indent="0" algn="ctr">
              <a:buNone/>
            </a:pPr>
            <a:r>
              <a:rPr lang="en-US" sz="1600" b="1" dirty="0">
                <a:solidFill>
                  <a:srgbClr val="F8FAFC"/>
                </a:solidFill>
                <a:latin typeface="Calibri" pitchFamily="34" charset="0"/>
                <a:ea typeface="Calibri" pitchFamily="34" charset="-122"/>
                <a:cs typeface="Calibri" pitchFamily="34" charset="-120"/>
              </a:rPr>
              <a:t>🎯</a:t>
            </a:r>
            <a:endParaRPr lang="en-US" sz="1600" dirty="0"/>
          </a:p>
        </p:txBody>
      </p:sp>
      <p:sp>
        <p:nvSpPr>
          <p:cNvPr id="35" name="Text 32"/>
          <p:cNvSpPr/>
          <p:nvPr/>
        </p:nvSpPr>
        <p:spPr>
          <a:xfrm>
            <a:off x="4709160" y="3749040"/>
            <a:ext cx="3931920" cy="320040"/>
          </a:xfrm>
          <a:prstGeom prst="rect">
            <a:avLst/>
          </a:prstGeom>
          <a:noFill/>
          <a:ln/>
        </p:spPr>
        <p:txBody>
          <a:bodyPr wrap="square" lIns="0" tIns="0" rIns="0" bIns="0" rtlCol="0" anchor="ctr"/>
          <a:lstStyle/>
          <a:p>
            <a:pPr marL="0" indent="0">
              <a:buNone/>
            </a:pPr>
            <a:r>
              <a:rPr lang="en-US" sz="1300" b="1" dirty="0">
                <a:solidFill>
                  <a:srgbClr val="F8FAFC"/>
                </a:solidFill>
                <a:latin typeface="Calibri" pitchFamily="34" charset="0"/>
                <a:ea typeface="Calibri" pitchFamily="34" charset="-122"/>
                <a:cs typeface="Calibri" pitchFamily="34" charset="-120"/>
              </a:rPr>
              <a:t>Grounded, verifiable answers</a:t>
            </a:r>
            <a:endParaRPr lang="en-US" sz="1300" dirty="0"/>
          </a:p>
        </p:txBody>
      </p:sp>
      <p:sp>
        <p:nvSpPr>
          <p:cNvPr id="36" name="Text 33"/>
          <p:cNvSpPr/>
          <p:nvPr/>
        </p:nvSpPr>
        <p:spPr>
          <a:xfrm>
            <a:off x="4709160" y="4041648"/>
            <a:ext cx="3931920" cy="457200"/>
          </a:xfrm>
          <a:prstGeom prst="rect">
            <a:avLst/>
          </a:prstGeom>
          <a:noFill/>
          <a:ln/>
        </p:spPr>
        <p:txBody>
          <a:bodyPr wrap="square" lIns="0" tIns="0" rIns="0" bIns="0" rtlCol="0" anchor="ctr"/>
          <a:lstStyle/>
          <a:p>
            <a:pPr marL="0" indent="0">
              <a:buNone/>
            </a:pPr>
            <a:r>
              <a:rPr lang="en-US" sz="1050" dirty="0">
                <a:solidFill>
                  <a:srgbClr val="94A3B8"/>
                </a:solidFill>
                <a:latin typeface="Calibri" pitchFamily="34" charset="0"/>
                <a:ea typeface="Calibri" pitchFamily="34" charset="-122"/>
                <a:cs typeface="Calibri" pitchFamily="34" charset="-120"/>
              </a:rPr>
              <a:t>You need a citable source — for audit, for compliance, to fight hallucinations.</a:t>
            </a:r>
            <a:endParaRPr lang="en-US" sz="1050" dirty="0"/>
          </a:p>
        </p:txBody>
      </p:sp>
      <p:sp>
        <p:nvSpPr>
          <p:cNvPr id="37" name="Text 34"/>
          <p:cNvSpPr/>
          <p:nvPr/>
        </p:nvSpPr>
        <p:spPr>
          <a:xfrm>
            <a:off x="365760" y="4572000"/>
            <a:ext cx="8412480" cy="274320"/>
          </a:xfrm>
          <a:prstGeom prst="rect">
            <a:avLst/>
          </a:prstGeom>
          <a:noFill/>
          <a:ln/>
        </p:spPr>
        <p:txBody>
          <a:bodyPr wrap="square" lIns="0" tIns="0" rIns="0" bIns="0" rtlCol="0" anchor="ctr"/>
          <a:lstStyle/>
          <a:p>
            <a:pPr marL="0" indent="0" algn="ctr">
              <a:buNone/>
            </a:pPr>
            <a:r>
              <a:rPr lang="en-US" sz="1100" b="1" i="1" dirty="0">
                <a:solidFill>
                  <a:srgbClr val="3B82F6"/>
                </a:solidFill>
                <a:latin typeface="Calibri" pitchFamily="34" charset="0"/>
                <a:ea typeface="Calibri" pitchFamily="34" charset="-122"/>
                <a:cs typeface="Calibri" pitchFamily="34" charset="-120"/>
              </a:rPr>
              <a:t>→ RAG retrieves the right chunk of the right document at query time.</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1628"/>
        </a:solidFill>
        <a:effectLst/>
      </p:bgPr>
    </p:bg>
    <p:spTree>
      <p:nvGrpSpPr>
        <p:cNvPr id="1" name=""/>
        <p:cNvGrpSpPr/>
        <p:nvPr/>
      </p:nvGrpSpPr>
      <p:grpSpPr>
        <a:xfrm>
          <a:off x="0" y="0"/>
          <a:ext cx="0" cy="0"/>
          <a:chOff x="0" y="0"/>
          <a:chExt cx="0" cy="0"/>
        </a:xfrm>
      </p:grpSpPr>
      <p:sp>
        <p:nvSpPr>
          <p:cNvPr id="3" name="Shape 0"/>
          <p:cNvSpPr/>
          <p:nvPr/>
        </p:nvSpPr>
        <p:spPr>
          <a:xfrm>
            <a:off x="457200" y="411480"/>
            <a:ext cx="320040" cy="54864"/>
          </a:xfrm>
          <a:prstGeom prst="rect">
            <a:avLst/>
          </a:prstGeom>
          <a:solidFill>
            <a:srgbClr val="F97316"/>
          </a:solidFill>
          <a:ln w="12700">
            <a:solidFill>
              <a:srgbClr val="F97316"/>
            </a:solidFill>
            <a:prstDash val="solid"/>
          </a:ln>
        </p:spPr>
        <p:txBody>
          <a:bodyPr/>
          <a:lstStyle/>
          <a:p>
            <a:endParaRPr lang="en-GB"/>
          </a:p>
        </p:txBody>
      </p:sp>
      <p:sp>
        <p:nvSpPr>
          <p:cNvPr id="4" name="Text 1"/>
          <p:cNvSpPr/>
          <p:nvPr/>
        </p:nvSpPr>
        <p:spPr>
          <a:xfrm>
            <a:off x="868680" y="329184"/>
            <a:ext cx="5029200" cy="274320"/>
          </a:xfrm>
          <a:prstGeom prst="rect">
            <a:avLst/>
          </a:prstGeom>
          <a:noFill/>
          <a:ln/>
        </p:spPr>
        <p:txBody>
          <a:bodyPr wrap="square" lIns="0" tIns="0" rIns="0" bIns="0" rtlCol="0" anchor="ctr"/>
          <a:lstStyle/>
          <a:p>
            <a:pPr marL="0" indent="0">
              <a:buNone/>
            </a:pPr>
            <a:r>
              <a:rPr lang="en-US" sz="1000" b="1" kern="0" spc="400" dirty="0">
                <a:solidFill>
                  <a:srgbClr val="F97316"/>
                </a:solidFill>
                <a:latin typeface="Calibri" pitchFamily="34" charset="0"/>
                <a:ea typeface="Calibri" pitchFamily="34" charset="-122"/>
                <a:cs typeface="Calibri" pitchFamily="34" charset="-120"/>
              </a:rPr>
              <a:t>03 · BUILDING BLOCKS</a:t>
            </a:r>
            <a:endParaRPr lang="en-US" sz="1000" dirty="0"/>
          </a:p>
        </p:txBody>
      </p:sp>
      <p:sp>
        <p:nvSpPr>
          <p:cNvPr id="5" name="Text 2"/>
          <p:cNvSpPr/>
          <p:nvPr/>
        </p:nvSpPr>
        <p:spPr>
          <a:xfrm>
            <a:off x="457200" y="640080"/>
            <a:ext cx="8229600" cy="822960"/>
          </a:xfrm>
          <a:prstGeom prst="rect">
            <a:avLst/>
          </a:prstGeom>
          <a:noFill/>
          <a:ln/>
        </p:spPr>
        <p:txBody>
          <a:bodyPr wrap="square" lIns="0" tIns="0" rIns="0" bIns="0" rtlCol="0" anchor="ctr"/>
          <a:lstStyle/>
          <a:p>
            <a:pPr marL="0" indent="0">
              <a:buNone/>
            </a:pPr>
            <a:r>
              <a:rPr lang="en-US" sz="3200" b="1" dirty="0">
                <a:solidFill>
                  <a:srgbClr val="F8FAFC"/>
                </a:solidFill>
                <a:latin typeface="Calibri" pitchFamily="34" charset="0"/>
                <a:ea typeface="Calibri" pitchFamily="34" charset="-122"/>
                <a:cs typeface="Calibri" pitchFamily="34" charset="-120"/>
              </a:rPr>
              <a:t>RAG architecture</a:t>
            </a:r>
            <a:endParaRPr lang="en-US" sz="3200" dirty="0"/>
          </a:p>
        </p:txBody>
      </p:sp>
      <p:sp>
        <p:nvSpPr>
          <p:cNvPr id="6" name="Text 3"/>
          <p:cNvSpPr/>
          <p:nvPr/>
        </p:nvSpPr>
        <p:spPr>
          <a:xfrm>
            <a:off x="457200" y="4754880"/>
            <a:ext cx="4572000" cy="228600"/>
          </a:xfrm>
          <a:prstGeom prst="rect">
            <a:avLst/>
          </a:prstGeom>
          <a:noFill/>
          <a:ln/>
        </p:spPr>
        <p:txBody>
          <a:bodyPr wrap="square" lIns="0" tIns="0" rIns="0" bIns="0" rtlCol="0" anchor="ctr"/>
          <a:lstStyle/>
          <a:p>
            <a:pPr marL="0" indent="0">
              <a:buNone/>
            </a:pPr>
            <a:endParaRPr lang="en-US" sz="900" dirty="0"/>
          </a:p>
        </p:txBody>
      </p:sp>
      <p:sp>
        <p:nvSpPr>
          <p:cNvPr id="7" name="Shape 4"/>
          <p:cNvSpPr/>
          <p:nvPr/>
        </p:nvSpPr>
        <p:spPr>
          <a:xfrm>
            <a:off x="8275320" y="4818888"/>
            <a:ext cx="73152" cy="73152"/>
          </a:xfrm>
          <a:prstGeom prst="ellipse">
            <a:avLst/>
          </a:prstGeom>
          <a:solidFill>
            <a:srgbClr val="F97316"/>
          </a:solidFill>
          <a:ln w="12700">
            <a:solidFill>
              <a:srgbClr val="F97316"/>
            </a:solidFill>
            <a:prstDash val="solid"/>
          </a:ln>
        </p:spPr>
        <p:txBody>
          <a:bodyPr/>
          <a:lstStyle/>
          <a:p>
            <a:endParaRPr lang="en-GB"/>
          </a:p>
        </p:txBody>
      </p:sp>
      <p:sp>
        <p:nvSpPr>
          <p:cNvPr id="9" name="Shape 6"/>
          <p:cNvSpPr/>
          <p:nvPr/>
        </p:nvSpPr>
        <p:spPr>
          <a:xfrm>
            <a:off x="274320" y="1463040"/>
            <a:ext cx="8595360" cy="1325880"/>
          </a:xfrm>
          <a:prstGeom prst="roundRect">
            <a:avLst>
              <a:gd name="adj" fmla="val 4138"/>
            </a:avLst>
          </a:prstGeom>
          <a:solidFill>
            <a:srgbClr val="0B1A30"/>
          </a:solidFill>
          <a:ln w="12700">
            <a:solidFill>
              <a:srgbClr val="1E3A5F"/>
            </a:solidFill>
            <a:prstDash val="dash"/>
          </a:ln>
        </p:spPr>
        <p:txBody>
          <a:bodyPr/>
          <a:lstStyle/>
          <a:p>
            <a:endParaRPr lang="en-GB"/>
          </a:p>
        </p:txBody>
      </p:sp>
      <p:sp>
        <p:nvSpPr>
          <p:cNvPr id="10" name="Text 7"/>
          <p:cNvSpPr/>
          <p:nvPr/>
        </p:nvSpPr>
        <p:spPr>
          <a:xfrm>
            <a:off x="457200" y="1536192"/>
            <a:ext cx="4572000" cy="274320"/>
          </a:xfrm>
          <a:prstGeom prst="rect">
            <a:avLst/>
          </a:prstGeom>
          <a:noFill/>
          <a:ln/>
        </p:spPr>
        <p:txBody>
          <a:bodyPr wrap="square" lIns="0" tIns="0" rIns="0" bIns="0" rtlCol="0" anchor="ctr"/>
          <a:lstStyle/>
          <a:p>
            <a:pPr marL="0" indent="0">
              <a:buNone/>
            </a:pPr>
            <a:r>
              <a:rPr lang="en-US" sz="1000" b="1" kern="0" spc="300" dirty="0">
                <a:solidFill>
                  <a:srgbClr val="3B82F6"/>
                </a:solidFill>
                <a:latin typeface="Calibri" pitchFamily="34" charset="0"/>
                <a:ea typeface="Calibri" pitchFamily="34" charset="-122"/>
                <a:cs typeface="Calibri" pitchFamily="34" charset="-120"/>
              </a:rPr>
              <a:t>PHASE 1 — INDEXING  (offline, one-time)</a:t>
            </a:r>
            <a:endParaRPr lang="en-US" sz="1000" dirty="0"/>
          </a:p>
        </p:txBody>
      </p:sp>
      <p:sp>
        <p:nvSpPr>
          <p:cNvPr id="11" name="Shape 8"/>
          <p:cNvSpPr/>
          <p:nvPr/>
        </p:nvSpPr>
        <p:spPr>
          <a:xfrm>
            <a:off x="640080" y="1874520"/>
            <a:ext cx="1005840" cy="731520"/>
          </a:xfrm>
          <a:prstGeom prst="roundRect">
            <a:avLst>
              <a:gd name="adj" fmla="val 7500"/>
            </a:avLst>
          </a:prstGeom>
          <a:solidFill>
            <a:srgbClr val="11203A"/>
          </a:solidFill>
          <a:ln w="25400">
            <a:solidFill>
              <a:srgbClr val="94A3B8"/>
            </a:solidFill>
            <a:prstDash val="solid"/>
          </a:ln>
          <a:effectLst>
            <a:outerShdw blurRad="101600" dist="25400" dir="8100000" algn="bl" rotWithShape="0">
              <a:srgbClr val="000000">
                <a:alpha val="25000"/>
              </a:srgbClr>
            </a:outerShdw>
          </a:effectLst>
        </p:spPr>
        <p:txBody>
          <a:bodyPr/>
          <a:lstStyle/>
          <a:p>
            <a:endParaRPr lang="en-GB"/>
          </a:p>
        </p:txBody>
      </p:sp>
      <p:sp>
        <p:nvSpPr>
          <p:cNvPr id="12" name="Text 9"/>
          <p:cNvSpPr/>
          <p:nvPr/>
        </p:nvSpPr>
        <p:spPr>
          <a:xfrm>
            <a:off x="640080" y="1920240"/>
            <a:ext cx="1005840" cy="292608"/>
          </a:xfrm>
          <a:prstGeom prst="rect">
            <a:avLst/>
          </a:prstGeom>
          <a:noFill/>
          <a:ln/>
        </p:spPr>
        <p:txBody>
          <a:bodyPr wrap="square" lIns="0" tIns="0" rIns="0" bIns="0" rtlCol="0" anchor="ctr"/>
          <a:lstStyle/>
          <a:p>
            <a:pPr marL="0" indent="0" algn="ctr">
              <a:buNone/>
            </a:pPr>
            <a:r>
              <a:rPr lang="en-US" sz="1300" dirty="0">
                <a:solidFill>
                  <a:srgbClr val="94A3B8"/>
                </a:solidFill>
                <a:latin typeface="Calibri" pitchFamily="34" charset="0"/>
                <a:ea typeface="Calibri" pitchFamily="34" charset="-122"/>
                <a:cs typeface="Calibri" pitchFamily="34" charset="-120"/>
              </a:rPr>
              <a:t>📄</a:t>
            </a:r>
            <a:endParaRPr lang="en-US" sz="1300" dirty="0"/>
          </a:p>
        </p:txBody>
      </p:sp>
      <p:sp>
        <p:nvSpPr>
          <p:cNvPr id="13" name="Text 10"/>
          <p:cNvSpPr/>
          <p:nvPr/>
        </p:nvSpPr>
        <p:spPr>
          <a:xfrm>
            <a:off x="640080" y="2194560"/>
            <a:ext cx="1005840" cy="411480"/>
          </a:xfrm>
          <a:prstGeom prst="rect">
            <a:avLst/>
          </a:prstGeom>
          <a:noFill/>
          <a:ln/>
        </p:spPr>
        <p:txBody>
          <a:bodyPr wrap="square" lIns="0" tIns="0" rIns="0" bIns="0" rtlCol="0" anchor="ctr"/>
          <a:lstStyle/>
          <a:p>
            <a:pPr marL="0" indent="0" algn="ctr">
              <a:buNone/>
            </a:pPr>
            <a:r>
              <a:rPr lang="en-US" sz="1000" b="1" dirty="0">
                <a:solidFill>
                  <a:srgbClr val="F8FAFC"/>
                </a:solidFill>
                <a:latin typeface="Calibri" pitchFamily="34" charset="0"/>
                <a:ea typeface="Calibri" pitchFamily="34" charset="-122"/>
                <a:cs typeface="Calibri" pitchFamily="34" charset="-120"/>
              </a:rPr>
              <a:t>Docs</a:t>
            </a:r>
            <a:endParaRPr lang="en-US" sz="1000" dirty="0"/>
          </a:p>
        </p:txBody>
      </p:sp>
      <p:sp>
        <p:nvSpPr>
          <p:cNvPr id="14" name="Shape 11"/>
          <p:cNvSpPr/>
          <p:nvPr/>
        </p:nvSpPr>
        <p:spPr>
          <a:xfrm>
            <a:off x="1664208" y="2240280"/>
            <a:ext cx="374904" cy="0"/>
          </a:xfrm>
          <a:prstGeom prst="line">
            <a:avLst/>
          </a:prstGeom>
          <a:noFill/>
          <a:ln w="25400">
            <a:solidFill>
              <a:srgbClr val="3B82F6"/>
            </a:solidFill>
            <a:prstDash val="solid"/>
            <a:tailEnd type="triangle"/>
          </a:ln>
        </p:spPr>
        <p:txBody>
          <a:bodyPr/>
          <a:lstStyle/>
          <a:p>
            <a:endParaRPr lang="en-GB"/>
          </a:p>
        </p:txBody>
      </p:sp>
      <p:sp>
        <p:nvSpPr>
          <p:cNvPr id="15" name="Shape 12"/>
          <p:cNvSpPr/>
          <p:nvPr/>
        </p:nvSpPr>
        <p:spPr>
          <a:xfrm>
            <a:off x="2057400" y="1874520"/>
            <a:ext cx="1005840" cy="731520"/>
          </a:xfrm>
          <a:prstGeom prst="roundRect">
            <a:avLst>
              <a:gd name="adj" fmla="val 7500"/>
            </a:avLst>
          </a:prstGeom>
          <a:solidFill>
            <a:srgbClr val="11203A"/>
          </a:solidFill>
          <a:ln w="25400">
            <a:solidFill>
              <a:srgbClr val="3B82F6"/>
            </a:solidFill>
            <a:prstDash val="solid"/>
          </a:ln>
          <a:effectLst>
            <a:outerShdw blurRad="101600" dist="25400" dir="8100000" algn="bl" rotWithShape="0">
              <a:srgbClr val="000000">
                <a:alpha val="25000"/>
              </a:srgbClr>
            </a:outerShdw>
          </a:effectLst>
        </p:spPr>
        <p:txBody>
          <a:bodyPr/>
          <a:lstStyle/>
          <a:p>
            <a:endParaRPr lang="en-GB"/>
          </a:p>
        </p:txBody>
      </p:sp>
      <p:sp>
        <p:nvSpPr>
          <p:cNvPr id="16" name="Text 13"/>
          <p:cNvSpPr/>
          <p:nvPr/>
        </p:nvSpPr>
        <p:spPr>
          <a:xfrm>
            <a:off x="2057400" y="1920240"/>
            <a:ext cx="1005840" cy="292608"/>
          </a:xfrm>
          <a:prstGeom prst="rect">
            <a:avLst/>
          </a:prstGeom>
          <a:noFill/>
          <a:ln/>
        </p:spPr>
        <p:txBody>
          <a:bodyPr wrap="square" lIns="0" tIns="0" rIns="0" bIns="0" rtlCol="0" anchor="ctr"/>
          <a:lstStyle/>
          <a:p>
            <a:pPr marL="0" indent="0" algn="ctr">
              <a:buNone/>
            </a:pPr>
            <a:r>
              <a:rPr lang="en-US" sz="1300" dirty="0">
                <a:solidFill>
                  <a:srgbClr val="3B82F6"/>
                </a:solidFill>
                <a:latin typeface="Calibri" pitchFamily="34" charset="0"/>
                <a:ea typeface="Calibri" pitchFamily="34" charset="-122"/>
                <a:cs typeface="Calibri" pitchFamily="34" charset="-120"/>
              </a:rPr>
              <a:t>✂️</a:t>
            </a:r>
            <a:endParaRPr lang="en-US" sz="1300" dirty="0"/>
          </a:p>
        </p:txBody>
      </p:sp>
      <p:sp>
        <p:nvSpPr>
          <p:cNvPr id="17" name="Text 14"/>
          <p:cNvSpPr/>
          <p:nvPr/>
        </p:nvSpPr>
        <p:spPr>
          <a:xfrm>
            <a:off x="2057400" y="2194560"/>
            <a:ext cx="1005840" cy="411480"/>
          </a:xfrm>
          <a:prstGeom prst="rect">
            <a:avLst/>
          </a:prstGeom>
          <a:noFill/>
          <a:ln/>
        </p:spPr>
        <p:txBody>
          <a:bodyPr wrap="square" lIns="0" tIns="0" rIns="0" bIns="0" rtlCol="0" anchor="ctr"/>
          <a:lstStyle/>
          <a:p>
            <a:pPr marL="0" indent="0" algn="ctr">
              <a:buNone/>
            </a:pPr>
            <a:r>
              <a:rPr lang="en-US" sz="1000" b="1" dirty="0">
                <a:solidFill>
                  <a:srgbClr val="F8FAFC"/>
                </a:solidFill>
                <a:latin typeface="Calibri" pitchFamily="34" charset="0"/>
                <a:ea typeface="Calibri" pitchFamily="34" charset="-122"/>
                <a:cs typeface="Calibri" pitchFamily="34" charset="-120"/>
              </a:rPr>
              <a:t>Chunk</a:t>
            </a:r>
            <a:endParaRPr lang="en-US" sz="1000" dirty="0"/>
          </a:p>
        </p:txBody>
      </p:sp>
      <p:sp>
        <p:nvSpPr>
          <p:cNvPr id="18" name="Shape 15"/>
          <p:cNvSpPr/>
          <p:nvPr/>
        </p:nvSpPr>
        <p:spPr>
          <a:xfrm>
            <a:off x="3081528" y="2240280"/>
            <a:ext cx="374904" cy="0"/>
          </a:xfrm>
          <a:prstGeom prst="line">
            <a:avLst/>
          </a:prstGeom>
          <a:noFill/>
          <a:ln w="25400">
            <a:solidFill>
              <a:srgbClr val="3B82F6"/>
            </a:solidFill>
            <a:prstDash val="solid"/>
            <a:tailEnd type="triangle"/>
          </a:ln>
        </p:spPr>
        <p:txBody>
          <a:bodyPr/>
          <a:lstStyle/>
          <a:p>
            <a:endParaRPr lang="en-GB"/>
          </a:p>
        </p:txBody>
      </p:sp>
      <p:sp>
        <p:nvSpPr>
          <p:cNvPr id="19" name="Shape 16"/>
          <p:cNvSpPr/>
          <p:nvPr/>
        </p:nvSpPr>
        <p:spPr>
          <a:xfrm>
            <a:off x="3474720" y="1874520"/>
            <a:ext cx="1005840" cy="731520"/>
          </a:xfrm>
          <a:prstGeom prst="roundRect">
            <a:avLst>
              <a:gd name="adj" fmla="val 7500"/>
            </a:avLst>
          </a:prstGeom>
          <a:solidFill>
            <a:srgbClr val="11203A"/>
          </a:solidFill>
          <a:ln w="25400">
            <a:solidFill>
              <a:srgbClr val="3B82F6"/>
            </a:solidFill>
            <a:prstDash val="solid"/>
          </a:ln>
          <a:effectLst>
            <a:outerShdw blurRad="101600" dist="25400" dir="8100000" algn="bl" rotWithShape="0">
              <a:srgbClr val="000000">
                <a:alpha val="25000"/>
              </a:srgbClr>
            </a:outerShdw>
          </a:effectLst>
        </p:spPr>
        <p:txBody>
          <a:bodyPr/>
          <a:lstStyle/>
          <a:p>
            <a:endParaRPr lang="en-GB"/>
          </a:p>
        </p:txBody>
      </p:sp>
      <p:sp>
        <p:nvSpPr>
          <p:cNvPr id="20" name="Text 17"/>
          <p:cNvSpPr/>
          <p:nvPr/>
        </p:nvSpPr>
        <p:spPr>
          <a:xfrm>
            <a:off x="3474720" y="1920240"/>
            <a:ext cx="1005840" cy="292608"/>
          </a:xfrm>
          <a:prstGeom prst="rect">
            <a:avLst/>
          </a:prstGeom>
          <a:noFill/>
          <a:ln/>
        </p:spPr>
        <p:txBody>
          <a:bodyPr wrap="square" lIns="0" tIns="0" rIns="0" bIns="0" rtlCol="0" anchor="ctr"/>
          <a:lstStyle/>
          <a:p>
            <a:pPr marL="0" indent="0" algn="ctr">
              <a:buNone/>
            </a:pPr>
            <a:r>
              <a:rPr lang="en-US" sz="1300" dirty="0">
                <a:solidFill>
                  <a:srgbClr val="3B82F6"/>
                </a:solidFill>
                <a:latin typeface="Calibri" pitchFamily="34" charset="0"/>
                <a:ea typeface="Calibri" pitchFamily="34" charset="-122"/>
                <a:cs typeface="Calibri" pitchFamily="34" charset="-120"/>
              </a:rPr>
              <a:t>🔡</a:t>
            </a:r>
            <a:endParaRPr lang="en-US" sz="1300" dirty="0"/>
          </a:p>
        </p:txBody>
      </p:sp>
      <p:sp>
        <p:nvSpPr>
          <p:cNvPr id="21" name="Text 18"/>
          <p:cNvSpPr/>
          <p:nvPr/>
        </p:nvSpPr>
        <p:spPr>
          <a:xfrm>
            <a:off x="3474720" y="2194560"/>
            <a:ext cx="1005840" cy="411480"/>
          </a:xfrm>
          <a:prstGeom prst="rect">
            <a:avLst/>
          </a:prstGeom>
          <a:noFill/>
          <a:ln/>
        </p:spPr>
        <p:txBody>
          <a:bodyPr wrap="square" lIns="0" tIns="0" rIns="0" bIns="0" rtlCol="0" anchor="ctr"/>
          <a:lstStyle/>
          <a:p>
            <a:pPr marL="0" indent="0" algn="ctr">
              <a:buNone/>
            </a:pPr>
            <a:r>
              <a:rPr lang="en-US" sz="1000" b="1" dirty="0">
                <a:solidFill>
                  <a:srgbClr val="F8FAFC"/>
                </a:solidFill>
                <a:latin typeface="Calibri" pitchFamily="34" charset="0"/>
                <a:ea typeface="Calibri" pitchFamily="34" charset="-122"/>
                <a:cs typeface="Calibri" pitchFamily="34" charset="-120"/>
              </a:rPr>
              <a:t>Embed</a:t>
            </a:r>
            <a:endParaRPr lang="en-US" sz="1000" dirty="0"/>
          </a:p>
        </p:txBody>
      </p:sp>
      <p:sp>
        <p:nvSpPr>
          <p:cNvPr id="22" name="Shape 19"/>
          <p:cNvSpPr/>
          <p:nvPr/>
        </p:nvSpPr>
        <p:spPr>
          <a:xfrm>
            <a:off x="4498848" y="2240280"/>
            <a:ext cx="374904" cy="0"/>
          </a:xfrm>
          <a:prstGeom prst="line">
            <a:avLst/>
          </a:prstGeom>
          <a:noFill/>
          <a:ln w="25400">
            <a:solidFill>
              <a:srgbClr val="3B82F6"/>
            </a:solidFill>
            <a:prstDash val="solid"/>
            <a:tailEnd type="triangle"/>
          </a:ln>
        </p:spPr>
        <p:txBody>
          <a:bodyPr/>
          <a:lstStyle/>
          <a:p>
            <a:endParaRPr lang="en-GB"/>
          </a:p>
        </p:txBody>
      </p:sp>
      <p:sp>
        <p:nvSpPr>
          <p:cNvPr id="23" name="Shape 20"/>
          <p:cNvSpPr/>
          <p:nvPr/>
        </p:nvSpPr>
        <p:spPr>
          <a:xfrm>
            <a:off x="4892040" y="1874520"/>
            <a:ext cx="1005840" cy="731520"/>
          </a:xfrm>
          <a:prstGeom prst="roundRect">
            <a:avLst>
              <a:gd name="adj" fmla="val 7500"/>
            </a:avLst>
          </a:prstGeom>
          <a:solidFill>
            <a:srgbClr val="11203A"/>
          </a:solidFill>
          <a:ln w="25400">
            <a:solidFill>
              <a:srgbClr val="F97316"/>
            </a:solidFill>
            <a:prstDash val="solid"/>
          </a:ln>
          <a:effectLst>
            <a:outerShdw blurRad="101600" dist="25400" dir="8100000" algn="bl" rotWithShape="0">
              <a:srgbClr val="000000">
                <a:alpha val="25000"/>
              </a:srgbClr>
            </a:outerShdw>
          </a:effectLst>
        </p:spPr>
        <p:txBody>
          <a:bodyPr/>
          <a:lstStyle/>
          <a:p>
            <a:endParaRPr lang="en-GB"/>
          </a:p>
        </p:txBody>
      </p:sp>
      <p:sp>
        <p:nvSpPr>
          <p:cNvPr id="24" name="Text 21"/>
          <p:cNvSpPr/>
          <p:nvPr/>
        </p:nvSpPr>
        <p:spPr>
          <a:xfrm>
            <a:off x="4892040" y="1920240"/>
            <a:ext cx="1005840" cy="292608"/>
          </a:xfrm>
          <a:prstGeom prst="rect">
            <a:avLst/>
          </a:prstGeom>
          <a:noFill/>
          <a:ln/>
        </p:spPr>
        <p:txBody>
          <a:bodyPr wrap="square" lIns="0" tIns="0" rIns="0" bIns="0" rtlCol="0" anchor="ctr"/>
          <a:lstStyle/>
          <a:p>
            <a:pPr marL="0" indent="0" algn="ctr">
              <a:buNone/>
            </a:pPr>
            <a:r>
              <a:rPr lang="en-US" sz="1300" dirty="0">
                <a:solidFill>
                  <a:srgbClr val="F97316"/>
                </a:solidFill>
                <a:latin typeface="Calibri" pitchFamily="34" charset="0"/>
                <a:ea typeface="Calibri" pitchFamily="34" charset="-122"/>
                <a:cs typeface="Calibri" pitchFamily="34" charset="-120"/>
              </a:rPr>
              <a:t>🗄️</a:t>
            </a:r>
            <a:endParaRPr lang="en-US" sz="1300" dirty="0"/>
          </a:p>
        </p:txBody>
      </p:sp>
      <p:sp>
        <p:nvSpPr>
          <p:cNvPr id="25" name="Text 22"/>
          <p:cNvSpPr/>
          <p:nvPr/>
        </p:nvSpPr>
        <p:spPr>
          <a:xfrm>
            <a:off x="4892040" y="2194560"/>
            <a:ext cx="1005840" cy="411480"/>
          </a:xfrm>
          <a:prstGeom prst="rect">
            <a:avLst/>
          </a:prstGeom>
          <a:noFill/>
          <a:ln/>
        </p:spPr>
        <p:txBody>
          <a:bodyPr wrap="square" lIns="0" tIns="0" rIns="0" bIns="0" rtlCol="0" anchor="ctr"/>
          <a:lstStyle/>
          <a:p>
            <a:pPr marL="0" indent="0" algn="ctr">
              <a:buNone/>
            </a:pPr>
            <a:r>
              <a:rPr lang="en-US" sz="1000" b="1" dirty="0">
                <a:solidFill>
                  <a:srgbClr val="F8FAFC"/>
                </a:solidFill>
                <a:latin typeface="Calibri" pitchFamily="34" charset="0"/>
                <a:ea typeface="Calibri" pitchFamily="34" charset="-122"/>
                <a:cs typeface="Calibri" pitchFamily="34" charset="-120"/>
              </a:rPr>
              <a:t>Vector DB</a:t>
            </a:r>
            <a:endParaRPr lang="en-US" sz="1000" dirty="0"/>
          </a:p>
        </p:txBody>
      </p:sp>
      <p:sp>
        <p:nvSpPr>
          <p:cNvPr id="26" name="Text 23"/>
          <p:cNvSpPr/>
          <p:nvPr/>
        </p:nvSpPr>
        <p:spPr>
          <a:xfrm>
            <a:off x="6492240" y="2039112"/>
            <a:ext cx="2286000" cy="365760"/>
          </a:xfrm>
          <a:prstGeom prst="rect">
            <a:avLst/>
          </a:prstGeom>
          <a:noFill/>
          <a:ln/>
        </p:spPr>
        <p:txBody>
          <a:bodyPr wrap="square" lIns="0" tIns="0" rIns="0" bIns="0" rtlCol="0" anchor="ctr"/>
          <a:lstStyle/>
          <a:p>
            <a:pPr marL="0" indent="0">
              <a:buNone/>
            </a:pPr>
            <a:r>
              <a:rPr lang="en-US" sz="1000" i="1" dirty="0">
                <a:solidFill>
                  <a:srgbClr val="94A3B8"/>
                </a:solidFill>
                <a:latin typeface="Calibri" pitchFamily="34" charset="0"/>
                <a:ea typeface="Calibri" pitchFamily="34" charset="-122"/>
                <a:cs typeface="Calibri" pitchFamily="34" charset="-120"/>
              </a:rPr>
              <a:t>Each chunk → 1 vector (e.g. 1536-D)</a:t>
            </a:r>
            <a:endParaRPr lang="en-US" sz="1000" dirty="0"/>
          </a:p>
        </p:txBody>
      </p:sp>
      <p:sp>
        <p:nvSpPr>
          <p:cNvPr id="27" name="Text 24"/>
          <p:cNvSpPr/>
          <p:nvPr/>
        </p:nvSpPr>
        <p:spPr>
          <a:xfrm>
            <a:off x="6492240" y="2286000"/>
            <a:ext cx="2286000" cy="274320"/>
          </a:xfrm>
          <a:prstGeom prst="rect">
            <a:avLst/>
          </a:prstGeom>
          <a:noFill/>
          <a:ln/>
        </p:spPr>
        <p:txBody>
          <a:bodyPr wrap="square" lIns="0" tIns="0" rIns="0" bIns="0" rtlCol="0" anchor="ctr"/>
          <a:lstStyle/>
          <a:p>
            <a:pPr marL="0" indent="0">
              <a:buNone/>
            </a:pPr>
            <a:r>
              <a:rPr lang="en-US" sz="900" dirty="0">
                <a:solidFill>
                  <a:srgbClr val="94A3B8"/>
                </a:solidFill>
                <a:latin typeface="Consolas" pitchFamily="34" charset="0"/>
                <a:ea typeface="Consolas" pitchFamily="34" charset="-122"/>
                <a:cs typeface="Consolas" pitchFamily="34" charset="-120"/>
              </a:rPr>
              <a:t>text-embedding-3</a:t>
            </a:r>
            <a:endParaRPr lang="en-US" sz="900" dirty="0"/>
          </a:p>
        </p:txBody>
      </p:sp>
      <p:sp>
        <p:nvSpPr>
          <p:cNvPr id="28" name="Shape 25"/>
          <p:cNvSpPr/>
          <p:nvPr/>
        </p:nvSpPr>
        <p:spPr>
          <a:xfrm>
            <a:off x="274320" y="2926080"/>
            <a:ext cx="8595360" cy="1508760"/>
          </a:xfrm>
          <a:prstGeom prst="roundRect">
            <a:avLst>
              <a:gd name="adj" fmla="val 3636"/>
            </a:avLst>
          </a:prstGeom>
          <a:solidFill>
            <a:srgbClr val="11203A"/>
          </a:solidFill>
          <a:ln w="12700">
            <a:solidFill>
              <a:srgbClr val="F97316"/>
            </a:solidFill>
            <a:prstDash val="solid"/>
          </a:ln>
        </p:spPr>
        <p:txBody>
          <a:bodyPr/>
          <a:lstStyle/>
          <a:p>
            <a:endParaRPr lang="en-GB"/>
          </a:p>
        </p:txBody>
      </p:sp>
      <p:sp>
        <p:nvSpPr>
          <p:cNvPr id="29" name="Text 26"/>
          <p:cNvSpPr/>
          <p:nvPr/>
        </p:nvSpPr>
        <p:spPr>
          <a:xfrm>
            <a:off x="457200" y="2999232"/>
            <a:ext cx="4572000" cy="274320"/>
          </a:xfrm>
          <a:prstGeom prst="rect">
            <a:avLst/>
          </a:prstGeom>
          <a:noFill/>
          <a:ln/>
        </p:spPr>
        <p:txBody>
          <a:bodyPr wrap="square" lIns="0" tIns="0" rIns="0" bIns="0" rtlCol="0" anchor="ctr"/>
          <a:lstStyle/>
          <a:p>
            <a:pPr marL="0" indent="0">
              <a:buNone/>
            </a:pPr>
            <a:r>
              <a:rPr lang="en-US" sz="1000" b="1" kern="0" spc="300" dirty="0">
                <a:solidFill>
                  <a:srgbClr val="F97316"/>
                </a:solidFill>
                <a:latin typeface="Calibri" pitchFamily="34" charset="0"/>
                <a:ea typeface="Calibri" pitchFamily="34" charset="-122"/>
                <a:cs typeface="Calibri" pitchFamily="34" charset="-120"/>
              </a:rPr>
              <a:t>PHASE 2 — RETRIEVAL  (every query)</a:t>
            </a:r>
            <a:endParaRPr lang="en-US" sz="1000" dirty="0"/>
          </a:p>
        </p:txBody>
      </p:sp>
      <p:sp>
        <p:nvSpPr>
          <p:cNvPr id="30" name="Shape 27"/>
          <p:cNvSpPr/>
          <p:nvPr/>
        </p:nvSpPr>
        <p:spPr>
          <a:xfrm>
            <a:off x="411480" y="3337560"/>
            <a:ext cx="1005840" cy="731520"/>
          </a:xfrm>
          <a:prstGeom prst="roundRect">
            <a:avLst>
              <a:gd name="adj" fmla="val 7500"/>
            </a:avLst>
          </a:prstGeom>
          <a:solidFill>
            <a:srgbClr val="11203A"/>
          </a:solidFill>
          <a:ln w="25400">
            <a:solidFill>
              <a:srgbClr val="94A3B8"/>
            </a:solidFill>
            <a:prstDash val="solid"/>
          </a:ln>
          <a:effectLst>
            <a:outerShdw blurRad="101600" dist="25400" dir="8100000" algn="bl" rotWithShape="0">
              <a:srgbClr val="000000">
                <a:alpha val="25000"/>
              </a:srgbClr>
            </a:outerShdw>
          </a:effectLst>
        </p:spPr>
        <p:txBody>
          <a:bodyPr/>
          <a:lstStyle/>
          <a:p>
            <a:endParaRPr lang="en-GB"/>
          </a:p>
        </p:txBody>
      </p:sp>
      <p:sp>
        <p:nvSpPr>
          <p:cNvPr id="31" name="Text 28"/>
          <p:cNvSpPr/>
          <p:nvPr/>
        </p:nvSpPr>
        <p:spPr>
          <a:xfrm>
            <a:off x="411480" y="3383280"/>
            <a:ext cx="1005840" cy="292608"/>
          </a:xfrm>
          <a:prstGeom prst="rect">
            <a:avLst/>
          </a:prstGeom>
          <a:noFill/>
          <a:ln/>
        </p:spPr>
        <p:txBody>
          <a:bodyPr wrap="square" lIns="0" tIns="0" rIns="0" bIns="0" rtlCol="0" anchor="ctr"/>
          <a:lstStyle/>
          <a:p>
            <a:pPr marL="0" indent="0" algn="ctr">
              <a:buNone/>
            </a:pPr>
            <a:r>
              <a:rPr lang="en-US" sz="1300" dirty="0">
                <a:solidFill>
                  <a:srgbClr val="94A3B8"/>
                </a:solidFill>
                <a:latin typeface="Calibri" pitchFamily="34" charset="0"/>
                <a:ea typeface="Calibri" pitchFamily="34" charset="-122"/>
                <a:cs typeface="Calibri" pitchFamily="34" charset="-120"/>
              </a:rPr>
              <a:t>👤</a:t>
            </a:r>
            <a:endParaRPr lang="en-US" sz="1300" dirty="0"/>
          </a:p>
        </p:txBody>
      </p:sp>
      <p:sp>
        <p:nvSpPr>
          <p:cNvPr id="32" name="Text 29"/>
          <p:cNvSpPr/>
          <p:nvPr/>
        </p:nvSpPr>
        <p:spPr>
          <a:xfrm>
            <a:off x="411480" y="3657600"/>
            <a:ext cx="1005840" cy="411480"/>
          </a:xfrm>
          <a:prstGeom prst="rect">
            <a:avLst/>
          </a:prstGeom>
          <a:noFill/>
          <a:ln/>
        </p:spPr>
        <p:txBody>
          <a:bodyPr wrap="square" lIns="0" tIns="0" rIns="0" bIns="0" rtlCol="0" anchor="ctr"/>
          <a:lstStyle/>
          <a:p>
            <a:pPr marL="0" indent="0" algn="ctr">
              <a:buNone/>
            </a:pPr>
            <a:r>
              <a:rPr lang="en-US" sz="1000" b="1" dirty="0">
                <a:solidFill>
                  <a:srgbClr val="F8FAFC"/>
                </a:solidFill>
                <a:latin typeface="Calibri" pitchFamily="34" charset="0"/>
                <a:ea typeface="Calibri" pitchFamily="34" charset="-122"/>
                <a:cs typeface="Calibri" pitchFamily="34" charset="-120"/>
              </a:rPr>
              <a:t>Query</a:t>
            </a:r>
            <a:endParaRPr lang="en-US" sz="1000" dirty="0"/>
          </a:p>
        </p:txBody>
      </p:sp>
      <p:sp>
        <p:nvSpPr>
          <p:cNvPr id="33" name="Shape 30"/>
          <p:cNvSpPr/>
          <p:nvPr/>
        </p:nvSpPr>
        <p:spPr>
          <a:xfrm>
            <a:off x="1435608" y="3703320"/>
            <a:ext cx="374904" cy="0"/>
          </a:xfrm>
          <a:prstGeom prst="line">
            <a:avLst/>
          </a:prstGeom>
          <a:noFill/>
          <a:ln w="25400">
            <a:solidFill>
              <a:srgbClr val="F97316"/>
            </a:solidFill>
            <a:prstDash val="solid"/>
            <a:tailEnd type="triangle"/>
          </a:ln>
        </p:spPr>
        <p:txBody>
          <a:bodyPr/>
          <a:lstStyle/>
          <a:p>
            <a:endParaRPr lang="en-GB"/>
          </a:p>
        </p:txBody>
      </p:sp>
      <p:sp>
        <p:nvSpPr>
          <p:cNvPr id="34" name="Shape 31"/>
          <p:cNvSpPr/>
          <p:nvPr/>
        </p:nvSpPr>
        <p:spPr>
          <a:xfrm>
            <a:off x="1828800" y="3337560"/>
            <a:ext cx="1005840" cy="731520"/>
          </a:xfrm>
          <a:prstGeom prst="roundRect">
            <a:avLst>
              <a:gd name="adj" fmla="val 7500"/>
            </a:avLst>
          </a:prstGeom>
          <a:solidFill>
            <a:srgbClr val="11203A"/>
          </a:solidFill>
          <a:ln w="25400">
            <a:solidFill>
              <a:srgbClr val="3B82F6"/>
            </a:solidFill>
            <a:prstDash val="solid"/>
          </a:ln>
          <a:effectLst>
            <a:outerShdw blurRad="101600" dist="25400" dir="8100000" algn="bl" rotWithShape="0">
              <a:srgbClr val="000000">
                <a:alpha val="25000"/>
              </a:srgbClr>
            </a:outerShdw>
          </a:effectLst>
        </p:spPr>
        <p:txBody>
          <a:bodyPr/>
          <a:lstStyle/>
          <a:p>
            <a:endParaRPr lang="en-GB"/>
          </a:p>
        </p:txBody>
      </p:sp>
      <p:sp>
        <p:nvSpPr>
          <p:cNvPr id="35" name="Text 32"/>
          <p:cNvSpPr/>
          <p:nvPr/>
        </p:nvSpPr>
        <p:spPr>
          <a:xfrm>
            <a:off x="1828800" y="3383280"/>
            <a:ext cx="1005840" cy="292608"/>
          </a:xfrm>
          <a:prstGeom prst="rect">
            <a:avLst/>
          </a:prstGeom>
          <a:noFill/>
          <a:ln/>
        </p:spPr>
        <p:txBody>
          <a:bodyPr wrap="square" lIns="0" tIns="0" rIns="0" bIns="0" rtlCol="0" anchor="ctr"/>
          <a:lstStyle/>
          <a:p>
            <a:pPr marL="0" indent="0" algn="ctr">
              <a:buNone/>
            </a:pPr>
            <a:r>
              <a:rPr lang="en-US" sz="1300" dirty="0">
                <a:solidFill>
                  <a:srgbClr val="3B82F6"/>
                </a:solidFill>
                <a:latin typeface="Calibri" pitchFamily="34" charset="0"/>
                <a:ea typeface="Calibri" pitchFamily="34" charset="-122"/>
                <a:cs typeface="Calibri" pitchFamily="34" charset="-120"/>
              </a:rPr>
              <a:t>🔡</a:t>
            </a:r>
            <a:endParaRPr lang="en-US" sz="1300" dirty="0"/>
          </a:p>
        </p:txBody>
      </p:sp>
      <p:sp>
        <p:nvSpPr>
          <p:cNvPr id="36" name="Text 33"/>
          <p:cNvSpPr/>
          <p:nvPr/>
        </p:nvSpPr>
        <p:spPr>
          <a:xfrm>
            <a:off x="1828800" y="3657600"/>
            <a:ext cx="1005840" cy="411480"/>
          </a:xfrm>
          <a:prstGeom prst="rect">
            <a:avLst/>
          </a:prstGeom>
          <a:noFill/>
          <a:ln/>
        </p:spPr>
        <p:txBody>
          <a:bodyPr wrap="square" lIns="0" tIns="0" rIns="0" bIns="0" rtlCol="0" anchor="ctr"/>
          <a:lstStyle/>
          <a:p>
            <a:pPr marL="0" indent="0" algn="ctr">
              <a:buNone/>
            </a:pPr>
            <a:r>
              <a:rPr lang="en-US" sz="1000" b="1" dirty="0">
                <a:solidFill>
                  <a:srgbClr val="F8FAFC"/>
                </a:solidFill>
                <a:latin typeface="Calibri" pitchFamily="34" charset="0"/>
                <a:ea typeface="Calibri" pitchFamily="34" charset="-122"/>
                <a:cs typeface="Calibri" pitchFamily="34" charset="-120"/>
              </a:rPr>
              <a:t>Embed</a:t>
            </a:r>
            <a:endParaRPr lang="en-US" sz="1000" dirty="0"/>
          </a:p>
        </p:txBody>
      </p:sp>
      <p:sp>
        <p:nvSpPr>
          <p:cNvPr id="37" name="Shape 34"/>
          <p:cNvSpPr/>
          <p:nvPr/>
        </p:nvSpPr>
        <p:spPr>
          <a:xfrm>
            <a:off x="2852928" y="3703320"/>
            <a:ext cx="374904" cy="0"/>
          </a:xfrm>
          <a:prstGeom prst="line">
            <a:avLst/>
          </a:prstGeom>
          <a:noFill/>
          <a:ln w="25400">
            <a:solidFill>
              <a:srgbClr val="F97316"/>
            </a:solidFill>
            <a:prstDash val="solid"/>
            <a:tailEnd type="triangle"/>
          </a:ln>
        </p:spPr>
        <p:txBody>
          <a:bodyPr/>
          <a:lstStyle/>
          <a:p>
            <a:endParaRPr lang="en-GB"/>
          </a:p>
        </p:txBody>
      </p:sp>
      <p:sp>
        <p:nvSpPr>
          <p:cNvPr id="38" name="Shape 35"/>
          <p:cNvSpPr/>
          <p:nvPr/>
        </p:nvSpPr>
        <p:spPr>
          <a:xfrm>
            <a:off x="3246120" y="3337560"/>
            <a:ext cx="1005840" cy="731520"/>
          </a:xfrm>
          <a:prstGeom prst="roundRect">
            <a:avLst>
              <a:gd name="adj" fmla="val 7500"/>
            </a:avLst>
          </a:prstGeom>
          <a:solidFill>
            <a:srgbClr val="11203A"/>
          </a:solidFill>
          <a:ln w="25400">
            <a:solidFill>
              <a:srgbClr val="3B82F6"/>
            </a:solidFill>
            <a:prstDash val="solid"/>
          </a:ln>
          <a:effectLst>
            <a:outerShdw blurRad="101600" dist="25400" dir="8100000" algn="bl" rotWithShape="0">
              <a:srgbClr val="000000">
                <a:alpha val="25000"/>
              </a:srgbClr>
            </a:outerShdw>
          </a:effectLst>
        </p:spPr>
        <p:txBody>
          <a:bodyPr/>
          <a:lstStyle/>
          <a:p>
            <a:endParaRPr lang="en-GB"/>
          </a:p>
        </p:txBody>
      </p:sp>
      <p:sp>
        <p:nvSpPr>
          <p:cNvPr id="39" name="Text 36"/>
          <p:cNvSpPr/>
          <p:nvPr/>
        </p:nvSpPr>
        <p:spPr>
          <a:xfrm>
            <a:off x="3246120" y="3383280"/>
            <a:ext cx="1005840" cy="292608"/>
          </a:xfrm>
          <a:prstGeom prst="rect">
            <a:avLst/>
          </a:prstGeom>
          <a:noFill/>
          <a:ln/>
        </p:spPr>
        <p:txBody>
          <a:bodyPr wrap="square" lIns="0" tIns="0" rIns="0" bIns="0" rtlCol="0" anchor="ctr"/>
          <a:lstStyle/>
          <a:p>
            <a:pPr marL="0" indent="0" algn="ctr">
              <a:buNone/>
            </a:pPr>
            <a:r>
              <a:rPr lang="en-US" sz="1300" dirty="0">
                <a:solidFill>
                  <a:srgbClr val="3B82F6"/>
                </a:solidFill>
                <a:latin typeface="Calibri" pitchFamily="34" charset="0"/>
                <a:ea typeface="Calibri" pitchFamily="34" charset="-122"/>
                <a:cs typeface="Calibri" pitchFamily="34" charset="-120"/>
              </a:rPr>
              <a:t>🔍</a:t>
            </a:r>
            <a:endParaRPr lang="en-US" sz="1300" dirty="0"/>
          </a:p>
        </p:txBody>
      </p:sp>
      <p:sp>
        <p:nvSpPr>
          <p:cNvPr id="40" name="Text 37"/>
          <p:cNvSpPr/>
          <p:nvPr/>
        </p:nvSpPr>
        <p:spPr>
          <a:xfrm>
            <a:off x="3246120" y="3657600"/>
            <a:ext cx="1005840" cy="411480"/>
          </a:xfrm>
          <a:prstGeom prst="rect">
            <a:avLst/>
          </a:prstGeom>
          <a:noFill/>
          <a:ln/>
        </p:spPr>
        <p:txBody>
          <a:bodyPr wrap="square" lIns="0" tIns="0" rIns="0" bIns="0" rtlCol="0" anchor="ctr"/>
          <a:lstStyle/>
          <a:p>
            <a:pPr marL="0" indent="0" algn="ctr">
              <a:buNone/>
            </a:pPr>
            <a:r>
              <a:rPr lang="en-US" sz="1000" b="1" dirty="0">
                <a:solidFill>
                  <a:srgbClr val="F8FAFC"/>
                </a:solidFill>
                <a:latin typeface="Calibri" pitchFamily="34" charset="0"/>
                <a:ea typeface="Calibri" pitchFamily="34" charset="-122"/>
                <a:cs typeface="Calibri" pitchFamily="34" charset="-120"/>
              </a:rPr>
              <a:t>Similarity</a:t>
            </a:r>
            <a:endParaRPr lang="en-US" sz="1000" dirty="0"/>
          </a:p>
        </p:txBody>
      </p:sp>
      <p:sp>
        <p:nvSpPr>
          <p:cNvPr id="41" name="Shape 38"/>
          <p:cNvSpPr/>
          <p:nvPr/>
        </p:nvSpPr>
        <p:spPr>
          <a:xfrm>
            <a:off x="4270248" y="3703320"/>
            <a:ext cx="374904" cy="0"/>
          </a:xfrm>
          <a:prstGeom prst="line">
            <a:avLst/>
          </a:prstGeom>
          <a:noFill/>
          <a:ln w="25400">
            <a:solidFill>
              <a:srgbClr val="F97316"/>
            </a:solidFill>
            <a:prstDash val="solid"/>
            <a:tailEnd type="triangle"/>
          </a:ln>
        </p:spPr>
        <p:txBody>
          <a:bodyPr/>
          <a:lstStyle/>
          <a:p>
            <a:endParaRPr lang="en-GB"/>
          </a:p>
        </p:txBody>
      </p:sp>
      <p:sp>
        <p:nvSpPr>
          <p:cNvPr id="42" name="Shape 39"/>
          <p:cNvSpPr/>
          <p:nvPr/>
        </p:nvSpPr>
        <p:spPr>
          <a:xfrm>
            <a:off x="4663440" y="3337560"/>
            <a:ext cx="1005840" cy="731520"/>
          </a:xfrm>
          <a:prstGeom prst="roundRect">
            <a:avLst>
              <a:gd name="adj" fmla="val 7500"/>
            </a:avLst>
          </a:prstGeom>
          <a:solidFill>
            <a:srgbClr val="11203A"/>
          </a:solidFill>
          <a:ln w="25400">
            <a:solidFill>
              <a:srgbClr val="3B82F6"/>
            </a:solidFill>
            <a:prstDash val="solid"/>
          </a:ln>
          <a:effectLst>
            <a:outerShdw blurRad="101600" dist="25400" dir="8100000" algn="bl" rotWithShape="0">
              <a:srgbClr val="000000">
                <a:alpha val="25000"/>
              </a:srgbClr>
            </a:outerShdw>
          </a:effectLst>
        </p:spPr>
        <p:txBody>
          <a:bodyPr/>
          <a:lstStyle/>
          <a:p>
            <a:endParaRPr lang="en-GB"/>
          </a:p>
        </p:txBody>
      </p:sp>
      <p:sp>
        <p:nvSpPr>
          <p:cNvPr id="43" name="Text 40"/>
          <p:cNvSpPr/>
          <p:nvPr/>
        </p:nvSpPr>
        <p:spPr>
          <a:xfrm>
            <a:off x="4663440" y="3383280"/>
            <a:ext cx="1005840" cy="292608"/>
          </a:xfrm>
          <a:prstGeom prst="rect">
            <a:avLst/>
          </a:prstGeom>
          <a:noFill/>
          <a:ln/>
        </p:spPr>
        <p:txBody>
          <a:bodyPr wrap="square" lIns="0" tIns="0" rIns="0" bIns="0" rtlCol="0" anchor="ctr"/>
          <a:lstStyle/>
          <a:p>
            <a:pPr marL="0" indent="0" algn="ctr">
              <a:buNone/>
            </a:pPr>
            <a:r>
              <a:rPr lang="en-US" sz="1300" dirty="0">
                <a:solidFill>
                  <a:srgbClr val="3B82F6"/>
                </a:solidFill>
                <a:latin typeface="Calibri" pitchFamily="34" charset="0"/>
                <a:ea typeface="Calibri" pitchFamily="34" charset="-122"/>
                <a:cs typeface="Calibri" pitchFamily="34" charset="-120"/>
              </a:rPr>
              <a:t>📚</a:t>
            </a:r>
            <a:endParaRPr lang="en-US" sz="1300" dirty="0"/>
          </a:p>
        </p:txBody>
      </p:sp>
      <p:sp>
        <p:nvSpPr>
          <p:cNvPr id="44" name="Text 41"/>
          <p:cNvSpPr/>
          <p:nvPr/>
        </p:nvSpPr>
        <p:spPr>
          <a:xfrm>
            <a:off x="4663440" y="3657600"/>
            <a:ext cx="1005840" cy="411480"/>
          </a:xfrm>
          <a:prstGeom prst="rect">
            <a:avLst/>
          </a:prstGeom>
          <a:noFill/>
          <a:ln/>
        </p:spPr>
        <p:txBody>
          <a:bodyPr wrap="square" lIns="0" tIns="0" rIns="0" bIns="0" rtlCol="0" anchor="ctr"/>
          <a:lstStyle/>
          <a:p>
            <a:pPr marL="0" indent="0" algn="ctr">
              <a:buNone/>
            </a:pPr>
            <a:r>
              <a:rPr lang="en-US" sz="1000" b="1" dirty="0">
                <a:solidFill>
                  <a:srgbClr val="F8FAFC"/>
                </a:solidFill>
                <a:latin typeface="Calibri" pitchFamily="34" charset="0"/>
                <a:ea typeface="Calibri" pitchFamily="34" charset="-122"/>
                <a:cs typeface="Calibri" pitchFamily="34" charset="-120"/>
              </a:rPr>
              <a:t>Top-K</a:t>
            </a:r>
            <a:endParaRPr lang="en-US" sz="1000" dirty="0"/>
          </a:p>
        </p:txBody>
      </p:sp>
      <p:sp>
        <p:nvSpPr>
          <p:cNvPr id="45" name="Shape 42"/>
          <p:cNvSpPr/>
          <p:nvPr/>
        </p:nvSpPr>
        <p:spPr>
          <a:xfrm>
            <a:off x="5687568" y="3703320"/>
            <a:ext cx="374904" cy="0"/>
          </a:xfrm>
          <a:prstGeom prst="line">
            <a:avLst/>
          </a:prstGeom>
          <a:noFill/>
          <a:ln w="25400">
            <a:solidFill>
              <a:srgbClr val="F97316"/>
            </a:solidFill>
            <a:prstDash val="solid"/>
            <a:tailEnd type="triangle"/>
          </a:ln>
        </p:spPr>
        <p:txBody>
          <a:bodyPr/>
          <a:lstStyle/>
          <a:p>
            <a:endParaRPr lang="en-GB"/>
          </a:p>
        </p:txBody>
      </p:sp>
      <p:sp>
        <p:nvSpPr>
          <p:cNvPr id="46" name="Shape 43"/>
          <p:cNvSpPr/>
          <p:nvPr/>
        </p:nvSpPr>
        <p:spPr>
          <a:xfrm>
            <a:off x="6080760" y="3337560"/>
            <a:ext cx="1005840" cy="731520"/>
          </a:xfrm>
          <a:prstGeom prst="roundRect">
            <a:avLst>
              <a:gd name="adj" fmla="val 7500"/>
            </a:avLst>
          </a:prstGeom>
          <a:solidFill>
            <a:srgbClr val="11203A"/>
          </a:solidFill>
          <a:ln w="25400">
            <a:solidFill>
              <a:srgbClr val="F97316"/>
            </a:solidFill>
            <a:prstDash val="solid"/>
          </a:ln>
          <a:effectLst>
            <a:outerShdw blurRad="101600" dist="25400" dir="8100000" algn="bl" rotWithShape="0">
              <a:srgbClr val="000000">
                <a:alpha val="25000"/>
              </a:srgbClr>
            </a:outerShdw>
          </a:effectLst>
        </p:spPr>
        <p:txBody>
          <a:bodyPr/>
          <a:lstStyle/>
          <a:p>
            <a:endParaRPr lang="en-GB"/>
          </a:p>
        </p:txBody>
      </p:sp>
      <p:sp>
        <p:nvSpPr>
          <p:cNvPr id="47" name="Text 44"/>
          <p:cNvSpPr/>
          <p:nvPr/>
        </p:nvSpPr>
        <p:spPr>
          <a:xfrm>
            <a:off x="6080760" y="3383280"/>
            <a:ext cx="1005840" cy="292608"/>
          </a:xfrm>
          <a:prstGeom prst="rect">
            <a:avLst/>
          </a:prstGeom>
          <a:noFill/>
          <a:ln/>
        </p:spPr>
        <p:txBody>
          <a:bodyPr wrap="square" lIns="0" tIns="0" rIns="0" bIns="0" rtlCol="0" anchor="ctr"/>
          <a:lstStyle/>
          <a:p>
            <a:pPr marL="0" indent="0" algn="ctr">
              <a:buNone/>
            </a:pPr>
            <a:r>
              <a:rPr lang="en-US" sz="1300" dirty="0">
                <a:solidFill>
                  <a:srgbClr val="F97316"/>
                </a:solidFill>
                <a:latin typeface="Calibri" pitchFamily="34" charset="0"/>
                <a:ea typeface="Calibri" pitchFamily="34" charset="-122"/>
                <a:cs typeface="Calibri" pitchFamily="34" charset="-120"/>
              </a:rPr>
              <a:t>🧠</a:t>
            </a:r>
            <a:endParaRPr lang="en-US" sz="1300" dirty="0"/>
          </a:p>
        </p:txBody>
      </p:sp>
      <p:sp>
        <p:nvSpPr>
          <p:cNvPr id="48" name="Text 45"/>
          <p:cNvSpPr/>
          <p:nvPr/>
        </p:nvSpPr>
        <p:spPr>
          <a:xfrm>
            <a:off x="6080760" y="3657600"/>
            <a:ext cx="1005840" cy="411480"/>
          </a:xfrm>
          <a:prstGeom prst="rect">
            <a:avLst/>
          </a:prstGeom>
          <a:noFill/>
          <a:ln/>
        </p:spPr>
        <p:txBody>
          <a:bodyPr wrap="square" lIns="0" tIns="0" rIns="0" bIns="0" rtlCol="0" anchor="ctr"/>
          <a:lstStyle/>
          <a:p>
            <a:pPr marL="0" indent="0" algn="ctr">
              <a:buNone/>
            </a:pPr>
            <a:r>
              <a:rPr lang="en-US" sz="1000" b="1" dirty="0">
                <a:solidFill>
                  <a:srgbClr val="F8FAFC"/>
                </a:solidFill>
                <a:latin typeface="Calibri" pitchFamily="34" charset="0"/>
                <a:ea typeface="Calibri" pitchFamily="34" charset="-122"/>
                <a:cs typeface="Calibri" pitchFamily="34" charset="-120"/>
              </a:rPr>
              <a:t>LLM</a:t>
            </a:r>
            <a:endParaRPr lang="en-US" sz="1000" dirty="0"/>
          </a:p>
        </p:txBody>
      </p:sp>
      <p:sp>
        <p:nvSpPr>
          <p:cNvPr id="49" name="Shape 46"/>
          <p:cNvSpPr/>
          <p:nvPr/>
        </p:nvSpPr>
        <p:spPr>
          <a:xfrm>
            <a:off x="7104888" y="3703320"/>
            <a:ext cx="374904" cy="0"/>
          </a:xfrm>
          <a:prstGeom prst="line">
            <a:avLst/>
          </a:prstGeom>
          <a:noFill/>
          <a:ln w="25400">
            <a:solidFill>
              <a:srgbClr val="F97316"/>
            </a:solidFill>
            <a:prstDash val="solid"/>
            <a:tailEnd type="triangle"/>
          </a:ln>
        </p:spPr>
        <p:txBody>
          <a:bodyPr/>
          <a:lstStyle/>
          <a:p>
            <a:endParaRPr lang="en-GB"/>
          </a:p>
        </p:txBody>
      </p:sp>
      <p:sp>
        <p:nvSpPr>
          <p:cNvPr id="50" name="Shape 47"/>
          <p:cNvSpPr/>
          <p:nvPr/>
        </p:nvSpPr>
        <p:spPr>
          <a:xfrm>
            <a:off x="7498080" y="3337560"/>
            <a:ext cx="1005840" cy="731520"/>
          </a:xfrm>
          <a:prstGeom prst="roundRect">
            <a:avLst>
              <a:gd name="adj" fmla="val 7500"/>
            </a:avLst>
          </a:prstGeom>
          <a:solidFill>
            <a:srgbClr val="11203A"/>
          </a:solidFill>
          <a:ln w="25400">
            <a:solidFill>
              <a:srgbClr val="F97316"/>
            </a:solidFill>
            <a:prstDash val="solid"/>
          </a:ln>
          <a:effectLst>
            <a:outerShdw blurRad="101600" dist="25400" dir="8100000" algn="bl" rotWithShape="0">
              <a:srgbClr val="000000">
                <a:alpha val="25000"/>
              </a:srgbClr>
            </a:outerShdw>
          </a:effectLst>
        </p:spPr>
        <p:txBody>
          <a:bodyPr/>
          <a:lstStyle/>
          <a:p>
            <a:endParaRPr lang="en-GB"/>
          </a:p>
        </p:txBody>
      </p:sp>
      <p:sp>
        <p:nvSpPr>
          <p:cNvPr id="51" name="Text 48"/>
          <p:cNvSpPr/>
          <p:nvPr/>
        </p:nvSpPr>
        <p:spPr>
          <a:xfrm>
            <a:off x="7498080" y="3383280"/>
            <a:ext cx="1005840" cy="292608"/>
          </a:xfrm>
          <a:prstGeom prst="rect">
            <a:avLst/>
          </a:prstGeom>
          <a:noFill/>
          <a:ln/>
        </p:spPr>
        <p:txBody>
          <a:bodyPr wrap="square" lIns="0" tIns="0" rIns="0" bIns="0" rtlCol="0" anchor="ctr"/>
          <a:lstStyle/>
          <a:p>
            <a:pPr marL="0" indent="0" algn="ctr">
              <a:buNone/>
            </a:pPr>
            <a:r>
              <a:rPr lang="en-US" sz="1300" dirty="0">
                <a:solidFill>
                  <a:srgbClr val="F97316"/>
                </a:solidFill>
                <a:latin typeface="Calibri" pitchFamily="34" charset="0"/>
                <a:ea typeface="Calibri" pitchFamily="34" charset="-122"/>
                <a:cs typeface="Calibri" pitchFamily="34" charset="-120"/>
              </a:rPr>
              <a:t>💬</a:t>
            </a:r>
            <a:endParaRPr lang="en-US" sz="1300" dirty="0"/>
          </a:p>
        </p:txBody>
      </p:sp>
      <p:sp>
        <p:nvSpPr>
          <p:cNvPr id="52" name="Text 49"/>
          <p:cNvSpPr/>
          <p:nvPr/>
        </p:nvSpPr>
        <p:spPr>
          <a:xfrm>
            <a:off x="7498080" y="3657600"/>
            <a:ext cx="1005840" cy="411480"/>
          </a:xfrm>
          <a:prstGeom prst="rect">
            <a:avLst/>
          </a:prstGeom>
          <a:noFill/>
          <a:ln/>
        </p:spPr>
        <p:txBody>
          <a:bodyPr wrap="square" lIns="0" tIns="0" rIns="0" bIns="0" rtlCol="0" anchor="ctr"/>
          <a:lstStyle/>
          <a:p>
            <a:pPr marL="0" indent="0" algn="ctr">
              <a:buNone/>
            </a:pPr>
            <a:r>
              <a:rPr lang="en-US" sz="1000" b="1" dirty="0">
                <a:solidFill>
                  <a:srgbClr val="F8FAFC"/>
                </a:solidFill>
                <a:latin typeface="Calibri" pitchFamily="34" charset="0"/>
                <a:ea typeface="Calibri" pitchFamily="34" charset="-122"/>
                <a:cs typeface="Calibri" pitchFamily="34" charset="-120"/>
              </a:rPr>
              <a:t>Answer</a:t>
            </a:r>
            <a:endParaRPr lang="en-US" sz="1000" dirty="0"/>
          </a:p>
        </p:txBody>
      </p:sp>
      <p:sp>
        <p:nvSpPr>
          <p:cNvPr id="53" name="Shape 50"/>
          <p:cNvSpPr/>
          <p:nvPr/>
        </p:nvSpPr>
        <p:spPr>
          <a:xfrm flipH="1">
            <a:off x="3749040" y="2606040"/>
            <a:ext cx="1645920" cy="731520"/>
          </a:xfrm>
          <a:prstGeom prst="line">
            <a:avLst/>
          </a:prstGeom>
          <a:noFill/>
          <a:ln w="19050">
            <a:solidFill>
              <a:srgbClr val="F97316"/>
            </a:solidFill>
            <a:prstDash val="dash"/>
            <a:tailEnd type="triangle"/>
          </a:ln>
        </p:spPr>
        <p:txBody>
          <a:bodyPr/>
          <a:lstStyle/>
          <a:p>
            <a:endParaRPr lang="en-GB"/>
          </a:p>
        </p:txBody>
      </p:sp>
      <p:sp>
        <p:nvSpPr>
          <p:cNvPr id="54" name="Text 51"/>
          <p:cNvSpPr/>
          <p:nvPr/>
        </p:nvSpPr>
        <p:spPr>
          <a:xfrm>
            <a:off x="3493008" y="2779179"/>
            <a:ext cx="2011680" cy="182880"/>
          </a:xfrm>
          <a:prstGeom prst="rect">
            <a:avLst/>
          </a:prstGeom>
          <a:noFill/>
          <a:ln/>
        </p:spPr>
        <p:txBody>
          <a:bodyPr wrap="square" lIns="0" tIns="0" rIns="0" bIns="0" rtlCol="0" anchor="ctr"/>
          <a:lstStyle/>
          <a:p>
            <a:pPr marL="0" indent="0" algn="ctr">
              <a:buNone/>
            </a:pPr>
            <a:r>
              <a:rPr lang="en-US" sz="800" i="1" dirty="0">
                <a:solidFill>
                  <a:srgbClr val="F97316"/>
                </a:solidFill>
                <a:latin typeface="Calibri" pitchFamily="34" charset="0"/>
                <a:ea typeface="Calibri" pitchFamily="34" charset="-122"/>
                <a:cs typeface="Calibri" pitchFamily="34" charset="-120"/>
              </a:rPr>
              <a:t>vectors</a:t>
            </a:r>
            <a:endParaRPr lang="en-US" sz="800" dirty="0"/>
          </a:p>
        </p:txBody>
      </p:sp>
      <p:sp>
        <p:nvSpPr>
          <p:cNvPr id="55" name="Shape 52"/>
          <p:cNvSpPr/>
          <p:nvPr/>
        </p:nvSpPr>
        <p:spPr>
          <a:xfrm>
            <a:off x="274320" y="4572000"/>
            <a:ext cx="8595360" cy="292608"/>
          </a:xfrm>
          <a:prstGeom prst="roundRect">
            <a:avLst>
              <a:gd name="adj" fmla="val 12500"/>
            </a:avLst>
          </a:prstGeom>
          <a:solidFill>
            <a:srgbClr val="0A1628"/>
          </a:solidFill>
          <a:ln w="12700">
            <a:solidFill>
              <a:srgbClr val="1E3A5F"/>
            </a:solidFill>
            <a:prstDash val="solid"/>
          </a:ln>
        </p:spPr>
        <p:txBody>
          <a:bodyPr/>
          <a:lstStyle/>
          <a:p>
            <a:endParaRPr lang="en-GB"/>
          </a:p>
        </p:txBody>
      </p:sp>
      <p:sp>
        <p:nvSpPr>
          <p:cNvPr id="56" name="Text 53"/>
          <p:cNvSpPr/>
          <p:nvPr/>
        </p:nvSpPr>
        <p:spPr>
          <a:xfrm>
            <a:off x="457200" y="4572000"/>
            <a:ext cx="8229600" cy="292608"/>
          </a:xfrm>
          <a:prstGeom prst="rect">
            <a:avLst/>
          </a:prstGeom>
          <a:noFill/>
          <a:ln/>
        </p:spPr>
        <p:txBody>
          <a:bodyPr wrap="square" lIns="0" tIns="0" rIns="0" bIns="0" rtlCol="0" anchor="ctr"/>
          <a:lstStyle/>
          <a:p>
            <a:pPr marL="0" indent="0" algn="ctr">
              <a:buNone/>
            </a:pPr>
            <a:r>
              <a:rPr lang="en-US" sz="1000" b="1" dirty="0">
                <a:solidFill>
                  <a:srgbClr val="F97316"/>
                </a:solidFill>
                <a:latin typeface="Calibri" pitchFamily="34" charset="0"/>
                <a:ea typeface="Calibri" pitchFamily="34" charset="-122"/>
                <a:cs typeface="Calibri" pitchFamily="34" charset="-120"/>
              </a:rPr>
              <a:t>Solves: </a:t>
            </a:r>
            <a:r>
              <a:rPr lang="en-US" sz="1000" dirty="0">
                <a:solidFill>
                  <a:srgbClr val="F8FAFC"/>
                </a:solidFill>
                <a:latin typeface="Calibri" pitchFamily="34" charset="0"/>
                <a:ea typeface="Calibri" pitchFamily="34" charset="-122"/>
                <a:cs typeface="Calibri" pitchFamily="34" charset="-120"/>
              </a:rPr>
              <a:t>knowledge cutoff · private data · hallucination reduction</a:t>
            </a:r>
            <a:endParaRPr lang="en-US" sz="1000" dirty="0"/>
          </a:p>
        </p:txBody>
      </p:sp>
      <p:sp>
        <p:nvSpPr>
          <p:cNvPr id="8" name="Text 5"/>
          <p:cNvSpPr/>
          <p:nvPr/>
        </p:nvSpPr>
        <p:spPr>
          <a:xfrm>
            <a:off x="8375950" y="4736592"/>
            <a:ext cx="685800" cy="228600"/>
          </a:xfrm>
          <a:prstGeom prst="rect">
            <a:avLst/>
          </a:prstGeom>
          <a:noFill/>
          <a:ln/>
        </p:spPr>
        <p:txBody>
          <a:bodyPr wrap="square" lIns="0" tIns="0" rIns="0" bIns="0" rtlCol="0" anchor="ctr"/>
          <a:lstStyle/>
          <a:p>
            <a:pPr marL="0" indent="0" algn="r">
              <a:buNone/>
            </a:pPr>
            <a:r>
              <a:rPr lang="en-US" sz="900" dirty="0">
                <a:solidFill>
                  <a:srgbClr val="94A3B8"/>
                </a:solidFill>
                <a:latin typeface="Calibri" pitchFamily="34" charset="0"/>
                <a:ea typeface="Calibri" pitchFamily="34" charset="-122"/>
                <a:cs typeface="Calibri" pitchFamily="34" charset="-120"/>
              </a:rPr>
              <a:t>12 / 21</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A1628"/>
        </a:solidFill>
        <a:effectLst/>
      </p:bgPr>
    </p:bg>
    <p:spTree>
      <p:nvGrpSpPr>
        <p:cNvPr id="1" name=""/>
        <p:cNvGrpSpPr/>
        <p:nvPr/>
      </p:nvGrpSpPr>
      <p:grpSpPr>
        <a:xfrm>
          <a:off x="0" y="0"/>
          <a:ext cx="0" cy="0"/>
          <a:chOff x="0" y="0"/>
          <a:chExt cx="0" cy="0"/>
        </a:xfrm>
      </p:grpSpPr>
      <p:sp>
        <p:nvSpPr>
          <p:cNvPr id="3" name="Shape 0"/>
          <p:cNvSpPr/>
          <p:nvPr/>
        </p:nvSpPr>
        <p:spPr>
          <a:xfrm>
            <a:off x="457200" y="411480"/>
            <a:ext cx="320040" cy="54864"/>
          </a:xfrm>
          <a:prstGeom prst="rect">
            <a:avLst/>
          </a:prstGeom>
          <a:solidFill>
            <a:srgbClr val="F97316"/>
          </a:solidFill>
          <a:ln w="12700">
            <a:solidFill>
              <a:srgbClr val="F97316"/>
            </a:solidFill>
            <a:prstDash val="solid"/>
          </a:ln>
        </p:spPr>
        <p:txBody>
          <a:bodyPr/>
          <a:lstStyle/>
          <a:p>
            <a:endParaRPr lang="en-GB"/>
          </a:p>
        </p:txBody>
      </p:sp>
      <p:sp>
        <p:nvSpPr>
          <p:cNvPr id="4" name="Text 1"/>
          <p:cNvSpPr/>
          <p:nvPr/>
        </p:nvSpPr>
        <p:spPr>
          <a:xfrm>
            <a:off x="868680" y="329184"/>
            <a:ext cx="5029200" cy="274320"/>
          </a:xfrm>
          <a:prstGeom prst="rect">
            <a:avLst/>
          </a:prstGeom>
          <a:noFill/>
          <a:ln/>
        </p:spPr>
        <p:txBody>
          <a:bodyPr wrap="square" lIns="0" tIns="0" rIns="0" bIns="0" rtlCol="0" anchor="ctr"/>
          <a:lstStyle/>
          <a:p>
            <a:pPr marL="0" indent="0">
              <a:buNone/>
            </a:pPr>
            <a:r>
              <a:rPr lang="en-US" sz="1000" b="1" kern="0" spc="400" dirty="0">
                <a:solidFill>
                  <a:srgbClr val="F97316"/>
                </a:solidFill>
                <a:latin typeface="Calibri" pitchFamily="34" charset="0"/>
                <a:ea typeface="Calibri" pitchFamily="34" charset="-122"/>
                <a:cs typeface="Calibri" pitchFamily="34" charset="-120"/>
              </a:rPr>
              <a:t>03 · BUILDING BLOCKS</a:t>
            </a:r>
            <a:endParaRPr lang="en-US" sz="1000" dirty="0"/>
          </a:p>
        </p:txBody>
      </p:sp>
      <p:sp>
        <p:nvSpPr>
          <p:cNvPr id="5" name="Text 2"/>
          <p:cNvSpPr/>
          <p:nvPr/>
        </p:nvSpPr>
        <p:spPr>
          <a:xfrm>
            <a:off x="457200" y="640080"/>
            <a:ext cx="8229600" cy="822960"/>
          </a:xfrm>
          <a:prstGeom prst="rect">
            <a:avLst/>
          </a:prstGeom>
          <a:noFill/>
          <a:ln/>
        </p:spPr>
        <p:txBody>
          <a:bodyPr wrap="square" lIns="0" tIns="0" rIns="0" bIns="0" rtlCol="0" anchor="ctr"/>
          <a:lstStyle/>
          <a:p>
            <a:pPr marL="0" indent="0">
              <a:buNone/>
            </a:pPr>
            <a:r>
              <a:rPr lang="en-US" sz="3200" b="1" dirty="0">
                <a:solidFill>
                  <a:srgbClr val="F8FAFC"/>
                </a:solidFill>
                <a:latin typeface="Calibri" pitchFamily="34" charset="0"/>
                <a:ea typeface="Calibri" pitchFamily="34" charset="-122"/>
                <a:cs typeface="Calibri" pitchFamily="34" charset="-120"/>
              </a:rPr>
              <a:t>RAG variants</a:t>
            </a:r>
            <a:endParaRPr lang="en-US" sz="3200" dirty="0"/>
          </a:p>
        </p:txBody>
      </p:sp>
      <p:sp>
        <p:nvSpPr>
          <p:cNvPr id="6" name="Text 3"/>
          <p:cNvSpPr/>
          <p:nvPr/>
        </p:nvSpPr>
        <p:spPr>
          <a:xfrm>
            <a:off x="457200" y="4754880"/>
            <a:ext cx="4572000" cy="228600"/>
          </a:xfrm>
          <a:prstGeom prst="rect">
            <a:avLst/>
          </a:prstGeom>
          <a:noFill/>
          <a:ln/>
        </p:spPr>
        <p:txBody>
          <a:bodyPr wrap="square" lIns="0" tIns="0" rIns="0" bIns="0" rtlCol="0" anchor="ctr"/>
          <a:lstStyle/>
          <a:p>
            <a:pPr marL="0" indent="0">
              <a:buNone/>
            </a:pPr>
            <a:endParaRPr lang="en-US" sz="900" dirty="0"/>
          </a:p>
        </p:txBody>
      </p:sp>
      <p:sp>
        <p:nvSpPr>
          <p:cNvPr id="7" name="Shape 4"/>
          <p:cNvSpPr/>
          <p:nvPr/>
        </p:nvSpPr>
        <p:spPr>
          <a:xfrm>
            <a:off x="8275320" y="4818888"/>
            <a:ext cx="73152" cy="73152"/>
          </a:xfrm>
          <a:prstGeom prst="ellipse">
            <a:avLst/>
          </a:prstGeom>
          <a:solidFill>
            <a:srgbClr val="F97316"/>
          </a:solidFill>
          <a:ln w="12700">
            <a:solidFill>
              <a:srgbClr val="F97316"/>
            </a:solidFill>
            <a:prstDash val="solid"/>
          </a:ln>
        </p:spPr>
        <p:txBody>
          <a:bodyPr/>
          <a:lstStyle/>
          <a:p>
            <a:endParaRPr lang="en-GB"/>
          </a:p>
        </p:txBody>
      </p:sp>
      <p:sp>
        <p:nvSpPr>
          <p:cNvPr id="8" name="Text 5"/>
          <p:cNvSpPr/>
          <p:nvPr/>
        </p:nvSpPr>
        <p:spPr>
          <a:xfrm>
            <a:off x="8366760" y="4736592"/>
            <a:ext cx="685800" cy="228600"/>
          </a:xfrm>
          <a:prstGeom prst="rect">
            <a:avLst/>
          </a:prstGeom>
          <a:noFill/>
          <a:ln/>
        </p:spPr>
        <p:txBody>
          <a:bodyPr wrap="square" lIns="0" tIns="0" rIns="0" bIns="0" rtlCol="0" anchor="ctr"/>
          <a:lstStyle/>
          <a:p>
            <a:pPr marL="0" indent="0" algn="r">
              <a:buNone/>
            </a:pPr>
            <a:r>
              <a:rPr lang="en-US" sz="900" dirty="0">
                <a:solidFill>
                  <a:srgbClr val="94A3B8"/>
                </a:solidFill>
                <a:latin typeface="Calibri" pitchFamily="34" charset="0"/>
                <a:ea typeface="Calibri" pitchFamily="34" charset="-122"/>
                <a:cs typeface="Calibri" pitchFamily="34" charset="-120"/>
              </a:rPr>
              <a:t>13 / 21</a:t>
            </a:r>
            <a:endParaRPr lang="en-US" sz="900" dirty="0"/>
          </a:p>
        </p:txBody>
      </p:sp>
      <p:sp>
        <p:nvSpPr>
          <p:cNvPr id="9" name="Shape 6"/>
          <p:cNvSpPr/>
          <p:nvPr/>
        </p:nvSpPr>
        <p:spPr>
          <a:xfrm>
            <a:off x="329184" y="1463040"/>
            <a:ext cx="4160520" cy="1554480"/>
          </a:xfrm>
          <a:prstGeom prst="roundRect">
            <a:avLst>
              <a:gd name="adj" fmla="val 4706"/>
            </a:avLst>
          </a:prstGeom>
          <a:solidFill>
            <a:srgbClr val="11203A"/>
          </a:solidFill>
          <a:ln w="25400">
            <a:solidFill>
              <a:srgbClr val="3B82F6"/>
            </a:solidFill>
            <a:prstDash val="solid"/>
          </a:ln>
          <a:effectLst>
            <a:outerShdw blurRad="101600" dist="25400" dir="8100000" algn="bl" rotWithShape="0">
              <a:srgbClr val="000000">
                <a:alpha val="25000"/>
              </a:srgbClr>
            </a:outerShdw>
          </a:effectLst>
        </p:spPr>
        <p:txBody>
          <a:bodyPr/>
          <a:lstStyle/>
          <a:p>
            <a:endParaRPr lang="en-GB"/>
          </a:p>
        </p:txBody>
      </p:sp>
      <p:sp>
        <p:nvSpPr>
          <p:cNvPr id="10" name="Shape 7"/>
          <p:cNvSpPr/>
          <p:nvPr/>
        </p:nvSpPr>
        <p:spPr>
          <a:xfrm>
            <a:off x="329184" y="1463040"/>
            <a:ext cx="54864" cy="1554480"/>
          </a:xfrm>
          <a:prstGeom prst="rect">
            <a:avLst/>
          </a:prstGeom>
          <a:solidFill>
            <a:srgbClr val="3B82F6"/>
          </a:solidFill>
          <a:ln w="12700">
            <a:solidFill>
              <a:srgbClr val="3B82F6"/>
            </a:solidFill>
            <a:prstDash val="solid"/>
          </a:ln>
        </p:spPr>
        <p:txBody>
          <a:bodyPr/>
          <a:lstStyle/>
          <a:p>
            <a:endParaRPr lang="en-GB"/>
          </a:p>
        </p:txBody>
      </p:sp>
      <p:sp>
        <p:nvSpPr>
          <p:cNvPr id="11" name="Text 8"/>
          <p:cNvSpPr/>
          <p:nvPr/>
        </p:nvSpPr>
        <p:spPr>
          <a:xfrm>
            <a:off x="466344" y="1554480"/>
            <a:ext cx="320040" cy="274320"/>
          </a:xfrm>
          <a:prstGeom prst="rect">
            <a:avLst/>
          </a:prstGeom>
          <a:noFill/>
          <a:ln/>
        </p:spPr>
        <p:txBody>
          <a:bodyPr wrap="square" lIns="0" tIns="0" rIns="0" bIns="0" rtlCol="0" anchor="ctr"/>
          <a:lstStyle/>
          <a:p>
            <a:pPr marL="0" indent="0">
              <a:buNone/>
            </a:pPr>
            <a:r>
              <a:rPr lang="en-US" sz="1400" b="1" dirty="0">
                <a:solidFill>
                  <a:srgbClr val="3B82F6"/>
                </a:solidFill>
                <a:latin typeface="Calibri" pitchFamily="34" charset="0"/>
                <a:ea typeface="Calibri" pitchFamily="34" charset="-122"/>
                <a:cs typeface="Calibri" pitchFamily="34" charset="-120"/>
              </a:rPr>
              <a:t>①</a:t>
            </a:r>
            <a:endParaRPr lang="en-US" sz="1400" dirty="0"/>
          </a:p>
        </p:txBody>
      </p:sp>
      <p:sp>
        <p:nvSpPr>
          <p:cNvPr id="12" name="Text 9"/>
          <p:cNvSpPr/>
          <p:nvPr/>
        </p:nvSpPr>
        <p:spPr>
          <a:xfrm>
            <a:off x="832104" y="1554480"/>
            <a:ext cx="1965960" cy="274320"/>
          </a:xfrm>
          <a:prstGeom prst="rect">
            <a:avLst/>
          </a:prstGeom>
          <a:noFill/>
          <a:ln/>
        </p:spPr>
        <p:txBody>
          <a:bodyPr wrap="square" lIns="0" tIns="0" rIns="0" bIns="0" rtlCol="0" anchor="ctr"/>
          <a:lstStyle/>
          <a:p>
            <a:pPr marL="0" indent="0">
              <a:buNone/>
            </a:pPr>
            <a:r>
              <a:rPr lang="en-US" sz="1300" b="1" dirty="0">
                <a:solidFill>
                  <a:srgbClr val="F8FAFC"/>
                </a:solidFill>
                <a:latin typeface="Calibri" pitchFamily="34" charset="0"/>
                <a:ea typeface="Calibri" pitchFamily="34" charset="-122"/>
                <a:cs typeface="Calibri" pitchFamily="34" charset="-120"/>
              </a:rPr>
              <a:t>Naive RAG</a:t>
            </a:r>
            <a:endParaRPr lang="en-US" sz="1300" dirty="0"/>
          </a:p>
        </p:txBody>
      </p:sp>
      <p:sp>
        <p:nvSpPr>
          <p:cNvPr id="13" name="Text 10"/>
          <p:cNvSpPr/>
          <p:nvPr/>
        </p:nvSpPr>
        <p:spPr>
          <a:xfrm>
            <a:off x="2752344" y="1554480"/>
            <a:ext cx="1600200" cy="274320"/>
          </a:xfrm>
          <a:prstGeom prst="rect">
            <a:avLst/>
          </a:prstGeom>
          <a:noFill/>
          <a:ln/>
        </p:spPr>
        <p:txBody>
          <a:bodyPr wrap="square" lIns="0" tIns="0" rIns="0" bIns="0" rtlCol="0" anchor="ctr"/>
          <a:lstStyle/>
          <a:p>
            <a:pPr marL="0" indent="0" algn="r">
              <a:buNone/>
            </a:pPr>
            <a:r>
              <a:rPr lang="en-US" sz="900" i="1" dirty="0">
                <a:solidFill>
                  <a:srgbClr val="3B82F6"/>
                </a:solidFill>
                <a:latin typeface="Calibri" pitchFamily="34" charset="0"/>
                <a:ea typeface="Calibri" pitchFamily="34" charset="-122"/>
                <a:cs typeface="Calibri" pitchFamily="34" charset="-120"/>
              </a:rPr>
              <a:t>FAQs · simple Q&amp;A</a:t>
            </a:r>
            <a:endParaRPr lang="en-US" sz="900" dirty="0"/>
          </a:p>
        </p:txBody>
      </p:sp>
      <p:sp>
        <p:nvSpPr>
          <p:cNvPr id="14" name="Shape 11"/>
          <p:cNvSpPr/>
          <p:nvPr/>
        </p:nvSpPr>
        <p:spPr>
          <a:xfrm>
            <a:off x="466344" y="2331720"/>
            <a:ext cx="640080" cy="411480"/>
          </a:xfrm>
          <a:prstGeom prst="roundRect">
            <a:avLst>
              <a:gd name="adj" fmla="val 8889"/>
            </a:avLst>
          </a:prstGeom>
          <a:solidFill>
            <a:srgbClr val="11203A"/>
          </a:solidFill>
          <a:ln w="15240">
            <a:solidFill>
              <a:srgbClr val="3B82F6"/>
            </a:solidFill>
            <a:prstDash val="solid"/>
          </a:ln>
        </p:spPr>
        <p:txBody>
          <a:bodyPr/>
          <a:lstStyle/>
          <a:p>
            <a:endParaRPr lang="en-GB"/>
          </a:p>
        </p:txBody>
      </p:sp>
      <p:sp>
        <p:nvSpPr>
          <p:cNvPr id="15" name="Text 12"/>
          <p:cNvSpPr/>
          <p:nvPr/>
        </p:nvSpPr>
        <p:spPr>
          <a:xfrm>
            <a:off x="466344" y="2331720"/>
            <a:ext cx="640080" cy="411480"/>
          </a:xfrm>
          <a:prstGeom prst="rect">
            <a:avLst/>
          </a:prstGeom>
          <a:noFill/>
          <a:ln/>
        </p:spPr>
        <p:txBody>
          <a:bodyPr wrap="square" lIns="0" tIns="0" rIns="0" bIns="0" rtlCol="0" anchor="ctr"/>
          <a:lstStyle/>
          <a:p>
            <a:pPr marL="0" indent="0" algn="ctr">
              <a:buNone/>
            </a:pPr>
            <a:r>
              <a:rPr lang="en-US" sz="900" b="1" dirty="0">
                <a:solidFill>
                  <a:srgbClr val="F8FAFC"/>
                </a:solidFill>
                <a:latin typeface="Calibri" pitchFamily="34" charset="0"/>
                <a:ea typeface="Calibri" pitchFamily="34" charset="-122"/>
                <a:cs typeface="Calibri" pitchFamily="34" charset="-120"/>
              </a:rPr>
              <a:t>Q</a:t>
            </a:r>
            <a:endParaRPr lang="en-US" sz="900" dirty="0"/>
          </a:p>
        </p:txBody>
      </p:sp>
      <p:sp>
        <p:nvSpPr>
          <p:cNvPr id="16" name="Shape 13"/>
          <p:cNvSpPr/>
          <p:nvPr/>
        </p:nvSpPr>
        <p:spPr>
          <a:xfrm>
            <a:off x="1106424" y="2532888"/>
            <a:ext cx="137160" cy="0"/>
          </a:xfrm>
          <a:prstGeom prst="line">
            <a:avLst/>
          </a:prstGeom>
          <a:noFill/>
          <a:ln w="19050">
            <a:solidFill>
              <a:srgbClr val="3B82F6"/>
            </a:solidFill>
            <a:prstDash val="solid"/>
            <a:tailEnd type="triangle"/>
          </a:ln>
        </p:spPr>
        <p:txBody>
          <a:bodyPr/>
          <a:lstStyle/>
          <a:p>
            <a:endParaRPr lang="en-GB"/>
          </a:p>
        </p:txBody>
      </p:sp>
      <p:sp>
        <p:nvSpPr>
          <p:cNvPr id="17" name="Shape 14"/>
          <p:cNvSpPr/>
          <p:nvPr/>
        </p:nvSpPr>
        <p:spPr>
          <a:xfrm>
            <a:off x="1243584" y="2331720"/>
            <a:ext cx="640080" cy="411480"/>
          </a:xfrm>
          <a:prstGeom prst="roundRect">
            <a:avLst>
              <a:gd name="adj" fmla="val 8889"/>
            </a:avLst>
          </a:prstGeom>
          <a:solidFill>
            <a:srgbClr val="11203A"/>
          </a:solidFill>
          <a:ln w="15240">
            <a:solidFill>
              <a:srgbClr val="3B82F6"/>
            </a:solidFill>
            <a:prstDash val="solid"/>
          </a:ln>
        </p:spPr>
        <p:txBody>
          <a:bodyPr/>
          <a:lstStyle/>
          <a:p>
            <a:endParaRPr lang="en-GB"/>
          </a:p>
        </p:txBody>
      </p:sp>
      <p:sp>
        <p:nvSpPr>
          <p:cNvPr id="18" name="Text 15"/>
          <p:cNvSpPr/>
          <p:nvPr/>
        </p:nvSpPr>
        <p:spPr>
          <a:xfrm>
            <a:off x="1243584" y="2331720"/>
            <a:ext cx="640080" cy="411480"/>
          </a:xfrm>
          <a:prstGeom prst="rect">
            <a:avLst/>
          </a:prstGeom>
          <a:noFill/>
          <a:ln/>
        </p:spPr>
        <p:txBody>
          <a:bodyPr wrap="square" lIns="0" tIns="0" rIns="0" bIns="0" rtlCol="0" anchor="ctr"/>
          <a:lstStyle/>
          <a:p>
            <a:pPr marL="0" indent="0" algn="ctr">
              <a:buNone/>
            </a:pPr>
            <a:r>
              <a:rPr lang="en-US" sz="900" b="1" dirty="0">
                <a:solidFill>
                  <a:srgbClr val="F8FAFC"/>
                </a:solidFill>
                <a:latin typeface="Calibri" pitchFamily="34" charset="0"/>
                <a:ea typeface="Calibri" pitchFamily="34" charset="-122"/>
                <a:cs typeface="Calibri" pitchFamily="34" charset="-120"/>
              </a:rPr>
              <a:t>Embed</a:t>
            </a:r>
            <a:endParaRPr lang="en-US" sz="900" dirty="0"/>
          </a:p>
        </p:txBody>
      </p:sp>
      <p:sp>
        <p:nvSpPr>
          <p:cNvPr id="19" name="Shape 16"/>
          <p:cNvSpPr/>
          <p:nvPr/>
        </p:nvSpPr>
        <p:spPr>
          <a:xfrm>
            <a:off x="1883664" y="2532888"/>
            <a:ext cx="137160" cy="0"/>
          </a:xfrm>
          <a:prstGeom prst="line">
            <a:avLst/>
          </a:prstGeom>
          <a:noFill/>
          <a:ln w="19050">
            <a:solidFill>
              <a:srgbClr val="3B82F6"/>
            </a:solidFill>
            <a:prstDash val="solid"/>
            <a:tailEnd type="triangle"/>
          </a:ln>
        </p:spPr>
        <p:txBody>
          <a:bodyPr/>
          <a:lstStyle/>
          <a:p>
            <a:endParaRPr lang="en-GB"/>
          </a:p>
        </p:txBody>
      </p:sp>
      <p:sp>
        <p:nvSpPr>
          <p:cNvPr id="20" name="Shape 17"/>
          <p:cNvSpPr/>
          <p:nvPr/>
        </p:nvSpPr>
        <p:spPr>
          <a:xfrm>
            <a:off x="2020824" y="2331720"/>
            <a:ext cx="640080" cy="411480"/>
          </a:xfrm>
          <a:prstGeom prst="roundRect">
            <a:avLst>
              <a:gd name="adj" fmla="val 8889"/>
            </a:avLst>
          </a:prstGeom>
          <a:solidFill>
            <a:srgbClr val="11203A"/>
          </a:solidFill>
          <a:ln w="15240">
            <a:solidFill>
              <a:srgbClr val="3B82F6"/>
            </a:solidFill>
            <a:prstDash val="solid"/>
          </a:ln>
        </p:spPr>
        <p:txBody>
          <a:bodyPr/>
          <a:lstStyle/>
          <a:p>
            <a:endParaRPr lang="en-GB"/>
          </a:p>
        </p:txBody>
      </p:sp>
      <p:sp>
        <p:nvSpPr>
          <p:cNvPr id="21" name="Text 18"/>
          <p:cNvSpPr/>
          <p:nvPr/>
        </p:nvSpPr>
        <p:spPr>
          <a:xfrm>
            <a:off x="2020824" y="2331720"/>
            <a:ext cx="640080" cy="411480"/>
          </a:xfrm>
          <a:prstGeom prst="rect">
            <a:avLst/>
          </a:prstGeom>
          <a:noFill/>
          <a:ln/>
        </p:spPr>
        <p:txBody>
          <a:bodyPr wrap="square" lIns="0" tIns="0" rIns="0" bIns="0" rtlCol="0" anchor="ctr"/>
          <a:lstStyle/>
          <a:p>
            <a:pPr marL="0" indent="0" algn="ctr">
              <a:buNone/>
            </a:pPr>
            <a:r>
              <a:rPr lang="en-US" sz="900" b="1" dirty="0">
                <a:solidFill>
                  <a:srgbClr val="F8FAFC"/>
                </a:solidFill>
                <a:latin typeface="Calibri" pitchFamily="34" charset="0"/>
                <a:ea typeface="Calibri" pitchFamily="34" charset="-122"/>
                <a:cs typeface="Calibri" pitchFamily="34" charset="-120"/>
              </a:rPr>
              <a:t>Vec DB</a:t>
            </a:r>
            <a:endParaRPr lang="en-US" sz="900" dirty="0"/>
          </a:p>
        </p:txBody>
      </p:sp>
      <p:sp>
        <p:nvSpPr>
          <p:cNvPr id="22" name="Shape 19"/>
          <p:cNvSpPr/>
          <p:nvPr/>
        </p:nvSpPr>
        <p:spPr>
          <a:xfrm>
            <a:off x="2660904" y="2532888"/>
            <a:ext cx="137160" cy="0"/>
          </a:xfrm>
          <a:prstGeom prst="line">
            <a:avLst/>
          </a:prstGeom>
          <a:noFill/>
          <a:ln w="19050">
            <a:solidFill>
              <a:srgbClr val="3B82F6"/>
            </a:solidFill>
            <a:prstDash val="solid"/>
            <a:tailEnd type="triangle"/>
          </a:ln>
        </p:spPr>
        <p:txBody>
          <a:bodyPr/>
          <a:lstStyle/>
          <a:p>
            <a:endParaRPr lang="en-GB"/>
          </a:p>
        </p:txBody>
      </p:sp>
      <p:sp>
        <p:nvSpPr>
          <p:cNvPr id="23" name="Shape 20"/>
          <p:cNvSpPr/>
          <p:nvPr/>
        </p:nvSpPr>
        <p:spPr>
          <a:xfrm>
            <a:off x="2798064" y="2331720"/>
            <a:ext cx="640080" cy="411480"/>
          </a:xfrm>
          <a:prstGeom prst="roundRect">
            <a:avLst>
              <a:gd name="adj" fmla="val 8889"/>
            </a:avLst>
          </a:prstGeom>
          <a:solidFill>
            <a:srgbClr val="11203A"/>
          </a:solidFill>
          <a:ln w="15240">
            <a:solidFill>
              <a:srgbClr val="3B82F6"/>
            </a:solidFill>
            <a:prstDash val="solid"/>
          </a:ln>
        </p:spPr>
        <p:txBody>
          <a:bodyPr/>
          <a:lstStyle/>
          <a:p>
            <a:endParaRPr lang="en-GB"/>
          </a:p>
        </p:txBody>
      </p:sp>
      <p:sp>
        <p:nvSpPr>
          <p:cNvPr id="24" name="Text 21"/>
          <p:cNvSpPr/>
          <p:nvPr/>
        </p:nvSpPr>
        <p:spPr>
          <a:xfrm>
            <a:off x="2798064" y="2331720"/>
            <a:ext cx="640080" cy="411480"/>
          </a:xfrm>
          <a:prstGeom prst="rect">
            <a:avLst/>
          </a:prstGeom>
          <a:noFill/>
          <a:ln/>
        </p:spPr>
        <p:txBody>
          <a:bodyPr wrap="square" lIns="0" tIns="0" rIns="0" bIns="0" rtlCol="0" anchor="ctr"/>
          <a:lstStyle/>
          <a:p>
            <a:pPr marL="0" indent="0" algn="ctr">
              <a:buNone/>
            </a:pPr>
            <a:r>
              <a:rPr lang="en-US" sz="900" b="1" dirty="0">
                <a:solidFill>
                  <a:srgbClr val="F8FAFC"/>
                </a:solidFill>
                <a:latin typeface="Calibri" pitchFamily="34" charset="0"/>
                <a:ea typeface="Calibri" pitchFamily="34" charset="-122"/>
                <a:cs typeface="Calibri" pitchFamily="34" charset="-120"/>
              </a:rPr>
              <a:t>LLM</a:t>
            </a:r>
            <a:endParaRPr lang="en-US" sz="900" dirty="0"/>
          </a:p>
        </p:txBody>
      </p:sp>
      <p:sp>
        <p:nvSpPr>
          <p:cNvPr id="25" name="Shape 22"/>
          <p:cNvSpPr/>
          <p:nvPr/>
        </p:nvSpPr>
        <p:spPr>
          <a:xfrm>
            <a:off x="3438144" y="2532888"/>
            <a:ext cx="137160" cy="0"/>
          </a:xfrm>
          <a:prstGeom prst="line">
            <a:avLst/>
          </a:prstGeom>
          <a:noFill/>
          <a:ln w="19050">
            <a:solidFill>
              <a:srgbClr val="3B82F6"/>
            </a:solidFill>
            <a:prstDash val="solid"/>
            <a:tailEnd type="triangle"/>
          </a:ln>
        </p:spPr>
        <p:txBody>
          <a:bodyPr/>
          <a:lstStyle/>
          <a:p>
            <a:endParaRPr lang="en-GB"/>
          </a:p>
        </p:txBody>
      </p:sp>
      <p:sp>
        <p:nvSpPr>
          <p:cNvPr id="26" name="Shape 23"/>
          <p:cNvSpPr/>
          <p:nvPr/>
        </p:nvSpPr>
        <p:spPr>
          <a:xfrm>
            <a:off x="3575304" y="2331720"/>
            <a:ext cx="640080" cy="411480"/>
          </a:xfrm>
          <a:prstGeom prst="roundRect">
            <a:avLst>
              <a:gd name="adj" fmla="val 8889"/>
            </a:avLst>
          </a:prstGeom>
          <a:solidFill>
            <a:srgbClr val="11203A"/>
          </a:solidFill>
          <a:ln w="15240">
            <a:solidFill>
              <a:srgbClr val="3B82F6"/>
            </a:solidFill>
            <a:prstDash val="solid"/>
          </a:ln>
        </p:spPr>
        <p:txBody>
          <a:bodyPr/>
          <a:lstStyle/>
          <a:p>
            <a:endParaRPr lang="en-GB"/>
          </a:p>
        </p:txBody>
      </p:sp>
      <p:sp>
        <p:nvSpPr>
          <p:cNvPr id="27" name="Text 24"/>
          <p:cNvSpPr/>
          <p:nvPr/>
        </p:nvSpPr>
        <p:spPr>
          <a:xfrm>
            <a:off x="3575304" y="2331720"/>
            <a:ext cx="640080" cy="411480"/>
          </a:xfrm>
          <a:prstGeom prst="rect">
            <a:avLst/>
          </a:prstGeom>
          <a:noFill/>
          <a:ln/>
        </p:spPr>
        <p:txBody>
          <a:bodyPr wrap="square" lIns="0" tIns="0" rIns="0" bIns="0" rtlCol="0" anchor="ctr"/>
          <a:lstStyle/>
          <a:p>
            <a:pPr marL="0" indent="0" algn="ctr">
              <a:buNone/>
            </a:pPr>
            <a:r>
              <a:rPr lang="en-US" sz="900" b="1" dirty="0">
                <a:solidFill>
                  <a:srgbClr val="F8FAFC"/>
                </a:solidFill>
                <a:latin typeface="Calibri" pitchFamily="34" charset="0"/>
                <a:ea typeface="Calibri" pitchFamily="34" charset="-122"/>
                <a:cs typeface="Calibri" pitchFamily="34" charset="-120"/>
              </a:rPr>
              <a:t>A</a:t>
            </a:r>
            <a:endParaRPr lang="en-US" sz="900" dirty="0"/>
          </a:p>
        </p:txBody>
      </p:sp>
      <p:sp>
        <p:nvSpPr>
          <p:cNvPr id="28" name="Shape 25"/>
          <p:cNvSpPr/>
          <p:nvPr/>
        </p:nvSpPr>
        <p:spPr>
          <a:xfrm>
            <a:off x="4654296" y="1463040"/>
            <a:ext cx="4160520" cy="1554480"/>
          </a:xfrm>
          <a:prstGeom prst="roundRect">
            <a:avLst>
              <a:gd name="adj" fmla="val 4706"/>
            </a:avLst>
          </a:prstGeom>
          <a:solidFill>
            <a:srgbClr val="11203A"/>
          </a:solidFill>
          <a:ln w="25400">
            <a:solidFill>
              <a:srgbClr val="3B82F6"/>
            </a:solidFill>
            <a:prstDash val="solid"/>
          </a:ln>
          <a:effectLst>
            <a:outerShdw blurRad="101600" dist="25400" dir="8100000" algn="bl" rotWithShape="0">
              <a:srgbClr val="000000">
                <a:alpha val="25000"/>
              </a:srgbClr>
            </a:outerShdw>
          </a:effectLst>
        </p:spPr>
        <p:txBody>
          <a:bodyPr/>
          <a:lstStyle/>
          <a:p>
            <a:endParaRPr lang="en-GB"/>
          </a:p>
        </p:txBody>
      </p:sp>
      <p:sp>
        <p:nvSpPr>
          <p:cNvPr id="29" name="Shape 26"/>
          <p:cNvSpPr/>
          <p:nvPr/>
        </p:nvSpPr>
        <p:spPr>
          <a:xfrm>
            <a:off x="4654296" y="1463040"/>
            <a:ext cx="54864" cy="1554480"/>
          </a:xfrm>
          <a:prstGeom prst="rect">
            <a:avLst/>
          </a:prstGeom>
          <a:solidFill>
            <a:srgbClr val="3B82F6"/>
          </a:solidFill>
          <a:ln w="12700">
            <a:solidFill>
              <a:srgbClr val="3B82F6"/>
            </a:solidFill>
            <a:prstDash val="solid"/>
          </a:ln>
        </p:spPr>
        <p:txBody>
          <a:bodyPr/>
          <a:lstStyle/>
          <a:p>
            <a:endParaRPr lang="en-GB"/>
          </a:p>
        </p:txBody>
      </p:sp>
      <p:sp>
        <p:nvSpPr>
          <p:cNvPr id="30" name="Text 27"/>
          <p:cNvSpPr/>
          <p:nvPr/>
        </p:nvSpPr>
        <p:spPr>
          <a:xfrm>
            <a:off x="4791456" y="1554480"/>
            <a:ext cx="320040" cy="274320"/>
          </a:xfrm>
          <a:prstGeom prst="rect">
            <a:avLst/>
          </a:prstGeom>
          <a:noFill/>
          <a:ln/>
        </p:spPr>
        <p:txBody>
          <a:bodyPr wrap="square" lIns="0" tIns="0" rIns="0" bIns="0" rtlCol="0" anchor="ctr"/>
          <a:lstStyle/>
          <a:p>
            <a:pPr marL="0" indent="0">
              <a:buNone/>
            </a:pPr>
            <a:r>
              <a:rPr lang="en-US" sz="1400" b="1" dirty="0">
                <a:solidFill>
                  <a:srgbClr val="3B82F6"/>
                </a:solidFill>
                <a:latin typeface="Calibri" pitchFamily="34" charset="0"/>
                <a:ea typeface="Calibri" pitchFamily="34" charset="-122"/>
                <a:cs typeface="Calibri" pitchFamily="34" charset="-120"/>
              </a:rPr>
              <a:t>②</a:t>
            </a:r>
            <a:endParaRPr lang="en-US" sz="1400" dirty="0"/>
          </a:p>
        </p:txBody>
      </p:sp>
      <p:sp>
        <p:nvSpPr>
          <p:cNvPr id="31" name="Text 28"/>
          <p:cNvSpPr/>
          <p:nvPr/>
        </p:nvSpPr>
        <p:spPr>
          <a:xfrm>
            <a:off x="5157216" y="1554480"/>
            <a:ext cx="1965960" cy="274320"/>
          </a:xfrm>
          <a:prstGeom prst="rect">
            <a:avLst/>
          </a:prstGeom>
          <a:noFill/>
          <a:ln/>
        </p:spPr>
        <p:txBody>
          <a:bodyPr wrap="square" lIns="0" tIns="0" rIns="0" bIns="0" rtlCol="0" anchor="ctr"/>
          <a:lstStyle/>
          <a:p>
            <a:pPr marL="0" indent="0">
              <a:buNone/>
            </a:pPr>
            <a:r>
              <a:rPr lang="en-US" sz="1300" b="1" dirty="0">
                <a:solidFill>
                  <a:srgbClr val="F8FAFC"/>
                </a:solidFill>
                <a:latin typeface="Calibri" pitchFamily="34" charset="0"/>
                <a:ea typeface="Calibri" pitchFamily="34" charset="-122"/>
                <a:cs typeface="Calibri" pitchFamily="34" charset="-120"/>
              </a:rPr>
              <a:t>Hybrid RAG</a:t>
            </a:r>
            <a:endParaRPr lang="en-US" sz="1300" dirty="0"/>
          </a:p>
        </p:txBody>
      </p:sp>
      <p:sp>
        <p:nvSpPr>
          <p:cNvPr id="32" name="Text 29"/>
          <p:cNvSpPr/>
          <p:nvPr/>
        </p:nvSpPr>
        <p:spPr>
          <a:xfrm>
            <a:off x="7077456" y="1554480"/>
            <a:ext cx="1600200" cy="274320"/>
          </a:xfrm>
          <a:prstGeom prst="rect">
            <a:avLst/>
          </a:prstGeom>
          <a:noFill/>
          <a:ln/>
        </p:spPr>
        <p:txBody>
          <a:bodyPr wrap="square" lIns="0" tIns="0" rIns="0" bIns="0" rtlCol="0" anchor="ctr"/>
          <a:lstStyle/>
          <a:p>
            <a:pPr marL="0" indent="0" algn="r">
              <a:buNone/>
            </a:pPr>
            <a:r>
              <a:rPr lang="en-US" sz="900" i="1" dirty="0">
                <a:solidFill>
                  <a:srgbClr val="3B82F6"/>
                </a:solidFill>
                <a:latin typeface="Calibri" pitchFamily="34" charset="0"/>
                <a:ea typeface="Calibri" pitchFamily="34" charset="-122"/>
                <a:cs typeface="Calibri" pitchFamily="34" charset="-120"/>
              </a:rPr>
              <a:t>exact matches matter</a:t>
            </a:r>
            <a:endParaRPr lang="en-US" sz="900" dirty="0"/>
          </a:p>
        </p:txBody>
      </p:sp>
      <p:sp>
        <p:nvSpPr>
          <p:cNvPr id="33" name="Shape 30"/>
          <p:cNvSpPr/>
          <p:nvPr/>
        </p:nvSpPr>
        <p:spPr>
          <a:xfrm>
            <a:off x="4791456" y="2468880"/>
            <a:ext cx="411480" cy="411480"/>
          </a:xfrm>
          <a:prstGeom prst="roundRect">
            <a:avLst>
              <a:gd name="adj" fmla="val 8889"/>
            </a:avLst>
          </a:prstGeom>
          <a:solidFill>
            <a:srgbClr val="11203A"/>
          </a:solidFill>
          <a:ln w="15240">
            <a:solidFill>
              <a:srgbClr val="3B82F6"/>
            </a:solidFill>
            <a:prstDash val="solid"/>
          </a:ln>
        </p:spPr>
        <p:txBody>
          <a:bodyPr/>
          <a:lstStyle/>
          <a:p>
            <a:endParaRPr lang="en-GB"/>
          </a:p>
        </p:txBody>
      </p:sp>
      <p:sp>
        <p:nvSpPr>
          <p:cNvPr id="34" name="Text 31"/>
          <p:cNvSpPr/>
          <p:nvPr/>
        </p:nvSpPr>
        <p:spPr>
          <a:xfrm>
            <a:off x="4791456" y="2468880"/>
            <a:ext cx="411480" cy="411480"/>
          </a:xfrm>
          <a:prstGeom prst="rect">
            <a:avLst/>
          </a:prstGeom>
          <a:noFill/>
          <a:ln/>
        </p:spPr>
        <p:txBody>
          <a:bodyPr wrap="square" lIns="0" tIns="0" rIns="0" bIns="0" rtlCol="0" anchor="ctr"/>
          <a:lstStyle/>
          <a:p>
            <a:pPr marL="0" indent="0" algn="ctr">
              <a:buNone/>
            </a:pPr>
            <a:r>
              <a:rPr lang="en-US" sz="900" b="1" dirty="0">
                <a:solidFill>
                  <a:srgbClr val="F8FAFC"/>
                </a:solidFill>
                <a:latin typeface="Calibri" pitchFamily="34" charset="0"/>
                <a:ea typeface="Calibri" pitchFamily="34" charset="-122"/>
                <a:cs typeface="Calibri" pitchFamily="34" charset="-120"/>
              </a:rPr>
              <a:t>Q</a:t>
            </a:r>
            <a:endParaRPr lang="en-US" sz="900" dirty="0"/>
          </a:p>
        </p:txBody>
      </p:sp>
      <p:sp>
        <p:nvSpPr>
          <p:cNvPr id="35" name="Shape 32"/>
          <p:cNvSpPr/>
          <p:nvPr/>
        </p:nvSpPr>
        <p:spPr>
          <a:xfrm>
            <a:off x="5431536" y="2240280"/>
            <a:ext cx="777240" cy="365760"/>
          </a:xfrm>
          <a:prstGeom prst="roundRect">
            <a:avLst>
              <a:gd name="adj" fmla="val 10000"/>
            </a:avLst>
          </a:prstGeom>
          <a:solidFill>
            <a:srgbClr val="11203A"/>
          </a:solidFill>
          <a:ln w="15240">
            <a:solidFill>
              <a:srgbClr val="3B82F6"/>
            </a:solidFill>
            <a:prstDash val="solid"/>
          </a:ln>
        </p:spPr>
        <p:txBody>
          <a:bodyPr/>
          <a:lstStyle/>
          <a:p>
            <a:endParaRPr lang="en-GB"/>
          </a:p>
        </p:txBody>
      </p:sp>
      <p:sp>
        <p:nvSpPr>
          <p:cNvPr id="36" name="Text 33"/>
          <p:cNvSpPr/>
          <p:nvPr/>
        </p:nvSpPr>
        <p:spPr>
          <a:xfrm>
            <a:off x="5431536" y="2240280"/>
            <a:ext cx="777240" cy="365760"/>
          </a:xfrm>
          <a:prstGeom prst="rect">
            <a:avLst/>
          </a:prstGeom>
          <a:noFill/>
          <a:ln/>
        </p:spPr>
        <p:txBody>
          <a:bodyPr wrap="square" lIns="0" tIns="0" rIns="0" bIns="0" rtlCol="0" anchor="ctr"/>
          <a:lstStyle/>
          <a:p>
            <a:pPr marL="0" indent="0" algn="ctr">
              <a:buNone/>
            </a:pPr>
            <a:r>
              <a:rPr lang="en-US" sz="900" b="1" dirty="0">
                <a:solidFill>
                  <a:srgbClr val="F8FAFC"/>
                </a:solidFill>
                <a:latin typeface="Calibri" pitchFamily="34" charset="0"/>
                <a:ea typeface="Calibri" pitchFamily="34" charset="-122"/>
                <a:cs typeface="Calibri" pitchFamily="34" charset="-120"/>
              </a:rPr>
              <a:t>Vector</a:t>
            </a:r>
            <a:endParaRPr lang="en-US" sz="900" dirty="0"/>
          </a:p>
        </p:txBody>
      </p:sp>
      <p:sp>
        <p:nvSpPr>
          <p:cNvPr id="37" name="Shape 34"/>
          <p:cNvSpPr/>
          <p:nvPr/>
        </p:nvSpPr>
        <p:spPr>
          <a:xfrm>
            <a:off x="5431536" y="2743200"/>
            <a:ext cx="777240" cy="365760"/>
          </a:xfrm>
          <a:prstGeom prst="roundRect">
            <a:avLst>
              <a:gd name="adj" fmla="val 10000"/>
            </a:avLst>
          </a:prstGeom>
          <a:solidFill>
            <a:srgbClr val="11203A"/>
          </a:solidFill>
          <a:ln w="15240">
            <a:solidFill>
              <a:srgbClr val="F97316"/>
            </a:solidFill>
            <a:prstDash val="solid"/>
          </a:ln>
        </p:spPr>
        <p:txBody>
          <a:bodyPr/>
          <a:lstStyle/>
          <a:p>
            <a:endParaRPr lang="en-GB"/>
          </a:p>
        </p:txBody>
      </p:sp>
      <p:sp>
        <p:nvSpPr>
          <p:cNvPr id="38" name="Text 35"/>
          <p:cNvSpPr/>
          <p:nvPr/>
        </p:nvSpPr>
        <p:spPr>
          <a:xfrm>
            <a:off x="5431536" y="2743200"/>
            <a:ext cx="777240" cy="365760"/>
          </a:xfrm>
          <a:prstGeom prst="rect">
            <a:avLst/>
          </a:prstGeom>
          <a:noFill/>
          <a:ln/>
        </p:spPr>
        <p:txBody>
          <a:bodyPr wrap="square" lIns="0" tIns="0" rIns="0" bIns="0" rtlCol="0" anchor="ctr"/>
          <a:lstStyle/>
          <a:p>
            <a:pPr marL="0" indent="0" algn="ctr">
              <a:buNone/>
            </a:pPr>
            <a:r>
              <a:rPr lang="en-US" sz="900" b="1" dirty="0">
                <a:solidFill>
                  <a:srgbClr val="F8FAFC"/>
                </a:solidFill>
                <a:latin typeface="Calibri" pitchFamily="34" charset="0"/>
                <a:ea typeface="Calibri" pitchFamily="34" charset="-122"/>
                <a:cs typeface="Calibri" pitchFamily="34" charset="-120"/>
              </a:rPr>
              <a:t>BM25</a:t>
            </a:r>
            <a:endParaRPr lang="en-US" sz="900" dirty="0"/>
          </a:p>
        </p:txBody>
      </p:sp>
      <p:sp>
        <p:nvSpPr>
          <p:cNvPr id="39" name="Shape 36"/>
          <p:cNvSpPr/>
          <p:nvPr/>
        </p:nvSpPr>
        <p:spPr>
          <a:xfrm>
            <a:off x="6437376" y="2468880"/>
            <a:ext cx="594360" cy="411480"/>
          </a:xfrm>
          <a:prstGeom prst="roundRect">
            <a:avLst>
              <a:gd name="adj" fmla="val 8889"/>
            </a:avLst>
          </a:prstGeom>
          <a:solidFill>
            <a:srgbClr val="11203A"/>
          </a:solidFill>
          <a:ln w="15240">
            <a:solidFill>
              <a:srgbClr val="F97316"/>
            </a:solidFill>
            <a:prstDash val="solid"/>
          </a:ln>
        </p:spPr>
        <p:txBody>
          <a:bodyPr/>
          <a:lstStyle/>
          <a:p>
            <a:endParaRPr lang="en-GB"/>
          </a:p>
        </p:txBody>
      </p:sp>
      <p:sp>
        <p:nvSpPr>
          <p:cNvPr id="40" name="Text 37"/>
          <p:cNvSpPr/>
          <p:nvPr/>
        </p:nvSpPr>
        <p:spPr>
          <a:xfrm>
            <a:off x="6437376" y="2468880"/>
            <a:ext cx="594360" cy="411480"/>
          </a:xfrm>
          <a:prstGeom prst="rect">
            <a:avLst/>
          </a:prstGeom>
          <a:noFill/>
          <a:ln/>
        </p:spPr>
        <p:txBody>
          <a:bodyPr wrap="square" lIns="0" tIns="0" rIns="0" bIns="0" rtlCol="0" anchor="ctr"/>
          <a:lstStyle/>
          <a:p>
            <a:pPr marL="0" indent="0" algn="ctr">
              <a:buNone/>
            </a:pPr>
            <a:r>
              <a:rPr lang="en-US" sz="900" b="1" dirty="0">
                <a:solidFill>
                  <a:srgbClr val="F8FAFC"/>
                </a:solidFill>
                <a:latin typeface="Calibri" pitchFamily="34" charset="0"/>
                <a:ea typeface="Calibri" pitchFamily="34" charset="-122"/>
                <a:cs typeface="Calibri" pitchFamily="34" charset="-120"/>
              </a:rPr>
              <a:t>Merge</a:t>
            </a:r>
            <a:endParaRPr lang="en-US" sz="900" dirty="0"/>
          </a:p>
        </p:txBody>
      </p:sp>
      <p:sp>
        <p:nvSpPr>
          <p:cNvPr id="41" name="Shape 38"/>
          <p:cNvSpPr/>
          <p:nvPr/>
        </p:nvSpPr>
        <p:spPr>
          <a:xfrm>
            <a:off x="7168896" y="2468880"/>
            <a:ext cx="502920" cy="411480"/>
          </a:xfrm>
          <a:prstGeom prst="roundRect">
            <a:avLst>
              <a:gd name="adj" fmla="val 8889"/>
            </a:avLst>
          </a:prstGeom>
          <a:solidFill>
            <a:srgbClr val="11203A"/>
          </a:solidFill>
          <a:ln w="15240">
            <a:solidFill>
              <a:srgbClr val="3B82F6"/>
            </a:solidFill>
            <a:prstDash val="solid"/>
          </a:ln>
        </p:spPr>
        <p:txBody>
          <a:bodyPr/>
          <a:lstStyle/>
          <a:p>
            <a:endParaRPr lang="en-GB"/>
          </a:p>
        </p:txBody>
      </p:sp>
      <p:sp>
        <p:nvSpPr>
          <p:cNvPr id="42" name="Text 39"/>
          <p:cNvSpPr/>
          <p:nvPr/>
        </p:nvSpPr>
        <p:spPr>
          <a:xfrm>
            <a:off x="7168896" y="2468880"/>
            <a:ext cx="502920" cy="411480"/>
          </a:xfrm>
          <a:prstGeom prst="rect">
            <a:avLst/>
          </a:prstGeom>
          <a:noFill/>
          <a:ln/>
        </p:spPr>
        <p:txBody>
          <a:bodyPr wrap="square" lIns="0" tIns="0" rIns="0" bIns="0" rtlCol="0" anchor="ctr"/>
          <a:lstStyle/>
          <a:p>
            <a:pPr marL="0" indent="0" algn="ctr">
              <a:buNone/>
            </a:pPr>
            <a:r>
              <a:rPr lang="en-US" sz="900" b="1" dirty="0">
                <a:solidFill>
                  <a:srgbClr val="F8FAFC"/>
                </a:solidFill>
                <a:latin typeface="Calibri" pitchFamily="34" charset="0"/>
                <a:ea typeface="Calibri" pitchFamily="34" charset="-122"/>
                <a:cs typeface="Calibri" pitchFamily="34" charset="-120"/>
              </a:rPr>
              <a:t>LLM</a:t>
            </a:r>
            <a:endParaRPr lang="en-US" sz="900" dirty="0"/>
          </a:p>
        </p:txBody>
      </p:sp>
      <p:sp>
        <p:nvSpPr>
          <p:cNvPr id="43" name="Shape 40"/>
          <p:cNvSpPr/>
          <p:nvPr/>
        </p:nvSpPr>
        <p:spPr>
          <a:xfrm>
            <a:off x="7763256" y="2468880"/>
            <a:ext cx="502920" cy="411480"/>
          </a:xfrm>
          <a:prstGeom prst="roundRect">
            <a:avLst>
              <a:gd name="adj" fmla="val 8889"/>
            </a:avLst>
          </a:prstGeom>
          <a:solidFill>
            <a:srgbClr val="11203A"/>
          </a:solidFill>
          <a:ln w="15240">
            <a:solidFill>
              <a:srgbClr val="3B82F6"/>
            </a:solidFill>
            <a:prstDash val="solid"/>
          </a:ln>
        </p:spPr>
        <p:txBody>
          <a:bodyPr/>
          <a:lstStyle/>
          <a:p>
            <a:endParaRPr lang="en-GB"/>
          </a:p>
        </p:txBody>
      </p:sp>
      <p:sp>
        <p:nvSpPr>
          <p:cNvPr id="44" name="Text 41"/>
          <p:cNvSpPr/>
          <p:nvPr/>
        </p:nvSpPr>
        <p:spPr>
          <a:xfrm>
            <a:off x="7763256" y="2468880"/>
            <a:ext cx="502920" cy="411480"/>
          </a:xfrm>
          <a:prstGeom prst="rect">
            <a:avLst/>
          </a:prstGeom>
          <a:noFill/>
          <a:ln/>
        </p:spPr>
        <p:txBody>
          <a:bodyPr wrap="square" lIns="0" tIns="0" rIns="0" bIns="0" rtlCol="0" anchor="ctr"/>
          <a:lstStyle/>
          <a:p>
            <a:pPr marL="0" indent="0" algn="ctr">
              <a:buNone/>
            </a:pPr>
            <a:r>
              <a:rPr lang="en-US" sz="900" b="1" dirty="0">
                <a:solidFill>
                  <a:srgbClr val="F8FAFC"/>
                </a:solidFill>
                <a:latin typeface="Calibri" pitchFamily="34" charset="0"/>
                <a:ea typeface="Calibri" pitchFamily="34" charset="-122"/>
                <a:cs typeface="Calibri" pitchFamily="34" charset="-120"/>
              </a:rPr>
              <a:t>A</a:t>
            </a:r>
            <a:endParaRPr lang="en-US" sz="900" dirty="0"/>
          </a:p>
        </p:txBody>
      </p:sp>
      <p:sp>
        <p:nvSpPr>
          <p:cNvPr id="45" name="Shape 42"/>
          <p:cNvSpPr/>
          <p:nvPr/>
        </p:nvSpPr>
        <p:spPr>
          <a:xfrm flipV="1">
            <a:off x="5202936" y="2423160"/>
            <a:ext cx="228600" cy="246888"/>
          </a:xfrm>
          <a:prstGeom prst="line">
            <a:avLst/>
          </a:prstGeom>
          <a:noFill/>
          <a:ln w="19050">
            <a:solidFill>
              <a:srgbClr val="3B82F6"/>
            </a:solidFill>
            <a:prstDash val="solid"/>
            <a:tailEnd type="triangle"/>
          </a:ln>
        </p:spPr>
        <p:txBody>
          <a:bodyPr/>
          <a:lstStyle/>
          <a:p>
            <a:endParaRPr lang="en-GB"/>
          </a:p>
        </p:txBody>
      </p:sp>
      <p:sp>
        <p:nvSpPr>
          <p:cNvPr id="46" name="Shape 43"/>
          <p:cNvSpPr/>
          <p:nvPr/>
        </p:nvSpPr>
        <p:spPr>
          <a:xfrm>
            <a:off x="5202936" y="2670048"/>
            <a:ext cx="228600" cy="256032"/>
          </a:xfrm>
          <a:prstGeom prst="line">
            <a:avLst/>
          </a:prstGeom>
          <a:noFill/>
          <a:ln w="19050">
            <a:solidFill>
              <a:srgbClr val="F97316"/>
            </a:solidFill>
            <a:prstDash val="solid"/>
            <a:tailEnd type="triangle"/>
          </a:ln>
        </p:spPr>
        <p:txBody>
          <a:bodyPr/>
          <a:lstStyle/>
          <a:p>
            <a:endParaRPr lang="en-GB"/>
          </a:p>
        </p:txBody>
      </p:sp>
      <p:sp>
        <p:nvSpPr>
          <p:cNvPr id="47" name="Shape 44"/>
          <p:cNvSpPr/>
          <p:nvPr/>
        </p:nvSpPr>
        <p:spPr>
          <a:xfrm>
            <a:off x="6208776" y="2423160"/>
            <a:ext cx="228600" cy="246888"/>
          </a:xfrm>
          <a:prstGeom prst="line">
            <a:avLst/>
          </a:prstGeom>
          <a:noFill/>
          <a:ln w="19050">
            <a:solidFill>
              <a:srgbClr val="3B82F6"/>
            </a:solidFill>
            <a:prstDash val="solid"/>
            <a:tailEnd type="triangle"/>
          </a:ln>
        </p:spPr>
        <p:txBody>
          <a:bodyPr/>
          <a:lstStyle/>
          <a:p>
            <a:endParaRPr lang="en-GB"/>
          </a:p>
        </p:txBody>
      </p:sp>
      <p:sp>
        <p:nvSpPr>
          <p:cNvPr id="48" name="Shape 45"/>
          <p:cNvSpPr/>
          <p:nvPr/>
        </p:nvSpPr>
        <p:spPr>
          <a:xfrm flipV="1">
            <a:off x="6208776" y="2670048"/>
            <a:ext cx="228600" cy="256032"/>
          </a:xfrm>
          <a:prstGeom prst="line">
            <a:avLst/>
          </a:prstGeom>
          <a:noFill/>
          <a:ln w="19050">
            <a:solidFill>
              <a:srgbClr val="F97316"/>
            </a:solidFill>
            <a:prstDash val="solid"/>
            <a:tailEnd type="triangle"/>
          </a:ln>
        </p:spPr>
        <p:txBody>
          <a:bodyPr/>
          <a:lstStyle/>
          <a:p>
            <a:endParaRPr lang="en-GB"/>
          </a:p>
        </p:txBody>
      </p:sp>
      <p:sp>
        <p:nvSpPr>
          <p:cNvPr id="49" name="Shape 46"/>
          <p:cNvSpPr/>
          <p:nvPr/>
        </p:nvSpPr>
        <p:spPr>
          <a:xfrm>
            <a:off x="7031736" y="2670048"/>
            <a:ext cx="137160" cy="0"/>
          </a:xfrm>
          <a:prstGeom prst="line">
            <a:avLst/>
          </a:prstGeom>
          <a:noFill/>
          <a:ln w="19050">
            <a:solidFill>
              <a:srgbClr val="F97316"/>
            </a:solidFill>
            <a:prstDash val="solid"/>
            <a:tailEnd type="triangle"/>
          </a:ln>
        </p:spPr>
        <p:txBody>
          <a:bodyPr/>
          <a:lstStyle/>
          <a:p>
            <a:endParaRPr lang="en-GB"/>
          </a:p>
        </p:txBody>
      </p:sp>
      <p:sp>
        <p:nvSpPr>
          <p:cNvPr id="50" name="Shape 47"/>
          <p:cNvSpPr/>
          <p:nvPr/>
        </p:nvSpPr>
        <p:spPr>
          <a:xfrm>
            <a:off x="7671816" y="2670048"/>
            <a:ext cx="91440" cy="0"/>
          </a:xfrm>
          <a:prstGeom prst="line">
            <a:avLst/>
          </a:prstGeom>
          <a:noFill/>
          <a:ln w="19050">
            <a:solidFill>
              <a:srgbClr val="3B82F6"/>
            </a:solidFill>
            <a:prstDash val="solid"/>
            <a:tailEnd type="triangle"/>
          </a:ln>
        </p:spPr>
        <p:txBody>
          <a:bodyPr/>
          <a:lstStyle/>
          <a:p>
            <a:endParaRPr lang="en-GB"/>
          </a:p>
        </p:txBody>
      </p:sp>
      <p:sp>
        <p:nvSpPr>
          <p:cNvPr id="51" name="Shape 48"/>
          <p:cNvSpPr>
            <a:spLocks noGrp="1" noRot="1" noMove="1" noResize="1" noEditPoints="1" noAdjustHandles="1" noChangeArrowheads="1" noChangeShapeType="1"/>
          </p:cNvSpPr>
          <p:nvPr/>
        </p:nvSpPr>
        <p:spPr>
          <a:xfrm>
            <a:off x="329184" y="3182112"/>
            <a:ext cx="4160520" cy="1554480"/>
          </a:xfrm>
          <a:prstGeom prst="roundRect">
            <a:avLst>
              <a:gd name="adj" fmla="val 4706"/>
            </a:avLst>
          </a:prstGeom>
          <a:solidFill>
            <a:srgbClr val="11203A"/>
          </a:solidFill>
          <a:ln w="25400">
            <a:solidFill>
              <a:srgbClr val="F97316"/>
            </a:solidFill>
            <a:prstDash val="solid"/>
          </a:ln>
          <a:effectLst>
            <a:outerShdw blurRad="101600" dist="25400" dir="8100000" algn="bl" rotWithShape="0">
              <a:srgbClr val="000000">
                <a:alpha val="25000"/>
              </a:srgbClr>
            </a:outerShdw>
          </a:effectLst>
        </p:spPr>
        <p:txBody>
          <a:bodyPr/>
          <a:lstStyle/>
          <a:p>
            <a:endParaRPr lang="en-GB"/>
          </a:p>
        </p:txBody>
      </p:sp>
      <p:sp>
        <p:nvSpPr>
          <p:cNvPr id="52" name="Shape 49"/>
          <p:cNvSpPr/>
          <p:nvPr/>
        </p:nvSpPr>
        <p:spPr>
          <a:xfrm>
            <a:off x="329184" y="3182112"/>
            <a:ext cx="54864" cy="1554480"/>
          </a:xfrm>
          <a:prstGeom prst="rect">
            <a:avLst/>
          </a:prstGeom>
          <a:solidFill>
            <a:srgbClr val="F97316"/>
          </a:solidFill>
          <a:ln w="12700">
            <a:solidFill>
              <a:srgbClr val="F97316"/>
            </a:solidFill>
            <a:prstDash val="solid"/>
          </a:ln>
        </p:spPr>
        <p:txBody>
          <a:bodyPr/>
          <a:lstStyle/>
          <a:p>
            <a:endParaRPr lang="en-GB"/>
          </a:p>
        </p:txBody>
      </p:sp>
      <p:sp>
        <p:nvSpPr>
          <p:cNvPr id="53" name="Text 50"/>
          <p:cNvSpPr/>
          <p:nvPr/>
        </p:nvSpPr>
        <p:spPr>
          <a:xfrm>
            <a:off x="466344" y="3273552"/>
            <a:ext cx="320040" cy="274320"/>
          </a:xfrm>
          <a:prstGeom prst="rect">
            <a:avLst/>
          </a:prstGeom>
          <a:noFill/>
          <a:ln/>
        </p:spPr>
        <p:txBody>
          <a:bodyPr wrap="square" lIns="0" tIns="0" rIns="0" bIns="0" rtlCol="0" anchor="ctr"/>
          <a:lstStyle/>
          <a:p>
            <a:pPr marL="0" indent="0">
              <a:buNone/>
            </a:pPr>
            <a:r>
              <a:rPr lang="en-US" sz="1400" b="1" dirty="0">
                <a:solidFill>
                  <a:srgbClr val="F97316"/>
                </a:solidFill>
                <a:latin typeface="Calibri" pitchFamily="34" charset="0"/>
                <a:ea typeface="Calibri" pitchFamily="34" charset="-122"/>
                <a:cs typeface="Calibri" pitchFamily="34" charset="-120"/>
              </a:rPr>
              <a:t>③</a:t>
            </a:r>
            <a:endParaRPr lang="en-US" sz="1400" dirty="0"/>
          </a:p>
        </p:txBody>
      </p:sp>
      <p:sp>
        <p:nvSpPr>
          <p:cNvPr id="54" name="Text 51"/>
          <p:cNvSpPr/>
          <p:nvPr/>
        </p:nvSpPr>
        <p:spPr>
          <a:xfrm>
            <a:off x="832104" y="3273552"/>
            <a:ext cx="1965960" cy="274320"/>
          </a:xfrm>
          <a:prstGeom prst="rect">
            <a:avLst/>
          </a:prstGeom>
          <a:noFill/>
          <a:ln/>
        </p:spPr>
        <p:txBody>
          <a:bodyPr wrap="square" lIns="0" tIns="0" rIns="0" bIns="0" rtlCol="0" anchor="ctr"/>
          <a:lstStyle/>
          <a:p>
            <a:pPr marL="0" indent="0">
              <a:buNone/>
            </a:pPr>
            <a:r>
              <a:rPr lang="en-US" sz="1300" b="1" dirty="0">
                <a:solidFill>
                  <a:srgbClr val="F8FAFC"/>
                </a:solidFill>
                <a:latin typeface="Calibri" pitchFamily="34" charset="0"/>
                <a:ea typeface="Calibri" pitchFamily="34" charset="-122"/>
                <a:cs typeface="Calibri" pitchFamily="34" charset="-120"/>
              </a:rPr>
              <a:t>GraphRAG</a:t>
            </a:r>
            <a:endParaRPr lang="en-US" sz="1300" dirty="0"/>
          </a:p>
        </p:txBody>
      </p:sp>
      <p:sp>
        <p:nvSpPr>
          <p:cNvPr id="55" name="Text 52"/>
          <p:cNvSpPr/>
          <p:nvPr/>
        </p:nvSpPr>
        <p:spPr>
          <a:xfrm>
            <a:off x="2752344" y="3273552"/>
            <a:ext cx="1600200" cy="274320"/>
          </a:xfrm>
          <a:prstGeom prst="rect">
            <a:avLst/>
          </a:prstGeom>
          <a:noFill/>
          <a:ln/>
        </p:spPr>
        <p:txBody>
          <a:bodyPr wrap="square" lIns="0" tIns="0" rIns="0" bIns="0" rtlCol="0" anchor="ctr"/>
          <a:lstStyle/>
          <a:p>
            <a:pPr marL="0" indent="0" algn="r">
              <a:buNone/>
            </a:pPr>
            <a:r>
              <a:rPr lang="en-US" sz="900" i="1" dirty="0">
                <a:solidFill>
                  <a:srgbClr val="F97316"/>
                </a:solidFill>
                <a:latin typeface="Calibri" pitchFamily="34" charset="0"/>
                <a:ea typeface="Calibri" pitchFamily="34" charset="-122"/>
                <a:cs typeface="Calibri" pitchFamily="34" charset="-120"/>
              </a:rPr>
              <a:t>multi-hop reasoning</a:t>
            </a:r>
            <a:endParaRPr lang="en-US" sz="900" dirty="0"/>
          </a:p>
        </p:txBody>
      </p:sp>
      <p:sp>
        <p:nvSpPr>
          <p:cNvPr id="56" name="Shape 53"/>
          <p:cNvSpPr/>
          <p:nvPr/>
        </p:nvSpPr>
        <p:spPr>
          <a:xfrm>
            <a:off x="466344" y="4050792"/>
            <a:ext cx="457200" cy="411480"/>
          </a:xfrm>
          <a:prstGeom prst="roundRect">
            <a:avLst>
              <a:gd name="adj" fmla="val 8889"/>
            </a:avLst>
          </a:prstGeom>
          <a:solidFill>
            <a:srgbClr val="11203A"/>
          </a:solidFill>
          <a:ln w="15240">
            <a:solidFill>
              <a:srgbClr val="3B82F6"/>
            </a:solidFill>
            <a:prstDash val="solid"/>
          </a:ln>
        </p:spPr>
        <p:txBody>
          <a:bodyPr/>
          <a:lstStyle/>
          <a:p>
            <a:endParaRPr lang="en-GB"/>
          </a:p>
        </p:txBody>
      </p:sp>
      <p:sp>
        <p:nvSpPr>
          <p:cNvPr id="57" name="Text 54"/>
          <p:cNvSpPr/>
          <p:nvPr/>
        </p:nvSpPr>
        <p:spPr>
          <a:xfrm>
            <a:off x="466344" y="4050792"/>
            <a:ext cx="457200" cy="411480"/>
          </a:xfrm>
          <a:prstGeom prst="rect">
            <a:avLst/>
          </a:prstGeom>
          <a:noFill/>
          <a:ln/>
        </p:spPr>
        <p:txBody>
          <a:bodyPr wrap="square" lIns="0" tIns="0" rIns="0" bIns="0" rtlCol="0" anchor="ctr"/>
          <a:lstStyle/>
          <a:p>
            <a:pPr marL="0" indent="0" algn="ctr">
              <a:buNone/>
            </a:pPr>
            <a:r>
              <a:rPr lang="en-US" sz="900" b="1" dirty="0">
                <a:solidFill>
                  <a:srgbClr val="F8FAFC"/>
                </a:solidFill>
                <a:latin typeface="Calibri" pitchFamily="34" charset="0"/>
                <a:ea typeface="Calibri" pitchFamily="34" charset="-122"/>
                <a:cs typeface="Calibri" pitchFamily="34" charset="-120"/>
              </a:rPr>
              <a:t>Q</a:t>
            </a:r>
            <a:endParaRPr lang="en-US" sz="900" dirty="0"/>
          </a:p>
        </p:txBody>
      </p:sp>
      <p:sp>
        <p:nvSpPr>
          <p:cNvPr id="58" name="Shape 55"/>
          <p:cNvSpPr/>
          <p:nvPr/>
        </p:nvSpPr>
        <p:spPr>
          <a:xfrm>
            <a:off x="1014984" y="4050792"/>
            <a:ext cx="640080" cy="411480"/>
          </a:xfrm>
          <a:prstGeom prst="roundRect">
            <a:avLst>
              <a:gd name="adj" fmla="val 8889"/>
            </a:avLst>
          </a:prstGeom>
          <a:solidFill>
            <a:srgbClr val="11203A"/>
          </a:solidFill>
          <a:ln w="15240">
            <a:solidFill>
              <a:srgbClr val="3B82F6"/>
            </a:solidFill>
            <a:prstDash val="solid"/>
          </a:ln>
        </p:spPr>
        <p:txBody>
          <a:bodyPr/>
          <a:lstStyle/>
          <a:p>
            <a:endParaRPr lang="en-GB"/>
          </a:p>
        </p:txBody>
      </p:sp>
      <p:sp>
        <p:nvSpPr>
          <p:cNvPr id="59" name="Text 56"/>
          <p:cNvSpPr/>
          <p:nvPr/>
        </p:nvSpPr>
        <p:spPr>
          <a:xfrm>
            <a:off x="1014984" y="4050792"/>
            <a:ext cx="640080" cy="411480"/>
          </a:xfrm>
          <a:prstGeom prst="rect">
            <a:avLst/>
          </a:prstGeom>
          <a:noFill/>
          <a:ln/>
        </p:spPr>
        <p:txBody>
          <a:bodyPr wrap="square" lIns="0" tIns="0" rIns="0" bIns="0" rtlCol="0" anchor="ctr"/>
          <a:lstStyle/>
          <a:p>
            <a:pPr marL="0" indent="0" algn="ctr">
              <a:buNone/>
            </a:pPr>
            <a:r>
              <a:rPr lang="en-US" sz="900" b="1" dirty="0">
                <a:solidFill>
                  <a:srgbClr val="F8FAFC"/>
                </a:solidFill>
                <a:latin typeface="Calibri" pitchFamily="34" charset="0"/>
                <a:ea typeface="Calibri" pitchFamily="34" charset="-122"/>
                <a:cs typeface="Calibri" pitchFamily="34" charset="-120"/>
              </a:rPr>
              <a:t>Entities</a:t>
            </a:r>
            <a:endParaRPr lang="en-US" sz="900" dirty="0"/>
          </a:p>
        </p:txBody>
      </p:sp>
      <p:sp>
        <p:nvSpPr>
          <p:cNvPr id="60" name="Shape 57"/>
          <p:cNvSpPr/>
          <p:nvPr/>
        </p:nvSpPr>
        <p:spPr>
          <a:xfrm>
            <a:off x="1746504" y="3913632"/>
            <a:ext cx="228600" cy="228600"/>
          </a:xfrm>
          <a:prstGeom prst="ellipse">
            <a:avLst/>
          </a:prstGeom>
          <a:solidFill>
            <a:srgbClr val="F97316"/>
          </a:solidFill>
          <a:ln w="12700">
            <a:solidFill>
              <a:srgbClr val="F97316"/>
            </a:solidFill>
            <a:prstDash val="solid"/>
          </a:ln>
        </p:spPr>
        <p:txBody>
          <a:bodyPr/>
          <a:lstStyle/>
          <a:p>
            <a:endParaRPr lang="en-GB"/>
          </a:p>
        </p:txBody>
      </p:sp>
      <p:sp>
        <p:nvSpPr>
          <p:cNvPr id="61" name="Shape 58"/>
          <p:cNvSpPr/>
          <p:nvPr/>
        </p:nvSpPr>
        <p:spPr>
          <a:xfrm>
            <a:off x="2066544" y="4096512"/>
            <a:ext cx="228600" cy="228600"/>
          </a:xfrm>
          <a:prstGeom prst="ellipse">
            <a:avLst/>
          </a:prstGeom>
          <a:solidFill>
            <a:srgbClr val="F97316"/>
          </a:solidFill>
          <a:ln w="12700">
            <a:solidFill>
              <a:srgbClr val="F97316"/>
            </a:solidFill>
            <a:prstDash val="solid"/>
          </a:ln>
        </p:spPr>
        <p:txBody>
          <a:bodyPr/>
          <a:lstStyle/>
          <a:p>
            <a:endParaRPr lang="en-GB"/>
          </a:p>
        </p:txBody>
      </p:sp>
      <p:sp>
        <p:nvSpPr>
          <p:cNvPr id="62" name="Shape 59"/>
          <p:cNvSpPr/>
          <p:nvPr/>
        </p:nvSpPr>
        <p:spPr>
          <a:xfrm>
            <a:off x="1837944" y="4325112"/>
            <a:ext cx="228600" cy="228600"/>
          </a:xfrm>
          <a:prstGeom prst="ellipse">
            <a:avLst/>
          </a:prstGeom>
          <a:solidFill>
            <a:srgbClr val="F97316"/>
          </a:solidFill>
          <a:ln w="12700">
            <a:solidFill>
              <a:srgbClr val="F97316"/>
            </a:solidFill>
            <a:prstDash val="solid"/>
          </a:ln>
        </p:spPr>
        <p:txBody>
          <a:bodyPr/>
          <a:lstStyle/>
          <a:p>
            <a:endParaRPr lang="en-GB"/>
          </a:p>
        </p:txBody>
      </p:sp>
      <p:sp>
        <p:nvSpPr>
          <p:cNvPr id="63" name="Shape 60"/>
          <p:cNvSpPr/>
          <p:nvPr/>
        </p:nvSpPr>
        <p:spPr>
          <a:xfrm>
            <a:off x="1865376" y="4032504"/>
            <a:ext cx="292608" cy="182880"/>
          </a:xfrm>
          <a:prstGeom prst="line">
            <a:avLst/>
          </a:prstGeom>
          <a:noFill/>
          <a:ln w="12700">
            <a:solidFill>
              <a:srgbClr val="F97316"/>
            </a:solidFill>
            <a:prstDash val="solid"/>
          </a:ln>
        </p:spPr>
        <p:txBody>
          <a:bodyPr/>
          <a:lstStyle/>
          <a:p>
            <a:endParaRPr lang="en-GB"/>
          </a:p>
        </p:txBody>
      </p:sp>
      <p:sp>
        <p:nvSpPr>
          <p:cNvPr id="64" name="Shape 61"/>
          <p:cNvSpPr/>
          <p:nvPr/>
        </p:nvSpPr>
        <p:spPr>
          <a:xfrm>
            <a:off x="1865376" y="4032504"/>
            <a:ext cx="91440" cy="365760"/>
          </a:xfrm>
          <a:prstGeom prst="line">
            <a:avLst/>
          </a:prstGeom>
          <a:noFill/>
          <a:ln w="12700">
            <a:solidFill>
              <a:srgbClr val="F97316"/>
            </a:solidFill>
            <a:prstDash val="solid"/>
          </a:ln>
        </p:spPr>
        <p:txBody>
          <a:bodyPr/>
          <a:lstStyle/>
          <a:p>
            <a:endParaRPr lang="en-GB"/>
          </a:p>
        </p:txBody>
      </p:sp>
      <p:sp>
        <p:nvSpPr>
          <p:cNvPr id="65" name="Shape 62"/>
          <p:cNvSpPr/>
          <p:nvPr/>
        </p:nvSpPr>
        <p:spPr>
          <a:xfrm>
            <a:off x="1956816" y="4416552"/>
            <a:ext cx="201168" cy="0"/>
          </a:xfrm>
          <a:prstGeom prst="line">
            <a:avLst/>
          </a:prstGeom>
          <a:noFill/>
          <a:ln w="12700">
            <a:solidFill>
              <a:srgbClr val="F97316"/>
            </a:solidFill>
            <a:prstDash val="solid"/>
          </a:ln>
        </p:spPr>
        <p:txBody>
          <a:bodyPr/>
          <a:lstStyle/>
          <a:p>
            <a:endParaRPr lang="en-GB"/>
          </a:p>
        </p:txBody>
      </p:sp>
      <p:sp>
        <p:nvSpPr>
          <p:cNvPr id="66" name="Text 63"/>
          <p:cNvSpPr/>
          <p:nvPr/>
        </p:nvSpPr>
        <p:spPr>
          <a:xfrm>
            <a:off x="1653295" y="3703044"/>
            <a:ext cx="731520" cy="164592"/>
          </a:xfrm>
          <a:prstGeom prst="rect">
            <a:avLst/>
          </a:prstGeom>
          <a:noFill/>
          <a:ln/>
        </p:spPr>
        <p:txBody>
          <a:bodyPr wrap="square" lIns="0" tIns="0" rIns="0" bIns="0" rtlCol="0" anchor="ctr"/>
          <a:lstStyle/>
          <a:p>
            <a:pPr marL="0" indent="0" algn="ctr">
              <a:buNone/>
            </a:pPr>
            <a:r>
              <a:rPr lang="en-US" sz="800" i="1" dirty="0">
                <a:solidFill>
                  <a:srgbClr val="F97316"/>
                </a:solidFill>
                <a:latin typeface="Calibri" pitchFamily="34" charset="0"/>
                <a:ea typeface="Calibri" pitchFamily="34" charset="-122"/>
                <a:cs typeface="Calibri" pitchFamily="34" charset="-120"/>
              </a:rPr>
              <a:t>Graph</a:t>
            </a:r>
            <a:endParaRPr lang="en-US" sz="800" dirty="0"/>
          </a:p>
        </p:txBody>
      </p:sp>
      <p:sp>
        <p:nvSpPr>
          <p:cNvPr id="67" name="Shape 64"/>
          <p:cNvSpPr/>
          <p:nvPr/>
        </p:nvSpPr>
        <p:spPr>
          <a:xfrm>
            <a:off x="2569464" y="4050792"/>
            <a:ext cx="640080" cy="411480"/>
          </a:xfrm>
          <a:prstGeom prst="roundRect">
            <a:avLst>
              <a:gd name="adj" fmla="val 8889"/>
            </a:avLst>
          </a:prstGeom>
          <a:solidFill>
            <a:srgbClr val="11203A"/>
          </a:solidFill>
          <a:ln w="15240">
            <a:solidFill>
              <a:srgbClr val="F97316"/>
            </a:solidFill>
            <a:prstDash val="solid"/>
          </a:ln>
        </p:spPr>
        <p:txBody>
          <a:bodyPr/>
          <a:lstStyle/>
          <a:p>
            <a:endParaRPr lang="en-GB"/>
          </a:p>
        </p:txBody>
      </p:sp>
      <p:sp>
        <p:nvSpPr>
          <p:cNvPr id="68" name="Text 65"/>
          <p:cNvSpPr/>
          <p:nvPr/>
        </p:nvSpPr>
        <p:spPr>
          <a:xfrm>
            <a:off x="2569464" y="4050792"/>
            <a:ext cx="640080" cy="411480"/>
          </a:xfrm>
          <a:prstGeom prst="rect">
            <a:avLst/>
          </a:prstGeom>
          <a:noFill/>
          <a:ln/>
        </p:spPr>
        <p:txBody>
          <a:bodyPr wrap="square" lIns="0" tIns="0" rIns="0" bIns="0" rtlCol="0" anchor="ctr"/>
          <a:lstStyle/>
          <a:p>
            <a:pPr marL="0" indent="0" algn="ctr">
              <a:buNone/>
            </a:pPr>
            <a:r>
              <a:rPr lang="en-US" sz="900" b="1" dirty="0">
                <a:solidFill>
                  <a:srgbClr val="F8FAFC"/>
                </a:solidFill>
                <a:latin typeface="Calibri" pitchFamily="34" charset="0"/>
                <a:ea typeface="Calibri" pitchFamily="34" charset="-122"/>
                <a:cs typeface="Calibri" pitchFamily="34" charset="-120"/>
              </a:rPr>
              <a:t>Subgraph</a:t>
            </a:r>
            <a:endParaRPr lang="en-US" sz="900" dirty="0"/>
          </a:p>
        </p:txBody>
      </p:sp>
      <p:sp>
        <p:nvSpPr>
          <p:cNvPr id="69" name="Shape 66"/>
          <p:cNvSpPr/>
          <p:nvPr/>
        </p:nvSpPr>
        <p:spPr>
          <a:xfrm>
            <a:off x="3300984" y="4050792"/>
            <a:ext cx="502920" cy="411480"/>
          </a:xfrm>
          <a:prstGeom prst="roundRect">
            <a:avLst>
              <a:gd name="adj" fmla="val 8889"/>
            </a:avLst>
          </a:prstGeom>
          <a:solidFill>
            <a:srgbClr val="11203A"/>
          </a:solidFill>
          <a:ln w="15240">
            <a:solidFill>
              <a:srgbClr val="3B82F6"/>
            </a:solidFill>
            <a:prstDash val="solid"/>
          </a:ln>
        </p:spPr>
        <p:txBody>
          <a:bodyPr/>
          <a:lstStyle/>
          <a:p>
            <a:endParaRPr lang="en-GB"/>
          </a:p>
        </p:txBody>
      </p:sp>
      <p:sp>
        <p:nvSpPr>
          <p:cNvPr id="70" name="Text 67"/>
          <p:cNvSpPr/>
          <p:nvPr/>
        </p:nvSpPr>
        <p:spPr>
          <a:xfrm>
            <a:off x="3300984" y="4050792"/>
            <a:ext cx="502920" cy="411480"/>
          </a:xfrm>
          <a:prstGeom prst="rect">
            <a:avLst/>
          </a:prstGeom>
          <a:noFill/>
          <a:ln/>
        </p:spPr>
        <p:txBody>
          <a:bodyPr wrap="square" lIns="0" tIns="0" rIns="0" bIns="0" rtlCol="0" anchor="ctr"/>
          <a:lstStyle/>
          <a:p>
            <a:pPr marL="0" indent="0" algn="ctr">
              <a:buNone/>
            </a:pPr>
            <a:r>
              <a:rPr lang="en-US" sz="900" b="1" dirty="0">
                <a:solidFill>
                  <a:srgbClr val="F8FAFC"/>
                </a:solidFill>
                <a:latin typeface="Calibri" pitchFamily="34" charset="0"/>
                <a:ea typeface="Calibri" pitchFamily="34" charset="-122"/>
                <a:cs typeface="Calibri" pitchFamily="34" charset="-120"/>
              </a:rPr>
              <a:t>LLM</a:t>
            </a:r>
            <a:endParaRPr lang="en-US" sz="900" dirty="0"/>
          </a:p>
        </p:txBody>
      </p:sp>
      <p:sp>
        <p:nvSpPr>
          <p:cNvPr id="71" name="Shape 68"/>
          <p:cNvSpPr/>
          <p:nvPr/>
        </p:nvSpPr>
        <p:spPr>
          <a:xfrm>
            <a:off x="3895344" y="4050792"/>
            <a:ext cx="365760" cy="411480"/>
          </a:xfrm>
          <a:prstGeom prst="roundRect">
            <a:avLst>
              <a:gd name="adj" fmla="val 10000"/>
            </a:avLst>
          </a:prstGeom>
          <a:solidFill>
            <a:srgbClr val="11203A"/>
          </a:solidFill>
          <a:ln w="15240">
            <a:solidFill>
              <a:srgbClr val="3B82F6"/>
            </a:solidFill>
            <a:prstDash val="solid"/>
          </a:ln>
        </p:spPr>
        <p:txBody>
          <a:bodyPr/>
          <a:lstStyle/>
          <a:p>
            <a:endParaRPr lang="en-GB"/>
          </a:p>
        </p:txBody>
      </p:sp>
      <p:sp>
        <p:nvSpPr>
          <p:cNvPr id="72" name="Text 69"/>
          <p:cNvSpPr/>
          <p:nvPr/>
        </p:nvSpPr>
        <p:spPr>
          <a:xfrm>
            <a:off x="3895344" y="4050792"/>
            <a:ext cx="365760" cy="411480"/>
          </a:xfrm>
          <a:prstGeom prst="rect">
            <a:avLst/>
          </a:prstGeom>
          <a:noFill/>
          <a:ln/>
        </p:spPr>
        <p:txBody>
          <a:bodyPr wrap="square" lIns="0" tIns="0" rIns="0" bIns="0" rtlCol="0" anchor="ctr"/>
          <a:lstStyle/>
          <a:p>
            <a:pPr marL="0" indent="0" algn="ctr">
              <a:buNone/>
            </a:pPr>
            <a:r>
              <a:rPr lang="en-US" sz="900" b="1" dirty="0">
                <a:solidFill>
                  <a:srgbClr val="F8FAFC"/>
                </a:solidFill>
                <a:latin typeface="Calibri" pitchFamily="34" charset="0"/>
                <a:ea typeface="Calibri" pitchFamily="34" charset="-122"/>
                <a:cs typeface="Calibri" pitchFamily="34" charset="-120"/>
              </a:rPr>
              <a:t>A</a:t>
            </a:r>
            <a:endParaRPr lang="en-US" sz="900" dirty="0"/>
          </a:p>
        </p:txBody>
      </p:sp>
      <p:sp>
        <p:nvSpPr>
          <p:cNvPr id="73" name="Shape 70"/>
          <p:cNvSpPr/>
          <p:nvPr/>
        </p:nvSpPr>
        <p:spPr>
          <a:xfrm>
            <a:off x="923544" y="4251960"/>
            <a:ext cx="91440" cy="0"/>
          </a:xfrm>
          <a:prstGeom prst="line">
            <a:avLst/>
          </a:prstGeom>
          <a:noFill/>
          <a:ln w="19050">
            <a:solidFill>
              <a:srgbClr val="3B82F6"/>
            </a:solidFill>
            <a:prstDash val="solid"/>
            <a:tailEnd type="triangle"/>
          </a:ln>
        </p:spPr>
        <p:txBody>
          <a:bodyPr/>
          <a:lstStyle/>
          <a:p>
            <a:endParaRPr lang="en-GB"/>
          </a:p>
        </p:txBody>
      </p:sp>
      <p:sp>
        <p:nvSpPr>
          <p:cNvPr id="74" name="Shape 71"/>
          <p:cNvSpPr/>
          <p:nvPr/>
        </p:nvSpPr>
        <p:spPr>
          <a:xfrm>
            <a:off x="1655064" y="4251960"/>
            <a:ext cx="91440" cy="0"/>
          </a:xfrm>
          <a:prstGeom prst="line">
            <a:avLst/>
          </a:prstGeom>
          <a:noFill/>
          <a:ln w="19050">
            <a:solidFill>
              <a:srgbClr val="F97316"/>
            </a:solidFill>
            <a:prstDash val="solid"/>
            <a:tailEnd type="triangle"/>
          </a:ln>
        </p:spPr>
        <p:txBody>
          <a:bodyPr/>
          <a:lstStyle/>
          <a:p>
            <a:endParaRPr lang="en-GB"/>
          </a:p>
        </p:txBody>
      </p:sp>
      <p:sp>
        <p:nvSpPr>
          <p:cNvPr id="75" name="Shape 72"/>
          <p:cNvSpPr/>
          <p:nvPr/>
        </p:nvSpPr>
        <p:spPr>
          <a:xfrm>
            <a:off x="2203704" y="4251960"/>
            <a:ext cx="365760" cy="0"/>
          </a:xfrm>
          <a:prstGeom prst="line">
            <a:avLst/>
          </a:prstGeom>
          <a:noFill/>
          <a:ln w="19050">
            <a:solidFill>
              <a:srgbClr val="F97316"/>
            </a:solidFill>
            <a:prstDash val="solid"/>
            <a:tailEnd type="triangle"/>
          </a:ln>
        </p:spPr>
        <p:txBody>
          <a:bodyPr/>
          <a:lstStyle/>
          <a:p>
            <a:endParaRPr lang="en-GB"/>
          </a:p>
        </p:txBody>
      </p:sp>
      <p:sp>
        <p:nvSpPr>
          <p:cNvPr id="76" name="Shape 73"/>
          <p:cNvSpPr/>
          <p:nvPr/>
        </p:nvSpPr>
        <p:spPr>
          <a:xfrm>
            <a:off x="3209544" y="4251960"/>
            <a:ext cx="91440" cy="0"/>
          </a:xfrm>
          <a:prstGeom prst="line">
            <a:avLst/>
          </a:prstGeom>
          <a:noFill/>
          <a:ln w="19050">
            <a:solidFill>
              <a:srgbClr val="3B82F6"/>
            </a:solidFill>
            <a:prstDash val="solid"/>
            <a:tailEnd type="triangle"/>
          </a:ln>
        </p:spPr>
        <p:txBody>
          <a:bodyPr/>
          <a:lstStyle/>
          <a:p>
            <a:endParaRPr lang="en-GB"/>
          </a:p>
        </p:txBody>
      </p:sp>
      <p:sp>
        <p:nvSpPr>
          <p:cNvPr id="77" name="Shape 74"/>
          <p:cNvSpPr/>
          <p:nvPr/>
        </p:nvSpPr>
        <p:spPr>
          <a:xfrm>
            <a:off x="3803904" y="4251960"/>
            <a:ext cx="91440" cy="0"/>
          </a:xfrm>
          <a:prstGeom prst="line">
            <a:avLst/>
          </a:prstGeom>
          <a:noFill/>
          <a:ln w="19050">
            <a:solidFill>
              <a:srgbClr val="3B82F6"/>
            </a:solidFill>
            <a:prstDash val="solid"/>
            <a:tailEnd type="triangle"/>
          </a:ln>
        </p:spPr>
        <p:txBody>
          <a:bodyPr/>
          <a:lstStyle/>
          <a:p>
            <a:endParaRPr lang="en-GB"/>
          </a:p>
        </p:txBody>
      </p:sp>
      <p:sp>
        <p:nvSpPr>
          <p:cNvPr id="78" name="Shape 75"/>
          <p:cNvSpPr/>
          <p:nvPr/>
        </p:nvSpPr>
        <p:spPr>
          <a:xfrm>
            <a:off x="4654296" y="3182112"/>
            <a:ext cx="4160520" cy="1554480"/>
          </a:xfrm>
          <a:prstGeom prst="roundRect">
            <a:avLst>
              <a:gd name="adj" fmla="val 4706"/>
            </a:avLst>
          </a:prstGeom>
          <a:solidFill>
            <a:srgbClr val="11203A"/>
          </a:solidFill>
          <a:ln w="25400">
            <a:solidFill>
              <a:srgbClr val="F97316"/>
            </a:solidFill>
            <a:prstDash val="solid"/>
          </a:ln>
          <a:effectLst>
            <a:outerShdw blurRad="101600" dist="25400" dir="8100000" algn="bl" rotWithShape="0">
              <a:srgbClr val="000000">
                <a:alpha val="25000"/>
              </a:srgbClr>
            </a:outerShdw>
          </a:effectLst>
        </p:spPr>
        <p:txBody>
          <a:bodyPr/>
          <a:lstStyle/>
          <a:p>
            <a:endParaRPr lang="en-GB"/>
          </a:p>
        </p:txBody>
      </p:sp>
      <p:sp>
        <p:nvSpPr>
          <p:cNvPr id="79" name="Shape 76"/>
          <p:cNvSpPr/>
          <p:nvPr/>
        </p:nvSpPr>
        <p:spPr>
          <a:xfrm>
            <a:off x="4654296" y="3182112"/>
            <a:ext cx="54864" cy="1554480"/>
          </a:xfrm>
          <a:prstGeom prst="rect">
            <a:avLst/>
          </a:prstGeom>
          <a:solidFill>
            <a:srgbClr val="F97316"/>
          </a:solidFill>
          <a:ln w="12700">
            <a:solidFill>
              <a:srgbClr val="F97316"/>
            </a:solidFill>
            <a:prstDash val="solid"/>
          </a:ln>
        </p:spPr>
        <p:txBody>
          <a:bodyPr/>
          <a:lstStyle/>
          <a:p>
            <a:endParaRPr lang="en-GB"/>
          </a:p>
        </p:txBody>
      </p:sp>
      <p:sp>
        <p:nvSpPr>
          <p:cNvPr id="80" name="Text 77"/>
          <p:cNvSpPr/>
          <p:nvPr/>
        </p:nvSpPr>
        <p:spPr>
          <a:xfrm>
            <a:off x="4791456" y="3273552"/>
            <a:ext cx="320040" cy="274320"/>
          </a:xfrm>
          <a:prstGeom prst="rect">
            <a:avLst/>
          </a:prstGeom>
          <a:noFill/>
          <a:ln/>
        </p:spPr>
        <p:txBody>
          <a:bodyPr wrap="square" lIns="0" tIns="0" rIns="0" bIns="0" rtlCol="0" anchor="ctr"/>
          <a:lstStyle/>
          <a:p>
            <a:pPr marL="0" indent="0">
              <a:buNone/>
            </a:pPr>
            <a:r>
              <a:rPr lang="en-US" sz="1400" b="1" dirty="0">
                <a:solidFill>
                  <a:srgbClr val="F97316"/>
                </a:solidFill>
                <a:latin typeface="Calibri" pitchFamily="34" charset="0"/>
                <a:ea typeface="Calibri" pitchFamily="34" charset="-122"/>
                <a:cs typeface="Calibri" pitchFamily="34" charset="-120"/>
              </a:rPr>
              <a:t>④</a:t>
            </a:r>
            <a:endParaRPr lang="en-US" sz="1400" dirty="0"/>
          </a:p>
        </p:txBody>
      </p:sp>
      <p:sp>
        <p:nvSpPr>
          <p:cNvPr id="81" name="Text 78"/>
          <p:cNvSpPr/>
          <p:nvPr/>
        </p:nvSpPr>
        <p:spPr>
          <a:xfrm>
            <a:off x="5157216" y="3273552"/>
            <a:ext cx="1965960" cy="274320"/>
          </a:xfrm>
          <a:prstGeom prst="rect">
            <a:avLst/>
          </a:prstGeom>
          <a:noFill/>
          <a:ln/>
        </p:spPr>
        <p:txBody>
          <a:bodyPr wrap="square" lIns="0" tIns="0" rIns="0" bIns="0" rtlCol="0" anchor="ctr"/>
          <a:lstStyle/>
          <a:p>
            <a:pPr marL="0" indent="0">
              <a:buNone/>
            </a:pPr>
            <a:r>
              <a:rPr lang="en-US" sz="1300" b="1" dirty="0">
                <a:solidFill>
                  <a:srgbClr val="F8FAFC"/>
                </a:solidFill>
                <a:latin typeface="Calibri" pitchFamily="34" charset="0"/>
                <a:ea typeface="Calibri" pitchFamily="34" charset="-122"/>
                <a:cs typeface="Calibri" pitchFamily="34" charset="-120"/>
              </a:rPr>
              <a:t>Agentic RAG</a:t>
            </a:r>
            <a:endParaRPr lang="en-US" sz="1300" dirty="0"/>
          </a:p>
        </p:txBody>
      </p:sp>
      <p:sp>
        <p:nvSpPr>
          <p:cNvPr id="82" name="Text 79"/>
          <p:cNvSpPr/>
          <p:nvPr/>
        </p:nvSpPr>
        <p:spPr>
          <a:xfrm>
            <a:off x="7077456" y="3273552"/>
            <a:ext cx="1600200" cy="274320"/>
          </a:xfrm>
          <a:prstGeom prst="rect">
            <a:avLst/>
          </a:prstGeom>
          <a:noFill/>
          <a:ln/>
        </p:spPr>
        <p:txBody>
          <a:bodyPr wrap="square" lIns="0" tIns="0" rIns="0" bIns="0" rtlCol="0" anchor="ctr"/>
          <a:lstStyle/>
          <a:p>
            <a:pPr marL="0" indent="0" algn="r">
              <a:buNone/>
            </a:pPr>
            <a:r>
              <a:rPr lang="en-US" sz="900" i="1" dirty="0">
                <a:solidFill>
                  <a:srgbClr val="F97316"/>
                </a:solidFill>
                <a:latin typeface="Calibri" pitchFamily="34" charset="0"/>
                <a:ea typeface="Calibri" pitchFamily="34" charset="-122"/>
                <a:cs typeface="Calibri" pitchFamily="34" charset="-120"/>
              </a:rPr>
              <a:t>open-ended · cutting edge</a:t>
            </a:r>
            <a:endParaRPr lang="en-US" sz="900" dirty="0"/>
          </a:p>
        </p:txBody>
      </p:sp>
      <p:sp>
        <p:nvSpPr>
          <p:cNvPr id="83" name="Shape 80"/>
          <p:cNvSpPr/>
          <p:nvPr/>
        </p:nvSpPr>
        <p:spPr>
          <a:xfrm>
            <a:off x="4791456" y="4050792"/>
            <a:ext cx="411480" cy="411480"/>
          </a:xfrm>
          <a:prstGeom prst="roundRect">
            <a:avLst>
              <a:gd name="adj" fmla="val 8889"/>
            </a:avLst>
          </a:prstGeom>
          <a:solidFill>
            <a:srgbClr val="11203A"/>
          </a:solidFill>
          <a:ln w="15240">
            <a:solidFill>
              <a:srgbClr val="3B82F6"/>
            </a:solidFill>
            <a:prstDash val="solid"/>
          </a:ln>
        </p:spPr>
        <p:txBody>
          <a:bodyPr/>
          <a:lstStyle/>
          <a:p>
            <a:endParaRPr lang="en-GB"/>
          </a:p>
        </p:txBody>
      </p:sp>
      <p:sp>
        <p:nvSpPr>
          <p:cNvPr id="84" name="Text 81"/>
          <p:cNvSpPr/>
          <p:nvPr/>
        </p:nvSpPr>
        <p:spPr>
          <a:xfrm>
            <a:off x="4791456" y="4050792"/>
            <a:ext cx="411480" cy="411480"/>
          </a:xfrm>
          <a:prstGeom prst="rect">
            <a:avLst/>
          </a:prstGeom>
          <a:noFill/>
          <a:ln/>
        </p:spPr>
        <p:txBody>
          <a:bodyPr wrap="square" lIns="0" tIns="0" rIns="0" bIns="0" rtlCol="0" anchor="ctr"/>
          <a:lstStyle/>
          <a:p>
            <a:pPr marL="0" indent="0" algn="ctr">
              <a:buNone/>
            </a:pPr>
            <a:r>
              <a:rPr lang="en-US" sz="900" b="1" dirty="0">
                <a:solidFill>
                  <a:srgbClr val="F8FAFC"/>
                </a:solidFill>
                <a:latin typeface="Calibri" pitchFamily="34" charset="0"/>
                <a:ea typeface="Calibri" pitchFamily="34" charset="-122"/>
                <a:cs typeface="Calibri" pitchFamily="34" charset="-120"/>
              </a:rPr>
              <a:t>Q</a:t>
            </a:r>
            <a:endParaRPr lang="en-US" sz="900" dirty="0"/>
          </a:p>
        </p:txBody>
      </p:sp>
      <p:sp>
        <p:nvSpPr>
          <p:cNvPr id="85" name="Shape 82"/>
          <p:cNvSpPr/>
          <p:nvPr/>
        </p:nvSpPr>
        <p:spPr>
          <a:xfrm>
            <a:off x="5294376" y="4050792"/>
            <a:ext cx="822960" cy="411480"/>
          </a:xfrm>
          <a:prstGeom prst="roundRect">
            <a:avLst>
              <a:gd name="adj" fmla="val 11111"/>
            </a:avLst>
          </a:prstGeom>
          <a:solidFill>
            <a:srgbClr val="F97316"/>
          </a:solidFill>
          <a:ln w="12700">
            <a:solidFill>
              <a:srgbClr val="F97316"/>
            </a:solidFill>
            <a:prstDash val="solid"/>
          </a:ln>
        </p:spPr>
        <p:txBody>
          <a:bodyPr/>
          <a:lstStyle/>
          <a:p>
            <a:endParaRPr lang="en-GB"/>
          </a:p>
        </p:txBody>
      </p:sp>
      <p:sp>
        <p:nvSpPr>
          <p:cNvPr id="86" name="Text 83"/>
          <p:cNvSpPr/>
          <p:nvPr/>
        </p:nvSpPr>
        <p:spPr>
          <a:xfrm>
            <a:off x="5294376" y="4050792"/>
            <a:ext cx="822960" cy="411480"/>
          </a:xfrm>
          <a:prstGeom prst="rect">
            <a:avLst/>
          </a:prstGeom>
          <a:noFill/>
          <a:ln/>
        </p:spPr>
        <p:txBody>
          <a:bodyPr wrap="square" lIns="0" tIns="0" rIns="0" bIns="0" rtlCol="0" anchor="ctr"/>
          <a:lstStyle/>
          <a:p>
            <a:pPr marL="0" indent="0" algn="ctr">
              <a:buNone/>
            </a:pPr>
            <a:r>
              <a:rPr lang="en-US" sz="1000" b="1" dirty="0">
                <a:solidFill>
                  <a:srgbClr val="0A1628"/>
                </a:solidFill>
                <a:latin typeface="Calibri" pitchFamily="34" charset="0"/>
                <a:ea typeface="Calibri" pitchFamily="34" charset="-122"/>
                <a:cs typeface="Calibri" pitchFamily="34" charset="-120"/>
              </a:rPr>
              <a:t>Agent</a:t>
            </a:r>
            <a:endParaRPr lang="en-US" sz="1000" dirty="0"/>
          </a:p>
        </p:txBody>
      </p:sp>
      <p:sp>
        <p:nvSpPr>
          <p:cNvPr id="87" name="Shape 84"/>
          <p:cNvSpPr/>
          <p:nvPr/>
        </p:nvSpPr>
        <p:spPr>
          <a:xfrm>
            <a:off x="6300216" y="3685032"/>
            <a:ext cx="777240" cy="320040"/>
          </a:xfrm>
          <a:prstGeom prst="roundRect">
            <a:avLst>
              <a:gd name="adj" fmla="val 11429"/>
            </a:avLst>
          </a:prstGeom>
          <a:solidFill>
            <a:srgbClr val="11203A"/>
          </a:solidFill>
          <a:ln w="15240">
            <a:solidFill>
              <a:srgbClr val="3B82F6"/>
            </a:solidFill>
            <a:prstDash val="solid"/>
          </a:ln>
        </p:spPr>
        <p:txBody>
          <a:bodyPr/>
          <a:lstStyle/>
          <a:p>
            <a:endParaRPr lang="en-GB"/>
          </a:p>
        </p:txBody>
      </p:sp>
      <p:sp>
        <p:nvSpPr>
          <p:cNvPr id="88" name="Text 85"/>
          <p:cNvSpPr/>
          <p:nvPr/>
        </p:nvSpPr>
        <p:spPr>
          <a:xfrm>
            <a:off x="6300216" y="3685032"/>
            <a:ext cx="777240" cy="320040"/>
          </a:xfrm>
          <a:prstGeom prst="rect">
            <a:avLst/>
          </a:prstGeom>
          <a:noFill/>
          <a:ln/>
        </p:spPr>
        <p:txBody>
          <a:bodyPr wrap="square" lIns="0" tIns="0" rIns="0" bIns="0" rtlCol="0" anchor="ctr"/>
          <a:lstStyle/>
          <a:p>
            <a:pPr marL="0" indent="0" algn="ctr">
              <a:buNone/>
            </a:pPr>
            <a:r>
              <a:rPr lang="en-US" sz="900" b="1" dirty="0">
                <a:solidFill>
                  <a:srgbClr val="F8FAFC"/>
                </a:solidFill>
                <a:latin typeface="Calibri" pitchFamily="34" charset="0"/>
                <a:ea typeface="Calibri" pitchFamily="34" charset="-122"/>
                <a:cs typeface="Calibri" pitchFamily="34" charset="-120"/>
              </a:rPr>
              <a:t>Rephrase</a:t>
            </a:r>
            <a:endParaRPr lang="en-US" sz="900" dirty="0"/>
          </a:p>
        </p:txBody>
      </p:sp>
      <p:sp>
        <p:nvSpPr>
          <p:cNvPr id="89" name="Shape 86"/>
          <p:cNvSpPr/>
          <p:nvPr/>
        </p:nvSpPr>
        <p:spPr>
          <a:xfrm>
            <a:off x="6300216" y="4096512"/>
            <a:ext cx="777240" cy="320040"/>
          </a:xfrm>
          <a:prstGeom prst="roundRect">
            <a:avLst>
              <a:gd name="adj" fmla="val 11429"/>
            </a:avLst>
          </a:prstGeom>
          <a:solidFill>
            <a:srgbClr val="11203A"/>
          </a:solidFill>
          <a:ln w="15240">
            <a:solidFill>
              <a:srgbClr val="3B82F6"/>
            </a:solidFill>
            <a:prstDash val="solid"/>
          </a:ln>
        </p:spPr>
        <p:txBody>
          <a:bodyPr/>
          <a:lstStyle/>
          <a:p>
            <a:endParaRPr lang="en-GB"/>
          </a:p>
        </p:txBody>
      </p:sp>
      <p:sp>
        <p:nvSpPr>
          <p:cNvPr id="90" name="Text 87"/>
          <p:cNvSpPr/>
          <p:nvPr/>
        </p:nvSpPr>
        <p:spPr>
          <a:xfrm>
            <a:off x="6300216" y="4096512"/>
            <a:ext cx="777240" cy="320040"/>
          </a:xfrm>
          <a:prstGeom prst="rect">
            <a:avLst/>
          </a:prstGeom>
          <a:noFill/>
          <a:ln/>
        </p:spPr>
        <p:txBody>
          <a:bodyPr wrap="square" lIns="0" tIns="0" rIns="0" bIns="0" rtlCol="0" anchor="ctr"/>
          <a:lstStyle/>
          <a:p>
            <a:pPr marL="0" indent="0" algn="ctr">
              <a:buNone/>
            </a:pPr>
            <a:r>
              <a:rPr lang="en-US" sz="900" b="1" dirty="0">
                <a:solidFill>
                  <a:srgbClr val="F8FAFC"/>
                </a:solidFill>
                <a:latin typeface="Calibri" pitchFamily="34" charset="0"/>
                <a:ea typeface="Calibri" pitchFamily="34" charset="-122"/>
                <a:cs typeface="Calibri" pitchFamily="34" charset="-120"/>
              </a:rPr>
              <a:t>Retrieve</a:t>
            </a:r>
            <a:endParaRPr lang="en-US" sz="900" dirty="0"/>
          </a:p>
        </p:txBody>
      </p:sp>
      <p:sp>
        <p:nvSpPr>
          <p:cNvPr id="91" name="Shape 88"/>
          <p:cNvSpPr/>
          <p:nvPr/>
        </p:nvSpPr>
        <p:spPr>
          <a:xfrm>
            <a:off x="6300216" y="4507992"/>
            <a:ext cx="777240" cy="320040"/>
          </a:xfrm>
          <a:prstGeom prst="roundRect">
            <a:avLst>
              <a:gd name="adj" fmla="val 11429"/>
            </a:avLst>
          </a:prstGeom>
          <a:solidFill>
            <a:srgbClr val="11203A"/>
          </a:solidFill>
          <a:ln w="15240">
            <a:solidFill>
              <a:srgbClr val="3B82F6"/>
            </a:solidFill>
            <a:prstDash val="solid"/>
          </a:ln>
        </p:spPr>
        <p:txBody>
          <a:bodyPr/>
          <a:lstStyle/>
          <a:p>
            <a:endParaRPr lang="en-GB"/>
          </a:p>
        </p:txBody>
      </p:sp>
      <p:sp>
        <p:nvSpPr>
          <p:cNvPr id="92" name="Text 89"/>
          <p:cNvSpPr/>
          <p:nvPr/>
        </p:nvSpPr>
        <p:spPr>
          <a:xfrm>
            <a:off x="6300216" y="4507992"/>
            <a:ext cx="777240" cy="320040"/>
          </a:xfrm>
          <a:prstGeom prst="rect">
            <a:avLst/>
          </a:prstGeom>
          <a:noFill/>
          <a:ln/>
        </p:spPr>
        <p:txBody>
          <a:bodyPr wrap="square" lIns="0" tIns="0" rIns="0" bIns="0" rtlCol="0" anchor="ctr"/>
          <a:lstStyle/>
          <a:p>
            <a:pPr marL="0" indent="0" algn="ctr">
              <a:buNone/>
            </a:pPr>
            <a:r>
              <a:rPr lang="en-US" sz="900" b="1" dirty="0">
                <a:solidFill>
                  <a:srgbClr val="F8FAFC"/>
                </a:solidFill>
                <a:latin typeface="Calibri" pitchFamily="34" charset="0"/>
                <a:ea typeface="Calibri" pitchFamily="34" charset="-122"/>
                <a:cs typeface="Calibri" pitchFamily="34" charset="-120"/>
              </a:rPr>
              <a:t>Tool</a:t>
            </a:r>
            <a:endParaRPr lang="en-US" sz="900" dirty="0"/>
          </a:p>
        </p:txBody>
      </p:sp>
      <p:sp>
        <p:nvSpPr>
          <p:cNvPr id="93" name="Shape 90"/>
          <p:cNvSpPr/>
          <p:nvPr/>
        </p:nvSpPr>
        <p:spPr>
          <a:xfrm flipV="1">
            <a:off x="6117336" y="3849624"/>
            <a:ext cx="182880" cy="402336"/>
          </a:xfrm>
          <a:prstGeom prst="line">
            <a:avLst/>
          </a:prstGeom>
          <a:noFill/>
          <a:ln w="19050">
            <a:solidFill>
              <a:srgbClr val="F97316"/>
            </a:solidFill>
            <a:prstDash val="solid"/>
            <a:tailEnd type="triangle"/>
          </a:ln>
        </p:spPr>
        <p:txBody>
          <a:bodyPr/>
          <a:lstStyle/>
          <a:p>
            <a:endParaRPr lang="en-GB"/>
          </a:p>
        </p:txBody>
      </p:sp>
      <p:sp>
        <p:nvSpPr>
          <p:cNvPr id="94" name="Shape 91"/>
          <p:cNvSpPr/>
          <p:nvPr/>
        </p:nvSpPr>
        <p:spPr>
          <a:xfrm>
            <a:off x="6117336" y="4251960"/>
            <a:ext cx="182880" cy="0"/>
          </a:xfrm>
          <a:prstGeom prst="line">
            <a:avLst/>
          </a:prstGeom>
          <a:noFill/>
          <a:ln w="19050">
            <a:solidFill>
              <a:srgbClr val="F97316"/>
            </a:solidFill>
            <a:prstDash val="solid"/>
            <a:tailEnd type="triangle"/>
          </a:ln>
        </p:spPr>
        <p:txBody>
          <a:bodyPr/>
          <a:lstStyle/>
          <a:p>
            <a:endParaRPr lang="en-GB"/>
          </a:p>
        </p:txBody>
      </p:sp>
      <p:sp>
        <p:nvSpPr>
          <p:cNvPr id="95" name="Shape 92"/>
          <p:cNvSpPr/>
          <p:nvPr/>
        </p:nvSpPr>
        <p:spPr>
          <a:xfrm>
            <a:off x="6117336" y="4251960"/>
            <a:ext cx="182880" cy="411480"/>
          </a:xfrm>
          <a:prstGeom prst="line">
            <a:avLst/>
          </a:prstGeom>
          <a:noFill/>
          <a:ln w="19050">
            <a:solidFill>
              <a:srgbClr val="F97316"/>
            </a:solidFill>
            <a:prstDash val="solid"/>
            <a:tailEnd type="triangle"/>
          </a:ln>
        </p:spPr>
        <p:txBody>
          <a:bodyPr/>
          <a:lstStyle/>
          <a:p>
            <a:endParaRPr lang="en-GB"/>
          </a:p>
        </p:txBody>
      </p:sp>
      <p:sp>
        <p:nvSpPr>
          <p:cNvPr id="96" name="Shape 93"/>
          <p:cNvSpPr/>
          <p:nvPr/>
        </p:nvSpPr>
        <p:spPr>
          <a:xfrm>
            <a:off x="7077456" y="4251960"/>
            <a:ext cx="137160" cy="0"/>
          </a:xfrm>
          <a:prstGeom prst="line">
            <a:avLst/>
          </a:prstGeom>
          <a:noFill/>
          <a:ln w="19050">
            <a:solidFill>
              <a:srgbClr val="94A3B8"/>
            </a:solidFill>
            <a:prstDash val="solid"/>
            <a:tailEnd type="triangle"/>
          </a:ln>
        </p:spPr>
        <p:txBody>
          <a:bodyPr/>
          <a:lstStyle/>
          <a:p>
            <a:endParaRPr lang="en-GB"/>
          </a:p>
        </p:txBody>
      </p:sp>
      <p:sp>
        <p:nvSpPr>
          <p:cNvPr id="97" name="Shape 94"/>
          <p:cNvSpPr/>
          <p:nvPr/>
        </p:nvSpPr>
        <p:spPr>
          <a:xfrm>
            <a:off x="7214616" y="4050792"/>
            <a:ext cx="502920" cy="411480"/>
          </a:xfrm>
          <a:prstGeom prst="roundRect">
            <a:avLst>
              <a:gd name="adj" fmla="val 8889"/>
            </a:avLst>
          </a:prstGeom>
          <a:solidFill>
            <a:srgbClr val="11203A"/>
          </a:solidFill>
          <a:ln w="15240">
            <a:solidFill>
              <a:srgbClr val="3B82F6"/>
            </a:solidFill>
            <a:prstDash val="solid"/>
          </a:ln>
        </p:spPr>
        <p:txBody>
          <a:bodyPr/>
          <a:lstStyle/>
          <a:p>
            <a:endParaRPr lang="en-GB"/>
          </a:p>
        </p:txBody>
      </p:sp>
      <p:sp>
        <p:nvSpPr>
          <p:cNvPr id="98" name="Text 95"/>
          <p:cNvSpPr/>
          <p:nvPr/>
        </p:nvSpPr>
        <p:spPr>
          <a:xfrm>
            <a:off x="7214616" y="4050792"/>
            <a:ext cx="502920" cy="411480"/>
          </a:xfrm>
          <a:prstGeom prst="rect">
            <a:avLst/>
          </a:prstGeom>
          <a:noFill/>
          <a:ln/>
        </p:spPr>
        <p:txBody>
          <a:bodyPr wrap="square" lIns="0" tIns="0" rIns="0" bIns="0" rtlCol="0" anchor="ctr"/>
          <a:lstStyle/>
          <a:p>
            <a:pPr marL="0" indent="0" algn="ctr">
              <a:buNone/>
            </a:pPr>
            <a:r>
              <a:rPr lang="en-US" sz="900" b="1" dirty="0">
                <a:solidFill>
                  <a:srgbClr val="F8FAFC"/>
                </a:solidFill>
                <a:latin typeface="Calibri" pitchFamily="34" charset="0"/>
                <a:ea typeface="Calibri" pitchFamily="34" charset="-122"/>
                <a:cs typeface="Calibri" pitchFamily="34" charset="-120"/>
              </a:rPr>
              <a:t>LLM</a:t>
            </a:r>
            <a:endParaRPr lang="en-US" sz="900" dirty="0"/>
          </a:p>
        </p:txBody>
      </p:sp>
      <p:sp>
        <p:nvSpPr>
          <p:cNvPr id="99" name="Shape 96"/>
          <p:cNvSpPr/>
          <p:nvPr/>
        </p:nvSpPr>
        <p:spPr>
          <a:xfrm>
            <a:off x="7808976" y="4050792"/>
            <a:ext cx="365760" cy="411480"/>
          </a:xfrm>
          <a:prstGeom prst="roundRect">
            <a:avLst>
              <a:gd name="adj" fmla="val 10000"/>
            </a:avLst>
          </a:prstGeom>
          <a:solidFill>
            <a:srgbClr val="11203A"/>
          </a:solidFill>
          <a:ln w="15240">
            <a:solidFill>
              <a:srgbClr val="3B82F6"/>
            </a:solidFill>
            <a:prstDash val="solid"/>
          </a:ln>
        </p:spPr>
        <p:txBody>
          <a:bodyPr/>
          <a:lstStyle/>
          <a:p>
            <a:endParaRPr lang="en-GB"/>
          </a:p>
        </p:txBody>
      </p:sp>
      <p:sp>
        <p:nvSpPr>
          <p:cNvPr id="100" name="Text 97"/>
          <p:cNvSpPr/>
          <p:nvPr/>
        </p:nvSpPr>
        <p:spPr>
          <a:xfrm>
            <a:off x="7808976" y="4050792"/>
            <a:ext cx="365760" cy="411480"/>
          </a:xfrm>
          <a:prstGeom prst="rect">
            <a:avLst/>
          </a:prstGeom>
          <a:noFill/>
          <a:ln/>
        </p:spPr>
        <p:txBody>
          <a:bodyPr wrap="square" lIns="0" tIns="0" rIns="0" bIns="0" rtlCol="0" anchor="ctr"/>
          <a:lstStyle/>
          <a:p>
            <a:pPr marL="0" indent="0" algn="ctr">
              <a:buNone/>
            </a:pPr>
            <a:r>
              <a:rPr lang="en-US" sz="900" b="1" dirty="0">
                <a:solidFill>
                  <a:srgbClr val="F8FAFC"/>
                </a:solidFill>
                <a:latin typeface="Calibri" pitchFamily="34" charset="0"/>
                <a:ea typeface="Calibri" pitchFamily="34" charset="-122"/>
                <a:cs typeface="Calibri" pitchFamily="34" charset="-120"/>
              </a:rPr>
              <a:t>A</a:t>
            </a:r>
            <a:endParaRPr lang="en-US" sz="900" dirty="0"/>
          </a:p>
        </p:txBody>
      </p:sp>
      <p:sp>
        <p:nvSpPr>
          <p:cNvPr id="101" name="Shape 98"/>
          <p:cNvSpPr/>
          <p:nvPr/>
        </p:nvSpPr>
        <p:spPr>
          <a:xfrm>
            <a:off x="5202936" y="4251960"/>
            <a:ext cx="91440" cy="0"/>
          </a:xfrm>
          <a:prstGeom prst="line">
            <a:avLst/>
          </a:prstGeom>
          <a:noFill/>
          <a:ln w="19050">
            <a:solidFill>
              <a:srgbClr val="3B82F6"/>
            </a:solidFill>
            <a:prstDash val="solid"/>
            <a:tailEnd type="triangle"/>
          </a:ln>
        </p:spPr>
        <p:txBody>
          <a:bodyPr/>
          <a:lstStyle/>
          <a:p>
            <a:endParaRPr lang="en-GB"/>
          </a:p>
        </p:txBody>
      </p:sp>
      <p:sp>
        <p:nvSpPr>
          <p:cNvPr id="102" name="Shape 99"/>
          <p:cNvSpPr/>
          <p:nvPr/>
        </p:nvSpPr>
        <p:spPr>
          <a:xfrm>
            <a:off x="7077456" y="4005072"/>
            <a:ext cx="137160" cy="246888"/>
          </a:xfrm>
          <a:prstGeom prst="line">
            <a:avLst/>
          </a:prstGeom>
          <a:noFill/>
          <a:ln w="19050">
            <a:solidFill>
              <a:srgbClr val="F97316"/>
            </a:solidFill>
            <a:prstDash val="solid"/>
            <a:tailEnd type="triangle"/>
          </a:ln>
        </p:spPr>
        <p:txBody>
          <a:bodyPr/>
          <a:lstStyle/>
          <a:p>
            <a:endParaRPr lang="en-GB"/>
          </a:p>
        </p:txBody>
      </p:sp>
      <p:sp>
        <p:nvSpPr>
          <p:cNvPr id="103" name="Shape 100"/>
          <p:cNvSpPr/>
          <p:nvPr/>
        </p:nvSpPr>
        <p:spPr>
          <a:xfrm>
            <a:off x="7717536" y="4251960"/>
            <a:ext cx="91440" cy="0"/>
          </a:xfrm>
          <a:prstGeom prst="line">
            <a:avLst/>
          </a:prstGeom>
          <a:noFill/>
          <a:ln w="19050">
            <a:solidFill>
              <a:srgbClr val="3B82F6"/>
            </a:solidFill>
            <a:prstDash val="solid"/>
            <a:tailEnd type="triangle"/>
          </a:ln>
        </p:spPr>
        <p:txBody>
          <a:bodyPr/>
          <a:lstStyle/>
          <a:p>
            <a:endParaRPr lang="en-GB"/>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A1628"/>
        </a:solidFill>
        <a:effectLst/>
      </p:bgPr>
    </p:bg>
    <p:spTree>
      <p:nvGrpSpPr>
        <p:cNvPr id="1" name=""/>
        <p:cNvGrpSpPr/>
        <p:nvPr/>
      </p:nvGrpSpPr>
      <p:grpSpPr>
        <a:xfrm>
          <a:off x="0" y="0"/>
          <a:ext cx="0" cy="0"/>
          <a:chOff x="0" y="0"/>
          <a:chExt cx="0" cy="0"/>
        </a:xfrm>
      </p:grpSpPr>
      <p:sp>
        <p:nvSpPr>
          <p:cNvPr id="3" name="Shape 0"/>
          <p:cNvSpPr/>
          <p:nvPr/>
        </p:nvSpPr>
        <p:spPr>
          <a:xfrm>
            <a:off x="457200" y="411480"/>
            <a:ext cx="320040" cy="54864"/>
          </a:xfrm>
          <a:prstGeom prst="rect">
            <a:avLst/>
          </a:prstGeom>
          <a:solidFill>
            <a:srgbClr val="F97316"/>
          </a:solidFill>
          <a:ln w="12700">
            <a:solidFill>
              <a:srgbClr val="F97316"/>
            </a:solidFill>
            <a:prstDash val="solid"/>
          </a:ln>
        </p:spPr>
        <p:txBody>
          <a:bodyPr/>
          <a:lstStyle/>
          <a:p>
            <a:endParaRPr lang="en-GB"/>
          </a:p>
        </p:txBody>
      </p:sp>
      <p:sp>
        <p:nvSpPr>
          <p:cNvPr id="4" name="Text 1"/>
          <p:cNvSpPr/>
          <p:nvPr/>
        </p:nvSpPr>
        <p:spPr>
          <a:xfrm>
            <a:off x="868680" y="329184"/>
            <a:ext cx="5029200" cy="274320"/>
          </a:xfrm>
          <a:prstGeom prst="rect">
            <a:avLst/>
          </a:prstGeom>
          <a:noFill/>
          <a:ln/>
        </p:spPr>
        <p:txBody>
          <a:bodyPr wrap="square" lIns="0" tIns="0" rIns="0" bIns="0" rtlCol="0" anchor="ctr"/>
          <a:lstStyle/>
          <a:p>
            <a:pPr marL="0" indent="0">
              <a:buNone/>
            </a:pPr>
            <a:r>
              <a:rPr lang="en-US" sz="1000" b="1" kern="0" spc="400" dirty="0">
                <a:solidFill>
                  <a:srgbClr val="F97316"/>
                </a:solidFill>
                <a:latin typeface="Calibri" pitchFamily="34" charset="0"/>
                <a:ea typeface="Calibri" pitchFamily="34" charset="-122"/>
                <a:cs typeface="Calibri" pitchFamily="34" charset="-120"/>
              </a:rPr>
              <a:t>03 · BUILDING BLOCKS</a:t>
            </a:r>
            <a:endParaRPr lang="en-US" sz="1000" dirty="0"/>
          </a:p>
        </p:txBody>
      </p:sp>
      <p:sp>
        <p:nvSpPr>
          <p:cNvPr id="5" name="Text 2"/>
          <p:cNvSpPr/>
          <p:nvPr/>
        </p:nvSpPr>
        <p:spPr>
          <a:xfrm>
            <a:off x="457200" y="640080"/>
            <a:ext cx="8229600" cy="822960"/>
          </a:xfrm>
          <a:prstGeom prst="rect">
            <a:avLst/>
          </a:prstGeom>
          <a:noFill/>
          <a:ln/>
        </p:spPr>
        <p:txBody>
          <a:bodyPr wrap="square" lIns="0" tIns="0" rIns="0" bIns="0" rtlCol="0" anchor="ctr"/>
          <a:lstStyle/>
          <a:p>
            <a:pPr marL="0" indent="0">
              <a:buNone/>
            </a:pPr>
            <a:r>
              <a:rPr lang="en-US" sz="3200" b="1" dirty="0">
                <a:solidFill>
                  <a:srgbClr val="F8FAFC"/>
                </a:solidFill>
                <a:latin typeface="Calibri" pitchFamily="34" charset="0"/>
                <a:ea typeface="Calibri" pitchFamily="34" charset="-122"/>
                <a:cs typeface="Calibri" pitchFamily="34" charset="-120"/>
              </a:rPr>
              <a:t>Problem #3 — the LLM can only talk</a:t>
            </a:r>
            <a:endParaRPr lang="en-US" sz="3200" dirty="0"/>
          </a:p>
        </p:txBody>
      </p:sp>
      <p:sp>
        <p:nvSpPr>
          <p:cNvPr id="6" name="Text 3"/>
          <p:cNvSpPr/>
          <p:nvPr/>
        </p:nvSpPr>
        <p:spPr>
          <a:xfrm>
            <a:off x="457200" y="4754880"/>
            <a:ext cx="4572000" cy="228600"/>
          </a:xfrm>
          <a:prstGeom prst="rect">
            <a:avLst/>
          </a:prstGeom>
          <a:noFill/>
          <a:ln/>
        </p:spPr>
        <p:txBody>
          <a:bodyPr wrap="square" lIns="0" tIns="0" rIns="0" bIns="0" rtlCol="0" anchor="ctr"/>
          <a:lstStyle/>
          <a:p>
            <a:pPr marL="0" indent="0">
              <a:buNone/>
            </a:pPr>
            <a:endParaRPr lang="en-US" sz="900" dirty="0"/>
          </a:p>
        </p:txBody>
      </p:sp>
      <p:sp>
        <p:nvSpPr>
          <p:cNvPr id="7" name="Shape 4"/>
          <p:cNvSpPr/>
          <p:nvPr/>
        </p:nvSpPr>
        <p:spPr>
          <a:xfrm>
            <a:off x="8275320" y="4818888"/>
            <a:ext cx="73152" cy="73152"/>
          </a:xfrm>
          <a:prstGeom prst="ellipse">
            <a:avLst/>
          </a:prstGeom>
          <a:solidFill>
            <a:srgbClr val="F97316"/>
          </a:solidFill>
          <a:ln w="12700">
            <a:solidFill>
              <a:srgbClr val="F97316"/>
            </a:solidFill>
            <a:prstDash val="solid"/>
          </a:ln>
        </p:spPr>
        <p:txBody>
          <a:bodyPr/>
          <a:lstStyle/>
          <a:p>
            <a:endParaRPr lang="en-GB"/>
          </a:p>
        </p:txBody>
      </p:sp>
      <p:sp>
        <p:nvSpPr>
          <p:cNvPr id="8" name="Text 5"/>
          <p:cNvSpPr/>
          <p:nvPr/>
        </p:nvSpPr>
        <p:spPr>
          <a:xfrm>
            <a:off x="8366760" y="4736592"/>
            <a:ext cx="685800" cy="228600"/>
          </a:xfrm>
          <a:prstGeom prst="rect">
            <a:avLst/>
          </a:prstGeom>
          <a:noFill/>
          <a:ln/>
        </p:spPr>
        <p:txBody>
          <a:bodyPr wrap="square" lIns="0" tIns="0" rIns="0" bIns="0" rtlCol="0" anchor="ctr"/>
          <a:lstStyle/>
          <a:p>
            <a:pPr marL="0" indent="0" algn="r">
              <a:buNone/>
            </a:pPr>
            <a:r>
              <a:rPr lang="en-US" sz="900" dirty="0">
                <a:solidFill>
                  <a:srgbClr val="94A3B8"/>
                </a:solidFill>
                <a:latin typeface="Calibri" pitchFamily="34" charset="0"/>
                <a:ea typeface="Calibri" pitchFamily="34" charset="-122"/>
                <a:cs typeface="Calibri" pitchFamily="34" charset="-120"/>
              </a:rPr>
              <a:t>14 / 21</a:t>
            </a:r>
            <a:endParaRPr lang="en-US" sz="900" dirty="0"/>
          </a:p>
        </p:txBody>
      </p:sp>
      <p:sp>
        <p:nvSpPr>
          <p:cNvPr id="9" name="Shape 6"/>
          <p:cNvSpPr/>
          <p:nvPr/>
        </p:nvSpPr>
        <p:spPr>
          <a:xfrm>
            <a:off x="365760" y="1463040"/>
            <a:ext cx="3291840" cy="3017520"/>
          </a:xfrm>
          <a:prstGeom prst="roundRect">
            <a:avLst>
              <a:gd name="adj" fmla="val 2424"/>
            </a:avLst>
          </a:prstGeom>
          <a:solidFill>
            <a:srgbClr val="11203A"/>
          </a:solidFill>
          <a:ln w="12700">
            <a:solidFill>
              <a:srgbClr val="1B2D4F"/>
            </a:solidFill>
            <a:prstDash val="solid"/>
          </a:ln>
          <a:effectLst>
            <a:outerShdw blurRad="101600" dist="25400" dir="8100000" algn="bl" rotWithShape="0">
              <a:srgbClr val="000000">
                <a:alpha val="25000"/>
              </a:srgbClr>
            </a:outerShdw>
          </a:effectLst>
        </p:spPr>
        <p:txBody>
          <a:bodyPr/>
          <a:lstStyle/>
          <a:p>
            <a:endParaRPr lang="en-GB"/>
          </a:p>
        </p:txBody>
      </p:sp>
      <p:sp>
        <p:nvSpPr>
          <p:cNvPr id="10" name="Shape 7"/>
          <p:cNvSpPr/>
          <p:nvPr/>
        </p:nvSpPr>
        <p:spPr>
          <a:xfrm>
            <a:off x="365760" y="1463040"/>
            <a:ext cx="3291840" cy="73152"/>
          </a:xfrm>
          <a:prstGeom prst="rect">
            <a:avLst/>
          </a:prstGeom>
          <a:solidFill>
            <a:srgbClr val="94A3B8"/>
          </a:solidFill>
          <a:ln w="12700">
            <a:solidFill>
              <a:srgbClr val="94A3B8"/>
            </a:solidFill>
            <a:prstDash val="solid"/>
          </a:ln>
        </p:spPr>
        <p:txBody>
          <a:bodyPr/>
          <a:lstStyle/>
          <a:p>
            <a:endParaRPr lang="en-GB"/>
          </a:p>
        </p:txBody>
      </p:sp>
      <p:sp>
        <p:nvSpPr>
          <p:cNvPr id="11" name="Text 8"/>
          <p:cNvSpPr/>
          <p:nvPr/>
        </p:nvSpPr>
        <p:spPr>
          <a:xfrm>
            <a:off x="548640" y="1627632"/>
            <a:ext cx="2926080" cy="274320"/>
          </a:xfrm>
          <a:prstGeom prst="rect">
            <a:avLst/>
          </a:prstGeom>
          <a:noFill/>
          <a:ln/>
        </p:spPr>
        <p:txBody>
          <a:bodyPr wrap="square" lIns="0" tIns="0" rIns="0" bIns="0" rtlCol="0" anchor="ctr"/>
          <a:lstStyle/>
          <a:p>
            <a:pPr marL="0" indent="0">
              <a:buNone/>
            </a:pPr>
            <a:r>
              <a:rPr lang="en-US" sz="1000" b="1" kern="0" spc="300" dirty="0">
                <a:solidFill>
                  <a:srgbClr val="94A3B8"/>
                </a:solidFill>
                <a:latin typeface="Calibri" pitchFamily="34" charset="0"/>
                <a:ea typeface="Calibri" pitchFamily="34" charset="-122"/>
                <a:cs typeface="Calibri" pitchFamily="34" charset="-120"/>
              </a:rPr>
              <a:t>LLM (TEXT-ONLY)</a:t>
            </a:r>
            <a:endParaRPr lang="en-US" sz="1000" dirty="0"/>
          </a:p>
        </p:txBody>
      </p:sp>
      <p:sp>
        <p:nvSpPr>
          <p:cNvPr id="12" name="Shape 9"/>
          <p:cNvSpPr/>
          <p:nvPr/>
        </p:nvSpPr>
        <p:spPr>
          <a:xfrm>
            <a:off x="640080" y="2057400"/>
            <a:ext cx="2743200" cy="548640"/>
          </a:xfrm>
          <a:prstGeom prst="roundRect">
            <a:avLst>
              <a:gd name="adj" fmla="val 10000"/>
            </a:avLst>
          </a:prstGeom>
          <a:solidFill>
            <a:srgbClr val="0A1628"/>
          </a:solidFill>
          <a:ln w="12700">
            <a:solidFill>
              <a:srgbClr val="3B82F6"/>
            </a:solidFill>
            <a:prstDash val="solid"/>
          </a:ln>
        </p:spPr>
        <p:txBody>
          <a:bodyPr/>
          <a:lstStyle/>
          <a:p>
            <a:endParaRPr lang="en-GB"/>
          </a:p>
        </p:txBody>
      </p:sp>
      <p:sp>
        <p:nvSpPr>
          <p:cNvPr id="13" name="Text 10"/>
          <p:cNvSpPr/>
          <p:nvPr/>
        </p:nvSpPr>
        <p:spPr>
          <a:xfrm>
            <a:off x="731520" y="2057400"/>
            <a:ext cx="2560320" cy="548640"/>
          </a:xfrm>
          <a:prstGeom prst="rect">
            <a:avLst/>
          </a:prstGeom>
          <a:noFill/>
          <a:ln/>
        </p:spPr>
        <p:txBody>
          <a:bodyPr wrap="square" lIns="0" tIns="0" rIns="0" bIns="0" rtlCol="0" anchor="ctr"/>
          <a:lstStyle/>
          <a:p>
            <a:pPr marL="0" indent="0">
              <a:buNone/>
            </a:pPr>
            <a:r>
              <a:rPr lang="en-US" sz="1000" dirty="0">
                <a:solidFill>
                  <a:srgbClr val="F8FAFC"/>
                </a:solidFill>
                <a:latin typeface="Calibri" pitchFamily="34" charset="0"/>
                <a:ea typeface="Calibri" pitchFamily="34" charset="-122"/>
                <a:cs typeface="Calibri" pitchFamily="34" charset="-120"/>
              </a:rPr>
              <a:t>👤  “Book the cheapest Paris–NYC flight in May.”</a:t>
            </a:r>
            <a:endParaRPr lang="en-US" sz="1000" dirty="0"/>
          </a:p>
        </p:txBody>
      </p:sp>
      <p:sp>
        <p:nvSpPr>
          <p:cNvPr id="14" name="Shape 11"/>
          <p:cNvSpPr/>
          <p:nvPr/>
        </p:nvSpPr>
        <p:spPr>
          <a:xfrm>
            <a:off x="1645920" y="2788920"/>
            <a:ext cx="731520" cy="731520"/>
          </a:xfrm>
          <a:prstGeom prst="ellipse">
            <a:avLst/>
          </a:prstGeom>
          <a:solidFill>
            <a:srgbClr val="1D4ED8"/>
          </a:solidFill>
          <a:ln w="25400">
            <a:solidFill>
              <a:srgbClr val="3B82F6"/>
            </a:solidFill>
            <a:prstDash val="solid"/>
          </a:ln>
        </p:spPr>
        <p:txBody>
          <a:bodyPr/>
          <a:lstStyle/>
          <a:p>
            <a:endParaRPr lang="en-GB"/>
          </a:p>
        </p:txBody>
      </p:sp>
      <p:sp>
        <p:nvSpPr>
          <p:cNvPr id="15" name="Text 12"/>
          <p:cNvSpPr/>
          <p:nvPr/>
        </p:nvSpPr>
        <p:spPr>
          <a:xfrm>
            <a:off x="1645920" y="2788920"/>
            <a:ext cx="731520" cy="731520"/>
          </a:xfrm>
          <a:prstGeom prst="rect">
            <a:avLst/>
          </a:prstGeom>
          <a:noFill/>
          <a:ln/>
        </p:spPr>
        <p:txBody>
          <a:bodyPr wrap="square" lIns="0" tIns="0" rIns="0" bIns="0" rtlCol="0" anchor="ctr"/>
          <a:lstStyle/>
          <a:p>
            <a:pPr marL="0" indent="0" algn="ctr">
              <a:buNone/>
            </a:pPr>
            <a:r>
              <a:rPr lang="en-US" sz="2600" dirty="0">
                <a:solidFill>
                  <a:srgbClr val="F8FAFC"/>
                </a:solidFill>
                <a:latin typeface="Calibri" pitchFamily="34" charset="0"/>
                <a:ea typeface="Calibri" pitchFamily="34" charset="-122"/>
                <a:cs typeface="Calibri" pitchFamily="34" charset="-120"/>
              </a:rPr>
              <a:t>🧠</a:t>
            </a:r>
            <a:endParaRPr lang="en-US" sz="2600" dirty="0"/>
          </a:p>
        </p:txBody>
      </p:sp>
      <p:sp>
        <p:nvSpPr>
          <p:cNvPr id="16" name="Shape 13"/>
          <p:cNvSpPr/>
          <p:nvPr/>
        </p:nvSpPr>
        <p:spPr>
          <a:xfrm>
            <a:off x="640080" y="3657600"/>
            <a:ext cx="2743200" cy="685800"/>
          </a:xfrm>
          <a:prstGeom prst="roundRect">
            <a:avLst>
              <a:gd name="adj" fmla="val 8000"/>
            </a:avLst>
          </a:prstGeom>
          <a:solidFill>
            <a:srgbClr val="0A1628"/>
          </a:solidFill>
          <a:ln w="12700">
            <a:solidFill>
              <a:srgbClr val="F97316"/>
            </a:solidFill>
            <a:prstDash val="solid"/>
          </a:ln>
        </p:spPr>
        <p:txBody>
          <a:bodyPr/>
          <a:lstStyle/>
          <a:p>
            <a:endParaRPr lang="en-GB"/>
          </a:p>
        </p:txBody>
      </p:sp>
      <p:sp>
        <p:nvSpPr>
          <p:cNvPr id="17" name="Text 14"/>
          <p:cNvSpPr/>
          <p:nvPr/>
        </p:nvSpPr>
        <p:spPr>
          <a:xfrm>
            <a:off x="731520" y="3657600"/>
            <a:ext cx="2560320" cy="365760"/>
          </a:xfrm>
          <a:prstGeom prst="rect">
            <a:avLst/>
          </a:prstGeom>
          <a:noFill/>
          <a:ln/>
        </p:spPr>
        <p:txBody>
          <a:bodyPr wrap="square" lIns="0" tIns="0" rIns="0" bIns="0" rtlCol="0" anchor="ctr"/>
          <a:lstStyle/>
          <a:p>
            <a:pPr marL="0" indent="0">
              <a:buNone/>
            </a:pPr>
            <a:r>
              <a:rPr lang="en-US" sz="1050" i="1" dirty="0">
                <a:solidFill>
                  <a:srgbClr val="F8FAFC"/>
                </a:solidFill>
                <a:latin typeface="Calibri" pitchFamily="34" charset="0"/>
                <a:ea typeface="Calibri" pitchFamily="34" charset="-122"/>
                <a:cs typeface="Calibri" pitchFamily="34" charset="-120"/>
              </a:rPr>
              <a:t>🤖  “Sure — here are the steps you'd take…”</a:t>
            </a:r>
            <a:endParaRPr lang="en-US" sz="1050" dirty="0"/>
          </a:p>
        </p:txBody>
      </p:sp>
      <p:sp>
        <p:nvSpPr>
          <p:cNvPr id="18" name="Text 15"/>
          <p:cNvSpPr/>
          <p:nvPr/>
        </p:nvSpPr>
        <p:spPr>
          <a:xfrm>
            <a:off x="731520" y="4023360"/>
            <a:ext cx="2560320" cy="274320"/>
          </a:xfrm>
          <a:prstGeom prst="rect">
            <a:avLst/>
          </a:prstGeom>
          <a:noFill/>
          <a:ln/>
        </p:spPr>
        <p:txBody>
          <a:bodyPr wrap="square" lIns="0" tIns="0" rIns="0" bIns="0" rtlCol="0" anchor="ctr"/>
          <a:lstStyle/>
          <a:p>
            <a:pPr marL="0" indent="0">
              <a:buNone/>
            </a:pPr>
            <a:r>
              <a:rPr lang="en-US" sz="900" i="1" dirty="0">
                <a:solidFill>
                  <a:srgbClr val="F97316"/>
                </a:solidFill>
                <a:latin typeface="Calibri" pitchFamily="34" charset="0"/>
                <a:ea typeface="Calibri" pitchFamily="34" charset="-122"/>
                <a:cs typeface="Calibri" pitchFamily="34" charset="-120"/>
              </a:rPr>
              <a:t>(it can't actually book anything)</a:t>
            </a:r>
            <a:endParaRPr lang="en-US" sz="900" dirty="0"/>
          </a:p>
        </p:txBody>
      </p:sp>
      <p:sp>
        <p:nvSpPr>
          <p:cNvPr id="19" name="Text 16"/>
          <p:cNvSpPr/>
          <p:nvPr/>
        </p:nvSpPr>
        <p:spPr>
          <a:xfrm>
            <a:off x="3840480" y="1463040"/>
            <a:ext cx="4937760" cy="274320"/>
          </a:xfrm>
          <a:prstGeom prst="rect">
            <a:avLst/>
          </a:prstGeom>
          <a:noFill/>
          <a:ln/>
        </p:spPr>
        <p:txBody>
          <a:bodyPr wrap="square" lIns="0" tIns="0" rIns="0" bIns="0" rtlCol="0" anchor="ctr"/>
          <a:lstStyle/>
          <a:p>
            <a:pPr marL="0" indent="0">
              <a:buNone/>
            </a:pPr>
            <a:r>
              <a:rPr lang="en-US" sz="1000" b="1" kern="0" spc="400" dirty="0">
                <a:solidFill>
                  <a:srgbClr val="F97316"/>
                </a:solidFill>
                <a:latin typeface="Calibri" pitchFamily="34" charset="0"/>
                <a:ea typeface="Calibri" pitchFamily="34" charset="-122"/>
                <a:cs typeface="Calibri" pitchFamily="34" charset="-120"/>
              </a:rPr>
              <a:t>WHAT TOOLS / MCP UNLOCK</a:t>
            </a:r>
            <a:endParaRPr lang="en-US" sz="1000" dirty="0"/>
          </a:p>
        </p:txBody>
      </p:sp>
      <p:sp>
        <p:nvSpPr>
          <p:cNvPr id="20" name="Shape 17"/>
          <p:cNvSpPr/>
          <p:nvPr/>
        </p:nvSpPr>
        <p:spPr>
          <a:xfrm>
            <a:off x="3840480" y="1828800"/>
            <a:ext cx="4937760" cy="822960"/>
          </a:xfrm>
          <a:prstGeom prst="roundRect">
            <a:avLst>
              <a:gd name="adj" fmla="val 6667"/>
            </a:avLst>
          </a:prstGeom>
          <a:solidFill>
            <a:srgbClr val="11203A"/>
          </a:solidFill>
          <a:ln w="19050">
            <a:solidFill>
              <a:srgbClr val="F97316"/>
            </a:solidFill>
            <a:prstDash val="solid"/>
          </a:ln>
          <a:effectLst>
            <a:outerShdw blurRad="101600" dist="25400" dir="8100000" algn="bl" rotWithShape="0">
              <a:srgbClr val="000000">
                <a:alpha val="25000"/>
              </a:srgbClr>
            </a:outerShdw>
          </a:effectLst>
        </p:spPr>
        <p:txBody>
          <a:bodyPr/>
          <a:lstStyle/>
          <a:p>
            <a:endParaRPr lang="en-GB"/>
          </a:p>
        </p:txBody>
      </p:sp>
      <p:sp>
        <p:nvSpPr>
          <p:cNvPr id="21" name="Shape 18"/>
          <p:cNvSpPr/>
          <p:nvPr/>
        </p:nvSpPr>
        <p:spPr>
          <a:xfrm>
            <a:off x="3840480" y="1828800"/>
            <a:ext cx="54864" cy="822960"/>
          </a:xfrm>
          <a:prstGeom prst="rect">
            <a:avLst/>
          </a:prstGeom>
          <a:solidFill>
            <a:srgbClr val="F97316"/>
          </a:solidFill>
          <a:ln w="12700">
            <a:solidFill>
              <a:srgbClr val="F97316"/>
            </a:solidFill>
            <a:prstDash val="solid"/>
          </a:ln>
        </p:spPr>
        <p:txBody>
          <a:bodyPr/>
          <a:lstStyle/>
          <a:p>
            <a:endParaRPr lang="en-GB"/>
          </a:p>
        </p:txBody>
      </p:sp>
      <p:sp>
        <p:nvSpPr>
          <p:cNvPr id="22" name="Shape 19"/>
          <p:cNvSpPr/>
          <p:nvPr/>
        </p:nvSpPr>
        <p:spPr>
          <a:xfrm>
            <a:off x="4023360" y="1993392"/>
            <a:ext cx="502920" cy="502920"/>
          </a:xfrm>
          <a:prstGeom prst="ellipse">
            <a:avLst/>
          </a:prstGeom>
          <a:solidFill>
            <a:srgbClr val="F97316"/>
          </a:solidFill>
          <a:ln w="12700">
            <a:solidFill>
              <a:srgbClr val="F97316"/>
            </a:solidFill>
            <a:prstDash val="solid"/>
          </a:ln>
        </p:spPr>
        <p:txBody>
          <a:bodyPr/>
          <a:lstStyle/>
          <a:p>
            <a:endParaRPr lang="en-GB"/>
          </a:p>
        </p:txBody>
      </p:sp>
      <p:sp>
        <p:nvSpPr>
          <p:cNvPr id="23" name="Text 20"/>
          <p:cNvSpPr/>
          <p:nvPr/>
        </p:nvSpPr>
        <p:spPr>
          <a:xfrm>
            <a:off x="4023360" y="1993392"/>
            <a:ext cx="502920" cy="502920"/>
          </a:xfrm>
          <a:prstGeom prst="rect">
            <a:avLst/>
          </a:prstGeom>
          <a:noFill/>
          <a:ln/>
        </p:spPr>
        <p:txBody>
          <a:bodyPr wrap="square" lIns="0" tIns="0" rIns="0" bIns="0" rtlCol="0" anchor="ctr"/>
          <a:lstStyle/>
          <a:p>
            <a:pPr marL="0" indent="0" algn="ctr">
              <a:buNone/>
            </a:pPr>
            <a:r>
              <a:rPr lang="en-US" sz="1600" b="1" dirty="0">
                <a:solidFill>
                  <a:srgbClr val="F8FAFC"/>
                </a:solidFill>
                <a:latin typeface="Calibri" pitchFamily="34" charset="0"/>
                <a:ea typeface="Calibri" pitchFamily="34" charset="-122"/>
                <a:cs typeface="Calibri" pitchFamily="34" charset="-120"/>
              </a:rPr>
              <a:t>💸</a:t>
            </a:r>
            <a:endParaRPr lang="en-US" sz="1600" dirty="0"/>
          </a:p>
        </p:txBody>
      </p:sp>
      <p:sp>
        <p:nvSpPr>
          <p:cNvPr id="24" name="Text 21"/>
          <p:cNvSpPr/>
          <p:nvPr/>
        </p:nvSpPr>
        <p:spPr>
          <a:xfrm>
            <a:off x="4709160" y="1920240"/>
            <a:ext cx="3931920" cy="320040"/>
          </a:xfrm>
          <a:prstGeom prst="rect">
            <a:avLst/>
          </a:prstGeom>
          <a:noFill/>
          <a:ln/>
        </p:spPr>
        <p:txBody>
          <a:bodyPr wrap="square" lIns="0" tIns="0" rIns="0" bIns="0" rtlCol="0" anchor="ctr"/>
          <a:lstStyle/>
          <a:p>
            <a:pPr marL="0" indent="0">
              <a:buNone/>
            </a:pPr>
            <a:r>
              <a:rPr lang="en-US" sz="1300" b="1" dirty="0">
                <a:solidFill>
                  <a:srgbClr val="F8FAFC"/>
                </a:solidFill>
                <a:latin typeface="Calibri" pitchFamily="34" charset="0"/>
                <a:ea typeface="Calibri" pitchFamily="34" charset="-122"/>
                <a:cs typeface="Calibri" pitchFamily="34" charset="-120"/>
              </a:rPr>
              <a:t>Real actions</a:t>
            </a:r>
            <a:endParaRPr lang="en-US" sz="1300" dirty="0"/>
          </a:p>
        </p:txBody>
      </p:sp>
      <p:sp>
        <p:nvSpPr>
          <p:cNvPr id="25" name="Text 22"/>
          <p:cNvSpPr/>
          <p:nvPr/>
        </p:nvSpPr>
        <p:spPr>
          <a:xfrm>
            <a:off x="4709160" y="2212848"/>
            <a:ext cx="3931920" cy="457200"/>
          </a:xfrm>
          <a:prstGeom prst="rect">
            <a:avLst/>
          </a:prstGeom>
          <a:noFill/>
          <a:ln/>
        </p:spPr>
        <p:txBody>
          <a:bodyPr wrap="square" lIns="0" tIns="0" rIns="0" bIns="0" rtlCol="0" anchor="ctr"/>
          <a:lstStyle/>
          <a:p>
            <a:pPr marL="0" indent="0">
              <a:buNone/>
            </a:pPr>
            <a:r>
              <a:rPr lang="en-US" sz="1050" dirty="0">
                <a:solidFill>
                  <a:srgbClr val="94A3B8"/>
                </a:solidFill>
                <a:latin typeface="Calibri" pitchFamily="34" charset="0"/>
                <a:ea typeface="Calibri" pitchFamily="34" charset="-122"/>
                <a:cs typeface="Calibri" pitchFamily="34" charset="-120"/>
              </a:rPr>
              <a:t>book a flight, send an email, charge a card, push to git, deploy a job.</a:t>
            </a:r>
            <a:endParaRPr lang="en-US" sz="1050" dirty="0"/>
          </a:p>
        </p:txBody>
      </p:sp>
      <p:sp>
        <p:nvSpPr>
          <p:cNvPr id="26" name="Shape 23"/>
          <p:cNvSpPr/>
          <p:nvPr/>
        </p:nvSpPr>
        <p:spPr>
          <a:xfrm>
            <a:off x="3840480" y="2743200"/>
            <a:ext cx="4937760" cy="822960"/>
          </a:xfrm>
          <a:prstGeom prst="roundRect">
            <a:avLst>
              <a:gd name="adj" fmla="val 6667"/>
            </a:avLst>
          </a:prstGeom>
          <a:solidFill>
            <a:srgbClr val="11203A"/>
          </a:solidFill>
          <a:ln w="19050">
            <a:solidFill>
              <a:srgbClr val="F97316"/>
            </a:solidFill>
            <a:prstDash val="solid"/>
          </a:ln>
          <a:effectLst>
            <a:outerShdw blurRad="101600" dist="25400" dir="8100000" algn="bl" rotWithShape="0">
              <a:srgbClr val="000000">
                <a:alpha val="25000"/>
              </a:srgbClr>
            </a:outerShdw>
          </a:effectLst>
        </p:spPr>
        <p:txBody>
          <a:bodyPr/>
          <a:lstStyle/>
          <a:p>
            <a:endParaRPr lang="en-GB"/>
          </a:p>
        </p:txBody>
      </p:sp>
      <p:sp>
        <p:nvSpPr>
          <p:cNvPr id="27" name="Shape 24"/>
          <p:cNvSpPr/>
          <p:nvPr/>
        </p:nvSpPr>
        <p:spPr>
          <a:xfrm>
            <a:off x="3840480" y="2743200"/>
            <a:ext cx="54864" cy="822960"/>
          </a:xfrm>
          <a:prstGeom prst="rect">
            <a:avLst/>
          </a:prstGeom>
          <a:solidFill>
            <a:srgbClr val="F97316"/>
          </a:solidFill>
          <a:ln w="12700">
            <a:solidFill>
              <a:srgbClr val="F97316"/>
            </a:solidFill>
            <a:prstDash val="solid"/>
          </a:ln>
        </p:spPr>
        <p:txBody>
          <a:bodyPr/>
          <a:lstStyle/>
          <a:p>
            <a:endParaRPr lang="en-GB"/>
          </a:p>
        </p:txBody>
      </p:sp>
      <p:sp>
        <p:nvSpPr>
          <p:cNvPr id="28" name="Shape 25"/>
          <p:cNvSpPr/>
          <p:nvPr/>
        </p:nvSpPr>
        <p:spPr>
          <a:xfrm>
            <a:off x="4023360" y="2907792"/>
            <a:ext cx="502920" cy="502920"/>
          </a:xfrm>
          <a:prstGeom prst="ellipse">
            <a:avLst/>
          </a:prstGeom>
          <a:solidFill>
            <a:srgbClr val="F97316"/>
          </a:solidFill>
          <a:ln w="12700">
            <a:solidFill>
              <a:srgbClr val="F97316"/>
            </a:solidFill>
            <a:prstDash val="solid"/>
          </a:ln>
        </p:spPr>
        <p:txBody>
          <a:bodyPr/>
          <a:lstStyle/>
          <a:p>
            <a:endParaRPr lang="en-GB"/>
          </a:p>
        </p:txBody>
      </p:sp>
      <p:sp>
        <p:nvSpPr>
          <p:cNvPr id="29" name="Text 26"/>
          <p:cNvSpPr/>
          <p:nvPr/>
        </p:nvSpPr>
        <p:spPr>
          <a:xfrm>
            <a:off x="4023360" y="2907792"/>
            <a:ext cx="502920" cy="502920"/>
          </a:xfrm>
          <a:prstGeom prst="rect">
            <a:avLst/>
          </a:prstGeom>
          <a:noFill/>
          <a:ln/>
        </p:spPr>
        <p:txBody>
          <a:bodyPr wrap="square" lIns="0" tIns="0" rIns="0" bIns="0" rtlCol="0" anchor="ctr"/>
          <a:lstStyle/>
          <a:p>
            <a:pPr marL="0" indent="0" algn="ctr">
              <a:buNone/>
            </a:pPr>
            <a:r>
              <a:rPr lang="en-US" sz="1600" b="1" dirty="0">
                <a:solidFill>
                  <a:srgbClr val="F8FAFC"/>
                </a:solidFill>
                <a:latin typeface="Calibri" pitchFamily="34" charset="0"/>
                <a:ea typeface="Calibri" pitchFamily="34" charset="-122"/>
                <a:cs typeface="Calibri" pitchFamily="34" charset="-120"/>
              </a:rPr>
              <a:t>🔌</a:t>
            </a:r>
            <a:endParaRPr lang="en-US" sz="1600" dirty="0"/>
          </a:p>
        </p:txBody>
      </p:sp>
      <p:sp>
        <p:nvSpPr>
          <p:cNvPr id="30" name="Text 27"/>
          <p:cNvSpPr/>
          <p:nvPr/>
        </p:nvSpPr>
        <p:spPr>
          <a:xfrm>
            <a:off x="4709160" y="2834640"/>
            <a:ext cx="3931920" cy="320040"/>
          </a:xfrm>
          <a:prstGeom prst="rect">
            <a:avLst/>
          </a:prstGeom>
          <a:noFill/>
          <a:ln/>
        </p:spPr>
        <p:txBody>
          <a:bodyPr wrap="square" lIns="0" tIns="0" rIns="0" bIns="0" rtlCol="0" anchor="ctr"/>
          <a:lstStyle/>
          <a:p>
            <a:pPr marL="0" indent="0">
              <a:buNone/>
            </a:pPr>
            <a:r>
              <a:rPr lang="en-US" sz="1300" b="1" dirty="0">
                <a:solidFill>
                  <a:srgbClr val="F8FAFC"/>
                </a:solidFill>
                <a:latin typeface="Calibri" pitchFamily="34" charset="0"/>
                <a:ea typeface="Calibri" pitchFamily="34" charset="-122"/>
                <a:cs typeface="Calibri" pitchFamily="34" charset="-120"/>
              </a:rPr>
              <a:t>Live data</a:t>
            </a:r>
            <a:endParaRPr lang="en-US" sz="1300" dirty="0"/>
          </a:p>
        </p:txBody>
      </p:sp>
      <p:sp>
        <p:nvSpPr>
          <p:cNvPr id="31" name="Text 28"/>
          <p:cNvSpPr/>
          <p:nvPr/>
        </p:nvSpPr>
        <p:spPr>
          <a:xfrm>
            <a:off x="4709160" y="3127248"/>
            <a:ext cx="3931920" cy="457200"/>
          </a:xfrm>
          <a:prstGeom prst="rect">
            <a:avLst/>
          </a:prstGeom>
          <a:noFill/>
          <a:ln/>
        </p:spPr>
        <p:txBody>
          <a:bodyPr wrap="square" lIns="0" tIns="0" rIns="0" bIns="0" rtlCol="0" anchor="ctr"/>
          <a:lstStyle/>
          <a:p>
            <a:pPr marL="0" indent="0">
              <a:buNone/>
            </a:pPr>
            <a:r>
              <a:rPr lang="en-US" sz="1050" dirty="0">
                <a:solidFill>
                  <a:srgbClr val="94A3B8"/>
                </a:solidFill>
                <a:latin typeface="Calibri" pitchFamily="34" charset="0"/>
                <a:ea typeface="Calibri" pitchFamily="34" charset="-122"/>
                <a:cs typeface="Calibri" pitchFamily="34" charset="-120"/>
              </a:rPr>
              <a:t>current prices, calendar slots, a SQL query, today's logs, live sensors.</a:t>
            </a:r>
            <a:endParaRPr lang="en-US" sz="1050" dirty="0"/>
          </a:p>
        </p:txBody>
      </p:sp>
      <p:sp>
        <p:nvSpPr>
          <p:cNvPr id="32" name="Shape 29"/>
          <p:cNvSpPr/>
          <p:nvPr/>
        </p:nvSpPr>
        <p:spPr>
          <a:xfrm>
            <a:off x="3840480" y="3657600"/>
            <a:ext cx="4937760" cy="822960"/>
          </a:xfrm>
          <a:prstGeom prst="roundRect">
            <a:avLst>
              <a:gd name="adj" fmla="val 6667"/>
            </a:avLst>
          </a:prstGeom>
          <a:solidFill>
            <a:srgbClr val="11203A"/>
          </a:solidFill>
          <a:ln w="19050">
            <a:solidFill>
              <a:srgbClr val="F97316"/>
            </a:solidFill>
            <a:prstDash val="solid"/>
          </a:ln>
          <a:effectLst>
            <a:outerShdw blurRad="101600" dist="25400" dir="8100000" algn="bl" rotWithShape="0">
              <a:srgbClr val="000000">
                <a:alpha val="25000"/>
              </a:srgbClr>
            </a:outerShdw>
          </a:effectLst>
        </p:spPr>
        <p:txBody>
          <a:bodyPr/>
          <a:lstStyle/>
          <a:p>
            <a:endParaRPr lang="en-GB"/>
          </a:p>
        </p:txBody>
      </p:sp>
      <p:sp>
        <p:nvSpPr>
          <p:cNvPr id="33" name="Shape 30"/>
          <p:cNvSpPr/>
          <p:nvPr/>
        </p:nvSpPr>
        <p:spPr>
          <a:xfrm>
            <a:off x="3840480" y="3657600"/>
            <a:ext cx="54864" cy="822960"/>
          </a:xfrm>
          <a:prstGeom prst="rect">
            <a:avLst/>
          </a:prstGeom>
          <a:solidFill>
            <a:srgbClr val="F97316"/>
          </a:solidFill>
          <a:ln w="12700">
            <a:solidFill>
              <a:srgbClr val="F97316"/>
            </a:solidFill>
            <a:prstDash val="solid"/>
          </a:ln>
        </p:spPr>
        <p:txBody>
          <a:bodyPr/>
          <a:lstStyle/>
          <a:p>
            <a:endParaRPr lang="en-GB"/>
          </a:p>
        </p:txBody>
      </p:sp>
      <p:sp>
        <p:nvSpPr>
          <p:cNvPr id="34" name="Shape 31"/>
          <p:cNvSpPr/>
          <p:nvPr/>
        </p:nvSpPr>
        <p:spPr>
          <a:xfrm>
            <a:off x="4023360" y="3822192"/>
            <a:ext cx="502920" cy="502920"/>
          </a:xfrm>
          <a:prstGeom prst="ellipse">
            <a:avLst/>
          </a:prstGeom>
          <a:solidFill>
            <a:srgbClr val="F97316"/>
          </a:solidFill>
          <a:ln w="12700">
            <a:solidFill>
              <a:srgbClr val="F97316"/>
            </a:solidFill>
            <a:prstDash val="solid"/>
          </a:ln>
        </p:spPr>
        <p:txBody>
          <a:bodyPr/>
          <a:lstStyle/>
          <a:p>
            <a:endParaRPr lang="en-GB"/>
          </a:p>
        </p:txBody>
      </p:sp>
      <p:sp>
        <p:nvSpPr>
          <p:cNvPr id="35" name="Text 32"/>
          <p:cNvSpPr/>
          <p:nvPr/>
        </p:nvSpPr>
        <p:spPr>
          <a:xfrm>
            <a:off x="4023360" y="3822192"/>
            <a:ext cx="502920" cy="502920"/>
          </a:xfrm>
          <a:prstGeom prst="rect">
            <a:avLst/>
          </a:prstGeom>
          <a:noFill/>
          <a:ln/>
        </p:spPr>
        <p:txBody>
          <a:bodyPr wrap="square" lIns="0" tIns="0" rIns="0" bIns="0" rtlCol="0" anchor="ctr"/>
          <a:lstStyle/>
          <a:p>
            <a:pPr marL="0" indent="0" algn="ctr">
              <a:buNone/>
            </a:pPr>
            <a:r>
              <a:rPr lang="en-US" sz="1600" b="1" dirty="0">
                <a:solidFill>
                  <a:srgbClr val="F8FAFC"/>
                </a:solidFill>
                <a:latin typeface="Calibri" pitchFamily="34" charset="0"/>
                <a:ea typeface="Calibri" pitchFamily="34" charset="-122"/>
                <a:cs typeface="Calibri" pitchFamily="34" charset="-120"/>
              </a:rPr>
              <a:t>🌐</a:t>
            </a:r>
            <a:endParaRPr lang="en-US" sz="1600" dirty="0"/>
          </a:p>
        </p:txBody>
      </p:sp>
      <p:sp>
        <p:nvSpPr>
          <p:cNvPr id="36" name="Text 33"/>
          <p:cNvSpPr/>
          <p:nvPr/>
        </p:nvSpPr>
        <p:spPr>
          <a:xfrm>
            <a:off x="4709160" y="3749040"/>
            <a:ext cx="3931920" cy="320040"/>
          </a:xfrm>
          <a:prstGeom prst="rect">
            <a:avLst/>
          </a:prstGeom>
          <a:noFill/>
          <a:ln/>
        </p:spPr>
        <p:txBody>
          <a:bodyPr wrap="square" lIns="0" tIns="0" rIns="0" bIns="0" rtlCol="0" anchor="ctr"/>
          <a:lstStyle/>
          <a:p>
            <a:pPr marL="0" indent="0">
              <a:buNone/>
            </a:pPr>
            <a:r>
              <a:rPr lang="en-US" sz="1300" b="1" dirty="0">
                <a:solidFill>
                  <a:srgbClr val="F8FAFC"/>
                </a:solidFill>
                <a:latin typeface="Calibri" pitchFamily="34" charset="0"/>
                <a:ea typeface="Calibri" pitchFamily="34" charset="-122"/>
                <a:cs typeface="Calibri" pitchFamily="34" charset="-120"/>
              </a:rPr>
              <a:t>The wider system</a:t>
            </a:r>
            <a:endParaRPr lang="en-US" sz="1300" dirty="0"/>
          </a:p>
        </p:txBody>
      </p:sp>
      <p:sp>
        <p:nvSpPr>
          <p:cNvPr id="37" name="Text 34"/>
          <p:cNvSpPr/>
          <p:nvPr/>
        </p:nvSpPr>
        <p:spPr>
          <a:xfrm>
            <a:off x="4709160" y="4041648"/>
            <a:ext cx="3931920" cy="457200"/>
          </a:xfrm>
          <a:prstGeom prst="rect">
            <a:avLst/>
          </a:prstGeom>
          <a:noFill/>
          <a:ln/>
        </p:spPr>
        <p:txBody>
          <a:bodyPr wrap="square" lIns="0" tIns="0" rIns="0" bIns="0" rtlCol="0" anchor="ctr"/>
          <a:lstStyle/>
          <a:p>
            <a:pPr marL="0" indent="0">
              <a:buNone/>
            </a:pPr>
            <a:r>
              <a:rPr lang="en-US" sz="1050" dirty="0">
                <a:solidFill>
                  <a:srgbClr val="94A3B8"/>
                </a:solidFill>
                <a:latin typeface="Calibri" pitchFamily="34" charset="0"/>
                <a:ea typeface="Calibri" pitchFamily="34" charset="-122"/>
                <a:cs typeface="Calibri" pitchFamily="34" charset="-120"/>
              </a:rPr>
              <a:t>CRM, internal APIs, browsers, file systems — your full software estate.</a:t>
            </a:r>
            <a:endParaRPr lang="en-US" sz="1050" dirty="0"/>
          </a:p>
        </p:txBody>
      </p:sp>
      <p:sp>
        <p:nvSpPr>
          <p:cNvPr id="38" name="Text 35"/>
          <p:cNvSpPr/>
          <p:nvPr/>
        </p:nvSpPr>
        <p:spPr>
          <a:xfrm>
            <a:off x="365760" y="4572000"/>
            <a:ext cx="8412480" cy="274320"/>
          </a:xfrm>
          <a:prstGeom prst="rect">
            <a:avLst/>
          </a:prstGeom>
          <a:noFill/>
          <a:ln/>
        </p:spPr>
        <p:txBody>
          <a:bodyPr wrap="square" lIns="0" tIns="0" rIns="0" bIns="0" rtlCol="0" anchor="ctr"/>
          <a:lstStyle/>
          <a:p>
            <a:pPr marL="0" indent="0" algn="ctr">
              <a:buNone/>
            </a:pPr>
            <a:r>
              <a:rPr lang="en-US" sz="1100" b="1" i="1" dirty="0">
                <a:solidFill>
                  <a:srgbClr val="3B82F6"/>
                </a:solidFill>
                <a:latin typeface="Calibri" pitchFamily="34" charset="0"/>
                <a:ea typeface="Calibri" pitchFamily="34" charset="-122"/>
                <a:cs typeface="Calibri" pitchFamily="34" charset="-120"/>
              </a:rPr>
              <a:t>→ MCP is the open standard for plugging tools into any LLM.</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A1628"/>
        </a:solidFill>
        <a:effectLst/>
      </p:bgPr>
    </p:bg>
    <p:spTree>
      <p:nvGrpSpPr>
        <p:cNvPr id="1" name=""/>
        <p:cNvGrpSpPr/>
        <p:nvPr/>
      </p:nvGrpSpPr>
      <p:grpSpPr>
        <a:xfrm>
          <a:off x="0" y="0"/>
          <a:ext cx="0" cy="0"/>
          <a:chOff x="0" y="0"/>
          <a:chExt cx="0" cy="0"/>
        </a:xfrm>
      </p:grpSpPr>
      <p:sp>
        <p:nvSpPr>
          <p:cNvPr id="30" name="Shape 27"/>
          <p:cNvSpPr>
            <a:spLocks/>
          </p:cNvSpPr>
          <p:nvPr/>
        </p:nvSpPr>
        <p:spPr>
          <a:xfrm>
            <a:off x="1371600" y="3117596"/>
            <a:ext cx="6400800" cy="1353820"/>
          </a:xfrm>
          <a:prstGeom prst="rect">
            <a:avLst/>
          </a:prstGeom>
          <a:solidFill>
            <a:srgbClr val="F97316">
              <a:alpha val="12000"/>
            </a:srgbClr>
          </a:solidFill>
          <a:ln w="12700">
            <a:solidFill>
              <a:srgbClr val="F97316">
                <a:alpha val="0"/>
              </a:srgbClr>
            </a:solidFill>
            <a:prstDash val="solid"/>
          </a:ln>
        </p:spPr>
        <p:txBody>
          <a:bodyPr/>
          <a:lstStyle/>
          <a:p>
            <a:endParaRPr lang="en-GB"/>
          </a:p>
        </p:txBody>
      </p:sp>
      <p:sp>
        <p:nvSpPr>
          <p:cNvPr id="3" name="Shape 0"/>
          <p:cNvSpPr/>
          <p:nvPr/>
        </p:nvSpPr>
        <p:spPr>
          <a:xfrm>
            <a:off x="457200" y="411480"/>
            <a:ext cx="320040" cy="54864"/>
          </a:xfrm>
          <a:prstGeom prst="rect">
            <a:avLst/>
          </a:prstGeom>
          <a:solidFill>
            <a:srgbClr val="F97316"/>
          </a:solidFill>
          <a:ln w="12700">
            <a:solidFill>
              <a:srgbClr val="F97316"/>
            </a:solidFill>
            <a:prstDash val="solid"/>
          </a:ln>
        </p:spPr>
        <p:txBody>
          <a:bodyPr/>
          <a:lstStyle/>
          <a:p>
            <a:endParaRPr lang="en-GB"/>
          </a:p>
        </p:txBody>
      </p:sp>
      <p:sp>
        <p:nvSpPr>
          <p:cNvPr id="4" name="Text 1"/>
          <p:cNvSpPr/>
          <p:nvPr/>
        </p:nvSpPr>
        <p:spPr>
          <a:xfrm>
            <a:off x="868680" y="329184"/>
            <a:ext cx="5029200" cy="274320"/>
          </a:xfrm>
          <a:prstGeom prst="rect">
            <a:avLst/>
          </a:prstGeom>
          <a:noFill/>
          <a:ln/>
        </p:spPr>
        <p:txBody>
          <a:bodyPr wrap="square" lIns="0" tIns="0" rIns="0" bIns="0" rtlCol="0" anchor="ctr"/>
          <a:lstStyle/>
          <a:p>
            <a:pPr marL="0" indent="0">
              <a:buNone/>
            </a:pPr>
            <a:r>
              <a:rPr lang="en-US" sz="1000" b="1" kern="0" spc="400" dirty="0">
                <a:solidFill>
                  <a:srgbClr val="F97316"/>
                </a:solidFill>
                <a:latin typeface="Calibri" pitchFamily="34" charset="0"/>
                <a:ea typeface="Calibri" pitchFamily="34" charset="-122"/>
                <a:cs typeface="Calibri" pitchFamily="34" charset="-120"/>
              </a:rPr>
              <a:t>03 · BUILDING BLOCKS</a:t>
            </a:r>
            <a:endParaRPr lang="en-US" sz="1000" dirty="0"/>
          </a:p>
        </p:txBody>
      </p:sp>
      <p:sp>
        <p:nvSpPr>
          <p:cNvPr id="5" name="Text 2"/>
          <p:cNvSpPr/>
          <p:nvPr/>
        </p:nvSpPr>
        <p:spPr>
          <a:xfrm>
            <a:off x="457200" y="640080"/>
            <a:ext cx="8229600" cy="822960"/>
          </a:xfrm>
          <a:prstGeom prst="rect">
            <a:avLst/>
          </a:prstGeom>
          <a:noFill/>
          <a:ln/>
        </p:spPr>
        <p:txBody>
          <a:bodyPr wrap="square" lIns="0" tIns="0" rIns="0" bIns="0" rtlCol="0" anchor="ctr"/>
          <a:lstStyle/>
          <a:p>
            <a:pPr marL="0" indent="0">
              <a:buNone/>
            </a:pPr>
            <a:r>
              <a:rPr lang="en-US" sz="3200" b="1" dirty="0">
                <a:solidFill>
                  <a:srgbClr val="F8FAFC"/>
                </a:solidFill>
                <a:latin typeface="Calibri" pitchFamily="34" charset="0"/>
                <a:ea typeface="Calibri" pitchFamily="34" charset="-122"/>
                <a:cs typeface="Calibri" pitchFamily="34" charset="-120"/>
              </a:rPr>
              <a:t>MCP — how it actually works</a:t>
            </a:r>
            <a:endParaRPr lang="en-US" sz="3200" dirty="0"/>
          </a:p>
        </p:txBody>
      </p:sp>
      <p:sp>
        <p:nvSpPr>
          <p:cNvPr id="6" name="Text 3"/>
          <p:cNvSpPr/>
          <p:nvPr/>
        </p:nvSpPr>
        <p:spPr>
          <a:xfrm>
            <a:off x="457200" y="4754880"/>
            <a:ext cx="4572000" cy="228600"/>
          </a:xfrm>
          <a:prstGeom prst="rect">
            <a:avLst/>
          </a:prstGeom>
          <a:noFill/>
          <a:ln/>
        </p:spPr>
        <p:txBody>
          <a:bodyPr wrap="square" lIns="0" tIns="0" rIns="0" bIns="0" rtlCol="0" anchor="ctr"/>
          <a:lstStyle/>
          <a:p>
            <a:pPr marL="0" indent="0">
              <a:buNone/>
            </a:pPr>
            <a:endParaRPr lang="en-US" sz="900" dirty="0"/>
          </a:p>
        </p:txBody>
      </p:sp>
      <p:sp>
        <p:nvSpPr>
          <p:cNvPr id="7" name="Shape 4"/>
          <p:cNvSpPr/>
          <p:nvPr/>
        </p:nvSpPr>
        <p:spPr>
          <a:xfrm>
            <a:off x="8275320" y="4818888"/>
            <a:ext cx="73152" cy="73152"/>
          </a:xfrm>
          <a:prstGeom prst="ellipse">
            <a:avLst/>
          </a:prstGeom>
          <a:solidFill>
            <a:srgbClr val="F97316"/>
          </a:solidFill>
          <a:ln w="12700">
            <a:solidFill>
              <a:srgbClr val="F97316"/>
            </a:solidFill>
            <a:prstDash val="solid"/>
          </a:ln>
        </p:spPr>
        <p:txBody>
          <a:bodyPr/>
          <a:lstStyle/>
          <a:p>
            <a:endParaRPr lang="en-GB"/>
          </a:p>
        </p:txBody>
      </p:sp>
      <p:sp>
        <p:nvSpPr>
          <p:cNvPr id="8" name="Text 5"/>
          <p:cNvSpPr/>
          <p:nvPr/>
        </p:nvSpPr>
        <p:spPr>
          <a:xfrm>
            <a:off x="8366760" y="4736592"/>
            <a:ext cx="685800" cy="228600"/>
          </a:xfrm>
          <a:prstGeom prst="rect">
            <a:avLst/>
          </a:prstGeom>
          <a:noFill/>
          <a:ln/>
        </p:spPr>
        <p:txBody>
          <a:bodyPr wrap="square" lIns="0" tIns="0" rIns="0" bIns="0" rtlCol="0" anchor="ctr"/>
          <a:lstStyle/>
          <a:p>
            <a:pPr marL="0" indent="0" algn="r">
              <a:buNone/>
            </a:pPr>
            <a:r>
              <a:rPr lang="en-US" sz="900" dirty="0">
                <a:solidFill>
                  <a:srgbClr val="94A3B8"/>
                </a:solidFill>
                <a:latin typeface="Calibri" pitchFamily="34" charset="0"/>
                <a:ea typeface="Calibri" pitchFamily="34" charset="-122"/>
                <a:cs typeface="Calibri" pitchFamily="34" charset="-120"/>
              </a:rPr>
              <a:t>15 / 21</a:t>
            </a:r>
            <a:endParaRPr lang="en-US" sz="900" dirty="0"/>
          </a:p>
        </p:txBody>
      </p:sp>
      <p:sp>
        <p:nvSpPr>
          <p:cNvPr id="9" name="Shape 6"/>
          <p:cNvSpPr/>
          <p:nvPr/>
        </p:nvSpPr>
        <p:spPr>
          <a:xfrm>
            <a:off x="914400" y="1463040"/>
            <a:ext cx="1828800" cy="457200"/>
          </a:xfrm>
          <a:prstGeom prst="roundRect">
            <a:avLst>
              <a:gd name="adj" fmla="val 10000"/>
            </a:avLst>
          </a:prstGeom>
          <a:solidFill>
            <a:srgbClr val="11203A"/>
          </a:solidFill>
          <a:ln w="19050">
            <a:solidFill>
              <a:srgbClr val="94A3B8"/>
            </a:solidFill>
            <a:prstDash val="solid"/>
          </a:ln>
        </p:spPr>
        <p:txBody>
          <a:bodyPr/>
          <a:lstStyle/>
          <a:p>
            <a:endParaRPr lang="en-GB"/>
          </a:p>
        </p:txBody>
      </p:sp>
      <p:sp>
        <p:nvSpPr>
          <p:cNvPr id="10" name="Text 7"/>
          <p:cNvSpPr/>
          <p:nvPr/>
        </p:nvSpPr>
        <p:spPr>
          <a:xfrm>
            <a:off x="914400" y="1463040"/>
            <a:ext cx="1828800" cy="457200"/>
          </a:xfrm>
          <a:prstGeom prst="rect">
            <a:avLst/>
          </a:prstGeom>
          <a:noFill/>
          <a:ln/>
        </p:spPr>
        <p:txBody>
          <a:bodyPr wrap="square" lIns="0" tIns="0" rIns="0" bIns="0" rtlCol="0" anchor="ctr"/>
          <a:lstStyle/>
          <a:p>
            <a:pPr marL="0" indent="0" algn="ctr">
              <a:buNone/>
            </a:pPr>
            <a:r>
              <a:rPr lang="en-US" sz="1100" b="1" dirty="0">
                <a:solidFill>
                  <a:srgbClr val="F8FAFC"/>
                </a:solidFill>
                <a:latin typeface="Calibri" pitchFamily="34" charset="0"/>
                <a:ea typeface="Calibri" pitchFamily="34" charset="-122"/>
                <a:cs typeface="Calibri" pitchFamily="34" charset="-120"/>
              </a:rPr>
              <a:t>Host (Agent)</a:t>
            </a:r>
            <a:endParaRPr lang="en-US" sz="1100" dirty="0"/>
          </a:p>
        </p:txBody>
      </p:sp>
      <p:sp>
        <p:nvSpPr>
          <p:cNvPr id="11" name="Shape 8"/>
          <p:cNvSpPr/>
          <p:nvPr/>
        </p:nvSpPr>
        <p:spPr>
          <a:xfrm>
            <a:off x="2743200" y="1691640"/>
            <a:ext cx="182880" cy="0"/>
          </a:xfrm>
          <a:prstGeom prst="line">
            <a:avLst/>
          </a:prstGeom>
          <a:noFill/>
          <a:ln w="19050">
            <a:solidFill>
              <a:srgbClr val="1E3A5F"/>
            </a:solidFill>
            <a:prstDash val="solid"/>
            <a:tailEnd type="triangle"/>
          </a:ln>
        </p:spPr>
        <p:txBody>
          <a:bodyPr/>
          <a:lstStyle/>
          <a:p>
            <a:endParaRPr lang="en-GB"/>
          </a:p>
        </p:txBody>
      </p:sp>
      <p:sp>
        <p:nvSpPr>
          <p:cNvPr id="12" name="Shape 9"/>
          <p:cNvSpPr/>
          <p:nvPr/>
        </p:nvSpPr>
        <p:spPr>
          <a:xfrm>
            <a:off x="2926080" y="1463040"/>
            <a:ext cx="1554480" cy="457200"/>
          </a:xfrm>
          <a:prstGeom prst="roundRect">
            <a:avLst>
              <a:gd name="adj" fmla="val 10000"/>
            </a:avLst>
          </a:prstGeom>
          <a:solidFill>
            <a:srgbClr val="11203A"/>
          </a:solidFill>
          <a:ln w="19050">
            <a:solidFill>
              <a:srgbClr val="3B82F6"/>
            </a:solidFill>
            <a:prstDash val="solid"/>
          </a:ln>
        </p:spPr>
        <p:txBody>
          <a:bodyPr/>
          <a:lstStyle/>
          <a:p>
            <a:endParaRPr lang="en-GB"/>
          </a:p>
        </p:txBody>
      </p:sp>
      <p:sp>
        <p:nvSpPr>
          <p:cNvPr id="13" name="Text 10"/>
          <p:cNvSpPr/>
          <p:nvPr/>
        </p:nvSpPr>
        <p:spPr>
          <a:xfrm>
            <a:off x="2926080" y="1463040"/>
            <a:ext cx="1554480" cy="457200"/>
          </a:xfrm>
          <a:prstGeom prst="rect">
            <a:avLst/>
          </a:prstGeom>
          <a:noFill/>
          <a:ln/>
        </p:spPr>
        <p:txBody>
          <a:bodyPr wrap="square" lIns="0" tIns="0" rIns="0" bIns="0" rtlCol="0" anchor="ctr"/>
          <a:lstStyle/>
          <a:p>
            <a:pPr marL="0" indent="0" algn="ctr">
              <a:buNone/>
            </a:pPr>
            <a:r>
              <a:rPr lang="en-US" sz="1100" b="1" dirty="0">
                <a:solidFill>
                  <a:srgbClr val="F8FAFC"/>
                </a:solidFill>
                <a:latin typeface="Calibri" pitchFamily="34" charset="0"/>
                <a:ea typeface="Calibri" pitchFamily="34" charset="-122"/>
                <a:cs typeface="Calibri" pitchFamily="34" charset="-120"/>
              </a:rPr>
              <a:t>MCP Client</a:t>
            </a:r>
            <a:endParaRPr lang="en-US" sz="1100" dirty="0"/>
          </a:p>
        </p:txBody>
      </p:sp>
      <p:sp>
        <p:nvSpPr>
          <p:cNvPr id="14" name="Shape 11"/>
          <p:cNvSpPr/>
          <p:nvPr/>
        </p:nvSpPr>
        <p:spPr>
          <a:xfrm>
            <a:off x="4480560" y="1691640"/>
            <a:ext cx="182880" cy="0"/>
          </a:xfrm>
          <a:prstGeom prst="line">
            <a:avLst/>
          </a:prstGeom>
          <a:noFill/>
          <a:ln w="19050">
            <a:solidFill>
              <a:srgbClr val="1E3A5F"/>
            </a:solidFill>
            <a:prstDash val="solid"/>
            <a:tailEnd type="triangle"/>
          </a:ln>
        </p:spPr>
        <p:txBody>
          <a:bodyPr/>
          <a:lstStyle/>
          <a:p>
            <a:endParaRPr lang="en-GB"/>
          </a:p>
        </p:txBody>
      </p:sp>
      <p:sp>
        <p:nvSpPr>
          <p:cNvPr id="15" name="Shape 12"/>
          <p:cNvSpPr/>
          <p:nvPr/>
        </p:nvSpPr>
        <p:spPr>
          <a:xfrm>
            <a:off x="4663440" y="1463040"/>
            <a:ext cx="1554480" cy="457200"/>
          </a:xfrm>
          <a:prstGeom prst="roundRect">
            <a:avLst>
              <a:gd name="adj" fmla="val 10000"/>
            </a:avLst>
          </a:prstGeom>
          <a:solidFill>
            <a:srgbClr val="11203A"/>
          </a:solidFill>
          <a:ln w="19050">
            <a:solidFill>
              <a:srgbClr val="F97316"/>
            </a:solidFill>
            <a:prstDash val="solid"/>
          </a:ln>
        </p:spPr>
        <p:txBody>
          <a:bodyPr/>
          <a:lstStyle/>
          <a:p>
            <a:endParaRPr lang="en-GB"/>
          </a:p>
        </p:txBody>
      </p:sp>
      <p:sp>
        <p:nvSpPr>
          <p:cNvPr id="16" name="Text 13"/>
          <p:cNvSpPr/>
          <p:nvPr/>
        </p:nvSpPr>
        <p:spPr>
          <a:xfrm>
            <a:off x="4663440" y="1463040"/>
            <a:ext cx="1554480" cy="457200"/>
          </a:xfrm>
          <a:prstGeom prst="rect">
            <a:avLst/>
          </a:prstGeom>
          <a:noFill/>
          <a:ln/>
        </p:spPr>
        <p:txBody>
          <a:bodyPr wrap="square" lIns="0" tIns="0" rIns="0" bIns="0" rtlCol="0" anchor="ctr"/>
          <a:lstStyle/>
          <a:p>
            <a:pPr marL="0" indent="0" algn="ctr">
              <a:buNone/>
            </a:pPr>
            <a:r>
              <a:rPr lang="en-US" sz="1100" b="1" dirty="0">
                <a:solidFill>
                  <a:srgbClr val="F8FAFC"/>
                </a:solidFill>
                <a:latin typeface="Calibri" pitchFamily="34" charset="0"/>
                <a:ea typeface="Calibri" pitchFamily="34" charset="-122"/>
                <a:cs typeface="Calibri" pitchFamily="34" charset="-120"/>
              </a:rPr>
              <a:t>MCP Server</a:t>
            </a:r>
            <a:endParaRPr lang="en-US" sz="1100" dirty="0"/>
          </a:p>
        </p:txBody>
      </p:sp>
      <p:sp>
        <p:nvSpPr>
          <p:cNvPr id="17" name="Shape 14"/>
          <p:cNvSpPr/>
          <p:nvPr/>
        </p:nvSpPr>
        <p:spPr>
          <a:xfrm>
            <a:off x="6217920" y="1691640"/>
            <a:ext cx="182880" cy="0"/>
          </a:xfrm>
          <a:prstGeom prst="line">
            <a:avLst/>
          </a:prstGeom>
          <a:noFill/>
          <a:ln w="19050">
            <a:solidFill>
              <a:srgbClr val="1E3A5F"/>
            </a:solidFill>
            <a:prstDash val="solid"/>
            <a:tailEnd type="triangle"/>
          </a:ln>
        </p:spPr>
        <p:txBody>
          <a:bodyPr/>
          <a:lstStyle/>
          <a:p>
            <a:endParaRPr lang="en-GB"/>
          </a:p>
        </p:txBody>
      </p:sp>
      <p:sp>
        <p:nvSpPr>
          <p:cNvPr id="18" name="Shape 15"/>
          <p:cNvSpPr/>
          <p:nvPr/>
        </p:nvSpPr>
        <p:spPr>
          <a:xfrm>
            <a:off x="6400800" y="1463040"/>
            <a:ext cx="1828800" cy="457200"/>
          </a:xfrm>
          <a:prstGeom prst="roundRect">
            <a:avLst>
              <a:gd name="adj" fmla="val 10000"/>
            </a:avLst>
          </a:prstGeom>
          <a:solidFill>
            <a:srgbClr val="11203A"/>
          </a:solidFill>
          <a:ln w="19050">
            <a:solidFill>
              <a:srgbClr val="94A3B8"/>
            </a:solidFill>
            <a:prstDash val="solid"/>
          </a:ln>
        </p:spPr>
        <p:txBody>
          <a:bodyPr/>
          <a:lstStyle/>
          <a:p>
            <a:endParaRPr lang="en-GB"/>
          </a:p>
        </p:txBody>
      </p:sp>
      <p:sp>
        <p:nvSpPr>
          <p:cNvPr id="19" name="Text 16"/>
          <p:cNvSpPr/>
          <p:nvPr/>
        </p:nvSpPr>
        <p:spPr>
          <a:xfrm>
            <a:off x="6400800" y="1463040"/>
            <a:ext cx="1828800" cy="457200"/>
          </a:xfrm>
          <a:prstGeom prst="rect">
            <a:avLst/>
          </a:prstGeom>
          <a:noFill/>
          <a:ln/>
        </p:spPr>
        <p:txBody>
          <a:bodyPr wrap="square" lIns="0" tIns="0" rIns="0" bIns="0" rtlCol="0" anchor="ctr"/>
          <a:lstStyle/>
          <a:p>
            <a:pPr marL="0" indent="0" algn="ctr">
              <a:buNone/>
            </a:pPr>
            <a:r>
              <a:rPr lang="en-US" sz="1100" b="1" dirty="0">
                <a:solidFill>
                  <a:srgbClr val="F8FAFC"/>
                </a:solidFill>
                <a:latin typeface="Calibri" pitchFamily="34" charset="0"/>
                <a:ea typeface="Calibri" pitchFamily="34" charset="-122"/>
                <a:cs typeface="Calibri" pitchFamily="34" charset="-120"/>
              </a:rPr>
              <a:t>Tools · Data</a:t>
            </a:r>
            <a:endParaRPr lang="en-US" sz="1100" dirty="0"/>
          </a:p>
        </p:txBody>
      </p:sp>
      <p:sp>
        <p:nvSpPr>
          <p:cNvPr id="20" name="Shape 17"/>
          <p:cNvSpPr/>
          <p:nvPr/>
        </p:nvSpPr>
        <p:spPr>
          <a:xfrm>
            <a:off x="1600200" y="2103120"/>
            <a:ext cx="1737360" cy="292608"/>
          </a:xfrm>
          <a:prstGeom prst="roundRect">
            <a:avLst>
              <a:gd name="adj" fmla="val 12500"/>
            </a:avLst>
          </a:prstGeom>
          <a:solidFill>
            <a:srgbClr val="3B82F6"/>
          </a:solidFill>
          <a:ln w="12700">
            <a:solidFill>
              <a:srgbClr val="3B82F6"/>
            </a:solidFill>
            <a:prstDash val="solid"/>
          </a:ln>
        </p:spPr>
        <p:txBody>
          <a:bodyPr/>
          <a:lstStyle/>
          <a:p>
            <a:endParaRPr lang="en-GB"/>
          </a:p>
        </p:txBody>
      </p:sp>
      <p:sp>
        <p:nvSpPr>
          <p:cNvPr id="21" name="Text 18"/>
          <p:cNvSpPr/>
          <p:nvPr/>
        </p:nvSpPr>
        <p:spPr>
          <a:xfrm>
            <a:off x="1600200" y="2103120"/>
            <a:ext cx="1737360" cy="292608"/>
          </a:xfrm>
          <a:prstGeom prst="rect">
            <a:avLst/>
          </a:prstGeom>
          <a:noFill/>
          <a:ln/>
        </p:spPr>
        <p:txBody>
          <a:bodyPr wrap="square" lIns="0" tIns="0" rIns="0" bIns="0" rtlCol="0" anchor="ctr"/>
          <a:lstStyle/>
          <a:p>
            <a:pPr marL="0" indent="0" algn="ctr">
              <a:buNone/>
            </a:pPr>
            <a:r>
              <a:rPr lang="en-US" sz="1100" b="1" dirty="0">
                <a:solidFill>
                  <a:srgbClr val="0A1628"/>
                </a:solidFill>
                <a:latin typeface="Calibri" pitchFamily="34" charset="0"/>
                <a:ea typeface="Calibri" pitchFamily="34" charset="-122"/>
                <a:cs typeface="Calibri" pitchFamily="34" charset="-120"/>
              </a:rPr>
              <a:t>MCP Client</a:t>
            </a:r>
            <a:endParaRPr lang="en-US" sz="1100" dirty="0"/>
          </a:p>
        </p:txBody>
      </p:sp>
      <p:sp>
        <p:nvSpPr>
          <p:cNvPr id="22" name="Shape 19"/>
          <p:cNvSpPr/>
          <p:nvPr/>
        </p:nvSpPr>
        <p:spPr>
          <a:xfrm>
            <a:off x="5806440" y="2103120"/>
            <a:ext cx="1737360" cy="292608"/>
          </a:xfrm>
          <a:prstGeom prst="roundRect">
            <a:avLst>
              <a:gd name="adj" fmla="val 12500"/>
            </a:avLst>
          </a:prstGeom>
          <a:solidFill>
            <a:srgbClr val="F97316"/>
          </a:solidFill>
          <a:ln w="12700">
            <a:solidFill>
              <a:srgbClr val="F97316"/>
            </a:solidFill>
            <a:prstDash val="solid"/>
          </a:ln>
        </p:spPr>
        <p:txBody>
          <a:bodyPr/>
          <a:lstStyle/>
          <a:p>
            <a:endParaRPr lang="en-GB"/>
          </a:p>
        </p:txBody>
      </p:sp>
      <p:sp>
        <p:nvSpPr>
          <p:cNvPr id="23" name="Text 20"/>
          <p:cNvSpPr/>
          <p:nvPr/>
        </p:nvSpPr>
        <p:spPr>
          <a:xfrm>
            <a:off x="5806440" y="2103120"/>
            <a:ext cx="1737360" cy="292608"/>
          </a:xfrm>
          <a:prstGeom prst="rect">
            <a:avLst/>
          </a:prstGeom>
          <a:noFill/>
          <a:ln/>
        </p:spPr>
        <p:txBody>
          <a:bodyPr wrap="square" lIns="0" tIns="0" rIns="0" bIns="0" rtlCol="0" anchor="ctr"/>
          <a:lstStyle/>
          <a:p>
            <a:pPr marL="0" indent="0" algn="ctr">
              <a:buNone/>
            </a:pPr>
            <a:r>
              <a:rPr lang="en-US" sz="1100" b="1" dirty="0">
                <a:solidFill>
                  <a:srgbClr val="0A1628"/>
                </a:solidFill>
                <a:latin typeface="Calibri" pitchFamily="34" charset="0"/>
                <a:ea typeface="Calibri" pitchFamily="34" charset="-122"/>
                <a:cs typeface="Calibri" pitchFamily="34" charset="-120"/>
              </a:rPr>
              <a:t>MCP Server</a:t>
            </a:r>
            <a:endParaRPr lang="en-US" sz="1100" dirty="0"/>
          </a:p>
        </p:txBody>
      </p:sp>
      <p:sp>
        <p:nvSpPr>
          <p:cNvPr id="24" name="Shape 21"/>
          <p:cNvSpPr/>
          <p:nvPr/>
        </p:nvSpPr>
        <p:spPr>
          <a:xfrm>
            <a:off x="2468880" y="2423160"/>
            <a:ext cx="0" cy="1920240"/>
          </a:xfrm>
          <a:prstGeom prst="line">
            <a:avLst/>
          </a:prstGeom>
          <a:noFill/>
          <a:ln w="12700">
            <a:solidFill>
              <a:srgbClr val="3B82F6"/>
            </a:solidFill>
            <a:prstDash val="dash"/>
          </a:ln>
        </p:spPr>
        <p:txBody>
          <a:bodyPr/>
          <a:lstStyle/>
          <a:p>
            <a:endParaRPr lang="en-GB"/>
          </a:p>
        </p:txBody>
      </p:sp>
      <p:sp>
        <p:nvSpPr>
          <p:cNvPr id="25" name="Shape 22"/>
          <p:cNvSpPr/>
          <p:nvPr/>
        </p:nvSpPr>
        <p:spPr>
          <a:xfrm>
            <a:off x="6675120" y="2423160"/>
            <a:ext cx="0" cy="1920240"/>
          </a:xfrm>
          <a:prstGeom prst="line">
            <a:avLst/>
          </a:prstGeom>
          <a:noFill/>
          <a:ln w="12700">
            <a:solidFill>
              <a:srgbClr val="F97316"/>
            </a:solidFill>
            <a:prstDash val="dash"/>
          </a:ln>
        </p:spPr>
        <p:txBody>
          <a:bodyPr/>
          <a:lstStyle/>
          <a:p>
            <a:endParaRPr lang="en-GB"/>
          </a:p>
        </p:txBody>
      </p:sp>
      <p:sp>
        <p:nvSpPr>
          <p:cNvPr id="26" name="Shape 23"/>
          <p:cNvSpPr/>
          <p:nvPr/>
        </p:nvSpPr>
        <p:spPr>
          <a:xfrm>
            <a:off x="1371600" y="2512421"/>
            <a:ext cx="6400800" cy="596539"/>
          </a:xfrm>
          <a:prstGeom prst="rect">
            <a:avLst/>
          </a:prstGeom>
          <a:solidFill>
            <a:srgbClr val="3B82F6">
              <a:alpha val="12000"/>
            </a:srgbClr>
          </a:solidFill>
          <a:ln w="12700">
            <a:solidFill>
              <a:srgbClr val="3B82F6">
                <a:alpha val="0"/>
              </a:srgbClr>
            </a:solidFill>
            <a:prstDash val="solid"/>
          </a:ln>
        </p:spPr>
        <p:txBody>
          <a:bodyPr/>
          <a:lstStyle/>
          <a:p>
            <a:endParaRPr lang="en-GB"/>
          </a:p>
        </p:txBody>
      </p:sp>
      <p:sp>
        <p:nvSpPr>
          <p:cNvPr id="27" name="Text 24"/>
          <p:cNvSpPr/>
          <p:nvPr/>
        </p:nvSpPr>
        <p:spPr>
          <a:xfrm>
            <a:off x="365760" y="2747772"/>
            <a:ext cx="1097280" cy="219456"/>
          </a:xfrm>
          <a:prstGeom prst="rect">
            <a:avLst/>
          </a:prstGeom>
          <a:noFill/>
          <a:ln/>
        </p:spPr>
        <p:txBody>
          <a:bodyPr wrap="square" lIns="0" tIns="0" rIns="0" bIns="0" rtlCol="0" anchor="ctr"/>
          <a:lstStyle/>
          <a:p>
            <a:pPr marL="0" indent="0">
              <a:buNone/>
            </a:pPr>
            <a:r>
              <a:rPr lang="en-US" sz="900" b="1" kern="0" spc="200" dirty="0">
                <a:solidFill>
                  <a:srgbClr val="3B82F6"/>
                </a:solidFill>
                <a:latin typeface="Calibri" pitchFamily="34" charset="0"/>
                <a:ea typeface="Calibri" pitchFamily="34" charset="-122"/>
                <a:cs typeface="Calibri" pitchFamily="34" charset="-120"/>
              </a:rPr>
              <a:t>1 · Handshake</a:t>
            </a:r>
            <a:endParaRPr lang="en-US" sz="900" dirty="0"/>
          </a:p>
        </p:txBody>
      </p:sp>
      <p:sp>
        <p:nvSpPr>
          <p:cNvPr id="28" name="Shape 25"/>
          <p:cNvSpPr/>
          <p:nvPr/>
        </p:nvSpPr>
        <p:spPr>
          <a:xfrm>
            <a:off x="1371600" y="3154679"/>
            <a:ext cx="6400800" cy="587391"/>
          </a:xfrm>
          <a:prstGeom prst="rect">
            <a:avLst/>
          </a:prstGeom>
          <a:solidFill>
            <a:srgbClr val="3B82F6">
              <a:alpha val="12000"/>
            </a:srgbClr>
          </a:solidFill>
          <a:ln w="12700">
            <a:solidFill>
              <a:srgbClr val="3B82F6">
                <a:alpha val="0"/>
              </a:srgbClr>
            </a:solidFill>
            <a:prstDash val="solid"/>
          </a:ln>
        </p:spPr>
        <p:txBody>
          <a:bodyPr/>
          <a:lstStyle/>
          <a:p>
            <a:endParaRPr lang="en-GB"/>
          </a:p>
        </p:txBody>
      </p:sp>
      <p:sp>
        <p:nvSpPr>
          <p:cNvPr id="29" name="Text 26"/>
          <p:cNvSpPr/>
          <p:nvPr/>
        </p:nvSpPr>
        <p:spPr>
          <a:xfrm>
            <a:off x="365760" y="3296412"/>
            <a:ext cx="1097280" cy="219456"/>
          </a:xfrm>
          <a:prstGeom prst="rect">
            <a:avLst/>
          </a:prstGeom>
          <a:noFill/>
          <a:ln/>
        </p:spPr>
        <p:txBody>
          <a:bodyPr wrap="square" lIns="0" tIns="0" rIns="0" bIns="0" rtlCol="0" anchor="ctr"/>
          <a:lstStyle/>
          <a:p>
            <a:pPr marL="0" indent="0">
              <a:buNone/>
            </a:pPr>
            <a:r>
              <a:rPr lang="en-US" sz="900" b="1" kern="0" spc="200" dirty="0">
                <a:solidFill>
                  <a:srgbClr val="3B82F6"/>
                </a:solidFill>
                <a:latin typeface="Calibri" pitchFamily="34" charset="0"/>
                <a:ea typeface="Calibri" pitchFamily="34" charset="-122"/>
                <a:cs typeface="Calibri" pitchFamily="34" charset="-120"/>
              </a:rPr>
              <a:t>2 · Discovery</a:t>
            </a:r>
            <a:endParaRPr lang="en-US" sz="900" dirty="0"/>
          </a:p>
        </p:txBody>
      </p:sp>
      <p:sp>
        <p:nvSpPr>
          <p:cNvPr id="31" name="Text 28"/>
          <p:cNvSpPr/>
          <p:nvPr/>
        </p:nvSpPr>
        <p:spPr>
          <a:xfrm>
            <a:off x="365760" y="3899916"/>
            <a:ext cx="1097280" cy="219456"/>
          </a:xfrm>
          <a:prstGeom prst="rect">
            <a:avLst/>
          </a:prstGeom>
          <a:noFill/>
          <a:ln/>
        </p:spPr>
        <p:txBody>
          <a:bodyPr wrap="square" lIns="0" tIns="0" rIns="0" bIns="0" rtlCol="0" anchor="ctr"/>
          <a:lstStyle/>
          <a:p>
            <a:pPr marL="0" indent="0">
              <a:buNone/>
            </a:pPr>
            <a:r>
              <a:rPr lang="en-US" sz="900" b="1" kern="0" spc="200" dirty="0">
                <a:solidFill>
                  <a:srgbClr val="F97316"/>
                </a:solidFill>
                <a:latin typeface="Calibri" pitchFamily="34" charset="0"/>
                <a:ea typeface="Calibri" pitchFamily="34" charset="-122"/>
                <a:cs typeface="Calibri" pitchFamily="34" charset="-120"/>
              </a:rPr>
              <a:t>3 · Invocation</a:t>
            </a:r>
            <a:endParaRPr lang="en-US" sz="900" dirty="0"/>
          </a:p>
        </p:txBody>
      </p:sp>
      <p:sp>
        <p:nvSpPr>
          <p:cNvPr id="32" name="Shape 29"/>
          <p:cNvSpPr/>
          <p:nvPr/>
        </p:nvSpPr>
        <p:spPr>
          <a:xfrm>
            <a:off x="2468880" y="2691017"/>
            <a:ext cx="4206240" cy="0"/>
          </a:xfrm>
          <a:prstGeom prst="line">
            <a:avLst/>
          </a:prstGeom>
          <a:noFill/>
          <a:ln w="22860">
            <a:solidFill>
              <a:srgbClr val="3B82F6"/>
            </a:solidFill>
            <a:prstDash val="solid"/>
            <a:tailEnd type="triangle"/>
          </a:ln>
        </p:spPr>
        <p:txBody>
          <a:bodyPr/>
          <a:lstStyle/>
          <a:p>
            <a:endParaRPr lang="en-GB"/>
          </a:p>
        </p:txBody>
      </p:sp>
      <p:sp>
        <p:nvSpPr>
          <p:cNvPr id="33" name="Text 30"/>
          <p:cNvSpPr/>
          <p:nvPr/>
        </p:nvSpPr>
        <p:spPr>
          <a:xfrm>
            <a:off x="2560320" y="2508137"/>
            <a:ext cx="4023360" cy="182880"/>
          </a:xfrm>
          <a:prstGeom prst="rect">
            <a:avLst/>
          </a:prstGeom>
          <a:noFill/>
          <a:ln/>
        </p:spPr>
        <p:txBody>
          <a:bodyPr wrap="square" lIns="0" tIns="0" rIns="0" bIns="0" rtlCol="0" anchor="ctr"/>
          <a:lstStyle/>
          <a:p>
            <a:pPr marL="0" indent="0" algn="ctr">
              <a:buNone/>
            </a:pPr>
            <a:r>
              <a:rPr lang="en-US" sz="1000" b="1" dirty="0">
                <a:solidFill>
                  <a:srgbClr val="3B82F6"/>
                </a:solidFill>
                <a:latin typeface="Consolas" pitchFamily="34" charset="0"/>
                <a:ea typeface="Consolas" pitchFamily="34" charset="-122"/>
                <a:cs typeface="Consolas" pitchFamily="34" charset="-120"/>
              </a:rPr>
              <a:t>initialize</a:t>
            </a:r>
            <a:endParaRPr lang="en-US" sz="1000" dirty="0"/>
          </a:p>
        </p:txBody>
      </p:sp>
      <p:sp>
        <p:nvSpPr>
          <p:cNvPr id="34" name="Text 31"/>
          <p:cNvSpPr/>
          <p:nvPr/>
        </p:nvSpPr>
        <p:spPr>
          <a:xfrm>
            <a:off x="2597874" y="2691017"/>
            <a:ext cx="4023360" cy="164592"/>
          </a:xfrm>
          <a:prstGeom prst="rect">
            <a:avLst/>
          </a:prstGeom>
          <a:noFill/>
          <a:ln/>
        </p:spPr>
        <p:txBody>
          <a:bodyPr wrap="square" lIns="0" tIns="0" rIns="0" bIns="0" rtlCol="0" anchor="ctr"/>
          <a:lstStyle/>
          <a:p>
            <a:pPr marL="0" indent="0" algn="ctr">
              <a:buNone/>
            </a:pPr>
            <a:r>
              <a:rPr lang="en-US" sz="800" i="1" dirty="0">
                <a:solidFill>
                  <a:srgbClr val="94A3B8"/>
                </a:solidFill>
                <a:latin typeface="Consolas" pitchFamily="34" charset="0"/>
                <a:ea typeface="Consolas" pitchFamily="34" charset="-122"/>
                <a:cs typeface="Consolas" pitchFamily="34" charset="-120"/>
              </a:rPr>
              <a:t>{ version, capabilities }</a:t>
            </a:r>
            <a:endParaRPr lang="en-US" sz="800" dirty="0"/>
          </a:p>
        </p:txBody>
      </p:sp>
      <p:sp>
        <p:nvSpPr>
          <p:cNvPr id="35" name="Shape 32"/>
          <p:cNvSpPr/>
          <p:nvPr/>
        </p:nvSpPr>
        <p:spPr>
          <a:xfrm flipH="1">
            <a:off x="2468880" y="2996039"/>
            <a:ext cx="4206240" cy="0"/>
          </a:xfrm>
          <a:prstGeom prst="line">
            <a:avLst/>
          </a:prstGeom>
          <a:noFill/>
          <a:ln w="22860">
            <a:solidFill>
              <a:srgbClr val="94A3B8"/>
            </a:solidFill>
            <a:prstDash val="solid"/>
            <a:tailEnd type="triangle"/>
          </a:ln>
        </p:spPr>
        <p:txBody>
          <a:bodyPr/>
          <a:lstStyle/>
          <a:p>
            <a:endParaRPr lang="en-GB"/>
          </a:p>
        </p:txBody>
      </p:sp>
      <p:sp>
        <p:nvSpPr>
          <p:cNvPr id="36" name="Text 33"/>
          <p:cNvSpPr/>
          <p:nvPr/>
        </p:nvSpPr>
        <p:spPr>
          <a:xfrm>
            <a:off x="2568487" y="2823463"/>
            <a:ext cx="4023360" cy="182880"/>
          </a:xfrm>
          <a:prstGeom prst="rect">
            <a:avLst/>
          </a:prstGeom>
          <a:noFill/>
          <a:ln/>
        </p:spPr>
        <p:txBody>
          <a:bodyPr wrap="square" lIns="0" tIns="0" rIns="0" bIns="0" rtlCol="0" anchor="ctr"/>
          <a:lstStyle/>
          <a:p>
            <a:pPr marL="0" indent="0" algn="ctr">
              <a:buNone/>
            </a:pPr>
            <a:r>
              <a:rPr lang="en-US" sz="1000" b="1" dirty="0">
                <a:solidFill>
                  <a:srgbClr val="94A3B8"/>
                </a:solidFill>
                <a:latin typeface="Consolas" pitchFamily="34" charset="0"/>
                <a:ea typeface="Consolas" pitchFamily="34" charset="-122"/>
                <a:cs typeface="Consolas" pitchFamily="34" charset="-120"/>
              </a:rPr>
              <a:t>initialized</a:t>
            </a:r>
            <a:endParaRPr lang="en-US" sz="1000" dirty="0"/>
          </a:p>
        </p:txBody>
      </p:sp>
      <p:sp>
        <p:nvSpPr>
          <p:cNvPr id="37" name="Text 34"/>
          <p:cNvSpPr/>
          <p:nvPr/>
        </p:nvSpPr>
        <p:spPr>
          <a:xfrm>
            <a:off x="2597874" y="3001013"/>
            <a:ext cx="4023360" cy="164592"/>
          </a:xfrm>
          <a:prstGeom prst="rect">
            <a:avLst/>
          </a:prstGeom>
          <a:noFill/>
          <a:ln/>
        </p:spPr>
        <p:txBody>
          <a:bodyPr wrap="square" lIns="0" tIns="0" rIns="0" bIns="0" rtlCol="0" anchor="ctr"/>
          <a:lstStyle/>
          <a:p>
            <a:pPr marL="0" indent="0" algn="ctr">
              <a:buNone/>
            </a:pPr>
            <a:r>
              <a:rPr lang="en-US" sz="800" i="1" dirty="0">
                <a:solidFill>
                  <a:srgbClr val="94A3B8"/>
                </a:solidFill>
                <a:latin typeface="Consolas" pitchFamily="34" charset="0"/>
                <a:ea typeface="Consolas" pitchFamily="34" charset="-122"/>
                <a:cs typeface="Consolas" pitchFamily="34" charset="-120"/>
              </a:rPr>
              <a:t>{ server info, protocol version }</a:t>
            </a:r>
            <a:endParaRPr lang="en-US" sz="800" dirty="0"/>
          </a:p>
        </p:txBody>
      </p:sp>
      <p:sp>
        <p:nvSpPr>
          <p:cNvPr id="38" name="Shape 35"/>
          <p:cNvSpPr/>
          <p:nvPr/>
        </p:nvSpPr>
        <p:spPr>
          <a:xfrm>
            <a:off x="2468880" y="3337560"/>
            <a:ext cx="4206240" cy="0"/>
          </a:xfrm>
          <a:prstGeom prst="line">
            <a:avLst/>
          </a:prstGeom>
          <a:noFill/>
          <a:ln w="22860">
            <a:solidFill>
              <a:srgbClr val="3B82F6"/>
            </a:solidFill>
            <a:prstDash val="solid"/>
            <a:tailEnd type="triangle"/>
          </a:ln>
        </p:spPr>
        <p:txBody>
          <a:bodyPr/>
          <a:lstStyle/>
          <a:p>
            <a:endParaRPr lang="en-GB"/>
          </a:p>
        </p:txBody>
      </p:sp>
      <p:sp>
        <p:nvSpPr>
          <p:cNvPr id="39" name="Text 36"/>
          <p:cNvSpPr/>
          <p:nvPr/>
        </p:nvSpPr>
        <p:spPr>
          <a:xfrm>
            <a:off x="2560320" y="3161426"/>
            <a:ext cx="4023360" cy="182880"/>
          </a:xfrm>
          <a:prstGeom prst="rect">
            <a:avLst/>
          </a:prstGeom>
          <a:noFill/>
          <a:ln/>
        </p:spPr>
        <p:txBody>
          <a:bodyPr wrap="square" lIns="0" tIns="0" rIns="0" bIns="0" rtlCol="0" anchor="ctr"/>
          <a:lstStyle/>
          <a:p>
            <a:pPr marL="0" indent="0" algn="ctr">
              <a:buNone/>
            </a:pPr>
            <a:r>
              <a:rPr lang="en-US" sz="1000" b="1" dirty="0">
                <a:solidFill>
                  <a:srgbClr val="3B82F6"/>
                </a:solidFill>
                <a:latin typeface="Consolas" pitchFamily="34" charset="0"/>
                <a:ea typeface="Consolas" pitchFamily="34" charset="-122"/>
                <a:cs typeface="Consolas" pitchFamily="34" charset="-120"/>
              </a:rPr>
              <a:t>tools/list</a:t>
            </a:r>
            <a:endParaRPr lang="en-US" sz="1000" dirty="0"/>
          </a:p>
        </p:txBody>
      </p:sp>
      <p:sp>
        <p:nvSpPr>
          <p:cNvPr id="40" name="Text 37"/>
          <p:cNvSpPr/>
          <p:nvPr/>
        </p:nvSpPr>
        <p:spPr>
          <a:xfrm>
            <a:off x="2552154" y="3335968"/>
            <a:ext cx="4023360" cy="164592"/>
          </a:xfrm>
          <a:prstGeom prst="rect">
            <a:avLst/>
          </a:prstGeom>
          <a:noFill/>
          <a:ln/>
        </p:spPr>
        <p:txBody>
          <a:bodyPr wrap="square" lIns="0" tIns="0" rIns="0" bIns="0" rtlCol="0" anchor="ctr"/>
          <a:lstStyle/>
          <a:p>
            <a:pPr marL="0" indent="0" algn="ctr">
              <a:buNone/>
            </a:pPr>
            <a:r>
              <a:rPr lang="en-US" sz="800" i="1" dirty="0">
                <a:solidFill>
                  <a:srgbClr val="94A3B8"/>
                </a:solidFill>
                <a:latin typeface="Consolas" pitchFamily="34" charset="0"/>
                <a:ea typeface="Consolas" pitchFamily="34" charset="-122"/>
                <a:cs typeface="Consolas" pitchFamily="34" charset="-120"/>
              </a:rPr>
              <a:t>→ what can you do?</a:t>
            </a:r>
            <a:endParaRPr lang="en-US" sz="800" dirty="0"/>
          </a:p>
        </p:txBody>
      </p:sp>
      <p:sp>
        <p:nvSpPr>
          <p:cNvPr id="41" name="Shape 38"/>
          <p:cNvSpPr/>
          <p:nvPr/>
        </p:nvSpPr>
        <p:spPr>
          <a:xfrm flipH="1">
            <a:off x="2468880" y="3609848"/>
            <a:ext cx="4206240" cy="0"/>
          </a:xfrm>
          <a:prstGeom prst="line">
            <a:avLst/>
          </a:prstGeom>
          <a:noFill/>
          <a:ln w="22860">
            <a:solidFill>
              <a:srgbClr val="94A3B8"/>
            </a:solidFill>
            <a:prstDash val="solid"/>
            <a:tailEnd type="triangle"/>
          </a:ln>
        </p:spPr>
        <p:txBody>
          <a:bodyPr/>
          <a:lstStyle/>
          <a:p>
            <a:endParaRPr lang="en-GB"/>
          </a:p>
        </p:txBody>
      </p:sp>
      <p:sp>
        <p:nvSpPr>
          <p:cNvPr id="42" name="Text 39"/>
          <p:cNvSpPr/>
          <p:nvPr/>
        </p:nvSpPr>
        <p:spPr>
          <a:xfrm>
            <a:off x="2597874" y="3455346"/>
            <a:ext cx="4023360" cy="182880"/>
          </a:xfrm>
          <a:prstGeom prst="rect">
            <a:avLst/>
          </a:prstGeom>
          <a:noFill/>
          <a:ln/>
        </p:spPr>
        <p:txBody>
          <a:bodyPr wrap="square" lIns="0" tIns="0" rIns="0" bIns="0" rtlCol="0" anchor="ctr"/>
          <a:lstStyle/>
          <a:p>
            <a:pPr marL="0" indent="0" algn="ctr">
              <a:buNone/>
            </a:pPr>
            <a:r>
              <a:rPr lang="en-US" sz="1000" b="1" dirty="0">
                <a:solidFill>
                  <a:srgbClr val="94A3B8"/>
                </a:solidFill>
                <a:latin typeface="Consolas" pitchFamily="34" charset="0"/>
                <a:ea typeface="Consolas" pitchFamily="34" charset="-122"/>
                <a:cs typeface="Consolas" pitchFamily="34" charset="-120"/>
              </a:rPr>
              <a:t>[ tool1, tool2, … ]</a:t>
            </a:r>
            <a:endParaRPr lang="en-US" sz="1000" dirty="0"/>
          </a:p>
        </p:txBody>
      </p:sp>
      <p:sp>
        <p:nvSpPr>
          <p:cNvPr id="43" name="Text 40"/>
          <p:cNvSpPr/>
          <p:nvPr/>
        </p:nvSpPr>
        <p:spPr>
          <a:xfrm>
            <a:off x="2552154" y="3641710"/>
            <a:ext cx="4023360" cy="164592"/>
          </a:xfrm>
          <a:prstGeom prst="rect">
            <a:avLst/>
          </a:prstGeom>
          <a:noFill/>
          <a:ln/>
        </p:spPr>
        <p:txBody>
          <a:bodyPr wrap="square" lIns="0" tIns="0" rIns="0" bIns="0" rtlCol="0" anchor="ctr"/>
          <a:lstStyle/>
          <a:p>
            <a:pPr marL="0" indent="0" algn="ctr">
              <a:buNone/>
            </a:pPr>
            <a:r>
              <a:rPr lang="en-US" sz="800" i="1" dirty="0">
                <a:solidFill>
                  <a:srgbClr val="94A3B8"/>
                </a:solidFill>
                <a:latin typeface="Consolas" pitchFamily="34" charset="0"/>
                <a:ea typeface="Consolas" pitchFamily="34" charset="-122"/>
                <a:cs typeface="Consolas" pitchFamily="34" charset="-120"/>
              </a:rPr>
              <a:t>{ name, description, JSON schema } each</a:t>
            </a:r>
            <a:endParaRPr lang="en-US" sz="800" dirty="0"/>
          </a:p>
        </p:txBody>
      </p:sp>
      <p:sp>
        <p:nvSpPr>
          <p:cNvPr id="44" name="Shape 41"/>
          <p:cNvSpPr/>
          <p:nvPr/>
        </p:nvSpPr>
        <p:spPr>
          <a:xfrm>
            <a:off x="2460714" y="4009644"/>
            <a:ext cx="4206240" cy="0"/>
          </a:xfrm>
          <a:prstGeom prst="line">
            <a:avLst/>
          </a:prstGeom>
          <a:noFill/>
          <a:ln w="22860">
            <a:solidFill>
              <a:srgbClr val="F97316"/>
            </a:solidFill>
            <a:prstDash val="solid"/>
            <a:tailEnd type="triangle"/>
          </a:ln>
        </p:spPr>
        <p:txBody>
          <a:bodyPr/>
          <a:lstStyle/>
          <a:p>
            <a:endParaRPr lang="en-GB"/>
          </a:p>
        </p:txBody>
      </p:sp>
      <p:sp>
        <p:nvSpPr>
          <p:cNvPr id="45" name="Text 42"/>
          <p:cNvSpPr/>
          <p:nvPr/>
        </p:nvSpPr>
        <p:spPr>
          <a:xfrm>
            <a:off x="2560320" y="3826764"/>
            <a:ext cx="4023360" cy="182880"/>
          </a:xfrm>
          <a:prstGeom prst="rect">
            <a:avLst/>
          </a:prstGeom>
          <a:noFill/>
          <a:ln/>
        </p:spPr>
        <p:txBody>
          <a:bodyPr wrap="square" lIns="0" tIns="0" rIns="0" bIns="0" rtlCol="0" anchor="ctr"/>
          <a:lstStyle/>
          <a:p>
            <a:pPr marL="0" indent="0" algn="ctr">
              <a:buNone/>
            </a:pPr>
            <a:r>
              <a:rPr lang="en-US" sz="1000" b="1" dirty="0">
                <a:solidFill>
                  <a:srgbClr val="F97316"/>
                </a:solidFill>
                <a:latin typeface="Consolas" pitchFamily="34" charset="0"/>
                <a:ea typeface="Consolas" pitchFamily="34" charset="-122"/>
                <a:cs typeface="Consolas" pitchFamily="34" charset="-120"/>
              </a:rPr>
              <a:t>tools/call</a:t>
            </a:r>
            <a:endParaRPr lang="en-US" sz="1000" dirty="0"/>
          </a:p>
        </p:txBody>
      </p:sp>
      <p:sp>
        <p:nvSpPr>
          <p:cNvPr id="46" name="Text 43"/>
          <p:cNvSpPr/>
          <p:nvPr/>
        </p:nvSpPr>
        <p:spPr>
          <a:xfrm>
            <a:off x="2560319" y="3858768"/>
            <a:ext cx="4114801" cy="441305"/>
          </a:xfrm>
          <a:prstGeom prst="rect">
            <a:avLst/>
          </a:prstGeom>
          <a:noFill/>
          <a:ln/>
        </p:spPr>
        <p:txBody>
          <a:bodyPr wrap="square" lIns="0" tIns="0" rIns="0" bIns="0" rtlCol="0" anchor="ctr"/>
          <a:lstStyle/>
          <a:p>
            <a:pPr marL="0" indent="0" algn="ctr">
              <a:buNone/>
            </a:pPr>
            <a:r>
              <a:rPr lang="en-US" sz="800" i="1" dirty="0">
                <a:solidFill>
                  <a:srgbClr val="94A3B8"/>
                </a:solidFill>
                <a:latin typeface="Consolas" pitchFamily="34" charset="0"/>
                <a:ea typeface="Consolas" pitchFamily="34" charset="-122"/>
                <a:cs typeface="Consolas" pitchFamily="34" charset="-120"/>
              </a:rPr>
              <a:t>{ name: 'get_weather', args: { city: 'Paris' } }</a:t>
            </a:r>
            <a:endParaRPr lang="en-US" sz="800" dirty="0"/>
          </a:p>
        </p:txBody>
      </p:sp>
      <p:sp>
        <p:nvSpPr>
          <p:cNvPr id="47" name="Shape 44"/>
          <p:cNvSpPr/>
          <p:nvPr/>
        </p:nvSpPr>
        <p:spPr>
          <a:xfrm flipH="1">
            <a:off x="2468880" y="4306317"/>
            <a:ext cx="4206240" cy="0"/>
          </a:xfrm>
          <a:prstGeom prst="line">
            <a:avLst/>
          </a:prstGeom>
          <a:noFill/>
          <a:ln w="22860">
            <a:solidFill>
              <a:srgbClr val="F97316"/>
            </a:solidFill>
            <a:prstDash val="solid"/>
            <a:tailEnd type="triangle"/>
          </a:ln>
        </p:spPr>
        <p:txBody>
          <a:bodyPr/>
          <a:lstStyle/>
          <a:p>
            <a:endParaRPr lang="en-GB"/>
          </a:p>
        </p:txBody>
      </p:sp>
      <p:sp>
        <p:nvSpPr>
          <p:cNvPr id="48" name="Text 45"/>
          <p:cNvSpPr/>
          <p:nvPr/>
        </p:nvSpPr>
        <p:spPr>
          <a:xfrm>
            <a:off x="2743200" y="4126338"/>
            <a:ext cx="3641268" cy="173735"/>
          </a:xfrm>
          <a:prstGeom prst="rect">
            <a:avLst/>
          </a:prstGeom>
          <a:noFill/>
          <a:ln/>
        </p:spPr>
        <p:txBody>
          <a:bodyPr wrap="square" lIns="0" tIns="0" rIns="0" bIns="0" rtlCol="0" anchor="ctr"/>
          <a:lstStyle/>
          <a:p>
            <a:pPr marL="0" indent="0" algn="ctr">
              <a:buNone/>
            </a:pPr>
            <a:r>
              <a:rPr lang="en-US" sz="1000" b="1" dirty="0">
                <a:solidFill>
                  <a:srgbClr val="F97316"/>
                </a:solidFill>
                <a:latin typeface="Consolas" pitchFamily="34" charset="0"/>
                <a:ea typeface="Consolas" pitchFamily="34" charset="-122"/>
                <a:cs typeface="Consolas" pitchFamily="34" charset="-120"/>
              </a:rPr>
              <a:t>result</a:t>
            </a:r>
            <a:endParaRPr lang="en-US" sz="1000" dirty="0"/>
          </a:p>
        </p:txBody>
      </p:sp>
      <p:sp>
        <p:nvSpPr>
          <p:cNvPr id="49" name="Text 46"/>
          <p:cNvSpPr/>
          <p:nvPr/>
        </p:nvSpPr>
        <p:spPr>
          <a:xfrm>
            <a:off x="2560320" y="4306317"/>
            <a:ext cx="4023360" cy="164592"/>
          </a:xfrm>
          <a:prstGeom prst="rect">
            <a:avLst/>
          </a:prstGeom>
          <a:noFill/>
          <a:ln/>
        </p:spPr>
        <p:txBody>
          <a:bodyPr wrap="square" lIns="0" tIns="0" rIns="0" bIns="0" rtlCol="0" anchor="ctr"/>
          <a:lstStyle/>
          <a:p>
            <a:pPr marL="0" indent="0" algn="ctr">
              <a:buNone/>
            </a:pPr>
            <a:r>
              <a:rPr lang="en-US" sz="800" i="1" dirty="0">
                <a:solidFill>
                  <a:srgbClr val="94A3B8"/>
                </a:solidFill>
                <a:latin typeface="Consolas" pitchFamily="34" charset="0"/>
                <a:ea typeface="Consolas" pitchFamily="34" charset="-122"/>
                <a:cs typeface="Consolas" pitchFamily="34" charset="-120"/>
              </a:rPr>
              <a:t>{ content: '18°C, partly cloudy' }</a:t>
            </a:r>
            <a:endParaRPr lang="en-US" sz="800" dirty="0"/>
          </a:p>
        </p:txBody>
      </p:sp>
      <p:sp>
        <p:nvSpPr>
          <p:cNvPr id="50" name="Text 47"/>
          <p:cNvSpPr/>
          <p:nvPr/>
        </p:nvSpPr>
        <p:spPr>
          <a:xfrm>
            <a:off x="457200" y="4745228"/>
            <a:ext cx="8229600" cy="228600"/>
          </a:xfrm>
          <a:prstGeom prst="rect">
            <a:avLst/>
          </a:prstGeom>
          <a:noFill/>
          <a:ln/>
        </p:spPr>
        <p:txBody>
          <a:bodyPr wrap="square" lIns="0" tIns="0" rIns="0" bIns="0" rtlCol="0" anchor="ctr"/>
          <a:lstStyle/>
          <a:p>
            <a:pPr marL="0" indent="0" algn="ctr">
              <a:buNone/>
            </a:pPr>
            <a:r>
              <a:rPr lang="en-US" sz="1000" i="1" dirty="0">
                <a:solidFill>
                  <a:srgbClr val="94A3B8"/>
                </a:solidFill>
                <a:latin typeface="Calibri" pitchFamily="34" charset="0"/>
                <a:ea typeface="Calibri" pitchFamily="34" charset="-122"/>
                <a:cs typeface="Calibri" pitchFamily="34" charset="-120"/>
              </a:rPr>
              <a:t>Same protocol applies to resources/list · resources/read · prompts/list · prompts/get</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A1628"/>
        </a:solidFill>
        <a:effectLst/>
      </p:bgPr>
    </p:bg>
    <p:spTree>
      <p:nvGrpSpPr>
        <p:cNvPr id="1" name=""/>
        <p:cNvGrpSpPr/>
        <p:nvPr/>
      </p:nvGrpSpPr>
      <p:grpSpPr>
        <a:xfrm>
          <a:off x="0" y="0"/>
          <a:ext cx="0" cy="0"/>
          <a:chOff x="0" y="0"/>
          <a:chExt cx="0" cy="0"/>
        </a:xfrm>
      </p:grpSpPr>
      <p:sp>
        <p:nvSpPr>
          <p:cNvPr id="3" name="Shape 0"/>
          <p:cNvSpPr/>
          <p:nvPr/>
        </p:nvSpPr>
        <p:spPr>
          <a:xfrm>
            <a:off x="457200" y="411480"/>
            <a:ext cx="320040" cy="54864"/>
          </a:xfrm>
          <a:prstGeom prst="rect">
            <a:avLst/>
          </a:prstGeom>
          <a:solidFill>
            <a:srgbClr val="F97316"/>
          </a:solidFill>
          <a:ln w="12700">
            <a:solidFill>
              <a:srgbClr val="F97316"/>
            </a:solidFill>
            <a:prstDash val="solid"/>
          </a:ln>
        </p:spPr>
        <p:txBody>
          <a:bodyPr/>
          <a:lstStyle/>
          <a:p>
            <a:endParaRPr lang="en-GB"/>
          </a:p>
        </p:txBody>
      </p:sp>
      <p:sp>
        <p:nvSpPr>
          <p:cNvPr id="4" name="Text 1"/>
          <p:cNvSpPr/>
          <p:nvPr/>
        </p:nvSpPr>
        <p:spPr>
          <a:xfrm>
            <a:off x="868680" y="329184"/>
            <a:ext cx="5029200" cy="274320"/>
          </a:xfrm>
          <a:prstGeom prst="rect">
            <a:avLst/>
          </a:prstGeom>
          <a:noFill/>
          <a:ln/>
        </p:spPr>
        <p:txBody>
          <a:bodyPr wrap="square" lIns="0" tIns="0" rIns="0" bIns="0" rtlCol="0" anchor="ctr"/>
          <a:lstStyle/>
          <a:p>
            <a:pPr marL="0" indent="0">
              <a:buNone/>
            </a:pPr>
            <a:r>
              <a:rPr lang="en-US" sz="1000" b="1" kern="0" spc="400" dirty="0">
                <a:solidFill>
                  <a:srgbClr val="F97316"/>
                </a:solidFill>
                <a:latin typeface="Calibri" pitchFamily="34" charset="0"/>
                <a:ea typeface="Calibri" pitchFamily="34" charset="-122"/>
                <a:cs typeface="Calibri" pitchFamily="34" charset="-120"/>
              </a:rPr>
              <a:t>PRACTICAL · TOOLING</a:t>
            </a:r>
            <a:endParaRPr lang="en-US" sz="1000" dirty="0"/>
          </a:p>
        </p:txBody>
      </p:sp>
      <p:sp>
        <p:nvSpPr>
          <p:cNvPr id="5" name="Text 2"/>
          <p:cNvSpPr/>
          <p:nvPr/>
        </p:nvSpPr>
        <p:spPr>
          <a:xfrm>
            <a:off x="457200" y="640080"/>
            <a:ext cx="8229600" cy="822960"/>
          </a:xfrm>
          <a:prstGeom prst="rect">
            <a:avLst/>
          </a:prstGeom>
          <a:noFill/>
          <a:ln/>
        </p:spPr>
        <p:txBody>
          <a:bodyPr wrap="square" lIns="0" tIns="0" rIns="0" bIns="0" rtlCol="0" anchor="ctr"/>
          <a:lstStyle/>
          <a:p>
            <a:pPr marL="0" indent="0">
              <a:buNone/>
            </a:pPr>
            <a:r>
              <a:rPr lang="en-US" sz="3200" b="1" dirty="0">
                <a:solidFill>
                  <a:srgbClr val="F8FAFC"/>
                </a:solidFill>
                <a:latin typeface="Calibri" pitchFamily="34" charset="0"/>
                <a:ea typeface="Calibri" pitchFamily="34" charset="-122"/>
                <a:cs typeface="Calibri" pitchFamily="34" charset="-120"/>
              </a:rPr>
              <a:t>MCP vs command line</a:t>
            </a:r>
            <a:endParaRPr lang="en-US" sz="3200" dirty="0"/>
          </a:p>
        </p:txBody>
      </p:sp>
      <p:sp>
        <p:nvSpPr>
          <p:cNvPr id="6" name="Text 3"/>
          <p:cNvSpPr/>
          <p:nvPr/>
        </p:nvSpPr>
        <p:spPr>
          <a:xfrm>
            <a:off x="457200" y="4754880"/>
            <a:ext cx="4572000" cy="228600"/>
          </a:xfrm>
          <a:prstGeom prst="rect">
            <a:avLst/>
          </a:prstGeom>
          <a:noFill/>
          <a:ln/>
        </p:spPr>
        <p:txBody>
          <a:bodyPr wrap="square" lIns="0" tIns="0" rIns="0" bIns="0" rtlCol="0" anchor="ctr"/>
          <a:lstStyle/>
          <a:p>
            <a:pPr marL="0" indent="0">
              <a:buNone/>
            </a:pPr>
            <a:endParaRPr lang="en-US" sz="900" dirty="0"/>
          </a:p>
        </p:txBody>
      </p:sp>
      <p:sp>
        <p:nvSpPr>
          <p:cNvPr id="7" name="Shape 4"/>
          <p:cNvSpPr/>
          <p:nvPr/>
        </p:nvSpPr>
        <p:spPr>
          <a:xfrm>
            <a:off x="8275320" y="4818888"/>
            <a:ext cx="73152" cy="73152"/>
          </a:xfrm>
          <a:prstGeom prst="ellipse">
            <a:avLst/>
          </a:prstGeom>
          <a:solidFill>
            <a:srgbClr val="F97316"/>
          </a:solidFill>
          <a:ln w="12700">
            <a:solidFill>
              <a:srgbClr val="F97316"/>
            </a:solidFill>
            <a:prstDash val="solid"/>
          </a:ln>
        </p:spPr>
        <p:txBody>
          <a:bodyPr/>
          <a:lstStyle/>
          <a:p>
            <a:endParaRPr lang="en-GB"/>
          </a:p>
        </p:txBody>
      </p:sp>
      <p:sp>
        <p:nvSpPr>
          <p:cNvPr id="8" name="Text 5"/>
          <p:cNvSpPr/>
          <p:nvPr/>
        </p:nvSpPr>
        <p:spPr>
          <a:xfrm>
            <a:off x="8366760" y="4736592"/>
            <a:ext cx="685800" cy="228600"/>
          </a:xfrm>
          <a:prstGeom prst="rect">
            <a:avLst/>
          </a:prstGeom>
          <a:noFill/>
          <a:ln/>
        </p:spPr>
        <p:txBody>
          <a:bodyPr wrap="square" lIns="0" tIns="0" rIns="0" bIns="0" rtlCol="0" anchor="ctr"/>
          <a:lstStyle/>
          <a:p>
            <a:pPr marL="0" indent="0" algn="r">
              <a:buNone/>
            </a:pPr>
            <a:endParaRPr lang="en-US" sz="900" dirty="0"/>
          </a:p>
        </p:txBody>
      </p:sp>
      <p:sp>
        <p:nvSpPr>
          <p:cNvPr id="9" name="Shape 6"/>
          <p:cNvSpPr/>
          <p:nvPr/>
        </p:nvSpPr>
        <p:spPr>
          <a:xfrm>
            <a:off x="365760" y="1508760"/>
            <a:ext cx="4160520" cy="2606040"/>
          </a:xfrm>
          <a:prstGeom prst="roundRect">
            <a:avLst>
              <a:gd name="adj" fmla="val 2807"/>
            </a:avLst>
          </a:prstGeom>
          <a:solidFill>
            <a:srgbClr val="11203A"/>
          </a:solidFill>
          <a:ln w="12700">
            <a:solidFill>
              <a:srgbClr val="1B2D4F"/>
            </a:solidFill>
            <a:prstDash val="solid"/>
          </a:ln>
          <a:effectLst>
            <a:outerShdw blurRad="101600" dist="25400" dir="8100000" algn="bl" rotWithShape="0">
              <a:srgbClr val="000000">
                <a:alpha val="25000"/>
              </a:srgbClr>
            </a:outerShdw>
          </a:effectLst>
        </p:spPr>
        <p:txBody>
          <a:bodyPr/>
          <a:lstStyle/>
          <a:p>
            <a:endParaRPr lang="en-GB"/>
          </a:p>
        </p:txBody>
      </p:sp>
      <p:sp>
        <p:nvSpPr>
          <p:cNvPr id="10" name="Shape 7"/>
          <p:cNvSpPr/>
          <p:nvPr/>
        </p:nvSpPr>
        <p:spPr>
          <a:xfrm>
            <a:off x="365760" y="1508760"/>
            <a:ext cx="4160520" cy="73152"/>
          </a:xfrm>
          <a:prstGeom prst="rect">
            <a:avLst/>
          </a:prstGeom>
          <a:solidFill>
            <a:srgbClr val="3B82F6"/>
          </a:solidFill>
          <a:ln w="12700">
            <a:solidFill>
              <a:srgbClr val="3B82F6"/>
            </a:solidFill>
            <a:prstDash val="solid"/>
          </a:ln>
        </p:spPr>
        <p:txBody>
          <a:bodyPr/>
          <a:lstStyle/>
          <a:p>
            <a:endParaRPr lang="en-GB"/>
          </a:p>
        </p:txBody>
      </p:sp>
      <p:sp>
        <p:nvSpPr>
          <p:cNvPr id="11" name="Text 8"/>
          <p:cNvSpPr/>
          <p:nvPr/>
        </p:nvSpPr>
        <p:spPr>
          <a:xfrm>
            <a:off x="594360" y="1618488"/>
            <a:ext cx="3703320" cy="292608"/>
          </a:xfrm>
          <a:prstGeom prst="rect">
            <a:avLst/>
          </a:prstGeom>
          <a:noFill/>
          <a:ln/>
        </p:spPr>
        <p:txBody>
          <a:bodyPr wrap="square" lIns="0" tIns="0" rIns="0" bIns="0" rtlCol="0" anchor="ctr"/>
          <a:lstStyle/>
          <a:p>
            <a:pPr marL="0" indent="0">
              <a:buNone/>
            </a:pPr>
            <a:r>
              <a:rPr lang="en-US" sz="1700" b="1" dirty="0">
                <a:solidFill>
                  <a:srgbClr val="3B82F6"/>
                </a:solidFill>
                <a:latin typeface="Calibri" pitchFamily="34" charset="0"/>
                <a:ea typeface="Calibri" pitchFamily="34" charset="-122"/>
                <a:cs typeface="Calibri" pitchFamily="34" charset="-120"/>
              </a:rPr>
              <a:t>MCP</a:t>
            </a:r>
            <a:endParaRPr lang="en-US" sz="1700" dirty="0"/>
          </a:p>
        </p:txBody>
      </p:sp>
      <p:sp>
        <p:nvSpPr>
          <p:cNvPr id="12" name="Text 9"/>
          <p:cNvSpPr/>
          <p:nvPr/>
        </p:nvSpPr>
        <p:spPr>
          <a:xfrm>
            <a:off x="594360" y="1892808"/>
            <a:ext cx="3703320" cy="228600"/>
          </a:xfrm>
          <a:prstGeom prst="rect">
            <a:avLst/>
          </a:prstGeom>
          <a:noFill/>
          <a:ln/>
        </p:spPr>
        <p:txBody>
          <a:bodyPr wrap="square" lIns="0" tIns="0" rIns="0" bIns="0" rtlCol="0" anchor="ctr"/>
          <a:lstStyle/>
          <a:p>
            <a:pPr marL="0" indent="0">
              <a:buNone/>
            </a:pPr>
            <a:r>
              <a:rPr lang="en-US" sz="950" i="1" dirty="0">
                <a:solidFill>
                  <a:srgbClr val="94A3B8"/>
                </a:solidFill>
                <a:latin typeface="Calibri" pitchFamily="34" charset="0"/>
                <a:ea typeface="Calibri" pitchFamily="34" charset="-122"/>
                <a:cs typeface="Calibri" pitchFamily="34" charset="-120"/>
              </a:rPr>
              <a:t>protocol-based · structured</a:t>
            </a:r>
            <a:endParaRPr lang="en-US" sz="950" dirty="0"/>
          </a:p>
        </p:txBody>
      </p:sp>
      <p:sp>
        <p:nvSpPr>
          <p:cNvPr id="13" name="Shape 10"/>
          <p:cNvSpPr/>
          <p:nvPr/>
        </p:nvSpPr>
        <p:spPr>
          <a:xfrm>
            <a:off x="594360" y="2240280"/>
            <a:ext cx="777240" cy="365760"/>
          </a:xfrm>
          <a:prstGeom prst="roundRect">
            <a:avLst>
              <a:gd name="adj" fmla="val 10000"/>
            </a:avLst>
          </a:prstGeom>
          <a:solidFill>
            <a:srgbClr val="11203A"/>
          </a:solidFill>
          <a:ln w="19050">
            <a:solidFill>
              <a:srgbClr val="3B82F6"/>
            </a:solidFill>
            <a:prstDash val="solid"/>
          </a:ln>
        </p:spPr>
        <p:txBody>
          <a:bodyPr/>
          <a:lstStyle/>
          <a:p>
            <a:endParaRPr lang="en-GB"/>
          </a:p>
        </p:txBody>
      </p:sp>
      <p:sp>
        <p:nvSpPr>
          <p:cNvPr id="14" name="Text 11"/>
          <p:cNvSpPr/>
          <p:nvPr/>
        </p:nvSpPr>
        <p:spPr>
          <a:xfrm>
            <a:off x="594360" y="2240280"/>
            <a:ext cx="777240" cy="365760"/>
          </a:xfrm>
          <a:prstGeom prst="rect">
            <a:avLst/>
          </a:prstGeom>
          <a:noFill/>
          <a:ln/>
        </p:spPr>
        <p:txBody>
          <a:bodyPr wrap="square" lIns="0" tIns="0" rIns="0" bIns="0" rtlCol="0" anchor="ctr"/>
          <a:lstStyle/>
          <a:p>
            <a:pPr marL="0" indent="0" algn="ctr">
              <a:buNone/>
            </a:pPr>
            <a:r>
              <a:rPr lang="en-US" sz="950" b="1" dirty="0">
                <a:solidFill>
                  <a:srgbClr val="F8FAFC"/>
                </a:solidFill>
                <a:latin typeface="Calibri" pitchFamily="34" charset="0"/>
                <a:ea typeface="Calibri" pitchFamily="34" charset="-122"/>
                <a:cs typeface="Calibri" pitchFamily="34" charset="-120"/>
              </a:rPr>
              <a:t>Agent</a:t>
            </a:r>
            <a:endParaRPr lang="en-US" sz="950" dirty="0"/>
          </a:p>
        </p:txBody>
      </p:sp>
      <p:sp>
        <p:nvSpPr>
          <p:cNvPr id="15" name="Shape 12"/>
          <p:cNvSpPr/>
          <p:nvPr/>
        </p:nvSpPr>
        <p:spPr>
          <a:xfrm>
            <a:off x="1389888" y="2423160"/>
            <a:ext cx="118872" cy="0"/>
          </a:xfrm>
          <a:prstGeom prst="line">
            <a:avLst/>
          </a:prstGeom>
          <a:noFill/>
          <a:ln w="19050">
            <a:solidFill>
              <a:srgbClr val="1E3A5F"/>
            </a:solidFill>
            <a:prstDash val="solid"/>
            <a:tailEnd type="triangle"/>
          </a:ln>
        </p:spPr>
        <p:txBody>
          <a:bodyPr/>
          <a:lstStyle/>
          <a:p>
            <a:endParaRPr lang="en-GB"/>
          </a:p>
        </p:txBody>
      </p:sp>
      <p:sp>
        <p:nvSpPr>
          <p:cNvPr id="16" name="Shape 13"/>
          <p:cNvSpPr/>
          <p:nvPr/>
        </p:nvSpPr>
        <p:spPr>
          <a:xfrm>
            <a:off x="1508760" y="2240280"/>
            <a:ext cx="868680" cy="365760"/>
          </a:xfrm>
          <a:prstGeom prst="roundRect">
            <a:avLst>
              <a:gd name="adj" fmla="val 10000"/>
            </a:avLst>
          </a:prstGeom>
          <a:solidFill>
            <a:srgbClr val="11203A"/>
          </a:solidFill>
          <a:ln w="19050">
            <a:solidFill>
              <a:srgbClr val="3B82F6"/>
            </a:solidFill>
            <a:prstDash val="solid"/>
          </a:ln>
        </p:spPr>
        <p:txBody>
          <a:bodyPr/>
          <a:lstStyle/>
          <a:p>
            <a:endParaRPr lang="en-GB"/>
          </a:p>
        </p:txBody>
      </p:sp>
      <p:sp>
        <p:nvSpPr>
          <p:cNvPr id="17" name="Text 14"/>
          <p:cNvSpPr/>
          <p:nvPr/>
        </p:nvSpPr>
        <p:spPr>
          <a:xfrm>
            <a:off x="1508760" y="2240280"/>
            <a:ext cx="868680" cy="365760"/>
          </a:xfrm>
          <a:prstGeom prst="rect">
            <a:avLst/>
          </a:prstGeom>
          <a:noFill/>
          <a:ln/>
        </p:spPr>
        <p:txBody>
          <a:bodyPr wrap="square" lIns="0" tIns="0" rIns="0" bIns="0" rtlCol="0" anchor="ctr"/>
          <a:lstStyle/>
          <a:p>
            <a:pPr marL="0" indent="0" algn="ctr">
              <a:buNone/>
            </a:pPr>
            <a:r>
              <a:rPr lang="en-US" sz="950" b="1" dirty="0">
                <a:solidFill>
                  <a:srgbClr val="F8FAFC"/>
                </a:solidFill>
                <a:latin typeface="Calibri" pitchFamily="34" charset="0"/>
                <a:ea typeface="Calibri" pitchFamily="34" charset="-122"/>
                <a:cs typeface="Calibri" pitchFamily="34" charset="-120"/>
              </a:rPr>
              <a:t>Client</a:t>
            </a:r>
            <a:endParaRPr lang="en-US" sz="950" dirty="0"/>
          </a:p>
        </p:txBody>
      </p:sp>
      <p:sp>
        <p:nvSpPr>
          <p:cNvPr id="18" name="Shape 15"/>
          <p:cNvSpPr/>
          <p:nvPr/>
        </p:nvSpPr>
        <p:spPr>
          <a:xfrm>
            <a:off x="2395728" y="2423160"/>
            <a:ext cx="118872" cy="0"/>
          </a:xfrm>
          <a:prstGeom prst="line">
            <a:avLst/>
          </a:prstGeom>
          <a:noFill/>
          <a:ln w="19050">
            <a:solidFill>
              <a:srgbClr val="1E3A5F"/>
            </a:solidFill>
            <a:prstDash val="solid"/>
            <a:tailEnd type="triangle"/>
          </a:ln>
        </p:spPr>
        <p:txBody>
          <a:bodyPr/>
          <a:lstStyle/>
          <a:p>
            <a:endParaRPr lang="en-GB"/>
          </a:p>
        </p:txBody>
      </p:sp>
      <p:sp>
        <p:nvSpPr>
          <p:cNvPr id="19" name="Shape 16"/>
          <p:cNvSpPr/>
          <p:nvPr/>
        </p:nvSpPr>
        <p:spPr>
          <a:xfrm>
            <a:off x="2514600" y="2240280"/>
            <a:ext cx="868680" cy="365760"/>
          </a:xfrm>
          <a:prstGeom prst="roundRect">
            <a:avLst>
              <a:gd name="adj" fmla="val 10000"/>
            </a:avLst>
          </a:prstGeom>
          <a:solidFill>
            <a:srgbClr val="11203A"/>
          </a:solidFill>
          <a:ln w="19050">
            <a:solidFill>
              <a:srgbClr val="F97316"/>
            </a:solidFill>
            <a:prstDash val="solid"/>
          </a:ln>
        </p:spPr>
        <p:txBody>
          <a:bodyPr/>
          <a:lstStyle/>
          <a:p>
            <a:endParaRPr lang="en-GB"/>
          </a:p>
        </p:txBody>
      </p:sp>
      <p:sp>
        <p:nvSpPr>
          <p:cNvPr id="20" name="Text 17"/>
          <p:cNvSpPr/>
          <p:nvPr/>
        </p:nvSpPr>
        <p:spPr>
          <a:xfrm>
            <a:off x="2514600" y="2240280"/>
            <a:ext cx="868680" cy="365760"/>
          </a:xfrm>
          <a:prstGeom prst="rect">
            <a:avLst/>
          </a:prstGeom>
          <a:noFill/>
          <a:ln/>
        </p:spPr>
        <p:txBody>
          <a:bodyPr wrap="square" lIns="0" tIns="0" rIns="0" bIns="0" rtlCol="0" anchor="ctr"/>
          <a:lstStyle/>
          <a:p>
            <a:pPr marL="0" indent="0" algn="ctr">
              <a:buNone/>
            </a:pPr>
            <a:r>
              <a:rPr lang="en-US" sz="950" b="1" dirty="0">
                <a:solidFill>
                  <a:srgbClr val="F8FAFC"/>
                </a:solidFill>
                <a:latin typeface="Calibri" pitchFamily="34" charset="0"/>
                <a:ea typeface="Calibri" pitchFamily="34" charset="-122"/>
                <a:cs typeface="Calibri" pitchFamily="34" charset="-120"/>
              </a:rPr>
              <a:t>Server</a:t>
            </a:r>
            <a:endParaRPr lang="en-US" sz="950" dirty="0"/>
          </a:p>
        </p:txBody>
      </p:sp>
      <p:sp>
        <p:nvSpPr>
          <p:cNvPr id="21" name="Shape 18"/>
          <p:cNvSpPr/>
          <p:nvPr/>
        </p:nvSpPr>
        <p:spPr>
          <a:xfrm>
            <a:off x="3401568" y="2423160"/>
            <a:ext cx="118872" cy="0"/>
          </a:xfrm>
          <a:prstGeom prst="line">
            <a:avLst/>
          </a:prstGeom>
          <a:noFill/>
          <a:ln w="19050">
            <a:solidFill>
              <a:srgbClr val="1E3A5F"/>
            </a:solidFill>
            <a:prstDash val="solid"/>
            <a:tailEnd type="triangle"/>
          </a:ln>
        </p:spPr>
        <p:txBody>
          <a:bodyPr/>
          <a:lstStyle/>
          <a:p>
            <a:endParaRPr lang="en-GB"/>
          </a:p>
        </p:txBody>
      </p:sp>
      <p:sp>
        <p:nvSpPr>
          <p:cNvPr id="22" name="Shape 19"/>
          <p:cNvSpPr/>
          <p:nvPr/>
        </p:nvSpPr>
        <p:spPr>
          <a:xfrm>
            <a:off x="3520440" y="2240280"/>
            <a:ext cx="777240" cy="365760"/>
          </a:xfrm>
          <a:prstGeom prst="roundRect">
            <a:avLst>
              <a:gd name="adj" fmla="val 10000"/>
            </a:avLst>
          </a:prstGeom>
          <a:solidFill>
            <a:srgbClr val="11203A"/>
          </a:solidFill>
          <a:ln w="19050">
            <a:solidFill>
              <a:srgbClr val="3B82F6"/>
            </a:solidFill>
            <a:prstDash val="solid"/>
          </a:ln>
        </p:spPr>
        <p:txBody>
          <a:bodyPr/>
          <a:lstStyle/>
          <a:p>
            <a:endParaRPr lang="en-GB"/>
          </a:p>
        </p:txBody>
      </p:sp>
      <p:sp>
        <p:nvSpPr>
          <p:cNvPr id="23" name="Text 20"/>
          <p:cNvSpPr/>
          <p:nvPr/>
        </p:nvSpPr>
        <p:spPr>
          <a:xfrm>
            <a:off x="3520440" y="2240280"/>
            <a:ext cx="777240" cy="365760"/>
          </a:xfrm>
          <a:prstGeom prst="rect">
            <a:avLst/>
          </a:prstGeom>
          <a:noFill/>
          <a:ln/>
        </p:spPr>
        <p:txBody>
          <a:bodyPr wrap="square" lIns="0" tIns="0" rIns="0" bIns="0" rtlCol="0" anchor="ctr"/>
          <a:lstStyle/>
          <a:p>
            <a:pPr marL="0" indent="0" algn="ctr">
              <a:buNone/>
            </a:pPr>
            <a:r>
              <a:rPr lang="en-US" sz="950" b="1" dirty="0">
                <a:solidFill>
                  <a:srgbClr val="F8FAFC"/>
                </a:solidFill>
                <a:latin typeface="Calibri" pitchFamily="34" charset="0"/>
                <a:ea typeface="Calibri" pitchFamily="34" charset="-122"/>
                <a:cs typeface="Calibri" pitchFamily="34" charset="-120"/>
              </a:rPr>
              <a:t>Tool</a:t>
            </a:r>
            <a:endParaRPr lang="en-US" sz="950" dirty="0"/>
          </a:p>
        </p:txBody>
      </p:sp>
      <p:sp>
        <p:nvSpPr>
          <p:cNvPr id="24" name="Text 21"/>
          <p:cNvSpPr/>
          <p:nvPr/>
        </p:nvSpPr>
        <p:spPr>
          <a:xfrm>
            <a:off x="685800" y="2743200"/>
            <a:ext cx="3703320" cy="1280160"/>
          </a:xfrm>
          <a:prstGeom prst="rect">
            <a:avLst/>
          </a:prstGeom>
          <a:noFill/>
          <a:ln/>
        </p:spPr>
        <p:txBody>
          <a:bodyPr wrap="square" lIns="0" tIns="0" rIns="0" bIns="0" rtlCol="0" anchor="ctr"/>
          <a:lstStyle/>
          <a:p>
            <a:pPr marL="342900" indent="-342900">
              <a:spcAft>
                <a:spcPts val="300"/>
              </a:spcAft>
              <a:buSzPct val="100000"/>
              <a:buChar char="•"/>
            </a:pPr>
            <a:r>
              <a:rPr lang="en-US" sz="1050" dirty="0">
                <a:solidFill>
                  <a:srgbClr val="F8FAFC"/>
                </a:solidFill>
                <a:latin typeface="Calibri" pitchFamily="34" charset="0"/>
                <a:ea typeface="Calibri" pitchFamily="34" charset="-122"/>
                <a:cs typeface="Calibri" pitchFamily="34" charset="-120"/>
              </a:rPr>
              <a:t>structured args (JSON schema)</a:t>
            </a:r>
            <a:endParaRPr lang="en-US" sz="1050" dirty="0"/>
          </a:p>
          <a:p>
            <a:pPr marL="342900" indent="-342900">
              <a:spcAft>
                <a:spcPts val="300"/>
              </a:spcAft>
              <a:buSzPct val="100000"/>
              <a:buChar char="•"/>
            </a:pPr>
            <a:r>
              <a:rPr lang="en-US" sz="1050" dirty="0">
                <a:solidFill>
                  <a:srgbClr val="F8FAFC"/>
                </a:solidFill>
                <a:latin typeface="Calibri" pitchFamily="34" charset="0"/>
                <a:ea typeface="Calibri" pitchFamily="34" charset="-122"/>
                <a:cs typeface="Calibri" pitchFamily="34" charset="-120"/>
              </a:rPr>
              <a:t>discovery — tools/list</a:t>
            </a:r>
            <a:endParaRPr lang="en-US" sz="1050" dirty="0"/>
          </a:p>
          <a:p>
            <a:pPr marL="342900" indent="-342900">
              <a:spcAft>
                <a:spcPts val="300"/>
              </a:spcAft>
              <a:buSzPct val="100000"/>
              <a:buChar char="•"/>
            </a:pPr>
            <a:r>
              <a:rPr lang="en-US" sz="1050" dirty="0">
                <a:solidFill>
                  <a:srgbClr val="F8FAFC"/>
                </a:solidFill>
                <a:latin typeface="Calibri" pitchFamily="34" charset="0"/>
                <a:ea typeface="Calibri" pitchFamily="34" charset="-122"/>
                <a:cs typeface="Calibri" pitchFamily="34" charset="-120"/>
              </a:rPr>
              <a:t>streaming + cancellation</a:t>
            </a:r>
            <a:endParaRPr lang="en-US" sz="1050" dirty="0"/>
          </a:p>
          <a:p>
            <a:pPr marL="342900" indent="-342900">
              <a:spcAft>
                <a:spcPts val="300"/>
              </a:spcAft>
              <a:buSzPct val="100000"/>
              <a:buChar char="•"/>
            </a:pPr>
            <a:r>
              <a:rPr lang="en-US" sz="1050" dirty="0">
                <a:solidFill>
                  <a:srgbClr val="F8FAFC"/>
                </a:solidFill>
                <a:latin typeface="Calibri" pitchFamily="34" charset="0"/>
                <a:ea typeface="Calibri" pitchFamily="34" charset="-122"/>
                <a:cs typeface="Calibri" pitchFamily="34" charset="-120"/>
              </a:rPr>
              <a:t>cross-host · cross-language</a:t>
            </a:r>
            <a:endParaRPr lang="en-US" sz="1050" dirty="0"/>
          </a:p>
          <a:p>
            <a:pPr marL="342900" indent="-342900">
              <a:spcAft>
                <a:spcPts val="300"/>
              </a:spcAft>
              <a:buSzPct val="100000"/>
              <a:buChar char="•"/>
            </a:pPr>
            <a:r>
              <a:rPr lang="en-US" sz="1050" dirty="0">
                <a:solidFill>
                  <a:srgbClr val="F8FAFC"/>
                </a:solidFill>
                <a:latin typeface="Calibri" pitchFamily="34" charset="0"/>
                <a:ea typeface="Calibri" pitchFamily="34" charset="-122"/>
                <a:cs typeface="Calibri" pitchFamily="34" charset="-120"/>
              </a:rPr>
              <a:t>permission scoping</a:t>
            </a:r>
            <a:endParaRPr lang="en-US" sz="1050" dirty="0"/>
          </a:p>
        </p:txBody>
      </p:sp>
      <p:sp>
        <p:nvSpPr>
          <p:cNvPr id="25" name="Shape 22"/>
          <p:cNvSpPr/>
          <p:nvPr/>
        </p:nvSpPr>
        <p:spPr>
          <a:xfrm>
            <a:off x="4617720" y="1508760"/>
            <a:ext cx="4160520" cy="2606040"/>
          </a:xfrm>
          <a:prstGeom prst="roundRect">
            <a:avLst>
              <a:gd name="adj" fmla="val 2807"/>
            </a:avLst>
          </a:prstGeom>
          <a:solidFill>
            <a:srgbClr val="11203A"/>
          </a:solidFill>
          <a:ln w="12700">
            <a:solidFill>
              <a:srgbClr val="1B2D4F"/>
            </a:solidFill>
            <a:prstDash val="solid"/>
          </a:ln>
          <a:effectLst>
            <a:outerShdw blurRad="101600" dist="25400" dir="8100000" algn="bl" rotWithShape="0">
              <a:srgbClr val="000000">
                <a:alpha val="25000"/>
              </a:srgbClr>
            </a:outerShdw>
          </a:effectLst>
        </p:spPr>
        <p:txBody>
          <a:bodyPr/>
          <a:lstStyle/>
          <a:p>
            <a:endParaRPr lang="en-GB"/>
          </a:p>
        </p:txBody>
      </p:sp>
      <p:sp>
        <p:nvSpPr>
          <p:cNvPr id="26" name="Shape 23"/>
          <p:cNvSpPr/>
          <p:nvPr/>
        </p:nvSpPr>
        <p:spPr>
          <a:xfrm>
            <a:off x="4617720" y="1508760"/>
            <a:ext cx="4160520" cy="73152"/>
          </a:xfrm>
          <a:prstGeom prst="rect">
            <a:avLst/>
          </a:prstGeom>
          <a:solidFill>
            <a:srgbClr val="F97316"/>
          </a:solidFill>
          <a:ln w="12700">
            <a:solidFill>
              <a:srgbClr val="F97316"/>
            </a:solidFill>
            <a:prstDash val="solid"/>
          </a:ln>
        </p:spPr>
        <p:txBody>
          <a:bodyPr/>
          <a:lstStyle/>
          <a:p>
            <a:endParaRPr lang="en-GB"/>
          </a:p>
        </p:txBody>
      </p:sp>
      <p:sp>
        <p:nvSpPr>
          <p:cNvPr id="27" name="Text 24"/>
          <p:cNvSpPr/>
          <p:nvPr/>
        </p:nvSpPr>
        <p:spPr>
          <a:xfrm>
            <a:off x="4846320" y="1618488"/>
            <a:ext cx="3703320" cy="292608"/>
          </a:xfrm>
          <a:prstGeom prst="rect">
            <a:avLst/>
          </a:prstGeom>
          <a:noFill/>
          <a:ln/>
        </p:spPr>
        <p:txBody>
          <a:bodyPr wrap="square" lIns="0" tIns="0" rIns="0" bIns="0" rtlCol="0" anchor="ctr"/>
          <a:lstStyle/>
          <a:p>
            <a:pPr marL="0" indent="0">
              <a:buNone/>
            </a:pPr>
            <a:r>
              <a:rPr lang="en-US" sz="1700" b="1" dirty="0">
                <a:solidFill>
                  <a:srgbClr val="F97316"/>
                </a:solidFill>
                <a:latin typeface="Calibri" pitchFamily="34" charset="0"/>
                <a:ea typeface="Calibri" pitchFamily="34" charset="-122"/>
                <a:cs typeface="Calibri" pitchFamily="34" charset="-120"/>
              </a:rPr>
              <a:t>Command line</a:t>
            </a:r>
            <a:endParaRPr lang="en-US" sz="1700" dirty="0"/>
          </a:p>
        </p:txBody>
      </p:sp>
      <p:sp>
        <p:nvSpPr>
          <p:cNvPr id="28" name="Text 25"/>
          <p:cNvSpPr/>
          <p:nvPr/>
        </p:nvSpPr>
        <p:spPr>
          <a:xfrm>
            <a:off x="4846320" y="1892808"/>
            <a:ext cx="3703320" cy="228600"/>
          </a:xfrm>
          <a:prstGeom prst="rect">
            <a:avLst/>
          </a:prstGeom>
          <a:noFill/>
          <a:ln/>
        </p:spPr>
        <p:txBody>
          <a:bodyPr wrap="square" lIns="0" tIns="0" rIns="0" bIns="0" rtlCol="0" anchor="ctr"/>
          <a:lstStyle/>
          <a:p>
            <a:pPr marL="0" indent="0">
              <a:buNone/>
            </a:pPr>
            <a:r>
              <a:rPr lang="en-US" sz="950" i="1" dirty="0">
                <a:solidFill>
                  <a:srgbClr val="94A3B8"/>
                </a:solidFill>
                <a:latin typeface="Calibri" pitchFamily="34" charset="0"/>
                <a:ea typeface="Calibri" pitchFamily="34" charset="-122"/>
                <a:cs typeface="Calibri" pitchFamily="34" charset="-120"/>
              </a:rPr>
              <a:t>shell out · text in, text out</a:t>
            </a:r>
            <a:endParaRPr lang="en-US" sz="950" dirty="0"/>
          </a:p>
        </p:txBody>
      </p:sp>
      <p:sp>
        <p:nvSpPr>
          <p:cNvPr id="29" name="Shape 26"/>
          <p:cNvSpPr/>
          <p:nvPr/>
        </p:nvSpPr>
        <p:spPr>
          <a:xfrm>
            <a:off x="4983480" y="2240280"/>
            <a:ext cx="777240" cy="365760"/>
          </a:xfrm>
          <a:prstGeom prst="roundRect">
            <a:avLst>
              <a:gd name="adj" fmla="val 10000"/>
            </a:avLst>
          </a:prstGeom>
          <a:solidFill>
            <a:srgbClr val="11203A"/>
          </a:solidFill>
          <a:ln w="19050">
            <a:solidFill>
              <a:srgbClr val="3B82F6"/>
            </a:solidFill>
            <a:prstDash val="solid"/>
          </a:ln>
        </p:spPr>
        <p:txBody>
          <a:bodyPr/>
          <a:lstStyle/>
          <a:p>
            <a:endParaRPr lang="en-GB"/>
          </a:p>
        </p:txBody>
      </p:sp>
      <p:sp>
        <p:nvSpPr>
          <p:cNvPr id="30" name="Text 27"/>
          <p:cNvSpPr/>
          <p:nvPr/>
        </p:nvSpPr>
        <p:spPr>
          <a:xfrm>
            <a:off x="4983480" y="2240280"/>
            <a:ext cx="777240" cy="365760"/>
          </a:xfrm>
          <a:prstGeom prst="rect">
            <a:avLst/>
          </a:prstGeom>
          <a:noFill/>
          <a:ln/>
        </p:spPr>
        <p:txBody>
          <a:bodyPr wrap="square" lIns="0" tIns="0" rIns="0" bIns="0" rtlCol="0" anchor="ctr"/>
          <a:lstStyle/>
          <a:p>
            <a:pPr marL="0" indent="0" algn="ctr">
              <a:buNone/>
            </a:pPr>
            <a:r>
              <a:rPr lang="en-US" sz="950" b="1" dirty="0">
                <a:solidFill>
                  <a:srgbClr val="F8FAFC"/>
                </a:solidFill>
                <a:latin typeface="Calibri" pitchFamily="34" charset="0"/>
                <a:ea typeface="Calibri" pitchFamily="34" charset="-122"/>
                <a:cs typeface="Calibri" pitchFamily="34" charset="-120"/>
              </a:rPr>
              <a:t>Agent</a:t>
            </a:r>
            <a:endParaRPr lang="en-US" sz="950" dirty="0"/>
          </a:p>
        </p:txBody>
      </p:sp>
      <p:sp>
        <p:nvSpPr>
          <p:cNvPr id="31" name="Shape 28"/>
          <p:cNvSpPr/>
          <p:nvPr/>
        </p:nvSpPr>
        <p:spPr>
          <a:xfrm>
            <a:off x="5779008" y="2423160"/>
            <a:ext cx="118872" cy="0"/>
          </a:xfrm>
          <a:prstGeom prst="line">
            <a:avLst/>
          </a:prstGeom>
          <a:noFill/>
          <a:ln w="19050">
            <a:solidFill>
              <a:srgbClr val="1E3A5F"/>
            </a:solidFill>
            <a:prstDash val="solid"/>
            <a:tailEnd type="triangle"/>
          </a:ln>
        </p:spPr>
        <p:txBody>
          <a:bodyPr/>
          <a:lstStyle/>
          <a:p>
            <a:endParaRPr lang="en-GB"/>
          </a:p>
        </p:txBody>
      </p:sp>
      <p:sp>
        <p:nvSpPr>
          <p:cNvPr id="32" name="Shape 29"/>
          <p:cNvSpPr/>
          <p:nvPr/>
        </p:nvSpPr>
        <p:spPr>
          <a:xfrm>
            <a:off x="5897880" y="2240280"/>
            <a:ext cx="1508760" cy="365760"/>
          </a:xfrm>
          <a:prstGeom prst="roundRect">
            <a:avLst>
              <a:gd name="adj" fmla="val 10000"/>
            </a:avLst>
          </a:prstGeom>
          <a:solidFill>
            <a:srgbClr val="11203A"/>
          </a:solidFill>
          <a:ln w="19050">
            <a:solidFill>
              <a:srgbClr val="F97316"/>
            </a:solidFill>
            <a:prstDash val="solid"/>
          </a:ln>
        </p:spPr>
        <p:txBody>
          <a:bodyPr/>
          <a:lstStyle/>
          <a:p>
            <a:endParaRPr lang="en-GB"/>
          </a:p>
        </p:txBody>
      </p:sp>
      <p:sp>
        <p:nvSpPr>
          <p:cNvPr id="33" name="Text 30"/>
          <p:cNvSpPr/>
          <p:nvPr/>
        </p:nvSpPr>
        <p:spPr>
          <a:xfrm>
            <a:off x="5897880" y="2240280"/>
            <a:ext cx="1508760" cy="365760"/>
          </a:xfrm>
          <a:prstGeom prst="rect">
            <a:avLst/>
          </a:prstGeom>
          <a:noFill/>
          <a:ln/>
        </p:spPr>
        <p:txBody>
          <a:bodyPr wrap="square" lIns="0" tIns="0" rIns="0" bIns="0" rtlCol="0" anchor="ctr"/>
          <a:lstStyle/>
          <a:p>
            <a:pPr marL="0" indent="0" algn="ctr">
              <a:buNone/>
            </a:pPr>
            <a:r>
              <a:rPr lang="en-US" sz="950" b="1" dirty="0">
                <a:solidFill>
                  <a:srgbClr val="F8FAFC"/>
                </a:solidFill>
                <a:latin typeface="Calibri" pitchFamily="34" charset="0"/>
                <a:ea typeface="Calibri" pitchFamily="34" charset="-122"/>
                <a:cs typeface="Calibri" pitchFamily="34" charset="-120"/>
              </a:rPr>
              <a:t>subprocess.run()</a:t>
            </a:r>
            <a:endParaRPr lang="en-US" sz="950" dirty="0"/>
          </a:p>
        </p:txBody>
      </p:sp>
      <p:sp>
        <p:nvSpPr>
          <p:cNvPr id="34" name="Shape 31"/>
          <p:cNvSpPr/>
          <p:nvPr/>
        </p:nvSpPr>
        <p:spPr>
          <a:xfrm>
            <a:off x="7424928" y="2423160"/>
            <a:ext cx="118872" cy="0"/>
          </a:xfrm>
          <a:prstGeom prst="line">
            <a:avLst/>
          </a:prstGeom>
          <a:noFill/>
          <a:ln w="19050">
            <a:solidFill>
              <a:srgbClr val="1E3A5F"/>
            </a:solidFill>
            <a:prstDash val="solid"/>
            <a:tailEnd type="triangle"/>
          </a:ln>
        </p:spPr>
        <p:txBody>
          <a:bodyPr/>
          <a:lstStyle/>
          <a:p>
            <a:endParaRPr lang="en-GB"/>
          </a:p>
        </p:txBody>
      </p:sp>
      <p:sp>
        <p:nvSpPr>
          <p:cNvPr id="35" name="Shape 32"/>
          <p:cNvSpPr/>
          <p:nvPr/>
        </p:nvSpPr>
        <p:spPr>
          <a:xfrm>
            <a:off x="7543800" y="2240280"/>
            <a:ext cx="914400" cy="365760"/>
          </a:xfrm>
          <a:prstGeom prst="roundRect">
            <a:avLst>
              <a:gd name="adj" fmla="val 10000"/>
            </a:avLst>
          </a:prstGeom>
          <a:solidFill>
            <a:srgbClr val="11203A"/>
          </a:solidFill>
          <a:ln w="19050">
            <a:solidFill>
              <a:srgbClr val="3B82F6"/>
            </a:solidFill>
            <a:prstDash val="solid"/>
          </a:ln>
        </p:spPr>
        <p:txBody>
          <a:bodyPr/>
          <a:lstStyle/>
          <a:p>
            <a:endParaRPr lang="en-GB"/>
          </a:p>
        </p:txBody>
      </p:sp>
      <p:sp>
        <p:nvSpPr>
          <p:cNvPr id="36" name="Text 33"/>
          <p:cNvSpPr/>
          <p:nvPr/>
        </p:nvSpPr>
        <p:spPr>
          <a:xfrm>
            <a:off x="7543800" y="2240280"/>
            <a:ext cx="914400" cy="365760"/>
          </a:xfrm>
          <a:prstGeom prst="rect">
            <a:avLst/>
          </a:prstGeom>
          <a:noFill/>
          <a:ln/>
        </p:spPr>
        <p:txBody>
          <a:bodyPr wrap="square" lIns="0" tIns="0" rIns="0" bIns="0" rtlCol="0" anchor="ctr"/>
          <a:lstStyle/>
          <a:p>
            <a:pPr marL="0" indent="0" algn="ctr">
              <a:buNone/>
            </a:pPr>
            <a:r>
              <a:rPr lang="en-US" sz="950" b="1" dirty="0">
                <a:solidFill>
                  <a:srgbClr val="F8FAFC"/>
                </a:solidFill>
                <a:latin typeface="Calibri" pitchFamily="34" charset="0"/>
                <a:ea typeface="Calibri" pitchFamily="34" charset="-122"/>
                <a:cs typeface="Calibri" pitchFamily="34" charset="-120"/>
              </a:rPr>
              <a:t>CLI tool</a:t>
            </a:r>
            <a:endParaRPr lang="en-US" sz="950" dirty="0"/>
          </a:p>
        </p:txBody>
      </p:sp>
      <p:sp>
        <p:nvSpPr>
          <p:cNvPr id="37" name="Text 34"/>
          <p:cNvSpPr/>
          <p:nvPr/>
        </p:nvSpPr>
        <p:spPr>
          <a:xfrm>
            <a:off x="4937760" y="2743200"/>
            <a:ext cx="3703320" cy="1280160"/>
          </a:xfrm>
          <a:prstGeom prst="rect">
            <a:avLst/>
          </a:prstGeom>
          <a:noFill/>
          <a:ln/>
        </p:spPr>
        <p:txBody>
          <a:bodyPr wrap="square" lIns="0" tIns="0" rIns="0" bIns="0" rtlCol="0" anchor="ctr"/>
          <a:lstStyle/>
          <a:p>
            <a:pPr marL="342900" indent="-342900">
              <a:spcAft>
                <a:spcPts val="300"/>
              </a:spcAft>
              <a:buSzPct val="100000"/>
              <a:buChar char="•"/>
            </a:pPr>
            <a:r>
              <a:rPr lang="en-US" sz="1050" dirty="0">
                <a:solidFill>
                  <a:srgbClr val="F8FAFC"/>
                </a:solidFill>
                <a:latin typeface="Calibri" pitchFamily="34" charset="0"/>
                <a:ea typeface="Calibri" pitchFamily="34" charset="-122"/>
                <a:cs typeface="Calibri" pitchFamily="34" charset="-120"/>
              </a:rPr>
              <a:t>zero infrastructure</a:t>
            </a:r>
            <a:endParaRPr lang="en-US" sz="1050" dirty="0"/>
          </a:p>
          <a:p>
            <a:pPr marL="342900" indent="-342900">
              <a:spcAft>
                <a:spcPts val="300"/>
              </a:spcAft>
              <a:buSzPct val="100000"/>
              <a:buChar char="•"/>
            </a:pPr>
            <a:r>
              <a:rPr lang="en-US" sz="1050" dirty="0">
                <a:solidFill>
                  <a:srgbClr val="F8FAFC"/>
                </a:solidFill>
                <a:latin typeface="Calibri" pitchFamily="34" charset="0"/>
                <a:ea typeface="Calibri" pitchFamily="34" charset="-122"/>
                <a:cs typeface="Calibri" pitchFamily="34" charset="-120"/>
              </a:rPr>
              <a:t>every tool already has a CLI</a:t>
            </a:r>
            <a:endParaRPr lang="en-US" sz="1050" dirty="0"/>
          </a:p>
          <a:p>
            <a:pPr marL="342900" indent="-342900">
              <a:spcAft>
                <a:spcPts val="300"/>
              </a:spcAft>
              <a:buSzPct val="100000"/>
              <a:buChar char="•"/>
            </a:pPr>
            <a:r>
              <a:rPr lang="en-US" sz="1050" dirty="0">
                <a:solidFill>
                  <a:srgbClr val="F8FAFC"/>
                </a:solidFill>
                <a:latin typeface="Calibri" pitchFamily="34" charset="0"/>
                <a:ea typeface="Calibri" pitchFamily="34" charset="-122"/>
                <a:cs typeface="Calibri" pitchFamily="34" charset="-120"/>
              </a:rPr>
              <a:t>composable — pipes &amp; redirects</a:t>
            </a:r>
            <a:endParaRPr lang="en-US" sz="1050" dirty="0"/>
          </a:p>
          <a:p>
            <a:pPr marL="342900" indent="-342900">
              <a:spcAft>
                <a:spcPts val="300"/>
              </a:spcAft>
              <a:buSzPct val="100000"/>
              <a:buChar char="•"/>
            </a:pPr>
            <a:r>
              <a:rPr lang="en-US" sz="1050" dirty="0">
                <a:solidFill>
                  <a:srgbClr val="F8FAFC"/>
                </a:solidFill>
                <a:latin typeface="Calibri" pitchFamily="34" charset="0"/>
                <a:ea typeface="Calibri" pitchFamily="34" charset="-122"/>
                <a:cs typeface="Calibri" pitchFamily="34" charset="-120"/>
              </a:rPr>
              <a:t>human can run the same command</a:t>
            </a:r>
            <a:endParaRPr lang="en-US" sz="1050" dirty="0"/>
          </a:p>
          <a:p>
            <a:pPr marL="342900" indent="-342900">
              <a:spcAft>
                <a:spcPts val="300"/>
              </a:spcAft>
              <a:buSzPct val="100000"/>
              <a:buChar char="•"/>
            </a:pPr>
            <a:r>
              <a:rPr lang="en-US" sz="1050" dirty="0">
                <a:solidFill>
                  <a:srgbClr val="F8FAFC"/>
                </a:solidFill>
                <a:latin typeface="Calibri" pitchFamily="34" charset="0"/>
                <a:ea typeface="Calibri" pitchFamily="34" charset="-122"/>
                <a:cs typeface="Calibri" pitchFamily="34" charset="-120"/>
              </a:rPr>
              <a:t>lower latency · no handshake</a:t>
            </a:r>
            <a:endParaRPr lang="en-US" sz="1050" dirty="0"/>
          </a:p>
        </p:txBody>
      </p:sp>
      <p:sp>
        <p:nvSpPr>
          <p:cNvPr id="38" name="Shape 35"/>
          <p:cNvSpPr/>
          <p:nvPr/>
        </p:nvSpPr>
        <p:spPr>
          <a:xfrm>
            <a:off x="365760" y="4160520"/>
            <a:ext cx="4160520" cy="320040"/>
          </a:xfrm>
          <a:prstGeom prst="roundRect">
            <a:avLst>
              <a:gd name="adj" fmla="val 14286"/>
            </a:avLst>
          </a:prstGeom>
          <a:solidFill>
            <a:srgbClr val="11203A"/>
          </a:solidFill>
          <a:ln w="12700">
            <a:solidFill>
              <a:srgbClr val="3B82F6"/>
            </a:solidFill>
            <a:prstDash val="solid"/>
          </a:ln>
        </p:spPr>
        <p:txBody>
          <a:bodyPr/>
          <a:lstStyle/>
          <a:p>
            <a:endParaRPr lang="en-GB"/>
          </a:p>
        </p:txBody>
      </p:sp>
      <p:sp>
        <p:nvSpPr>
          <p:cNvPr id="39" name="Text 36"/>
          <p:cNvSpPr/>
          <p:nvPr/>
        </p:nvSpPr>
        <p:spPr>
          <a:xfrm>
            <a:off x="365760" y="4160520"/>
            <a:ext cx="4160520" cy="320040"/>
          </a:xfrm>
          <a:prstGeom prst="rect">
            <a:avLst/>
          </a:prstGeom>
          <a:noFill/>
          <a:ln/>
        </p:spPr>
        <p:txBody>
          <a:bodyPr wrap="square" lIns="0" tIns="0" rIns="0" bIns="0" rtlCol="0" anchor="ctr"/>
          <a:lstStyle/>
          <a:p>
            <a:pPr marL="0" indent="0" algn="ctr">
              <a:buNone/>
            </a:pPr>
            <a:r>
              <a:rPr lang="en-US" sz="1000" b="1" dirty="0">
                <a:solidFill>
                  <a:srgbClr val="3B82F6"/>
                </a:solidFill>
                <a:latin typeface="Calibri" pitchFamily="34" charset="0"/>
                <a:ea typeface="Calibri" pitchFamily="34" charset="-122"/>
                <a:cs typeface="Calibri" pitchFamily="34" charset="-120"/>
              </a:rPr>
              <a:t>Use MCP for: </a:t>
            </a:r>
            <a:r>
              <a:rPr lang="en-US" sz="1000" dirty="0">
                <a:solidFill>
                  <a:srgbClr val="F8FAFC"/>
                </a:solidFill>
                <a:latin typeface="Calibri" pitchFamily="34" charset="0"/>
                <a:ea typeface="Calibri" pitchFamily="34" charset="-122"/>
                <a:cs typeface="Calibri" pitchFamily="34" charset="-120"/>
              </a:rPr>
              <a:t>shipping to others · structured args · streaming</a:t>
            </a:r>
            <a:endParaRPr lang="en-US" sz="1000" dirty="0"/>
          </a:p>
        </p:txBody>
      </p:sp>
      <p:sp>
        <p:nvSpPr>
          <p:cNvPr id="40" name="Shape 37"/>
          <p:cNvSpPr/>
          <p:nvPr/>
        </p:nvSpPr>
        <p:spPr>
          <a:xfrm>
            <a:off x="4617720" y="4160520"/>
            <a:ext cx="4160520" cy="320040"/>
          </a:xfrm>
          <a:prstGeom prst="roundRect">
            <a:avLst>
              <a:gd name="adj" fmla="val 14286"/>
            </a:avLst>
          </a:prstGeom>
          <a:solidFill>
            <a:srgbClr val="11203A"/>
          </a:solidFill>
          <a:ln w="12700">
            <a:solidFill>
              <a:srgbClr val="F97316"/>
            </a:solidFill>
            <a:prstDash val="solid"/>
          </a:ln>
        </p:spPr>
        <p:txBody>
          <a:bodyPr/>
          <a:lstStyle/>
          <a:p>
            <a:endParaRPr lang="en-GB"/>
          </a:p>
        </p:txBody>
      </p:sp>
      <p:sp>
        <p:nvSpPr>
          <p:cNvPr id="41" name="Text 38"/>
          <p:cNvSpPr/>
          <p:nvPr/>
        </p:nvSpPr>
        <p:spPr>
          <a:xfrm>
            <a:off x="4617720" y="4160520"/>
            <a:ext cx="4160520" cy="320040"/>
          </a:xfrm>
          <a:prstGeom prst="rect">
            <a:avLst/>
          </a:prstGeom>
          <a:noFill/>
          <a:ln/>
        </p:spPr>
        <p:txBody>
          <a:bodyPr wrap="square" lIns="0" tIns="0" rIns="0" bIns="0" rtlCol="0" anchor="ctr"/>
          <a:lstStyle/>
          <a:p>
            <a:pPr marL="0" indent="0" algn="ctr">
              <a:buNone/>
            </a:pPr>
            <a:r>
              <a:rPr lang="en-US" sz="1000" b="1" dirty="0">
                <a:solidFill>
                  <a:srgbClr val="F97316"/>
                </a:solidFill>
                <a:latin typeface="Calibri" pitchFamily="34" charset="0"/>
                <a:ea typeface="Calibri" pitchFamily="34" charset="-122"/>
                <a:cs typeface="Calibri" pitchFamily="34" charset="-120"/>
              </a:rPr>
              <a:t>Use CLI for: </a:t>
            </a:r>
            <a:r>
              <a:rPr lang="en-US" sz="1000" dirty="0">
                <a:solidFill>
                  <a:srgbClr val="F8FAFC"/>
                </a:solidFill>
                <a:latin typeface="Calibri" pitchFamily="34" charset="0"/>
                <a:ea typeface="Calibri" pitchFamily="34" charset="-122"/>
                <a:cs typeface="Calibri" pitchFamily="34" charset="-120"/>
              </a:rPr>
              <a:t>prototypes · ops · mature CLI tools</a:t>
            </a:r>
            <a:endParaRPr lang="en-US" sz="1000" dirty="0"/>
          </a:p>
        </p:txBody>
      </p:sp>
      <p:sp>
        <p:nvSpPr>
          <p:cNvPr id="42" name="Text 39"/>
          <p:cNvSpPr/>
          <p:nvPr/>
        </p:nvSpPr>
        <p:spPr>
          <a:xfrm>
            <a:off x="457200" y="4526280"/>
            <a:ext cx="8229600" cy="274320"/>
          </a:xfrm>
          <a:prstGeom prst="rect">
            <a:avLst/>
          </a:prstGeom>
          <a:noFill/>
          <a:ln/>
        </p:spPr>
        <p:txBody>
          <a:bodyPr wrap="square" lIns="0" tIns="0" rIns="0" bIns="0" rtlCol="0" anchor="ctr"/>
          <a:lstStyle/>
          <a:p>
            <a:pPr marL="0" indent="0" algn="ctr">
              <a:buNone/>
            </a:pPr>
            <a:r>
              <a:rPr lang="en-US" sz="1100" i="1" dirty="0">
                <a:solidFill>
                  <a:srgbClr val="F97316"/>
                </a:solidFill>
                <a:latin typeface="Calibri" pitchFamily="34" charset="0"/>
                <a:ea typeface="Calibri" pitchFamily="34" charset="-122"/>
                <a:cs typeface="Calibri" pitchFamily="34" charset="-120"/>
              </a:rPr>
              <a:t>Claude Code · Codex · many production agents use both — CLI for 80%, MCP for the rest.</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6">
    <p:bg>
      <p:bgPr>
        <a:solidFill>
          <a:srgbClr val="0A1628"/>
        </a:solidFill>
        <a:effectLst/>
      </p:bgPr>
    </p:bg>
    <p:spTree>
      <p:nvGrpSpPr>
        <p:cNvPr id="1" name=""/>
        <p:cNvGrpSpPr/>
        <p:nvPr/>
      </p:nvGrpSpPr>
      <p:grpSpPr>
        <a:xfrm>
          <a:off x="0" y="0"/>
          <a:ext cx="0" cy="0"/>
          <a:chOff x="0" y="0"/>
          <a:chExt cx="0" cy="0"/>
        </a:xfrm>
      </p:grpSpPr>
      <p:sp>
        <p:nvSpPr>
          <p:cNvPr id="3" name="Shape 0"/>
          <p:cNvSpPr/>
          <p:nvPr/>
        </p:nvSpPr>
        <p:spPr>
          <a:xfrm>
            <a:off x="457200" y="411480"/>
            <a:ext cx="320040" cy="54864"/>
          </a:xfrm>
          <a:prstGeom prst="rect">
            <a:avLst/>
          </a:prstGeom>
          <a:solidFill>
            <a:srgbClr val="F97316"/>
          </a:solidFill>
          <a:ln w="12700">
            <a:solidFill>
              <a:srgbClr val="F97316"/>
            </a:solidFill>
            <a:prstDash val="solid"/>
          </a:ln>
        </p:spPr>
        <p:txBody>
          <a:bodyPr/>
          <a:lstStyle/>
          <a:p>
            <a:endParaRPr lang="en-GB"/>
          </a:p>
        </p:txBody>
      </p:sp>
      <p:sp>
        <p:nvSpPr>
          <p:cNvPr id="4" name="Text 1"/>
          <p:cNvSpPr/>
          <p:nvPr/>
        </p:nvSpPr>
        <p:spPr>
          <a:xfrm>
            <a:off x="868680" y="329184"/>
            <a:ext cx="5029200" cy="274320"/>
          </a:xfrm>
          <a:prstGeom prst="rect">
            <a:avLst/>
          </a:prstGeom>
          <a:noFill/>
          <a:ln/>
        </p:spPr>
        <p:txBody>
          <a:bodyPr wrap="square" lIns="0" tIns="0" rIns="0" bIns="0" rtlCol="0" anchor="ctr"/>
          <a:lstStyle/>
          <a:p>
            <a:pPr marL="0" indent="0">
              <a:buNone/>
            </a:pPr>
            <a:r>
              <a:rPr lang="en-US" sz="1000" b="1" kern="0" spc="400" dirty="0">
                <a:solidFill>
                  <a:srgbClr val="F97316"/>
                </a:solidFill>
                <a:latin typeface="Calibri" pitchFamily="34" charset="0"/>
                <a:ea typeface="Calibri" pitchFamily="34" charset="-122"/>
                <a:cs typeface="Calibri" pitchFamily="34" charset="-120"/>
              </a:rPr>
              <a:t>03 · BUILDING BLOCKS</a:t>
            </a:r>
            <a:endParaRPr lang="en-US" sz="1000" dirty="0"/>
          </a:p>
        </p:txBody>
      </p:sp>
      <p:sp>
        <p:nvSpPr>
          <p:cNvPr id="5" name="Text 2"/>
          <p:cNvSpPr/>
          <p:nvPr/>
        </p:nvSpPr>
        <p:spPr>
          <a:xfrm>
            <a:off x="457200" y="640080"/>
            <a:ext cx="8229600" cy="822960"/>
          </a:xfrm>
          <a:prstGeom prst="rect">
            <a:avLst/>
          </a:prstGeom>
          <a:noFill/>
          <a:ln/>
        </p:spPr>
        <p:txBody>
          <a:bodyPr wrap="square" lIns="0" tIns="0" rIns="0" bIns="0" rtlCol="0" anchor="ctr"/>
          <a:lstStyle/>
          <a:p>
            <a:pPr marL="0" indent="0">
              <a:buNone/>
            </a:pPr>
            <a:r>
              <a:rPr lang="en-US" sz="3200" b="1" dirty="0">
                <a:solidFill>
                  <a:srgbClr val="F8FAFC"/>
                </a:solidFill>
                <a:latin typeface="Calibri" pitchFamily="34" charset="0"/>
                <a:ea typeface="Calibri" pitchFamily="34" charset="-122"/>
                <a:cs typeface="Calibri" pitchFamily="34" charset="-120"/>
              </a:rPr>
              <a:t>Skills — packaged know-how</a:t>
            </a:r>
            <a:endParaRPr lang="en-US" sz="3200" dirty="0"/>
          </a:p>
        </p:txBody>
      </p:sp>
      <p:sp>
        <p:nvSpPr>
          <p:cNvPr id="6" name="Text 3"/>
          <p:cNvSpPr/>
          <p:nvPr/>
        </p:nvSpPr>
        <p:spPr>
          <a:xfrm>
            <a:off x="457200" y="4754880"/>
            <a:ext cx="4572000" cy="228600"/>
          </a:xfrm>
          <a:prstGeom prst="rect">
            <a:avLst/>
          </a:prstGeom>
          <a:noFill/>
          <a:ln/>
        </p:spPr>
        <p:txBody>
          <a:bodyPr wrap="square" lIns="0" tIns="0" rIns="0" bIns="0" rtlCol="0" anchor="ctr"/>
          <a:lstStyle/>
          <a:p>
            <a:pPr marL="0" indent="0">
              <a:buNone/>
            </a:pPr>
            <a:endParaRPr lang="en-US" sz="900" dirty="0"/>
          </a:p>
        </p:txBody>
      </p:sp>
      <p:sp>
        <p:nvSpPr>
          <p:cNvPr id="7" name="Shape 4"/>
          <p:cNvSpPr/>
          <p:nvPr/>
        </p:nvSpPr>
        <p:spPr>
          <a:xfrm>
            <a:off x="8275320" y="4818888"/>
            <a:ext cx="73152" cy="73152"/>
          </a:xfrm>
          <a:prstGeom prst="ellipse">
            <a:avLst/>
          </a:prstGeom>
          <a:solidFill>
            <a:srgbClr val="F97316"/>
          </a:solidFill>
          <a:ln w="12700">
            <a:solidFill>
              <a:srgbClr val="F97316"/>
            </a:solidFill>
            <a:prstDash val="solid"/>
          </a:ln>
        </p:spPr>
        <p:txBody>
          <a:bodyPr/>
          <a:lstStyle/>
          <a:p>
            <a:endParaRPr lang="en-GB"/>
          </a:p>
        </p:txBody>
      </p:sp>
      <p:sp>
        <p:nvSpPr>
          <p:cNvPr id="8" name="Text 5"/>
          <p:cNvSpPr/>
          <p:nvPr/>
        </p:nvSpPr>
        <p:spPr>
          <a:xfrm>
            <a:off x="8366760" y="4736592"/>
            <a:ext cx="685800" cy="228600"/>
          </a:xfrm>
          <a:prstGeom prst="rect">
            <a:avLst/>
          </a:prstGeom>
          <a:noFill/>
          <a:ln/>
        </p:spPr>
        <p:txBody>
          <a:bodyPr wrap="square" lIns="0" tIns="0" rIns="0" bIns="0" rtlCol="0" anchor="ctr"/>
          <a:lstStyle/>
          <a:p>
            <a:pPr marL="0" indent="0" algn="r">
              <a:buNone/>
            </a:pPr>
            <a:r>
              <a:rPr lang="en-US" sz="900" dirty="0">
                <a:solidFill>
                  <a:srgbClr val="94A3B8"/>
                </a:solidFill>
                <a:latin typeface="Calibri" pitchFamily="34" charset="0"/>
                <a:ea typeface="Calibri" pitchFamily="34" charset="-122"/>
                <a:cs typeface="Calibri" pitchFamily="34" charset="-120"/>
              </a:rPr>
              <a:t>16 / 21</a:t>
            </a:r>
            <a:endParaRPr lang="en-US" sz="900" dirty="0"/>
          </a:p>
        </p:txBody>
      </p:sp>
      <p:sp>
        <p:nvSpPr>
          <p:cNvPr id="9" name="Shape 6"/>
          <p:cNvSpPr/>
          <p:nvPr/>
        </p:nvSpPr>
        <p:spPr>
          <a:xfrm>
            <a:off x="457200" y="1554480"/>
            <a:ext cx="3657600" cy="2971800"/>
          </a:xfrm>
          <a:prstGeom prst="roundRect">
            <a:avLst>
              <a:gd name="adj" fmla="val 2462"/>
            </a:avLst>
          </a:prstGeom>
          <a:solidFill>
            <a:srgbClr val="11203A"/>
          </a:solidFill>
          <a:ln w="12700">
            <a:solidFill>
              <a:srgbClr val="1B2D4F"/>
            </a:solidFill>
            <a:prstDash val="solid"/>
          </a:ln>
          <a:effectLst>
            <a:outerShdw blurRad="101600" dist="25400" dir="8100000" algn="bl" rotWithShape="0">
              <a:srgbClr val="000000">
                <a:alpha val="25000"/>
              </a:srgbClr>
            </a:outerShdw>
          </a:effectLst>
        </p:spPr>
        <p:txBody>
          <a:bodyPr/>
          <a:lstStyle/>
          <a:p>
            <a:endParaRPr lang="en-GB"/>
          </a:p>
        </p:txBody>
      </p:sp>
      <p:sp>
        <p:nvSpPr>
          <p:cNvPr id="10" name="Shape 7"/>
          <p:cNvSpPr/>
          <p:nvPr/>
        </p:nvSpPr>
        <p:spPr>
          <a:xfrm>
            <a:off x="457200" y="1554480"/>
            <a:ext cx="3657600" cy="73152"/>
          </a:xfrm>
          <a:prstGeom prst="rect">
            <a:avLst/>
          </a:prstGeom>
          <a:solidFill>
            <a:srgbClr val="3B82F6"/>
          </a:solidFill>
          <a:ln w="12700">
            <a:solidFill>
              <a:srgbClr val="3B82F6"/>
            </a:solidFill>
            <a:prstDash val="solid"/>
          </a:ln>
        </p:spPr>
        <p:txBody>
          <a:bodyPr/>
          <a:lstStyle/>
          <a:p>
            <a:endParaRPr lang="en-GB"/>
          </a:p>
        </p:txBody>
      </p:sp>
      <p:sp>
        <p:nvSpPr>
          <p:cNvPr id="11" name="Text 8"/>
          <p:cNvSpPr/>
          <p:nvPr/>
        </p:nvSpPr>
        <p:spPr>
          <a:xfrm>
            <a:off x="685800" y="1719072"/>
            <a:ext cx="3200400" cy="274320"/>
          </a:xfrm>
          <a:prstGeom prst="rect">
            <a:avLst/>
          </a:prstGeom>
          <a:noFill/>
          <a:ln/>
        </p:spPr>
        <p:txBody>
          <a:bodyPr wrap="square" lIns="0" tIns="0" rIns="0" bIns="0" rtlCol="0" anchor="ctr"/>
          <a:lstStyle/>
          <a:p>
            <a:pPr marL="0" indent="0">
              <a:buNone/>
            </a:pPr>
            <a:r>
              <a:rPr lang="en-US" sz="1000" b="1" kern="0" spc="300" dirty="0">
                <a:solidFill>
                  <a:srgbClr val="3B82F6"/>
                </a:solidFill>
                <a:latin typeface="Calibri" pitchFamily="34" charset="0"/>
                <a:ea typeface="Calibri" pitchFamily="34" charset="-122"/>
                <a:cs typeface="Calibri" pitchFamily="34" charset="-120"/>
              </a:rPr>
              <a:t>ANATOMY OF A SKILL</a:t>
            </a:r>
            <a:endParaRPr lang="en-US" sz="1000" dirty="0"/>
          </a:p>
        </p:txBody>
      </p:sp>
      <p:sp>
        <p:nvSpPr>
          <p:cNvPr id="12" name="Shape 9"/>
          <p:cNvSpPr/>
          <p:nvPr/>
        </p:nvSpPr>
        <p:spPr>
          <a:xfrm>
            <a:off x="731520" y="2103120"/>
            <a:ext cx="411480" cy="91440"/>
          </a:xfrm>
          <a:prstGeom prst="roundRect">
            <a:avLst>
              <a:gd name="adj" fmla="val 20000"/>
            </a:avLst>
          </a:prstGeom>
          <a:solidFill>
            <a:srgbClr val="F97316"/>
          </a:solidFill>
          <a:ln w="12700">
            <a:solidFill>
              <a:srgbClr val="F97316"/>
            </a:solidFill>
            <a:prstDash val="solid"/>
          </a:ln>
        </p:spPr>
        <p:txBody>
          <a:bodyPr/>
          <a:lstStyle/>
          <a:p>
            <a:endParaRPr lang="en-GB"/>
          </a:p>
        </p:txBody>
      </p:sp>
      <p:sp>
        <p:nvSpPr>
          <p:cNvPr id="13" name="Shape 10"/>
          <p:cNvSpPr/>
          <p:nvPr/>
        </p:nvSpPr>
        <p:spPr>
          <a:xfrm>
            <a:off x="731520" y="2176272"/>
            <a:ext cx="3108960" cy="2194560"/>
          </a:xfrm>
          <a:prstGeom prst="roundRect">
            <a:avLst>
              <a:gd name="adj" fmla="val 1667"/>
            </a:avLst>
          </a:prstGeom>
          <a:solidFill>
            <a:srgbClr val="0A1628"/>
          </a:solidFill>
          <a:ln w="19050">
            <a:solidFill>
              <a:srgbClr val="F97316"/>
            </a:solidFill>
            <a:prstDash val="solid"/>
          </a:ln>
        </p:spPr>
        <p:txBody>
          <a:bodyPr/>
          <a:lstStyle/>
          <a:p>
            <a:endParaRPr lang="en-GB"/>
          </a:p>
        </p:txBody>
      </p:sp>
      <p:sp>
        <p:nvSpPr>
          <p:cNvPr id="14" name="Text 11"/>
          <p:cNvSpPr/>
          <p:nvPr/>
        </p:nvSpPr>
        <p:spPr>
          <a:xfrm>
            <a:off x="868680" y="2240280"/>
            <a:ext cx="3017520" cy="274320"/>
          </a:xfrm>
          <a:prstGeom prst="rect">
            <a:avLst/>
          </a:prstGeom>
          <a:noFill/>
          <a:ln/>
        </p:spPr>
        <p:txBody>
          <a:bodyPr wrap="square" lIns="0" tIns="0" rIns="0" bIns="0" rtlCol="0" anchor="ctr"/>
          <a:lstStyle/>
          <a:p>
            <a:pPr marL="0" indent="0">
              <a:buNone/>
            </a:pPr>
            <a:r>
              <a:rPr lang="en-US" sz="1200" b="1" dirty="0">
                <a:solidFill>
                  <a:srgbClr val="F97316"/>
                </a:solidFill>
                <a:latin typeface="Consolas" pitchFamily="34" charset="0"/>
                <a:ea typeface="Consolas" pitchFamily="34" charset="-122"/>
                <a:cs typeface="Consolas" pitchFamily="34" charset="-120"/>
              </a:rPr>
              <a:t>📁  pptx/</a:t>
            </a:r>
            <a:endParaRPr lang="en-US" sz="1200" dirty="0"/>
          </a:p>
        </p:txBody>
      </p:sp>
      <p:sp>
        <p:nvSpPr>
          <p:cNvPr id="15" name="Text 12"/>
          <p:cNvSpPr/>
          <p:nvPr/>
        </p:nvSpPr>
        <p:spPr>
          <a:xfrm>
            <a:off x="960120" y="2606040"/>
            <a:ext cx="274320" cy="274320"/>
          </a:xfrm>
          <a:prstGeom prst="rect">
            <a:avLst/>
          </a:prstGeom>
          <a:noFill/>
          <a:ln/>
        </p:spPr>
        <p:txBody>
          <a:bodyPr wrap="square" lIns="0" tIns="0" rIns="0" bIns="0" rtlCol="0" anchor="ctr"/>
          <a:lstStyle/>
          <a:p>
            <a:pPr marL="0" indent="0">
              <a:buNone/>
            </a:pPr>
            <a:r>
              <a:rPr lang="en-US" sz="1100" dirty="0">
                <a:solidFill>
                  <a:srgbClr val="F8FAFC"/>
                </a:solidFill>
                <a:latin typeface="Calibri" pitchFamily="34" charset="0"/>
                <a:ea typeface="Calibri" pitchFamily="34" charset="-122"/>
                <a:cs typeface="Calibri" pitchFamily="34" charset="-120"/>
              </a:rPr>
              <a:t>📄</a:t>
            </a:r>
            <a:endParaRPr lang="en-US" sz="1100" dirty="0"/>
          </a:p>
        </p:txBody>
      </p:sp>
      <p:sp>
        <p:nvSpPr>
          <p:cNvPr id="16" name="Text 13"/>
          <p:cNvSpPr/>
          <p:nvPr/>
        </p:nvSpPr>
        <p:spPr>
          <a:xfrm>
            <a:off x="1234440" y="2606040"/>
            <a:ext cx="1188720" cy="274320"/>
          </a:xfrm>
          <a:prstGeom prst="rect">
            <a:avLst/>
          </a:prstGeom>
          <a:noFill/>
          <a:ln/>
        </p:spPr>
        <p:txBody>
          <a:bodyPr wrap="square" lIns="0" tIns="0" rIns="0" bIns="0" rtlCol="0" anchor="ctr"/>
          <a:lstStyle/>
          <a:p>
            <a:pPr marL="0" indent="0">
              <a:buNone/>
            </a:pPr>
            <a:r>
              <a:rPr lang="en-US" sz="1000" dirty="0">
                <a:solidFill>
                  <a:srgbClr val="F8FAFC"/>
                </a:solidFill>
                <a:latin typeface="Consolas" pitchFamily="34" charset="0"/>
                <a:ea typeface="Consolas" pitchFamily="34" charset="-122"/>
                <a:cs typeface="Consolas" pitchFamily="34" charset="-120"/>
              </a:rPr>
              <a:t>SKILL.md</a:t>
            </a:r>
            <a:endParaRPr lang="en-US" sz="1000" dirty="0"/>
          </a:p>
        </p:txBody>
      </p:sp>
      <p:sp>
        <p:nvSpPr>
          <p:cNvPr id="17" name="Text 14"/>
          <p:cNvSpPr/>
          <p:nvPr/>
        </p:nvSpPr>
        <p:spPr>
          <a:xfrm>
            <a:off x="2423160" y="2606040"/>
            <a:ext cx="1508760" cy="274320"/>
          </a:xfrm>
          <a:prstGeom prst="rect">
            <a:avLst/>
          </a:prstGeom>
          <a:noFill/>
          <a:ln/>
        </p:spPr>
        <p:txBody>
          <a:bodyPr wrap="square" lIns="0" tIns="0" rIns="0" bIns="0" rtlCol="0" anchor="ctr"/>
          <a:lstStyle/>
          <a:p>
            <a:pPr marL="0" indent="0">
              <a:buNone/>
            </a:pPr>
            <a:r>
              <a:rPr lang="en-US" sz="900" i="1" dirty="0">
                <a:solidFill>
                  <a:srgbClr val="94A3B8"/>
                </a:solidFill>
                <a:latin typeface="Calibri" pitchFamily="34" charset="0"/>
                <a:ea typeface="Calibri" pitchFamily="34" charset="-122"/>
                <a:cs typeface="Calibri" pitchFamily="34" charset="-120"/>
              </a:rPr>
              <a:t>frontmatter · when to trigger</a:t>
            </a:r>
            <a:endParaRPr lang="en-US" sz="900" dirty="0"/>
          </a:p>
        </p:txBody>
      </p:sp>
      <p:sp>
        <p:nvSpPr>
          <p:cNvPr id="18" name="Text 15"/>
          <p:cNvSpPr/>
          <p:nvPr/>
        </p:nvSpPr>
        <p:spPr>
          <a:xfrm>
            <a:off x="960120" y="2971800"/>
            <a:ext cx="274320" cy="274320"/>
          </a:xfrm>
          <a:prstGeom prst="rect">
            <a:avLst/>
          </a:prstGeom>
          <a:noFill/>
          <a:ln/>
        </p:spPr>
        <p:txBody>
          <a:bodyPr wrap="square" lIns="0" tIns="0" rIns="0" bIns="0" rtlCol="0" anchor="ctr"/>
          <a:lstStyle/>
          <a:p>
            <a:pPr marL="0" indent="0">
              <a:buNone/>
            </a:pPr>
            <a:r>
              <a:rPr lang="en-US" sz="1100" dirty="0">
                <a:solidFill>
                  <a:srgbClr val="F8FAFC"/>
                </a:solidFill>
                <a:latin typeface="Calibri" pitchFamily="34" charset="0"/>
                <a:ea typeface="Calibri" pitchFamily="34" charset="-122"/>
                <a:cs typeface="Calibri" pitchFamily="34" charset="-120"/>
              </a:rPr>
              <a:t>📘</a:t>
            </a:r>
            <a:endParaRPr lang="en-US" sz="1100" dirty="0"/>
          </a:p>
        </p:txBody>
      </p:sp>
      <p:sp>
        <p:nvSpPr>
          <p:cNvPr id="19" name="Text 16"/>
          <p:cNvSpPr/>
          <p:nvPr/>
        </p:nvSpPr>
        <p:spPr>
          <a:xfrm>
            <a:off x="1234440" y="2971800"/>
            <a:ext cx="1188720" cy="274320"/>
          </a:xfrm>
          <a:prstGeom prst="rect">
            <a:avLst/>
          </a:prstGeom>
          <a:noFill/>
          <a:ln/>
        </p:spPr>
        <p:txBody>
          <a:bodyPr wrap="square" lIns="0" tIns="0" rIns="0" bIns="0" rtlCol="0" anchor="ctr"/>
          <a:lstStyle/>
          <a:p>
            <a:pPr marL="0" indent="0">
              <a:buNone/>
            </a:pPr>
            <a:r>
              <a:rPr lang="en-US" sz="1000" dirty="0">
                <a:solidFill>
                  <a:srgbClr val="F8FAFC"/>
                </a:solidFill>
                <a:latin typeface="Consolas" pitchFamily="34" charset="0"/>
                <a:ea typeface="Consolas" pitchFamily="34" charset="-122"/>
                <a:cs typeface="Consolas" pitchFamily="34" charset="-120"/>
              </a:rPr>
              <a:t>editing.md</a:t>
            </a:r>
            <a:endParaRPr lang="en-US" sz="1000" dirty="0"/>
          </a:p>
        </p:txBody>
      </p:sp>
      <p:sp>
        <p:nvSpPr>
          <p:cNvPr id="20" name="Text 17"/>
          <p:cNvSpPr/>
          <p:nvPr/>
        </p:nvSpPr>
        <p:spPr>
          <a:xfrm>
            <a:off x="2423160" y="2971800"/>
            <a:ext cx="1508760" cy="274320"/>
          </a:xfrm>
          <a:prstGeom prst="rect">
            <a:avLst/>
          </a:prstGeom>
          <a:noFill/>
          <a:ln/>
        </p:spPr>
        <p:txBody>
          <a:bodyPr wrap="square" lIns="0" tIns="0" rIns="0" bIns="0" rtlCol="0" anchor="ctr"/>
          <a:lstStyle/>
          <a:p>
            <a:pPr marL="0" indent="0">
              <a:buNone/>
            </a:pPr>
            <a:r>
              <a:rPr lang="en-US" sz="900" i="1" dirty="0">
                <a:solidFill>
                  <a:srgbClr val="94A3B8"/>
                </a:solidFill>
                <a:latin typeface="Calibri" pitchFamily="34" charset="0"/>
                <a:ea typeface="Calibri" pitchFamily="34" charset="-122"/>
                <a:cs typeface="Calibri" pitchFamily="34" charset="-120"/>
              </a:rPr>
              <a:t>how-to docs the agent reads</a:t>
            </a:r>
            <a:endParaRPr lang="en-US" sz="900" dirty="0"/>
          </a:p>
        </p:txBody>
      </p:sp>
      <p:sp>
        <p:nvSpPr>
          <p:cNvPr id="21" name="Text 18"/>
          <p:cNvSpPr/>
          <p:nvPr/>
        </p:nvSpPr>
        <p:spPr>
          <a:xfrm>
            <a:off x="960120" y="3337560"/>
            <a:ext cx="274320" cy="274320"/>
          </a:xfrm>
          <a:prstGeom prst="rect">
            <a:avLst/>
          </a:prstGeom>
          <a:noFill/>
          <a:ln/>
        </p:spPr>
        <p:txBody>
          <a:bodyPr wrap="square" lIns="0" tIns="0" rIns="0" bIns="0" rtlCol="0" anchor="ctr"/>
          <a:lstStyle/>
          <a:p>
            <a:pPr marL="0" indent="0">
              <a:buNone/>
            </a:pPr>
            <a:r>
              <a:rPr lang="en-US" sz="1100" dirty="0">
                <a:solidFill>
                  <a:srgbClr val="F8FAFC"/>
                </a:solidFill>
                <a:latin typeface="Calibri" pitchFamily="34" charset="0"/>
                <a:ea typeface="Calibri" pitchFamily="34" charset="-122"/>
                <a:cs typeface="Calibri" pitchFamily="34" charset="-120"/>
              </a:rPr>
              <a:t>📂</a:t>
            </a:r>
            <a:endParaRPr lang="en-US" sz="1100" dirty="0"/>
          </a:p>
        </p:txBody>
      </p:sp>
      <p:sp>
        <p:nvSpPr>
          <p:cNvPr id="22" name="Text 19"/>
          <p:cNvSpPr/>
          <p:nvPr/>
        </p:nvSpPr>
        <p:spPr>
          <a:xfrm>
            <a:off x="1234440" y="3337560"/>
            <a:ext cx="1188720" cy="274320"/>
          </a:xfrm>
          <a:prstGeom prst="rect">
            <a:avLst/>
          </a:prstGeom>
          <a:noFill/>
          <a:ln/>
        </p:spPr>
        <p:txBody>
          <a:bodyPr wrap="square" lIns="0" tIns="0" rIns="0" bIns="0" rtlCol="0" anchor="ctr"/>
          <a:lstStyle/>
          <a:p>
            <a:pPr marL="0" indent="0">
              <a:buNone/>
            </a:pPr>
            <a:r>
              <a:rPr lang="en-US" sz="1000" dirty="0">
                <a:solidFill>
                  <a:srgbClr val="F8FAFC"/>
                </a:solidFill>
                <a:latin typeface="Consolas" pitchFamily="34" charset="0"/>
                <a:ea typeface="Consolas" pitchFamily="34" charset="-122"/>
                <a:cs typeface="Consolas" pitchFamily="34" charset="-120"/>
              </a:rPr>
              <a:t>scripts/</a:t>
            </a:r>
            <a:endParaRPr lang="en-US" sz="1000" dirty="0"/>
          </a:p>
        </p:txBody>
      </p:sp>
      <p:sp>
        <p:nvSpPr>
          <p:cNvPr id="23" name="Text 20"/>
          <p:cNvSpPr/>
          <p:nvPr/>
        </p:nvSpPr>
        <p:spPr>
          <a:xfrm>
            <a:off x="2423160" y="3337560"/>
            <a:ext cx="1508760" cy="274320"/>
          </a:xfrm>
          <a:prstGeom prst="rect">
            <a:avLst/>
          </a:prstGeom>
          <a:noFill/>
          <a:ln/>
        </p:spPr>
        <p:txBody>
          <a:bodyPr wrap="square" lIns="0" tIns="0" rIns="0" bIns="0" rtlCol="0" anchor="ctr"/>
          <a:lstStyle/>
          <a:p>
            <a:pPr marL="0" indent="0">
              <a:buNone/>
            </a:pPr>
            <a:r>
              <a:rPr lang="en-US" sz="900" i="1" dirty="0">
                <a:solidFill>
                  <a:srgbClr val="94A3B8"/>
                </a:solidFill>
                <a:latin typeface="Calibri" pitchFamily="34" charset="0"/>
                <a:ea typeface="Calibri" pitchFamily="34" charset="-122"/>
                <a:cs typeface="Calibri" pitchFamily="34" charset="-120"/>
              </a:rPr>
              <a:t>Python helpers · QA tools</a:t>
            </a:r>
            <a:endParaRPr lang="en-US" sz="900" dirty="0"/>
          </a:p>
        </p:txBody>
      </p:sp>
      <p:sp>
        <p:nvSpPr>
          <p:cNvPr id="24" name="Text 21"/>
          <p:cNvSpPr/>
          <p:nvPr/>
        </p:nvSpPr>
        <p:spPr>
          <a:xfrm>
            <a:off x="960120" y="3703320"/>
            <a:ext cx="274320" cy="274320"/>
          </a:xfrm>
          <a:prstGeom prst="rect">
            <a:avLst/>
          </a:prstGeom>
          <a:noFill/>
          <a:ln/>
        </p:spPr>
        <p:txBody>
          <a:bodyPr wrap="square" lIns="0" tIns="0" rIns="0" bIns="0" rtlCol="0" anchor="ctr"/>
          <a:lstStyle/>
          <a:p>
            <a:pPr marL="0" indent="0">
              <a:buNone/>
            </a:pPr>
            <a:r>
              <a:rPr lang="en-US" sz="1100" dirty="0">
                <a:solidFill>
                  <a:srgbClr val="F8FAFC"/>
                </a:solidFill>
                <a:latin typeface="Calibri" pitchFamily="34" charset="0"/>
                <a:ea typeface="Calibri" pitchFamily="34" charset="-122"/>
                <a:cs typeface="Calibri" pitchFamily="34" charset="-120"/>
              </a:rPr>
              <a:t>📂</a:t>
            </a:r>
            <a:endParaRPr lang="en-US" sz="1100" dirty="0"/>
          </a:p>
        </p:txBody>
      </p:sp>
      <p:sp>
        <p:nvSpPr>
          <p:cNvPr id="25" name="Text 22"/>
          <p:cNvSpPr/>
          <p:nvPr/>
        </p:nvSpPr>
        <p:spPr>
          <a:xfrm>
            <a:off x="1234440" y="3703320"/>
            <a:ext cx="1188720" cy="274320"/>
          </a:xfrm>
          <a:prstGeom prst="rect">
            <a:avLst/>
          </a:prstGeom>
          <a:noFill/>
          <a:ln/>
        </p:spPr>
        <p:txBody>
          <a:bodyPr wrap="square" lIns="0" tIns="0" rIns="0" bIns="0" rtlCol="0" anchor="ctr"/>
          <a:lstStyle/>
          <a:p>
            <a:pPr marL="0" indent="0">
              <a:buNone/>
            </a:pPr>
            <a:r>
              <a:rPr lang="en-US" sz="1000" dirty="0">
                <a:solidFill>
                  <a:srgbClr val="F8FAFC"/>
                </a:solidFill>
                <a:latin typeface="Consolas" pitchFamily="34" charset="0"/>
                <a:ea typeface="Consolas" pitchFamily="34" charset="-122"/>
                <a:cs typeface="Consolas" pitchFamily="34" charset="-120"/>
              </a:rPr>
              <a:t>references/</a:t>
            </a:r>
            <a:endParaRPr lang="en-US" sz="1000" dirty="0"/>
          </a:p>
        </p:txBody>
      </p:sp>
      <p:sp>
        <p:nvSpPr>
          <p:cNvPr id="26" name="Text 23"/>
          <p:cNvSpPr/>
          <p:nvPr/>
        </p:nvSpPr>
        <p:spPr>
          <a:xfrm>
            <a:off x="2423160" y="3703320"/>
            <a:ext cx="1508760" cy="274320"/>
          </a:xfrm>
          <a:prstGeom prst="rect">
            <a:avLst/>
          </a:prstGeom>
          <a:noFill/>
          <a:ln/>
        </p:spPr>
        <p:txBody>
          <a:bodyPr wrap="square" lIns="0" tIns="0" rIns="0" bIns="0" rtlCol="0" anchor="ctr"/>
          <a:lstStyle/>
          <a:p>
            <a:pPr marL="0" indent="0">
              <a:buNone/>
            </a:pPr>
            <a:r>
              <a:rPr lang="en-US" sz="900" i="1" dirty="0">
                <a:solidFill>
                  <a:srgbClr val="94A3B8"/>
                </a:solidFill>
                <a:latin typeface="Calibri" pitchFamily="34" charset="0"/>
                <a:ea typeface="Calibri" pitchFamily="34" charset="-122"/>
                <a:cs typeface="Calibri" pitchFamily="34" charset="-120"/>
              </a:rPr>
              <a:t>templates · examples</a:t>
            </a:r>
            <a:endParaRPr lang="en-US" sz="900" dirty="0"/>
          </a:p>
        </p:txBody>
      </p:sp>
      <p:sp>
        <p:nvSpPr>
          <p:cNvPr id="27" name="Text 24"/>
          <p:cNvSpPr/>
          <p:nvPr/>
        </p:nvSpPr>
        <p:spPr>
          <a:xfrm>
            <a:off x="960120" y="4069080"/>
            <a:ext cx="274320" cy="274320"/>
          </a:xfrm>
          <a:prstGeom prst="rect">
            <a:avLst/>
          </a:prstGeom>
          <a:noFill/>
          <a:ln/>
        </p:spPr>
        <p:txBody>
          <a:bodyPr wrap="square" lIns="0" tIns="0" rIns="0" bIns="0" rtlCol="0" anchor="ctr"/>
          <a:lstStyle/>
          <a:p>
            <a:pPr marL="0" indent="0">
              <a:buNone/>
            </a:pPr>
            <a:r>
              <a:rPr lang="en-US" sz="1100" dirty="0">
                <a:solidFill>
                  <a:srgbClr val="F8FAFC"/>
                </a:solidFill>
                <a:latin typeface="Calibri" pitchFamily="34" charset="0"/>
                <a:ea typeface="Calibri" pitchFamily="34" charset="-122"/>
                <a:cs typeface="Calibri" pitchFamily="34" charset="-120"/>
              </a:rPr>
              <a:t>📄</a:t>
            </a:r>
            <a:endParaRPr lang="en-US" sz="1100" dirty="0"/>
          </a:p>
        </p:txBody>
      </p:sp>
      <p:sp>
        <p:nvSpPr>
          <p:cNvPr id="28" name="Text 25"/>
          <p:cNvSpPr/>
          <p:nvPr/>
        </p:nvSpPr>
        <p:spPr>
          <a:xfrm>
            <a:off x="1234440" y="4069080"/>
            <a:ext cx="1188720" cy="274320"/>
          </a:xfrm>
          <a:prstGeom prst="rect">
            <a:avLst/>
          </a:prstGeom>
          <a:noFill/>
          <a:ln/>
        </p:spPr>
        <p:txBody>
          <a:bodyPr wrap="square" lIns="0" tIns="0" rIns="0" bIns="0" rtlCol="0" anchor="ctr"/>
          <a:lstStyle/>
          <a:p>
            <a:pPr marL="0" indent="0">
              <a:buNone/>
            </a:pPr>
            <a:r>
              <a:rPr lang="en-US" sz="1000" dirty="0">
                <a:solidFill>
                  <a:srgbClr val="F8FAFC"/>
                </a:solidFill>
                <a:latin typeface="Consolas" pitchFamily="34" charset="0"/>
                <a:ea typeface="Consolas" pitchFamily="34" charset="-122"/>
                <a:cs typeface="Consolas" pitchFamily="34" charset="-120"/>
              </a:rPr>
              <a:t>LICENSE.txt</a:t>
            </a:r>
            <a:endParaRPr lang="en-US" sz="1000" dirty="0"/>
          </a:p>
        </p:txBody>
      </p:sp>
      <p:sp>
        <p:nvSpPr>
          <p:cNvPr id="29" name="Text 26"/>
          <p:cNvSpPr/>
          <p:nvPr/>
        </p:nvSpPr>
        <p:spPr>
          <a:xfrm>
            <a:off x="2423160" y="4069080"/>
            <a:ext cx="1508760" cy="274320"/>
          </a:xfrm>
          <a:prstGeom prst="rect">
            <a:avLst/>
          </a:prstGeom>
          <a:noFill/>
          <a:ln/>
        </p:spPr>
        <p:txBody>
          <a:bodyPr wrap="square" lIns="0" tIns="0" rIns="0" bIns="0" rtlCol="0" anchor="ctr"/>
          <a:lstStyle/>
          <a:p>
            <a:pPr marL="0" indent="0">
              <a:buNone/>
            </a:pPr>
            <a:endParaRPr lang="en-US" sz="900" dirty="0"/>
          </a:p>
        </p:txBody>
      </p:sp>
      <p:sp>
        <p:nvSpPr>
          <p:cNvPr id="30" name="Shape 27"/>
          <p:cNvSpPr/>
          <p:nvPr/>
        </p:nvSpPr>
        <p:spPr>
          <a:xfrm>
            <a:off x="4343400" y="1554480"/>
            <a:ext cx="2103120" cy="1417320"/>
          </a:xfrm>
          <a:prstGeom prst="roundRect">
            <a:avLst>
              <a:gd name="adj" fmla="val 3871"/>
            </a:avLst>
          </a:prstGeom>
          <a:solidFill>
            <a:srgbClr val="11203A"/>
          </a:solidFill>
          <a:ln w="25400">
            <a:solidFill>
              <a:srgbClr val="3B82F6"/>
            </a:solidFill>
            <a:prstDash val="solid"/>
          </a:ln>
          <a:effectLst>
            <a:outerShdw blurRad="101600" dist="25400" dir="8100000" algn="bl" rotWithShape="0">
              <a:srgbClr val="000000">
                <a:alpha val="25000"/>
              </a:srgbClr>
            </a:outerShdw>
          </a:effectLst>
        </p:spPr>
        <p:txBody>
          <a:bodyPr/>
          <a:lstStyle/>
          <a:p>
            <a:endParaRPr lang="en-GB"/>
          </a:p>
        </p:txBody>
      </p:sp>
      <p:sp>
        <p:nvSpPr>
          <p:cNvPr id="31" name="Shape 28"/>
          <p:cNvSpPr/>
          <p:nvPr/>
        </p:nvSpPr>
        <p:spPr>
          <a:xfrm>
            <a:off x="4343400" y="1554480"/>
            <a:ext cx="54864" cy="1417320"/>
          </a:xfrm>
          <a:prstGeom prst="rect">
            <a:avLst/>
          </a:prstGeom>
          <a:solidFill>
            <a:srgbClr val="3B82F6"/>
          </a:solidFill>
          <a:ln w="12700">
            <a:solidFill>
              <a:srgbClr val="3B82F6"/>
            </a:solidFill>
            <a:prstDash val="solid"/>
          </a:ln>
        </p:spPr>
        <p:txBody>
          <a:bodyPr/>
          <a:lstStyle/>
          <a:p>
            <a:endParaRPr lang="en-GB"/>
          </a:p>
        </p:txBody>
      </p:sp>
      <p:sp>
        <p:nvSpPr>
          <p:cNvPr id="32" name="Text 29"/>
          <p:cNvSpPr/>
          <p:nvPr/>
        </p:nvSpPr>
        <p:spPr>
          <a:xfrm>
            <a:off x="4526280" y="1645920"/>
            <a:ext cx="1828800" cy="274320"/>
          </a:xfrm>
          <a:prstGeom prst="rect">
            <a:avLst/>
          </a:prstGeom>
          <a:noFill/>
          <a:ln/>
        </p:spPr>
        <p:txBody>
          <a:bodyPr wrap="square" lIns="0" tIns="0" rIns="0" bIns="0" rtlCol="0" anchor="ctr"/>
          <a:lstStyle/>
          <a:p>
            <a:pPr marL="0" indent="0">
              <a:buNone/>
            </a:pPr>
            <a:r>
              <a:rPr lang="en-US" sz="1200" b="1" dirty="0">
                <a:solidFill>
                  <a:srgbClr val="3B82F6"/>
                </a:solidFill>
                <a:latin typeface="Calibri" pitchFamily="34" charset="0"/>
                <a:ea typeface="Calibri" pitchFamily="34" charset="-122"/>
                <a:cs typeface="Calibri" pitchFamily="34" charset="-120"/>
              </a:rPr>
              <a:t>Tools</a:t>
            </a:r>
            <a:endParaRPr lang="en-US" sz="1200" dirty="0"/>
          </a:p>
        </p:txBody>
      </p:sp>
      <p:sp>
        <p:nvSpPr>
          <p:cNvPr id="33" name="Text 30"/>
          <p:cNvSpPr/>
          <p:nvPr/>
        </p:nvSpPr>
        <p:spPr>
          <a:xfrm>
            <a:off x="4526280" y="1965960"/>
            <a:ext cx="1828800" cy="960120"/>
          </a:xfrm>
          <a:prstGeom prst="rect">
            <a:avLst/>
          </a:prstGeom>
          <a:noFill/>
          <a:ln/>
        </p:spPr>
        <p:txBody>
          <a:bodyPr wrap="square" lIns="0" tIns="0" rIns="0" bIns="0" rtlCol="0" anchor="ctr"/>
          <a:lstStyle/>
          <a:p>
            <a:pPr marL="342900" indent="-342900">
              <a:spcAft>
                <a:spcPts val="300"/>
              </a:spcAft>
              <a:buSzPct val="100000"/>
              <a:buChar char="•"/>
            </a:pPr>
            <a:r>
              <a:rPr lang="en-US" sz="1000" dirty="0">
                <a:solidFill>
                  <a:srgbClr val="F8FAFC"/>
                </a:solidFill>
                <a:latin typeface="Calibri" pitchFamily="34" charset="0"/>
                <a:ea typeface="Calibri" pitchFamily="34" charset="-122"/>
                <a:cs typeface="Calibri" pitchFamily="34" charset="-120"/>
              </a:rPr>
              <a:t>One function</a:t>
            </a:r>
            <a:endParaRPr lang="en-US" sz="1000" dirty="0"/>
          </a:p>
          <a:p>
            <a:pPr marL="342900" indent="-342900">
              <a:spcAft>
                <a:spcPts val="300"/>
              </a:spcAft>
              <a:buSzPct val="100000"/>
              <a:buChar char="•"/>
            </a:pPr>
            <a:r>
              <a:rPr lang="en-US" sz="1000" dirty="0">
                <a:solidFill>
                  <a:srgbClr val="F8FAFC"/>
                </a:solidFill>
                <a:latin typeface="Calibri" pitchFamily="34" charset="0"/>
                <a:ea typeface="Calibri" pitchFamily="34" charset="-122"/>
                <a:cs typeface="Calibri" pitchFamily="34" charset="-120"/>
              </a:rPr>
              <a:t>Tiny JSON schema</a:t>
            </a:r>
            <a:endParaRPr lang="en-US" sz="1000" dirty="0"/>
          </a:p>
          <a:p>
            <a:pPr marL="342900" indent="-342900">
              <a:spcAft>
                <a:spcPts val="300"/>
              </a:spcAft>
              <a:buSzPct val="100000"/>
              <a:buChar char="•"/>
            </a:pPr>
            <a:r>
              <a:rPr lang="en-US" sz="1000" dirty="0">
                <a:solidFill>
                  <a:srgbClr val="F8FAFC"/>
                </a:solidFill>
                <a:latin typeface="Calibri" pitchFamily="34" charset="0"/>
                <a:ea typeface="Calibri" pitchFamily="34" charset="-122"/>
                <a:cs typeface="Calibri" pitchFamily="34" charset="-120"/>
              </a:rPr>
              <a:t>Loaded every call</a:t>
            </a:r>
            <a:endParaRPr lang="en-US" sz="1000" dirty="0"/>
          </a:p>
        </p:txBody>
      </p:sp>
      <p:sp>
        <p:nvSpPr>
          <p:cNvPr id="34" name="Shape 31"/>
          <p:cNvSpPr/>
          <p:nvPr/>
        </p:nvSpPr>
        <p:spPr>
          <a:xfrm>
            <a:off x="6583680" y="1554480"/>
            <a:ext cx="2103120" cy="1417320"/>
          </a:xfrm>
          <a:prstGeom prst="roundRect">
            <a:avLst>
              <a:gd name="adj" fmla="val 3871"/>
            </a:avLst>
          </a:prstGeom>
          <a:solidFill>
            <a:srgbClr val="11203A"/>
          </a:solidFill>
          <a:ln w="25400">
            <a:solidFill>
              <a:srgbClr val="F97316"/>
            </a:solidFill>
            <a:prstDash val="solid"/>
          </a:ln>
          <a:effectLst>
            <a:outerShdw blurRad="101600" dist="25400" dir="8100000" algn="bl" rotWithShape="0">
              <a:srgbClr val="000000">
                <a:alpha val="25000"/>
              </a:srgbClr>
            </a:outerShdw>
          </a:effectLst>
        </p:spPr>
        <p:txBody>
          <a:bodyPr/>
          <a:lstStyle/>
          <a:p>
            <a:endParaRPr lang="en-GB"/>
          </a:p>
        </p:txBody>
      </p:sp>
      <p:sp>
        <p:nvSpPr>
          <p:cNvPr id="35" name="Shape 32"/>
          <p:cNvSpPr/>
          <p:nvPr/>
        </p:nvSpPr>
        <p:spPr>
          <a:xfrm>
            <a:off x="6583680" y="1554480"/>
            <a:ext cx="54864" cy="1417320"/>
          </a:xfrm>
          <a:prstGeom prst="rect">
            <a:avLst/>
          </a:prstGeom>
          <a:solidFill>
            <a:srgbClr val="F97316"/>
          </a:solidFill>
          <a:ln w="12700">
            <a:solidFill>
              <a:srgbClr val="F97316"/>
            </a:solidFill>
            <a:prstDash val="solid"/>
          </a:ln>
        </p:spPr>
        <p:txBody>
          <a:bodyPr/>
          <a:lstStyle/>
          <a:p>
            <a:endParaRPr lang="en-GB"/>
          </a:p>
        </p:txBody>
      </p:sp>
      <p:sp>
        <p:nvSpPr>
          <p:cNvPr id="36" name="Text 33"/>
          <p:cNvSpPr/>
          <p:nvPr/>
        </p:nvSpPr>
        <p:spPr>
          <a:xfrm>
            <a:off x="6766560" y="1645920"/>
            <a:ext cx="1828800" cy="274320"/>
          </a:xfrm>
          <a:prstGeom prst="rect">
            <a:avLst/>
          </a:prstGeom>
          <a:noFill/>
          <a:ln/>
        </p:spPr>
        <p:txBody>
          <a:bodyPr wrap="square" lIns="0" tIns="0" rIns="0" bIns="0" rtlCol="0" anchor="ctr"/>
          <a:lstStyle/>
          <a:p>
            <a:pPr marL="0" indent="0">
              <a:buNone/>
            </a:pPr>
            <a:r>
              <a:rPr lang="en-US" sz="1200" b="1" dirty="0">
                <a:solidFill>
                  <a:srgbClr val="F97316"/>
                </a:solidFill>
                <a:latin typeface="Calibri" pitchFamily="34" charset="0"/>
                <a:ea typeface="Calibri" pitchFamily="34" charset="-122"/>
                <a:cs typeface="Calibri" pitchFamily="34" charset="-120"/>
              </a:rPr>
              <a:t>Skills</a:t>
            </a:r>
            <a:endParaRPr lang="en-US" sz="1200" dirty="0"/>
          </a:p>
        </p:txBody>
      </p:sp>
      <p:sp>
        <p:nvSpPr>
          <p:cNvPr id="37" name="Text 34"/>
          <p:cNvSpPr/>
          <p:nvPr/>
        </p:nvSpPr>
        <p:spPr>
          <a:xfrm>
            <a:off x="6766560" y="1965960"/>
            <a:ext cx="1828800" cy="960120"/>
          </a:xfrm>
          <a:prstGeom prst="rect">
            <a:avLst/>
          </a:prstGeom>
          <a:noFill/>
          <a:ln/>
        </p:spPr>
        <p:txBody>
          <a:bodyPr wrap="square" lIns="0" tIns="0" rIns="0" bIns="0" rtlCol="0" anchor="ctr"/>
          <a:lstStyle/>
          <a:p>
            <a:pPr marL="342900" indent="-342900">
              <a:spcAft>
                <a:spcPts val="300"/>
              </a:spcAft>
              <a:buSzPct val="100000"/>
              <a:buChar char="•"/>
            </a:pPr>
            <a:r>
              <a:rPr lang="en-US" sz="1000" dirty="0">
                <a:solidFill>
                  <a:srgbClr val="F8FAFC"/>
                </a:solidFill>
                <a:latin typeface="Calibri" pitchFamily="34" charset="0"/>
                <a:ea typeface="Calibri" pitchFamily="34" charset="-122"/>
                <a:cs typeface="Calibri" pitchFamily="34" charset="-120"/>
              </a:rPr>
              <a:t>Whole procedure</a:t>
            </a:r>
            <a:endParaRPr lang="en-US" sz="1000" dirty="0"/>
          </a:p>
          <a:p>
            <a:pPr marL="342900" indent="-342900">
              <a:spcAft>
                <a:spcPts val="300"/>
              </a:spcAft>
              <a:buSzPct val="100000"/>
              <a:buChar char="•"/>
            </a:pPr>
            <a:r>
              <a:rPr lang="en-US" sz="1000" dirty="0">
                <a:solidFill>
                  <a:srgbClr val="F8FAFC"/>
                </a:solidFill>
                <a:latin typeface="Calibri" pitchFamily="34" charset="0"/>
                <a:ea typeface="Calibri" pitchFamily="34" charset="-122"/>
                <a:cs typeface="Calibri" pitchFamily="34" charset="-120"/>
              </a:rPr>
              <a:t>Files + scripts + docs</a:t>
            </a:r>
            <a:endParaRPr lang="en-US" sz="1000" dirty="0"/>
          </a:p>
          <a:p>
            <a:pPr marL="342900" indent="-342900">
              <a:spcAft>
                <a:spcPts val="300"/>
              </a:spcAft>
              <a:buSzPct val="100000"/>
              <a:buChar char="•"/>
            </a:pPr>
            <a:r>
              <a:rPr lang="en-US" sz="1000" dirty="0">
                <a:solidFill>
                  <a:srgbClr val="F8FAFC"/>
                </a:solidFill>
                <a:latin typeface="Calibri" pitchFamily="34" charset="0"/>
                <a:ea typeface="Calibri" pitchFamily="34" charset="-122"/>
                <a:cs typeface="Calibri" pitchFamily="34" charset="-120"/>
              </a:rPr>
              <a:t>Loaded on demand</a:t>
            </a:r>
            <a:endParaRPr lang="en-US" sz="1000" dirty="0"/>
          </a:p>
        </p:txBody>
      </p:sp>
      <p:sp>
        <p:nvSpPr>
          <p:cNvPr id="38" name="Shape 35"/>
          <p:cNvSpPr/>
          <p:nvPr/>
        </p:nvSpPr>
        <p:spPr>
          <a:xfrm>
            <a:off x="4343400" y="3200400"/>
            <a:ext cx="4343400" cy="1325880"/>
          </a:xfrm>
          <a:prstGeom prst="roundRect">
            <a:avLst>
              <a:gd name="adj" fmla="val 4138"/>
            </a:avLst>
          </a:prstGeom>
          <a:solidFill>
            <a:srgbClr val="0B1A30"/>
          </a:solidFill>
          <a:ln w="12700">
            <a:solidFill>
              <a:srgbClr val="1E3A5F"/>
            </a:solidFill>
            <a:prstDash val="solid"/>
          </a:ln>
        </p:spPr>
        <p:txBody>
          <a:bodyPr/>
          <a:lstStyle/>
          <a:p>
            <a:endParaRPr lang="en-GB"/>
          </a:p>
        </p:txBody>
      </p:sp>
      <p:sp>
        <p:nvSpPr>
          <p:cNvPr id="39" name="Text 36"/>
          <p:cNvSpPr/>
          <p:nvPr/>
        </p:nvSpPr>
        <p:spPr>
          <a:xfrm>
            <a:off x="4526280" y="3291840"/>
            <a:ext cx="3977640" cy="228600"/>
          </a:xfrm>
          <a:prstGeom prst="rect">
            <a:avLst/>
          </a:prstGeom>
          <a:noFill/>
          <a:ln/>
        </p:spPr>
        <p:txBody>
          <a:bodyPr wrap="square" lIns="0" tIns="0" rIns="0" bIns="0" rtlCol="0" anchor="ctr"/>
          <a:lstStyle/>
          <a:p>
            <a:pPr marL="0" indent="0">
              <a:buNone/>
            </a:pPr>
            <a:r>
              <a:rPr lang="en-US" sz="900" b="1" kern="0" spc="300" dirty="0">
                <a:solidFill>
                  <a:srgbClr val="F97316"/>
                </a:solidFill>
                <a:latin typeface="Calibri" pitchFamily="34" charset="0"/>
                <a:ea typeface="Calibri" pitchFamily="34" charset="-122"/>
                <a:cs typeface="Calibri" pitchFamily="34" charset="-120"/>
              </a:rPr>
              <a:t>PROGRESSIVE DISCLOSURE</a:t>
            </a:r>
            <a:endParaRPr lang="en-US" sz="900" dirty="0"/>
          </a:p>
        </p:txBody>
      </p:sp>
      <p:sp>
        <p:nvSpPr>
          <p:cNvPr id="40" name="Shape 37"/>
          <p:cNvSpPr/>
          <p:nvPr/>
        </p:nvSpPr>
        <p:spPr>
          <a:xfrm>
            <a:off x="4480560" y="3611880"/>
            <a:ext cx="1280160" cy="777240"/>
          </a:xfrm>
          <a:prstGeom prst="roundRect">
            <a:avLst>
              <a:gd name="adj" fmla="val 5882"/>
            </a:avLst>
          </a:prstGeom>
          <a:solidFill>
            <a:srgbClr val="11203A"/>
          </a:solidFill>
          <a:ln w="19050">
            <a:solidFill>
              <a:srgbClr val="94A3B8"/>
            </a:solidFill>
            <a:prstDash val="solid"/>
          </a:ln>
        </p:spPr>
        <p:txBody>
          <a:bodyPr/>
          <a:lstStyle/>
          <a:p>
            <a:endParaRPr lang="en-GB"/>
          </a:p>
        </p:txBody>
      </p:sp>
      <p:sp>
        <p:nvSpPr>
          <p:cNvPr id="41" name="Text 38"/>
          <p:cNvSpPr/>
          <p:nvPr/>
        </p:nvSpPr>
        <p:spPr>
          <a:xfrm>
            <a:off x="4480560" y="3657600"/>
            <a:ext cx="1280160" cy="320040"/>
          </a:xfrm>
          <a:prstGeom prst="rect">
            <a:avLst/>
          </a:prstGeom>
          <a:noFill/>
          <a:ln/>
        </p:spPr>
        <p:txBody>
          <a:bodyPr wrap="square" lIns="0" tIns="0" rIns="0" bIns="0" rtlCol="0" anchor="ctr"/>
          <a:lstStyle/>
          <a:p>
            <a:pPr marL="0" indent="0" algn="ctr">
              <a:buNone/>
            </a:pPr>
            <a:r>
              <a:rPr lang="en-US" sz="1000" b="1" dirty="0">
                <a:solidFill>
                  <a:srgbClr val="F8FAFC"/>
                </a:solidFill>
                <a:latin typeface="Calibri" pitchFamily="34" charset="0"/>
                <a:ea typeface="Calibri" pitchFamily="34" charset="-122"/>
                <a:cs typeface="Calibri" pitchFamily="34" charset="-120"/>
              </a:rPr>
              <a:t>name + desc</a:t>
            </a:r>
            <a:endParaRPr lang="en-US" sz="1000" dirty="0"/>
          </a:p>
        </p:txBody>
      </p:sp>
      <p:sp>
        <p:nvSpPr>
          <p:cNvPr id="42" name="Text 39"/>
          <p:cNvSpPr/>
          <p:nvPr/>
        </p:nvSpPr>
        <p:spPr>
          <a:xfrm>
            <a:off x="4480560" y="3977640"/>
            <a:ext cx="1280160" cy="365760"/>
          </a:xfrm>
          <a:prstGeom prst="rect">
            <a:avLst/>
          </a:prstGeom>
          <a:noFill/>
          <a:ln/>
        </p:spPr>
        <p:txBody>
          <a:bodyPr wrap="square" lIns="0" tIns="0" rIns="0" bIns="0" rtlCol="0" anchor="ctr"/>
          <a:lstStyle/>
          <a:p>
            <a:pPr marL="0" indent="0" algn="ctr">
              <a:buNone/>
            </a:pPr>
            <a:r>
              <a:rPr lang="en-US" sz="800" dirty="0">
                <a:solidFill>
                  <a:srgbClr val="94A3B8"/>
                </a:solidFill>
                <a:latin typeface="Calibri" pitchFamily="34" charset="0"/>
                <a:ea typeface="Calibri" pitchFamily="34" charset="-122"/>
                <a:cs typeface="Calibri" pitchFamily="34" charset="-120"/>
              </a:rPr>
              <a:t>always loaded</a:t>
            </a:r>
            <a:endParaRPr lang="en-US" sz="800" dirty="0"/>
          </a:p>
        </p:txBody>
      </p:sp>
      <p:sp>
        <p:nvSpPr>
          <p:cNvPr id="43" name="Shape 40"/>
          <p:cNvSpPr/>
          <p:nvPr/>
        </p:nvSpPr>
        <p:spPr>
          <a:xfrm>
            <a:off x="5897880" y="3611880"/>
            <a:ext cx="1280160" cy="777240"/>
          </a:xfrm>
          <a:prstGeom prst="roundRect">
            <a:avLst>
              <a:gd name="adj" fmla="val 5882"/>
            </a:avLst>
          </a:prstGeom>
          <a:solidFill>
            <a:srgbClr val="11203A"/>
          </a:solidFill>
          <a:ln w="19050">
            <a:solidFill>
              <a:srgbClr val="3B82F6"/>
            </a:solidFill>
            <a:prstDash val="solid"/>
          </a:ln>
        </p:spPr>
        <p:txBody>
          <a:bodyPr/>
          <a:lstStyle/>
          <a:p>
            <a:endParaRPr lang="en-GB"/>
          </a:p>
        </p:txBody>
      </p:sp>
      <p:sp>
        <p:nvSpPr>
          <p:cNvPr id="44" name="Text 41"/>
          <p:cNvSpPr/>
          <p:nvPr/>
        </p:nvSpPr>
        <p:spPr>
          <a:xfrm>
            <a:off x="5897880" y="3657600"/>
            <a:ext cx="1280160" cy="320040"/>
          </a:xfrm>
          <a:prstGeom prst="rect">
            <a:avLst/>
          </a:prstGeom>
          <a:noFill/>
          <a:ln/>
        </p:spPr>
        <p:txBody>
          <a:bodyPr wrap="square" lIns="0" tIns="0" rIns="0" bIns="0" rtlCol="0" anchor="ctr"/>
          <a:lstStyle/>
          <a:p>
            <a:pPr marL="0" indent="0" algn="ctr">
              <a:buNone/>
            </a:pPr>
            <a:r>
              <a:rPr lang="en-US" sz="1000" b="1" dirty="0">
                <a:solidFill>
                  <a:srgbClr val="F8FAFC"/>
                </a:solidFill>
                <a:latin typeface="Calibri" pitchFamily="34" charset="0"/>
                <a:ea typeface="Calibri" pitchFamily="34" charset="-122"/>
                <a:cs typeface="Calibri" pitchFamily="34" charset="-120"/>
              </a:rPr>
              <a:t>SKILL.md</a:t>
            </a:r>
            <a:endParaRPr lang="en-US" sz="1000" dirty="0"/>
          </a:p>
        </p:txBody>
      </p:sp>
      <p:sp>
        <p:nvSpPr>
          <p:cNvPr id="45" name="Text 42"/>
          <p:cNvSpPr/>
          <p:nvPr/>
        </p:nvSpPr>
        <p:spPr>
          <a:xfrm>
            <a:off x="5897880" y="3977640"/>
            <a:ext cx="1280160" cy="365760"/>
          </a:xfrm>
          <a:prstGeom prst="rect">
            <a:avLst/>
          </a:prstGeom>
          <a:noFill/>
          <a:ln/>
        </p:spPr>
        <p:txBody>
          <a:bodyPr wrap="square" lIns="0" tIns="0" rIns="0" bIns="0" rtlCol="0" anchor="ctr"/>
          <a:lstStyle/>
          <a:p>
            <a:pPr marL="0" indent="0" algn="ctr">
              <a:buNone/>
            </a:pPr>
            <a:r>
              <a:rPr lang="en-US" sz="800" dirty="0">
                <a:solidFill>
                  <a:srgbClr val="3B82F6"/>
                </a:solidFill>
                <a:latin typeface="Calibri" pitchFamily="34" charset="0"/>
                <a:ea typeface="Calibri" pitchFamily="34" charset="-122"/>
                <a:cs typeface="Calibri" pitchFamily="34" charset="-120"/>
              </a:rPr>
              <a:t>loaded if triggered</a:t>
            </a:r>
            <a:endParaRPr lang="en-US" sz="800" dirty="0"/>
          </a:p>
        </p:txBody>
      </p:sp>
      <p:sp>
        <p:nvSpPr>
          <p:cNvPr id="46" name="Shape 43"/>
          <p:cNvSpPr/>
          <p:nvPr/>
        </p:nvSpPr>
        <p:spPr>
          <a:xfrm>
            <a:off x="7315200" y="3611880"/>
            <a:ext cx="1280160" cy="777240"/>
          </a:xfrm>
          <a:prstGeom prst="roundRect">
            <a:avLst>
              <a:gd name="adj" fmla="val 5882"/>
            </a:avLst>
          </a:prstGeom>
          <a:solidFill>
            <a:srgbClr val="11203A"/>
          </a:solidFill>
          <a:ln w="19050">
            <a:solidFill>
              <a:srgbClr val="F97316"/>
            </a:solidFill>
            <a:prstDash val="solid"/>
          </a:ln>
        </p:spPr>
        <p:txBody>
          <a:bodyPr/>
          <a:lstStyle/>
          <a:p>
            <a:endParaRPr lang="en-GB"/>
          </a:p>
        </p:txBody>
      </p:sp>
      <p:sp>
        <p:nvSpPr>
          <p:cNvPr id="47" name="Text 44"/>
          <p:cNvSpPr/>
          <p:nvPr/>
        </p:nvSpPr>
        <p:spPr>
          <a:xfrm>
            <a:off x="7315200" y="3657600"/>
            <a:ext cx="1280160" cy="320040"/>
          </a:xfrm>
          <a:prstGeom prst="rect">
            <a:avLst/>
          </a:prstGeom>
          <a:noFill/>
          <a:ln/>
        </p:spPr>
        <p:txBody>
          <a:bodyPr wrap="square" lIns="0" tIns="0" rIns="0" bIns="0" rtlCol="0" anchor="ctr"/>
          <a:lstStyle/>
          <a:p>
            <a:pPr marL="0" indent="0" algn="ctr">
              <a:buNone/>
            </a:pPr>
            <a:r>
              <a:rPr lang="en-US" sz="1000" b="1" dirty="0">
                <a:solidFill>
                  <a:srgbClr val="F8FAFC"/>
                </a:solidFill>
                <a:latin typeface="Calibri" pitchFamily="34" charset="0"/>
                <a:ea typeface="Calibri" pitchFamily="34" charset="-122"/>
                <a:cs typeface="Calibri" pitchFamily="34" charset="-120"/>
              </a:rPr>
              <a:t>scripts +</a:t>
            </a:r>
            <a:endParaRPr lang="en-US" sz="1000" dirty="0"/>
          </a:p>
          <a:p>
            <a:pPr marL="0" indent="0" algn="ctr">
              <a:buNone/>
            </a:pPr>
            <a:r>
              <a:rPr lang="en-US" sz="1000" b="1" dirty="0">
                <a:solidFill>
                  <a:srgbClr val="F8FAFC"/>
                </a:solidFill>
                <a:latin typeface="Calibri" pitchFamily="34" charset="0"/>
                <a:ea typeface="Calibri" pitchFamily="34" charset="-122"/>
                <a:cs typeface="Calibri" pitchFamily="34" charset="-120"/>
              </a:rPr>
              <a:t>files</a:t>
            </a:r>
            <a:endParaRPr lang="en-US" sz="1000" dirty="0"/>
          </a:p>
        </p:txBody>
      </p:sp>
      <p:sp>
        <p:nvSpPr>
          <p:cNvPr id="48" name="Text 45"/>
          <p:cNvSpPr/>
          <p:nvPr/>
        </p:nvSpPr>
        <p:spPr>
          <a:xfrm>
            <a:off x="7315200" y="3977640"/>
            <a:ext cx="1280160" cy="365760"/>
          </a:xfrm>
          <a:prstGeom prst="rect">
            <a:avLst/>
          </a:prstGeom>
          <a:noFill/>
          <a:ln/>
        </p:spPr>
        <p:txBody>
          <a:bodyPr wrap="square" lIns="0" tIns="0" rIns="0" bIns="0" rtlCol="0" anchor="ctr"/>
          <a:lstStyle/>
          <a:p>
            <a:pPr marL="0" indent="0" algn="ctr">
              <a:buNone/>
            </a:pPr>
            <a:r>
              <a:rPr lang="en-US" sz="800" dirty="0">
                <a:solidFill>
                  <a:srgbClr val="F97316"/>
                </a:solidFill>
                <a:latin typeface="Calibri" pitchFamily="34" charset="0"/>
                <a:ea typeface="Calibri" pitchFamily="34" charset="-122"/>
                <a:cs typeface="Calibri" pitchFamily="34" charset="-120"/>
              </a:rPr>
              <a:t>loaded when needed</a:t>
            </a:r>
            <a:endParaRPr lang="en-US" sz="800" dirty="0"/>
          </a:p>
        </p:txBody>
      </p:sp>
      <p:sp>
        <p:nvSpPr>
          <p:cNvPr id="49" name="Shape 46"/>
          <p:cNvSpPr/>
          <p:nvPr/>
        </p:nvSpPr>
        <p:spPr>
          <a:xfrm>
            <a:off x="5760720" y="3995928"/>
            <a:ext cx="118872" cy="0"/>
          </a:xfrm>
          <a:prstGeom prst="line">
            <a:avLst/>
          </a:prstGeom>
          <a:noFill/>
          <a:ln w="19050">
            <a:solidFill>
              <a:srgbClr val="F97316"/>
            </a:solidFill>
            <a:prstDash val="solid"/>
            <a:tailEnd type="triangle"/>
          </a:ln>
        </p:spPr>
        <p:txBody>
          <a:bodyPr/>
          <a:lstStyle/>
          <a:p>
            <a:endParaRPr lang="en-GB"/>
          </a:p>
        </p:txBody>
      </p:sp>
      <p:sp>
        <p:nvSpPr>
          <p:cNvPr id="50" name="Shape 47"/>
          <p:cNvSpPr/>
          <p:nvPr/>
        </p:nvSpPr>
        <p:spPr>
          <a:xfrm>
            <a:off x="7178040" y="3995928"/>
            <a:ext cx="118872" cy="0"/>
          </a:xfrm>
          <a:prstGeom prst="line">
            <a:avLst/>
          </a:prstGeom>
          <a:noFill/>
          <a:ln w="19050">
            <a:solidFill>
              <a:srgbClr val="F97316"/>
            </a:solidFill>
            <a:prstDash val="solid"/>
            <a:tailEnd type="triangle"/>
          </a:ln>
        </p:spPr>
        <p:txBody>
          <a:bodyPr/>
          <a:lstStyle/>
          <a:p>
            <a:endParaRPr lang="en-GB"/>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A1628"/>
        </a:solidFill>
        <a:effectLst/>
      </p:bgPr>
    </p:bg>
    <p:spTree>
      <p:nvGrpSpPr>
        <p:cNvPr id="1" name=""/>
        <p:cNvGrpSpPr/>
        <p:nvPr/>
      </p:nvGrpSpPr>
      <p:grpSpPr>
        <a:xfrm>
          <a:off x="0" y="0"/>
          <a:ext cx="0" cy="0"/>
          <a:chOff x="0" y="0"/>
          <a:chExt cx="0" cy="0"/>
        </a:xfrm>
      </p:grpSpPr>
      <p:sp>
        <p:nvSpPr>
          <p:cNvPr id="3" name="Shape 0"/>
          <p:cNvSpPr/>
          <p:nvPr/>
        </p:nvSpPr>
        <p:spPr>
          <a:xfrm>
            <a:off x="457200" y="411480"/>
            <a:ext cx="320040" cy="54864"/>
          </a:xfrm>
          <a:prstGeom prst="rect">
            <a:avLst/>
          </a:prstGeom>
          <a:solidFill>
            <a:srgbClr val="F97316"/>
          </a:solidFill>
          <a:ln w="12700">
            <a:solidFill>
              <a:srgbClr val="F97316"/>
            </a:solidFill>
            <a:prstDash val="solid"/>
          </a:ln>
        </p:spPr>
        <p:txBody>
          <a:bodyPr/>
          <a:lstStyle/>
          <a:p>
            <a:endParaRPr lang="en-GB"/>
          </a:p>
        </p:txBody>
      </p:sp>
      <p:sp>
        <p:nvSpPr>
          <p:cNvPr id="4" name="Text 1"/>
          <p:cNvSpPr/>
          <p:nvPr/>
        </p:nvSpPr>
        <p:spPr>
          <a:xfrm>
            <a:off x="868680" y="329184"/>
            <a:ext cx="5029200" cy="274320"/>
          </a:xfrm>
          <a:prstGeom prst="rect">
            <a:avLst/>
          </a:prstGeom>
          <a:noFill/>
          <a:ln/>
        </p:spPr>
        <p:txBody>
          <a:bodyPr wrap="square" lIns="0" tIns="0" rIns="0" bIns="0" rtlCol="0" anchor="ctr"/>
          <a:lstStyle/>
          <a:p>
            <a:pPr marL="0" indent="0">
              <a:buNone/>
            </a:pPr>
            <a:r>
              <a:rPr lang="en-US" sz="1000" b="1" kern="0" spc="400" dirty="0">
                <a:solidFill>
                  <a:srgbClr val="F97316"/>
                </a:solidFill>
                <a:latin typeface="Calibri" pitchFamily="34" charset="0"/>
                <a:ea typeface="Calibri" pitchFamily="34" charset="-122"/>
                <a:cs typeface="Calibri" pitchFamily="34" charset="-120"/>
              </a:rPr>
              <a:t>04 · THE AGENT</a:t>
            </a:r>
            <a:endParaRPr lang="en-US" sz="1000" dirty="0"/>
          </a:p>
        </p:txBody>
      </p:sp>
      <p:sp>
        <p:nvSpPr>
          <p:cNvPr id="5" name="Text 2"/>
          <p:cNvSpPr/>
          <p:nvPr/>
        </p:nvSpPr>
        <p:spPr>
          <a:xfrm>
            <a:off x="457200" y="640080"/>
            <a:ext cx="8229600" cy="822960"/>
          </a:xfrm>
          <a:prstGeom prst="rect">
            <a:avLst/>
          </a:prstGeom>
          <a:noFill/>
          <a:ln/>
        </p:spPr>
        <p:txBody>
          <a:bodyPr wrap="square" lIns="0" tIns="0" rIns="0" bIns="0" rtlCol="0" anchor="ctr"/>
          <a:lstStyle/>
          <a:p>
            <a:pPr marL="0" indent="0">
              <a:buNone/>
            </a:pPr>
            <a:r>
              <a:rPr lang="en-US" sz="3200" b="1" dirty="0">
                <a:solidFill>
                  <a:srgbClr val="F8FAFC"/>
                </a:solidFill>
                <a:latin typeface="Calibri" pitchFamily="34" charset="0"/>
                <a:ea typeface="Calibri" pitchFamily="34" charset="-122"/>
                <a:cs typeface="Calibri" pitchFamily="34" charset="-120"/>
              </a:rPr>
              <a:t>Everything wired together</a:t>
            </a:r>
            <a:endParaRPr lang="en-US" sz="3200" dirty="0"/>
          </a:p>
        </p:txBody>
      </p:sp>
      <p:sp>
        <p:nvSpPr>
          <p:cNvPr id="6" name="Text 3"/>
          <p:cNvSpPr/>
          <p:nvPr/>
        </p:nvSpPr>
        <p:spPr>
          <a:xfrm>
            <a:off x="457200" y="4754880"/>
            <a:ext cx="4572000" cy="228600"/>
          </a:xfrm>
          <a:prstGeom prst="rect">
            <a:avLst/>
          </a:prstGeom>
          <a:noFill/>
          <a:ln/>
        </p:spPr>
        <p:txBody>
          <a:bodyPr wrap="square" lIns="0" tIns="0" rIns="0" bIns="0" rtlCol="0" anchor="ctr"/>
          <a:lstStyle/>
          <a:p>
            <a:pPr marL="0" indent="0">
              <a:buNone/>
            </a:pPr>
            <a:endParaRPr lang="en-US" sz="900" dirty="0"/>
          </a:p>
        </p:txBody>
      </p:sp>
      <p:sp>
        <p:nvSpPr>
          <p:cNvPr id="7" name="Shape 4"/>
          <p:cNvSpPr/>
          <p:nvPr/>
        </p:nvSpPr>
        <p:spPr>
          <a:xfrm>
            <a:off x="8275320" y="4818888"/>
            <a:ext cx="73152" cy="73152"/>
          </a:xfrm>
          <a:prstGeom prst="ellipse">
            <a:avLst/>
          </a:prstGeom>
          <a:solidFill>
            <a:srgbClr val="F97316"/>
          </a:solidFill>
          <a:ln w="12700">
            <a:solidFill>
              <a:srgbClr val="F97316"/>
            </a:solidFill>
            <a:prstDash val="solid"/>
          </a:ln>
        </p:spPr>
        <p:txBody>
          <a:bodyPr/>
          <a:lstStyle/>
          <a:p>
            <a:endParaRPr lang="en-GB"/>
          </a:p>
        </p:txBody>
      </p:sp>
      <p:sp>
        <p:nvSpPr>
          <p:cNvPr id="8" name="Text 5"/>
          <p:cNvSpPr/>
          <p:nvPr/>
        </p:nvSpPr>
        <p:spPr>
          <a:xfrm>
            <a:off x="8366760" y="4736592"/>
            <a:ext cx="685800" cy="228600"/>
          </a:xfrm>
          <a:prstGeom prst="rect">
            <a:avLst/>
          </a:prstGeom>
          <a:noFill/>
          <a:ln/>
        </p:spPr>
        <p:txBody>
          <a:bodyPr wrap="square" lIns="0" tIns="0" rIns="0" bIns="0" rtlCol="0" anchor="ctr"/>
          <a:lstStyle/>
          <a:p>
            <a:pPr marL="0" indent="0" algn="r">
              <a:buNone/>
            </a:pPr>
            <a:r>
              <a:rPr lang="en-US" sz="900" dirty="0">
                <a:solidFill>
                  <a:srgbClr val="94A3B8"/>
                </a:solidFill>
                <a:latin typeface="Calibri" pitchFamily="34" charset="0"/>
                <a:ea typeface="Calibri" pitchFamily="34" charset="-122"/>
                <a:cs typeface="Calibri" pitchFamily="34" charset="-120"/>
              </a:rPr>
              <a:t>16 / 21</a:t>
            </a:r>
            <a:endParaRPr lang="en-US" sz="900" dirty="0"/>
          </a:p>
        </p:txBody>
      </p:sp>
      <p:sp>
        <p:nvSpPr>
          <p:cNvPr id="9" name="Shape 6"/>
          <p:cNvSpPr/>
          <p:nvPr/>
        </p:nvSpPr>
        <p:spPr>
          <a:xfrm>
            <a:off x="3657600" y="1371600"/>
            <a:ext cx="1828800" cy="411480"/>
          </a:xfrm>
          <a:prstGeom prst="roundRect">
            <a:avLst>
              <a:gd name="adj" fmla="val 13333"/>
            </a:avLst>
          </a:prstGeom>
          <a:solidFill>
            <a:srgbClr val="11203A"/>
          </a:solidFill>
          <a:ln w="19050">
            <a:solidFill>
              <a:srgbClr val="94A3B8"/>
            </a:solidFill>
            <a:prstDash val="solid"/>
          </a:ln>
        </p:spPr>
        <p:txBody>
          <a:bodyPr/>
          <a:lstStyle/>
          <a:p>
            <a:endParaRPr lang="en-GB"/>
          </a:p>
        </p:txBody>
      </p:sp>
      <p:sp>
        <p:nvSpPr>
          <p:cNvPr id="10" name="Text 7"/>
          <p:cNvSpPr/>
          <p:nvPr/>
        </p:nvSpPr>
        <p:spPr>
          <a:xfrm>
            <a:off x="3657600" y="1371600"/>
            <a:ext cx="1828800" cy="411480"/>
          </a:xfrm>
          <a:prstGeom prst="rect">
            <a:avLst/>
          </a:prstGeom>
          <a:noFill/>
          <a:ln/>
        </p:spPr>
        <p:txBody>
          <a:bodyPr wrap="square" lIns="0" tIns="0" rIns="0" bIns="0" rtlCol="0" anchor="ctr"/>
          <a:lstStyle/>
          <a:p>
            <a:pPr marL="0" indent="0" algn="ctr">
              <a:buNone/>
            </a:pPr>
            <a:r>
              <a:rPr lang="en-US" sz="1100" b="1" dirty="0">
                <a:solidFill>
                  <a:srgbClr val="F8FAFC"/>
                </a:solidFill>
                <a:latin typeface="Calibri" pitchFamily="34" charset="0"/>
                <a:ea typeface="Calibri" pitchFamily="34" charset="-122"/>
                <a:cs typeface="Calibri" pitchFamily="34" charset="-120"/>
              </a:rPr>
              <a:t>👤  User query</a:t>
            </a:r>
            <a:endParaRPr lang="en-US" sz="1100" dirty="0"/>
          </a:p>
        </p:txBody>
      </p:sp>
      <p:sp>
        <p:nvSpPr>
          <p:cNvPr id="11" name="Shape 8"/>
          <p:cNvSpPr/>
          <p:nvPr/>
        </p:nvSpPr>
        <p:spPr>
          <a:xfrm>
            <a:off x="3200400" y="2148840"/>
            <a:ext cx="2743200" cy="777240"/>
          </a:xfrm>
          <a:prstGeom prst="roundRect">
            <a:avLst>
              <a:gd name="adj" fmla="val 9412"/>
            </a:avLst>
          </a:prstGeom>
          <a:solidFill>
            <a:srgbClr val="F97316"/>
          </a:solidFill>
          <a:ln w="12700">
            <a:solidFill>
              <a:srgbClr val="F97316"/>
            </a:solidFill>
            <a:prstDash val="solid"/>
          </a:ln>
          <a:effectLst>
            <a:outerShdw blurRad="101600" dist="25400" dir="8100000" algn="bl" rotWithShape="0">
              <a:srgbClr val="000000">
                <a:alpha val="25000"/>
              </a:srgbClr>
            </a:outerShdw>
          </a:effectLst>
        </p:spPr>
        <p:txBody>
          <a:bodyPr/>
          <a:lstStyle/>
          <a:p>
            <a:endParaRPr lang="en-GB"/>
          </a:p>
        </p:txBody>
      </p:sp>
      <p:sp>
        <p:nvSpPr>
          <p:cNvPr id="12" name="Text 9"/>
          <p:cNvSpPr/>
          <p:nvPr/>
        </p:nvSpPr>
        <p:spPr>
          <a:xfrm>
            <a:off x="3200400" y="2194560"/>
            <a:ext cx="2743200" cy="320040"/>
          </a:xfrm>
          <a:prstGeom prst="rect">
            <a:avLst/>
          </a:prstGeom>
          <a:noFill/>
          <a:ln/>
        </p:spPr>
        <p:txBody>
          <a:bodyPr wrap="square" lIns="0" tIns="0" rIns="0" bIns="0" rtlCol="0" anchor="ctr"/>
          <a:lstStyle/>
          <a:p>
            <a:pPr marL="0" indent="0" algn="ctr">
              <a:buNone/>
            </a:pPr>
            <a:r>
              <a:rPr lang="en-US" sz="1400" b="1" dirty="0">
                <a:solidFill>
                  <a:srgbClr val="0A1628"/>
                </a:solidFill>
                <a:latin typeface="Calibri" pitchFamily="34" charset="0"/>
                <a:ea typeface="Calibri" pitchFamily="34" charset="-122"/>
                <a:cs typeface="Calibri" pitchFamily="34" charset="-120"/>
              </a:rPr>
              <a:t>Orchestrator</a:t>
            </a:r>
            <a:endParaRPr lang="en-US" sz="1400" dirty="0"/>
          </a:p>
        </p:txBody>
      </p:sp>
      <p:sp>
        <p:nvSpPr>
          <p:cNvPr id="13" name="Text 10"/>
          <p:cNvSpPr/>
          <p:nvPr/>
        </p:nvSpPr>
        <p:spPr>
          <a:xfrm>
            <a:off x="3200400" y="2532888"/>
            <a:ext cx="2743200" cy="274320"/>
          </a:xfrm>
          <a:prstGeom prst="rect">
            <a:avLst/>
          </a:prstGeom>
          <a:noFill/>
          <a:ln/>
        </p:spPr>
        <p:txBody>
          <a:bodyPr wrap="square" lIns="0" tIns="0" rIns="0" bIns="0" rtlCol="0" anchor="ctr"/>
          <a:lstStyle/>
          <a:p>
            <a:pPr marL="0" indent="0" algn="ctr">
              <a:buNone/>
            </a:pPr>
            <a:r>
              <a:rPr lang="en-US" sz="1000" i="1" dirty="0">
                <a:solidFill>
                  <a:srgbClr val="0A1628"/>
                </a:solidFill>
                <a:latin typeface="Calibri" pitchFamily="34" charset="0"/>
                <a:ea typeface="Calibri" pitchFamily="34" charset="-122"/>
                <a:cs typeface="Calibri" pitchFamily="34" charset="-120"/>
              </a:rPr>
              <a:t>LangGraph · plan &amp; route</a:t>
            </a:r>
            <a:endParaRPr lang="en-US" sz="1000" dirty="0"/>
          </a:p>
        </p:txBody>
      </p:sp>
      <p:sp>
        <p:nvSpPr>
          <p:cNvPr id="14" name="Shape 11"/>
          <p:cNvSpPr/>
          <p:nvPr/>
        </p:nvSpPr>
        <p:spPr>
          <a:xfrm>
            <a:off x="457200" y="2286000"/>
            <a:ext cx="1645920" cy="548640"/>
          </a:xfrm>
          <a:prstGeom prst="roundRect">
            <a:avLst>
              <a:gd name="adj" fmla="val 10000"/>
            </a:avLst>
          </a:prstGeom>
          <a:solidFill>
            <a:srgbClr val="11203A"/>
          </a:solidFill>
          <a:ln w="25400">
            <a:solidFill>
              <a:srgbClr val="3B82F6"/>
            </a:solidFill>
            <a:prstDash val="solid"/>
          </a:ln>
          <a:effectLst>
            <a:outerShdw blurRad="101600" dist="25400" dir="8100000" algn="bl" rotWithShape="0">
              <a:srgbClr val="000000">
                <a:alpha val="25000"/>
              </a:srgbClr>
            </a:outerShdw>
          </a:effectLst>
        </p:spPr>
        <p:txBody>
          <a:bodyPr/>
          <a:lstStyle/>
          <a:p>
            <a:endParaRPr lang="en-GB"/>
          </a:p>
        </p:txBody>
      </p:sp>
      <p:sp>
        <p:nvSpPr>
          <p:cNvPr id="15" name="Text 12"/>
          <p:cNvSpPr/>
          <p:nvPr/>
        </p:nvSpPr>
        <p:spPr>
          <a:xfrm>
            <a:off x="457200" y="2286000"/>
            <a:ext cx="1645920" cy="301752"/>
          </a:xfrm>
          <a:prstGeom prst="rect">
            <a:avLst/>
          </a:prstGeom>
          <a:noFill/>
          <a:ln/>
        </p:spPr>
        <p:txBody>
          <a:bodyPr wrap="square" lIns="0" tIns="0" rIns="0" bIns="0" rtlCol="0" anchor="ctr"/>
          <a:lstStyle/>
          <a:p>
            <a:pPr marL="0" indent="0" algn="ctr">
              <a:buNone/>
            </a:pPr>
            <a:r>
              <a:rPr lang="en-US" sz="1200" b="1" dirty="0">
                <a:solidFill>
                  <a:srgbClr val="3B82F6"/>
                </a:solidFill>
                <a:latin typeface="Calibri" pitchFamily="34" charset="0"/>
                <a:ea typeface="Calibri" pitchFamily="34" charset="-122"/>
                <a:cs typeface="Calibri" pitchFamily="34" charset="-120"/>
              </a:rPr>
              <a:t>🧠  LLM</a:t>
            </a:r>
            <a:endParaRPr lang="en-US" sz="1200" dirty="0"/>
          </a:p>
        </p:txBody>
      </p:sp>
      <p:sp>
        <p:nvSpPr>
          <p:cNvPr id="16" name="Text 13"/>
          <p:cNvSpPr/>
          <p:nvPr/>
        </p:nvSpPr>
        <p:spPr>
          <a:xfrm>
            <a:off x="457200" y="2560320"/>
            <a:ext cx="1645920" cy="274320"/>
          </a:xfrm>
          <a:prstGeom prst="rect">
            <a:avLst/>
          </a:prstGeom>
          <a:noFill/>
          <a:ln/>
        </p:spPr>
        <p:txBody>
          <a:bodyPr wrap="square" lIns="0" tIns="0" rIns="0" bIns="0" rtlCol="0" anchor="ctr"/>
          <a:lstStyle/>
          <a:p>
            <a:pPr marL="0" indent="0" algn="ctr">
              <a:buNone/>
            </a:pPr>
            <a:r>
              <a:rPr lang="en-US" sz="900" i="1" dirty="0">
                <a:solidFill>
                  <a:srgbClr val="94A3B8"/>
                </a:solidFill>
                <a:latin typeface="Calibri" pitchFamily="34" charset="0"/>
                <a:ea typeface="Calibri" pitchFamily="34" charset="-122"/>
                <a:cs typeface="Calibri" pitchFamily="34" charset="-120"/>
              </a:rPr>
              <a:t>reasoning brain</a:t>
            </a:r>
            <a:endParaRPr lang="en-US" sz="900" dirty="0"/>
          </a:p>
        </p:txBody>
      </p:sp>
      <p:sp>
        <p:nvSpPr>
          <p:cNvPr id="17" name="Shape 14"/>
          <p:cNvSpPr/>
          <p:nvPr/>
        </p:nvSpPr>
        <p:spPr>
          <a:xfrm>
            <a:off x="7040880" y="2286000"/>
            <a:ext cx="1645920" cy="548640"/>
          </a:xfrm>
          <a:prstGeom prst="roundRect">
            <a:avLst>
              <a:gd name="adj" fmla="val 10000"/>
            </a:avLst>
          </a:prstGeom>
          <a:solidFill>
            <a:srgbClr val="11203A"/>
          </a:solidFill>
          <a:ln w="25400">
            <a:solidFill>
              <a:srgbClr val="3B82F6"/>
            </a:solidFill>
            <a:prstDash val="solid"/>
          </a:ln>
          <a:effectLst>
            <a:outerShdw blurRad="101600" dist="25400" dir="8100000" algn="bl" rotWithShape="0">
              <a:srgbClr val="000000">
                <a:alpha val="25000"/>
              </a:srgbClr>
            </a:outerShdw>
          </a:effectLst>
        </p:spPr>
        <p:txBody>
          <a:bodyPr/>
          <a:lstStyle/>
          <a:p>
            <a:endParaRPr lang="en-GB"/>
          </a:p>
        </p:txBody>
      </p:sp>
      <p:sp>
        <p:nvSpPr>
          <p:cNvPr id="18" name="Text 15"/>
          <p:cNvSpPr/>
          <p:nvPr/>
        </p:nvSpPr>
        <p:spPr>
          <a:xfrm>
            <a:off x="7040880" y="2286000"/>
            <a:ext cx="1645920" cy="301752"/>
          </a:xfrm>
          <a:prstGeom prst="rect">
            <a:avLst/>
          </a:prstGeom>
          <a:noFill/>
          <a:ln/>
        </p:spPr>
        <p:txBody>
          <a:bodyPr wrap="square" lIns="0" tIns="0" rIns="0" bIns="0" rtlCol="0" anchor="ctr"/>
          <a:lstStyle/>
          <a:p>
            <a:pPr marL="0" indent="0" algn="ctr">
              <a:buNone/>
            </a:pPr>
            <a:r>
              <a:rPr lang="en-US" sz="1200" b="1" dirty="0">
                <a:solidFill>
                  <a:srgbClr val="3B82F6"/>
                </a:solidFill>
                <a:latin typeface="Calibri" pitchFamily="34" charset="0"/>
                <a:ea typeface="Calibri" pitchFamily="34" charset="-122"/>
                <a:cs typeface="Calibri" pitchFamily="34" charset="-120"/>
              </a:rPr>
              <a:t>💾  Memory</a:t>
            </a:r>
            <a:endParaRPr lang="en-US" sz="1200" dirty="0"/>
          </a:p>
        </p:txBody>
      </p:sp>
      <p:sp>
        <p:nvSpPr>
          <p:cNvPr id="19" name="Text 16"/>
          <p:cNvSpPr/>
          <p:nvPr/>
        </p:nvSpPr>
        <p:spPr>
          <a:xfrm>
            <a:off x="7040880" y="2560320"/>
            <a:ext cx="1645920" cy="274320"/>
          </a:xfrm>
          <a:prstGeom prst="rect">
            <a:avLst/>
          </a:prstGeom>
          <a:noFill/>
          <a:ln/>
        </p:spPr>
        <p:txBody>
          <a:bodyPr wrap="square" lIns="0" tIns="0" rIns="0" bIns="0" rtlCol="0" anchor="ctr"/>
          <a:lstStyle/>
          <a:p>
            <a:pPr marL="0" indent="0" algn="ctr">
              <a:buNone/>
            </a:pPr>
            <a:r>
              <a:rPr lang="en-US" sz="900" i="1" dirty="0">
                <a:solidFill>
                  <a:srgbClr val="94A3B8"/>
                </a:solidFill>
                <a:latin typeface="Calibri" pitchFamily="34" charset="0"/>
                <a:ea typeface="Calibri" pitchFamily="34" charset="-122"/>
                <a:cs typeface="Calibri" pitchFamily="34" charset="-120"/>
              </a:rPr>
              <a:t>short + long term</a:t>
            </a:r>
            <a:endParaRPr lang="en-US" sz="900" dirty="0"/>
          </a:p>
        </p:txBody>
      </p:sp>
      <p:sp>
        <p:nvSpPr>
          <p:cNvPr id="20" name="Shape 17"/>
          <p:cNvSpPr/>
          <p:nvPr/>
        </p:nvSpPr>
        <p:spPr>
          <a:xfrm>
            <a:off x="365760" y="3291840"/>
            <a:ext cx="2011680" cy="822960"/>
          </a:xfrm>
          <a:prstGeom prst="roundRect">
            <a:avLst>
              <a:gd name="adj" fmla="val 6667"/>
            </a:avLst>
          </a:prstGeom>
          <a:solidFill>
            <a:srgbClr val="11203A"/>
          </a:solidFill>
          <a:ln w="25400">
            <a:solidFill>
              <a:srgbClr val="3B82F6"/>
            </a:solidFill>
            <a:prstDash val="solid"/>
          </a:ln>
          <a:effectLst>
            <a:outerShdw blurRad="101600" dist="25400" dir="8100000" algn="bl" rotWithShape="0">
              <a:srgbClr val="000000">
                <a:alpha val="25000"/>
              </a:srgbClr>
            </a:outerShdw>
          </a:effectLst>
        </p:spPr>
        <p:txBody>
          <a:bodyPr/>
          <a:lstStyle/>
          <a:p>
            <a:endParaRPr lang="en-GB"/>
          </a:p>
        </p:txBody>
      </p:sp>
      <p:sp>
        <p:nvSpPr>
          <p:cNvPr id="21" name="Text 18"/>
          <p:cNvSpPr/>
          <p:nvPr/>
        </p:nvSpPr>
        <p:spPr>
          <a:xfrm>
            <a:off x="365760" y="3364992"/>
            <a:ext cx="2011680" cy="320040"/>
          </a:xfrm>
          <a:prstGeom prst="rect">
            <a:avLst/>
          </a:prstGeom>
          <a:noFill/>
          <a:ln/>
        </p:spPr>
        <p:txBody>
          <a:bodyPr wrap="square" lIns="0" tIns="0" rIns="0" bIns="0" rtlCol="0" anchor="ctr"/>
          <a:lstStyle/>
          <a:p>
            <a:pPr marL="0" indent="0" algn="ctr">
              <a:buNone/>
            </a:pPr>
            <a:r>
              <a:rPr lang="en-US" sz="1200" b="1" dirty="0">
                <a:solidFill>
                  <a:srgbClr val="3B82F6"/>
                </a:solidFill>
                <a:latin typeface="Calibri" pitchFamily="34" charset="0"/>
                <a:ea typeface="Calibri" pitchFamily="34" charset="-122"/>
                <a:cs typeface="Calibri" pitchFamily="34" charset="-120"/>
              </a:rPr>
              <a:t>🔍  RAG</a:t>
            </a:r>
            <a:endParaRPr lang="en-US" sz="1200" dirty="0"/>
          </a:p>
        </p:txBody>
      </p:sp>
      <p:sp>
        <p:nvSpPr>
          <p:cNvPr id="22" name="Text 19"/>
          <p:cNvSpPr/>
          <p:nvPr/>
        </p:nvSpPr>
        <p:spPr>
          <a:xfrm>
            <a:off x="365760" y="3703320"/>
            <a:ext cx="2011680" cy="320040"/>
          </a:xfrm>
          <a:prstGeom prst="rect">
            <a:avLst/>
          </a:prstGeom>
          <a:noFill/>
          <a:ln/>
        </p:spPr>
        <p:txBody>
          <a:bodyPr wrap="square" lIns="0" tIns="0" rIns="0" bIns="0" rtlCol="0" anchor="ctr"/>
          <a:lstStyle/>
          <a:p>
            <a:pPr marL="0" indent="0" algn="ctr">
              <a:buNone/>
            </a:pPr>
            <a:r>
              <a:rPr lang="en-US" sz="950" i="1" dirty="0">
                <a:solidFill>
                  <a:srgbClr val="94A3B8"/>
                </a:solidFill>
                <a:latin typeface="Calibri" pitchFamily="34" charset="0"/>
                <a:ea typeface="Calibri" pitchFamily="34" charset="-122"/>
                <a:cs typeface="Calibri" pitchFamily="34" charset="-120"/>
              </a:rPr>
              <a:t>vector search</a:t>
            </a:r>
            <a:endParaRPr lang="en-US" sz="950" dirty="0"/>
          </a:p>
        </p:txBody>
      </p:sp>
      <p:sp>
        <p:nvSpPr>
          <p:cNvPr id="23" name="Shape 20"/>
          <p:cNvSpPr/>
          <p:nvPr/>
        </p:nvSpPr>
        <p:spPr>
          <a:xfrm>
            <a:off x="2560320" y="3291840"/>
            <a:ext cx="2011680" cy="822960"/>
          </a:xfrm>
          <a:prstGeom prst="roundRect">
            <a:avLst>
              <a:gd name="adj" fmla="val 6667"/>
            </a:avLst>
          </a:prstGeom>
          <a:solidFill>
            <a:srgbClr val="11203A"/>
          </a:solidFill>
          <a:ln w="25400">
            <a:solidFill>
              <a:srgbClr val="3B82F6"/>
            </a:solidFill>
            <a:prstDash val="solid"/>
          </a:ln>
          <a:effectLst>
            <a:outerShdw blurRad="101600" dist="25400" dir="8100000" algn="bl" rotWithShape="0">
              <a:srgbClr val="000000">
                <a:alpha val="25000"/>
              </a:srgbClr>
            </a:outerShdw>
          </a:effectLst>
        </p:spPr>
        <p:txBody>
          <a:bodyPr/>
          <a:lstStyle/>
          <a:p>
            <a:endParaRPr lang="en-GB"/>
          </a:p>
        </p:txBody>
      </p:sp>
      <p:sp>
        <p:nvSpPr>
          <p:cNvPr id="24" name="Text 21"/>
          <p:cNvSpPr/>
          <p:nvPr/>
        </p:nvSpPr>
        <p:spPr>
          <a:xfrm>
            <a:off x="2560320" y="3364992"/>
            <a:ext cx="2011680" cy="320040"/>
          </a:xfrm>
          <a:prstGeom prst="rect">
            <a:avLst/>
          </a:prstGeom>
          <a:noFill/>
          <a:ln/>
        </p:spPr>
        <p:txBody>
          <a:bodyPr wrap="square" lIns="0" tIns="0" rIns="0" bIns="0" rtlCol="0" anchor="ctr"/>
          <a:lstStyle/>
          <a:p>
            <a:pPr marL="0" indent="0" algn="ctr">
              <a:buNone/>
            </a:pPr>
            <a:r>
              <a:rPr lang="en-US" sz="1200" b="1" dirty="0">
                <a:solidFill>
                  <a:srgbClr val="3B82F6"/>
                </a:solidFill>
                <a:latin typeface="Calibri" pitchFamily="34" charset="0"/>
                <a:ea typeface="Calibri" pitchFamily="34" charset="-122"/>
                <a:cs typeface="Calibri" pitchFamily="34" charset="-120"/>
              </a:rPr>
              <a:t>🔧  Tools/MCP</a:t>
            </a:r>
            <a:endParaRPr lang="en-US" sz="1200" dirty="0"/>
          </a:p>
        </p:txBody>
      </p:sp>
      <p:sp>
        <p:nvSpPr>
          <p:cNvPr id="25" name="Text 22"/>
          <p:cNvSpPr/>
          <p:nvPr/>
        </p:nvSpPr>
        <p:spPr>
          <a:xfrm>
            <a:off x="2560320" y="3703320"/>
            <a:ext cx="2011680" cy="320040"/>
          </a:xfrm>
          <a:prstGeom prst="rect">
            <a:avLst/>
          </a:prstGeom>
          <a:noFill/>
          <a:ln/>
        </p:spPr>
        <p:txBody>
          <a:bodyPr wrap="square" lIns="0" tIns="0" rIns="0" bIns="0" rtlCol="0" anchor="ctr"/>
          <a:lstStyle/>
          <a:p>
            <a:pPr marL="0" indent="0" algn="ctr">
              <a:buNone/>
            </a:pPr>
            <a:r>
              <a:rPr lang="en-US" sz="950" i="1" dirty="0">
                <a:solidFill>
                  <a:srgbClr val="94A3B8"/>
                </a:solidFill>
                <a:latin typeface="Calibri" pitchFamily="34" charset="0"/>
                <a:ea typeface="Calibri" pitchFamily="34" charset="-122"/>
                <a:cs typeface="Calibri" pitchFamily="34" charset="-120"/>
              </a:rPr>
              <a:t>APIs · DBs · files</a:t>
            </a:r>
            <a:endParaRPr lang="en-US" sz="950" dirty="0"/>
          </a:p>
        </p:txBody>
      </p:sp>
      <p:sp>
        <p:nvSpPr>
          <p:cNvPr id="26" name="Shape 23"/>
          <p:cNvSpPr/>
          <p:nvPr/>
        </p:nvSpPr>
        <p:spPr>
          <a:xfrm>
            <a:off x="4754880" y="3291840"/>
            <a:ext cx="2011680" cy="822960"/>
          </a:xfrm>
          <a:prstGeom prst="roundRect">
            <a:avLst>
              <a:gd name="adj" fmla="val 6667"/>
            </a:avLst>
          </a:prstGeom>
          <a:solidFill>
            <a:srgbClr val="11203A"/>
          </a:solidFill>
          <a:ln w="25400">
            <a:solidFill>
              <a:srgbClr val="F97316"/>
            </a:solidFill>
            <a:prstDash val="solid"/>
          </a:ln>
          <a:effectLst>
            <a:outerShdw blurRad="101600" dist="25400" dir="8100000" algn="bl" rotWithShape="0">
              <a:srgbClr val="000000">
                <a:alpha val="25000"/>
              </a:srgbClr>
            </a:outerShdw>
          </a:effectLst>
        </p:spPr>
        <p:txBody>
          <a:bodyPr/>
          <a:lstStyle/>
          <a:p>
            <a:endParaRPr lang="en-GB"/>
          </a:p>
        </p:txBody>
      </p:sp>
      <p:sp>
        <p:nvSpPr>
          <p:cNvPr id="27" name="Text 24"/>
          <p:cNvSpPr/>
          <p:nvPr/>
        </p:nvSpPr>
        <p:spPr>
          <a:xfrm>
            <a:off x="4754880" y="3364992"/>
            <a:ext cx="2011680" cy="320040"/>
          </a:xfrm>
          <a:prstGeom prst="rect">
            <a:avLst/>
          </a:prstGeom>
          <a:noFill/>
          <a:ln/>
        </p:spPr>
        <p:txBody>
          <a:bodyPr wrap="square" lIns="0" tIns="0" rIns="0" bIns="0" rtlCol="0" anchor="ctr"/>
          <a:lstStyle/>
          <a:p>
            <a:pPr marL="0" indent="0" algn="ctr">
              <a:buNone/>
            </a:pPr>
            <a:r>
              <a:rPr lang="en-US" sz="1200" b="1" dirty="0">
                <a:solidFill>
                  <a:srgbClr val="F97316"/>
                </a:solidFill>
                <a:latin typeface="Calibri" pitchFamily="34" charset="0"/>
                <a:ea typeface="Calibri" pitchFamily="34" charset="-122"/>
                <a:cs typeface="Calibri" pitchFamily="34" charset="-120"/>
              </a:rPr>
              <a:t>📦  Skills</a:t>
            </a:r>
            <a:endParaRPr lang="en-US" sz="1200" dirty="0"/>
          </a:p>
        </p:txBody>
      </p:sp>
      <p:sp>
        <p:nvSpPr>
          <p:cNvPr id="28" name="Text 25"/>
          <p:cNvSpPr/>
          <p:nvPr/>
        </p:nvSpPr>
        <p:spPr>
          <a:xfrm>
            <a:off x="4754880" y="3703320"/>
            <a:ext cx="2011680" cy="320040"/>
          </a:xfrm>
          <a:prstGeom prst="rect">
            <a:avLst/>
          </a:prstGeom>
          <a:noFill/>
          <a:ln/>
        </p:spPr>
        <p:txBody>
          <a:bodyPr wrap="square" lIns="0" tIns="0" rIns="0" bIns="0" rtlCol="0" anchor="ctr"/>
          <a:lstStyle/>
          <a:p>
            <a:pPr marL="0" indent="0" algn="ctr">
              <a:buNone/>
            </a:pPr>
            <a:r>
              <a:rPr lang="en-US" sz="950" i="1" dirty="0">
                <a:solidFill>
                  <a:srgbClr val="94A3B8"/>
                </a:solidFill>
                <a:latin typeface="Calibri" pitchFamily="34" charset="0"/>
                <a:ea typeface="Calibri" pitchFamily="34" charset="-122"/>
                <a:cs typeface="Calibri" pitchFamily="34" charset="-120"/>
              </a:rPr>
              <a:t>packaged flows</a:t>
            </a:r>
            <a:endParaRPr lang="en-US" sz="950" dirty="0"/>
          </a:p>
        </p:txBody>
      </p:sp>
      <p:sp>
        <p:nvSpPr>
          <p:cNvPr id="29" name="Shape 26"/>
          <p:cNvSpPr/>
          <p:nvPr/>
        </p:nvSpPr>
        <p:spPr>
          <a:xfrm>
            <a:off x="6949440" y="3291840"/>
            <a:ext cx="1828800" cy="822960"/>
          </a:xfrm>
          <a:prstGeom prst="roundRect">
            <a:avLst>
              <a:gd name="adj" fmla="val 6667"/>
            </a:avLst>
          </a:prstGeom>
          <a:solidFill>
            <a:srgbClr val="11203A"/>
          </a:solidFill>
          <a:ln w="25400">
            <a:solidFill>
              <a:srgbClr val="F97316"/>
            </a:solidFill>
            <a:prstDash val="solid"/>
          </a:ln>
          <a:effectLst>
            <a:outerShdw blurRad="101600" dist="25400" dir="8100000" algn="bl" rotWithShape="0">
              <a:srgbClr val="000000">
                <a:alpha val="25000"/>
              </a:srgbClr>
            </a:outerShdw>
          </a:effectLst>
        </p:spPr>
        <p:txBody>
          <a:bodyPr/>
          <a:lstStyle/>
          <a:p>
            <a:endParaRPr lang="en-GB"/>
          </a:p>
        </p:txBody>
      </p:sp>
      <p:sp>
        <p:nvSpPr>
          <p:cNvPr id="30" name="Text 27"/>
          <p:cNvSpPr/>
          <p:nvPr/>
        </p:nvSpPr>
        <p:spPr>
          <a:xfrm>
            <a:off x="6949440" y="3364992"/>
            <a:ext cx="1828800" cy="320040"/>
          </a:xfrm>
          <a:prstGeom prst="rect">
            <a:avLst/>
          </a:prstGeom>
          <a:noFill/>
          <a:ln/>
        </p:spPr>
        <p:txBody>
          <a:bodyPr wrap="square" lIns="0" tIns="0" rIns="0" bIns="0" rtlCol="0" anchor="ctr"/>
          <a:lstStyle/>
          <a:p>
            <a:pPr marL="0" indent="0" algn="ctr">
              <a:buNone/>
            </a:pPr>
            <a:r>
              <a:rPr lang="en-US" sz="1200" b="1" dirty="0">
                <a:solidFill>
                  <a:srgbClr val="F97316"/>
                </a:solidFill>
                <a:latin typeface="Calibri" pitchFamily="34" charset="0"/>
                <a:ea typeface="Calibri" pitchFamily="34" charset="-122"/>
                <a:cs typeface="Calibri" pitchFamily="34" charset="-120"/>
              </a:rPr>
              <a:t>🛡️  Guardrail</a:t>
            </a:r>
            <a:endParaRPr lang="en-US" sz="1200" dirty="0"/>
          </a:p>
        </p:txBody>
      </p:sp>
      <p:sp>
        <p:nvSpPr>
          <p:cNvPr id="31" name="Text 28"/>
          <p:cNvSpPr/>
          <p:nvPr/>
        </p:nvSpPr>
        <p:spPr>
          <a:xfrm>
            <a:off x="6949440" y="3703320"/>
            <a:ext cx="1828800" cy="320040"/>
          </a:xfrm>
          <a:prstGeom prst="rect">
            <a:avLst/>
          </a:prstGeom>
          <a:noFill/>
          <a:ln/>
        </p:spPr>
        <p:txBody>
          <a:bodyPr wrap="square" lIns="0" tIns="0" rIns="0" bIns="0" rtlCol="0" anchor="ctr"/>
          <a:lstStyle/>
          <a:p>
            <a:pPr marL="0" indent="0" algn="ctr">
              <a:buNone/>
            </a:pPr>
            <a:endParaRPr lang="en-US" sz="950" dirty="0"/>
          </a:p>
        </p:txBody>
      </p:sp>
      <p:sp>
        <p:nvSpPr>
          <p:cNvPr id="32" name="Shape 29"/>
          <p:cNvSpPr/>
          <p:nvPr/>
        </p:nvSpPr>
        <p:spPr>
          <a:xfrm>
            <a:off x="3727270" y="4434840"/>
            <a:ext cx="1828800" cy="365760"/>
          </a:xfrm>
          <a:prstGeom prst="roundRect">
            <a:avLst>
              <a:gd name="adj" fmla="val 10000"/>
            </a:avLst>
          </a:prstGeom>
          <a:solidFill>
            <a:srgbClr val="F97316"/>
          </a:solidFill>
          <a:ln w="12700">
            <a:solidFill>
              <a:srgbClr val="F97316"/>
            </a:solidFill>
            <a:prstDash val="solid"/>
          </a:ln>
        </p:spPr>
        <p:txBody>
          <a:bodyPr/>
          <a:lstStyle/>
          <a:p>
            <a:endParaRPr lang="en-GB"/>
          </a:p>
        </p:txBody>
      </p:sp>
      <p:sp>
        <p:nvSpPr>
          <p:cNvPr id="33" name="Text 30"/>
          <p:cNvSpPr/>
          <p:nvPr/>
        </p:nvSpPr>
        <p:spPr>
          <a:xfrm>
            <a:off x="3727270" y="4434840"/>
            <a:ext cx="1828800" cy="365760"/>
          </a:xfrm>
          <a:prstGeom prst="rect">
            <a:avLst/>
          </a:prstGeom>
          <a:noFill/>
          <a:ln/>
        </p:spPr>
        <p:txBody>
          <a:bodyPr wrap="square" lIns="0" tIns="0" rIns="0" bIns="0" rtlCol="0" anchor="ctr"/>
          <a:lstStyle/>
          <a:p>
            <a:pPr marL="0" indent="0" algn="ctr">
              <a:buNone/>
            </a:pPr>
            <a:r>
              <a:rPr lang="en-US" sz="1100" b="1" dirty="0">
                <a:solidFill>
                  <a:srgbClr val="0A1628"/>
                </a:solidFill>
                <a:latin typeface="Calibri" pitchFamily="34" charset="0"/>
                <a:ea typeface="Calibri" pitchFamily="34" charset="-122"/>
                <a:cs typeface="Calibri" pitchFamily="34" charset="-120"/>
              </a:rPr>
              <a:t>💬  Answer</a:t>
            </a:r>
            <a:endParaRPr lang="en-US" sz="1100" dirty="0"/>
          </a:p>
        </p:txBody>
      </p:sp>
      <p:sp>
        <p:nvSpPr>
          <p:cNvPr id="34" name="Shape 31"/>
          <p:cNvSpPr/>
          <p:nvPr/>
        </p:nvSpPr>
        <p:spPr>
          <a:xfrm>
            <a:off x="4572000" y="1783080"/>
            <a:ext cx="0" cy="365760"/>
          </a:xfrm>
          <a:prstGeom prst="line">
            <a:avLst/>
          </a:prstGeom>
          <a:noFill/>
          <a:ln w="19050">
            <a:solidFill>
              <a:srgbClr val="F97316"/>
            </a:solidFill>
            <a:prstDash val="solid"/>
            <a:tailEnd type="triangle"/>
          </a:ln>
        </p:spPr>
        <p:txBody>
          <a:bodyPr/>
          <a:lstStyle/>
          <a:p>
            <a:endParaRPr lang="en-GB"/>
          </a:p>
        </p:txBody>
      </p:sp>
      <p:sp>
        <p:nvSpPr>
          <p:cNvPr id="35" name="Shape 32"/>
          <p:cNvSpPr/>
          <p:nvPr/>
        </p:nvSpPr>
        <p:spPr>
          <a:xfrm flipH="1">
            <a:off x="2103120" y="2491740"/>
            <a:ext cx="1188720" cy="22860"/>
          </a:xfrm>
          <a:prstGeom prst="line">
            <a:avLst/>
          </a:prstGeom>
          <a:noFill/>
          <a:ln w="19050">
            <a:solidFill>
              <a:srgbClr val="3B82F6"/>
            </a:solidFill>
            <a:prstDash val="solid"/>
            <a:tailEnd type="triangle"/>
          </a:ln>
        </p:spPr>
        <p:txBody>
          <a:bodyPr/>
          <a:lstStyle/>
          <a:p>
            <a:endParaRPr lang="en-GB"/>
          </a:p>
        </p:txBody>
      </p:sp>
      <p:sp>
        <p:nvSpPr>
          <p:cNvPr id="36" name="Shape 33"/>
          <p:cNvSpPr/>
          <p:nvPr/>
        </p:nvSpPr>
        <p:spPr>
          <a:xfrm flipV="1">
            <a:off x="2103120" y="2628900"/>
            <a:ext cx="1188720" cy="22860"/>
          </a:xfrm>
          <a:prstGeom prst="line">
            <a:avLst/>
          </a:prstGeom>
          <a:noFill/>
          <a:ln w="19050">
            <a:solidFill>
              <a:srgbClr val="3B82F6"/>
            </a:solidFill>
            <a:prstDash val="solid"/>
            <a:tailEnd type="triangle"/>
          </a:ln>
        </p:spPr>
        <p:txBody>
          <a:bodyPr/>
          <a:lstStyle/>
          <a:p>
            <a:endParaRPr lang="en-GB"/>
          </a:p>
        </p:txBody>
      </p:sp>
      <p:sp>
        <p:nvSpPr>
          <p:cNvPr id="37" name="Shape 34"/>
          <p:cNvSpPr/>
          <p:nvPr/>
        </p:nvSpPr>
        <p:spPr>
          <a:xfrm>
            <a:off x="5852160" y="2491740"/>
            <a:ext cx="1188720" cy="22860"/>
          </a:xfrm>
          <a:prstGeom prst="line">
            <a:avLst/>
          </a:prstGeom>
          <a:noFill/>
          <a:ln w="19050">
            <a:solidFill>
              <a:srgbClr val="3B82F6"/>
            </a:solidFill>
            <a:prstDash val="solid"/>
            <a:tailEnd type="triangle"/>
          </a:ln>
        </p:spPr>
        <p:txBody>
          <a:bodyPr/>
          <a:lstStyle/>
          <a:p>
            <a:endParaRPr lang="en-GB"/>
          </a:p>
        </p:txBody>
      </p:sp>
      <p:sp>
        <p:nvSpPr>
          <p:cNvPr id="38" name="Shape 35"/>
          <p:cNvSpPr/>
          <p:nvPr/>
        </p:nvSpPr>
        <p:spPr>
          <a:xfrm flipH="1" flipV="1">
            <a:off x="5852160" y="2628900"/>
            <a:ext cx="1188720" cy="22860"/>
          </a:xfrm>
          <a:prstGeom prst="line">
            <a:avLst/>
          </a:prstGeom>
          <a:noFill/>
          <a:ln w="19050">
            <a:solidFill>
              <a:srgbClr val="3B82F6"/>
            </a:solidFill>
            <a:prstDash val="solid"/>
            <a:tailEnd type="triangle"/>
          </a:ln>
        </p:spPr>
        <p:txBody>
          <a:bodyPr/>
          <a:lstStyle/>
          <a:p>
            <a:endParaRPr lang="en-GB"/>
          </a:p>
        </p:txBody>
      </p:sp>
      <p:sp>
        <p:nvSpPr>
          <p:cNvPr id="39" name="Shape 36"/>
          <p:cNvSpPr/>
          <p:nvPr/>
        </p:nvSpPr>
        <p:spPr>
          <a:xfrm flipH="1">
            <a:off x="1371600" y="2926080"/>
            <a:ext cx="3200400" cy="365760"/>
          </a:xfrm>
          <a:prstGeom prst="line">
            <a:avLst/>
          </a:prstGeom>
          <a:noFill/>
          <a:ln w="19050">
            <a:solidFill>
              <a:srgbClr val="F97316"/>
            </a:solidFill>
            <a:prstDash val="solid"/>
            <a:tailEnd type="triangle"/>
          </a:ln>
        </p:spPr>
        <p:txBody>
          <a:bodyPr/>
          <a:lstStyle/>
          <a:p>
            <a:endParaRPr lang="en-GB"/>
          </a:p>
        </p:txBody>
      </p:sp>
      <p:sp>
        <p:nvSpPr>
          <p:cNvPr id="40" name="Shape 37"/>
          <p:cNvSpPr/>
          <p:nvPr/>
        </p:nvSpPr>
        <p:spPr>
          <a:xfrm flipH="1">
            <a:off x="3566160" y="2926080"/>
            <a:ext cx="1005840" cy="365760"/>
          </a:xfrm>
          <a:prstGeom prst="line">
            <a:avLst/>
          </a:prstGeom>
          <a:noFill/>
          <a:ln w="19050">
            <a:solidFill>
              <a:srgbClr val="F97316"/>
            </a:solidFill>
            <a:prstDash val="solid"/>
            <a:tailEnd type="triangle"/>
          </a:ln>
        </p:spPr>
        <p:txBody>
          <a:bodyPr/>
          <a:lstStyle/>
          <a:p>
            <a:endParaRPr lang="en-GB"/>
          </a:p>
        </p:txBody>
      </p:sp>
      <p:sp>
        <p:nvSpPr>
          <p:cNvPr id="41" name="Shape 38"/>
          <p:cNvSpPr/>
          <p:nvPr/>
        </p:nvSpPr>
        <p:spPr>
          <a:xfrm>
            <a:off x="4572000" y="2926080"/>
            <a:ext cx="1188720" cy="365760"/>
          </a:xfrm>
          <a:prstGeom prst="line">
            <a:avLst/>
          </a:prstGeom>
          <a:noFill/>
          <a:ln w="19050">
            <a:solidFill>
              <a:srgbClr val="F97316"/>
            </a:solidFill>
            <a:prstDash val="solid"/>
            <a:tailEnd type="triangle"/>
          </a:ln>
        </p:spPr>
        <p:txBody>
          <a:bodyPr/>
          <a:lstStyle/>
          <a:p>
            <a:endParaRPr lang="en-GB"/>
          </a:p>
        </p:txBody>
      </p:sp>
      <p:sp>
        <p:nvSpPr>
          <p:cNvPr id="42" name="Shape 39"/>
          <p:cNvSpPr/>
          <p:nvPr/>
        </p:nvSpPr>
        <p:spPr>
          <a:xfrm>
            <a:off x="4572000" y="2926080"/>
            <a:ext cx="3291840" cy="365760"/>
          </a:xfrm>
          <a:prstGeom prst="line">
            <a:avLst/>
          </a:prstGeom>
          <a:noFill/>
          <a:ln w="19050">
            <a:solidFill>
              <a:srgbClr val="F97316"/>
            </a:solidFill>
            <a:prstDash val="solid"/>
            <a:tailEnd type="triangle"/>
          </a:ln>
        </p:spPr>
        <p:txBody>
          <a:bodyPr/>
          <a:lstStyle/>
          <a:p>
            <a:endParaRPr lang="en-GB"/>
          </a:p>
        </p:txBody>
      </p:sp>
      <p:sp>
        <p:nvSpPr>
          <p:cNvPr id="43" name="Shape 40"/>
          <p:cNvSpPr/>
          <p:nvPr/>
        </p:nvSpPr>
        <p:spPr>
          <a:xfrm flipH="1">
            <a:off x="4641667" y="2898648"/>
            <a:ext cx="0" cy="1503535"/>
          </a:xfrm>
          <a:prstGeom prst="line">
            <a:avLst/>
          </a:prstGeom>
          <a:noFill/>
          <a:ln w="19050">
            <a:solidFill>
              <a:srgbClr val="F97316"/>
            </a:solidFill>
            <a:prstDash val="dash"/>
            <a:tailEnd type="triangle"/>
          </a:ln>
        </p:spPr>
        <p:txBody>
          <a:bodyPr/>
          <a:lstStyle/>
          <a:p>
            <a:endParaRPr lang="en-GB"/>
          </a:p>
        </p:txBody>
      </p:sp>
      <p:sp>
        <p:nvSpPr>
          <p:cNvPr id="44" name="Shape 41"/>
          <p:cNvSpPr/>
          <p:nvPr/>
        </p:nvSpPr>
        <p:spPr>
          <a:xfrm>
            <a:off x="457200" y="4892040"/>
            <a:ext cx="8229600" cy="0"/>
          </a:xfrm>
          <a:prstGeom prst="line">
            <a:avLst/>
          </a:prstGeom>
          <a:noFill/>
          <a:ln w="6350">
            <a:solidFill>
              <a:srgbClr val="1E3A5F"/>
            </a:solidFill>
            <a:prstDash val="solid"/>
          </a:ln>
        </p:spPr>
        <p:txBody>
          <a:bodyPr/>
          <a:lstStyle/>
          <a:p>
            <a:endParaRPr lang="en-GB"/>
          </a:p>
        </p:txBody>
      </p:sp>
      <p:sp>
        <p:nvSpPr>
          <p:cNvPr id="45" name="Text 42"/>
          <p:cNvSpPr/>
          <p:nvPr/>
        </p:nvSpPr>
        <p:spPr>
          <a:xfrm>
            <a:off x="457200" y="4937760"/>
            <a:ext cx="8229600" cy="201168"/>
          </a:xfrm>
          <a:prstGeom prst="rect">
            <a:avLst/>
          </a:prstGeom>
          <a:noFill/>
          <a:ln/>
        </p:spPr>
        <p:txBody>
          <a:bodyPr wrap="square" lIns="0" tIns="0" rIns="0" bIns="0" rtlCol="0" anchor="ctr"/>
          <a:lstStyle/>
          <a:p>
            <a:pPr marL="0" indent="0" algn="ctr">
              <a:buNone/>
            </a:pPr>
            <a:r>
              <a:rPr lang="en-US" sz="1000" b="1" dirty="0">
                <a:solidFill>
                  <a:srgbClr val="F97316"/>
                </a:solidFill>
                <a:latin typeface="Calibri" pitchFamily="34" charset="0"/>
                <a:ea typeface="Calibri" pitchFamily="34" charset="-122"/>
                <a:cs typeface="Calibri" pitchFamily="34" charset="-120"/>
              </a:rPr>
              <a:t>Loop: </a:t>
            </a:r>
            <a:r>
              <a:rPr lang="en-US" sz="1000" dirty="0">
                <a:solidFill>
                  <a:srgbClr val="F8FAFC"/>
                </a:solidFill>
                <a:latin typeface="Calibri" pitchFamily="34" charset="0"/>
                <a:ea typeface="Calibri" pitchFamily="34" charset="-122"/>
                <a:cs typeface="Calibri" pitchFamily="34" charset="-120"/>
              </a:rPr>
              <a:t>plan → route → act → observe → </a:t>
            </a:r>
            <a:r>
              <a:rPr lang="en-US" sz="1000" b="1" dirty="0">
                <a:solidFill>
                  <a:srgbClr val="3B82F6"/>
                </a:solidFill>
                <a:latin typeface="Calibri" pitchFamily="34" charset="0"/>
                <a:ea typeface="Calibri" pitchFamily="34" charset="-122"/>
                <a:cs typeface="Calibri" pitchFamily="34" charset="-120"/>
              </a:rPr>
              <a:t>update memory</a:t>
            </a:r>
            <a:r>
              <a:rPr lang="en-US" sz="1000" i="1" dirty="0">
                <a:solidFill>
                  <a:srgbClr val="94A3B8"/>
                </a:solidFill>
                <a:latin typeface="Calibri" pitchFamily="34" charset="0"/>
                <a:ea typeface="Calibri" pitchFamily="34" charset="-122"/>
                <a:cs typeface="Calibri" pitchFamily="34" charset="-120"/>
              </a:rPr>
              <a:t>   ·   until goal met</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20">
    <p:bg>
      <p:bgPr>
        <a:solidFill>
          <a:srgbClr val="0A1628"/>
        </a:solidFill>
        <a:effectLst/>
      </p:bgPr>
    </p:bg>
    <p:spTree>
      <p:nvGrpSpPr>
        <p:cNvPr id="1" name=""/>
        <p:cNvGrpSpPr/>
        <p:nvPr/>
      </p:nvGrpSpPr>
      <p:grpSpPr>
        <a:xfrm>
          <a:off x="0" y="0"/>
          <a:ext cx="0" cy="0"/>
          <a:chOff x="0" y="0"/>
          <a:chExt cx="0" cy="0"/>
        </a:xfrm>
      </p:grpSpPr>
      <p:sp>
        <p:nvSpPr>
          <p:cNvPr id="3" name="Shape 0"/>
          <p:cNvSpPr/>
          <p:nvPr/>
        </p:nvSpPr>
        <p:spPr>
          <a:xfrm>
            <a:off x="457200" y="411480"/>
            <a:ext cx="320040" cy="54864"/>
          </a:xfrm>
          <a:prstGeom prst="rect">
            <a:avLst/>
          </a:prstGeom>
          <a:solidFill>
            <a:srgbClr val="F97316"/>
          </a:solidFill>
          <a:ln w="12700">
            <a:solidFill>
              <a:srgbClr val="F97316"/>
            </a:solidFill>
            <a:prstDash val="solid"/>
          </a:ln>
        </p:spPr>
        <p:txBody>
          <a:bodyPr/>
          <a:lstStyle/>
          <a:p>
            <a:endParaRPr lang="en-GB"/>
          </a:p>
        </p:txBody>
      </p:sp>
      <p:sp>
        <p:nvSpPr>
          <p:cNvPr id="4" name="Text 1"/>
          <p:cNvSpPr/>
          <p:nvPr/>
        </p:nvSpPr>
        <p:spPr>
          <a:xfrm>
            <a:off x="868680" y="329184"/>
            <a:ext cx="5029200" cy="274320"/>
          </a:xfrm>
          <a:prstGeom prst="rect">
            <a:avLst/>
          </a:prstGeom>
          <a:noFill/>
          <a:ln/>
        </p:spPr>
        <p:txBody>
          <a:bodyPr wrap="square" lIns="0" tIns="0" rIns="0" bIns="0" rtlCol="0" anchor="ctr"/>
          <a:lstStyle/>
          <a:p>
            <a:pPr marL="0" indent="0">
              <a:buNone/>
            </a:pPr>
            <a:r>
              <a:rPr lang="en-US" sz="1000" b="1" kern="0" spc="400" dirty="0">
                <a:solidFill>
                  <a:srgbClr val="F97316"/>
                </a:solidFill>
                <a:latin typeface="Calibri" pitchFamily="34" charset="0"/>
                <a:ea typeface="Calibri" pitchFamily="34" charset="-122"/>
                <a:cs typeface="Calibri" pitchFamily="34" charset="-120"/>
              </a:rPr>
              <a:t>05 · PRODUCTION</a:t>
            </a:r>
            <a:endParaRPr lang="en-US" sz="1000" dirty="0"/>
          </a:p>
        </p:txBody>
      </p:sp>
      <p:sp>
        <p:nvSpPr>
          <p:cNvPr id="5" name="Text 2"/>
          <p:cNvSpPr/>
          <p:nvPr/>
        </p:nvSpPr>
        <p:spPr>
          <a:xfrm>
            <a:off x="457200" y="640080"/>
            <a:ext cx="8229600" cy="822960"/>
          </a:xfrm>
          <a:prstGeom prst="rect">
            <a:avLst/>
          </a:prstGeom>
          <a:noFill/>
          <a:ln/>
        </p:spPr>
        <p:txBody>
          <a:bodyPr wrap="square" lIns="0" tIns="0" rIns="0" bIns="0" rtlCol="0" anchor="ctr"/>
          <a:lstStyle/>
          <a:p>
            <a:pPr marL="0" indent="0">
              <a:buNone/>
            </a:pPr>
            <a:r>
              <a:rPr lang="en-US" sz="3200" b="1" dirty="0">
                <a:solidFill>
                  <a:srgbClr val="F8FAFC"/>
                </a:solidFill>
                <a:latin typeface="Calibri" pitchFamily="34" charset="0"/>
                <a:ea typeface="Calibri" pitchFamily="34" charset="-122"/>
                <a:cs typeface="Calibri" pitchFamily="34" charset="-120"/>
              </a:rPr>
              <a:t>Advanced agentic mechanisms</a:t>
            </a:r>
            <a:endParaRPr lang="en-US" sz="3200" dirty="0"/>
          </a:p>
        </p:txBody>
      </p:sp>
      <p:sp>
        <p:nvSpPr>
          <p:cNvPr id="6" name="Text 3"/>
          <p:cNvSpPr/>
          <p:nvPr/>
        </p:nvSpPr>
        <p:spPr>
          <a:xfrm>
            <a:off x="457200" y="4828032"/>
            <a:ext cx="4572000" cy="228600"/>
          </a:xfrm>
          <a:prstGeom prst="rect">
            <a:avLst/>
          </a:prstGeom>
          <a:noFill/>
          <a:ln/>
        </p:spPr>
        <p:txBody>
          <a:bodyPr wrap="square" lIns="0" tIns="0" rIns="0" bIns="0" rtlCol="0" anchor="ctr"/>
          <a:lstStyle/>
          <a:p>
            <a:pPr marL="0" indent="0">
              <a:buNone/>
            </a:pPr>
            <a:endParaRPr lang="en-US" sz="900" dirty="0"/>
          </a:p>
        </p:txBody>
      </p:sp>
      <p:sp>
        <p:nvSpPr>
          <p:cNvPr id="7" name="Shape 4"/>
          <p:cNvSpPr/>
          <p:nvPr/>
        </p:nvSpPr>
        <p:spPr>
          <a:xfrm>
            <a:off x="8275320" y="4818888"/>
            <a:ext cx="73152" cy="73152"/>
          </a:xfrm>
          <a:prstGeom prst="ellipse">
            <a:avLst/>
          </a:prstGeom>
          <a:solidFill>
            <a:srgbClr val="F97316"/>
          </a:solidFill>
          <a:ln w="12700">
            <a:solidFill>
              <a:srgbClr val="F97316"/>
            </a:solidFill>
            <a:prstDash val="solid"/>
          </a:ln>
        </p:spPr>
        <p:txBody>
          <a:bodyPr/>
          <a:lstStyle/>
          <a:p>
            <a:endParaRPr lang="en-GB"/>
          </a:p>
        </p:txBody>
      </p:sp>
      <p:sp>
        <p:nvSpPr>
          <p:cNvPr id="8" name="Text 5"/>
          <p:cNvSpPr/>
          <p:nvPr/>
        </p:nvSpPr>
        <p:spPr>
          <a:xfrm>
            <a:off x="8366760" y="4736592"/>
            <a:ext cx="685800" cy="228600"/>
          </a:xfrm>
          <a:prstGeom prst="rect">
            <a:avLst/>
          </a:prstGeom>
          <a:noFill/>
          <a:ln/>
        </p:spPr>
        <p:txBody>
          <a:bodyPr wrap="square" lIns="0" tIns="0" rIns="0" bIns="0" rtlCol="0" anchor="ctr"/>
          <a:lstStyle/>
          <a:p>
            <a:pPr marL="0" indent="0" algn="r">
              <a:buNone/>
            </a:pPr>
            <a:r>
              <a:rPr lang="en-US" sz="900" dirty="0">
                <a:solidFill>
                  <a:srgbClr val="94A3B8"/>
                </a:solidFill>
                <a:latin typeface="Calibri" pitchFamily="34" charset="0"/>
                <a:ea typeface="Calibri" pitchFamily="34" charset="-122"/>
                <a:cs typeface="Calibri" pitchFamily="34" charset="-120"/>
              </a:rPr>
              <a:t>18 / 21</a:t>
            </a:r>
            <a:endParaRPr lang="en-US" sz="900" dirty="0"/>
          </a:p>
        </p:txBody>
      </p:sp>
      <p:sp>
        <p:nvSpPr>
          <p:cNvPr id="9" name="Shape 6"/>
          <p:cNvSpPr/>
          <p:nvPr/>
        </p:nvSpPr>
        <p:spPr>
          <a:xfrm>
            <a:off x="329184" y="1554480"/>
            <a:ext cx="4160520" cy="1417320"/>
          </a:xfrm>
          <a:prstGeom prst="roundRect">
            <a:avLst>
              <a:gd name="adj" fmla="val 5161"/>
            </a:avLst>
          </a:prstGeom>
          <a:solidFill>
            <a:srgbClr val="11203A"/>
          </a:solidFill>
          <a:ln w="25400">
            <a:solidFill>
              <a:srgbClr val="F97316"/>
            </a:solidFill>
            <a:prstDash val="solid"/>
          </a:ln>
          <a:effectLst>
            <a:outerShdw blurRad="101600" dist="25400" dir="8100000" algn="bl" rotWithShape="0">
              <a:srgbClr val="000000">
                <a:alpha val="25000"/>
              </a:srgbClr>
            </a:outerShdw>
          </a:effectLst>
        </p:spPr>
        <p:txBody>
          <a:bodyPr/>
          <a:lstStyle/>
          <a:p>
            <a:endParaRPr lang="en-GB"/>
          </a:p>
        </p:txBody>
      </p:sp>
      <p:sp>
        <p:nvSpPr>
          <p:cNvPr id="10" name="Shape 7"/>
          <p:cNvSpPr/>
          <p:nvPr/>
        </p:nvSpPr>
        <p:spPr>
          <a:xfrm>
            <a:off x="329184" y="1554480"/>
            <a:ext cx="54864" cy="1417320"/>
          </a:xfrm>
          <a:prstGeom prst="rect">
            <a:avLst/>
          </a:prstGeom>
          <a:solidFill>
            <a:srgbClr val="F97316"/>
          </a:solidFill>
          <a:ln w="12700">
            <a:solidFill>
              <a:srgbClr val="F97316"/>
            </a:solidFill>
            <a:prstDash val="solid"/>
          </a:ln>
        </p:spPr>
        <p:txBody>
          <a:bodyPr/>
          <a:lstStyle/>
          <a:p>
            <a:endParaRPr lang="en-GB"/>
          </a:p>
        </p:txBody>
      </p:sp>
      <p:sp>
        <p:nvSpPr>
          <p:cNvPr id="11" name="Shape 8"/>
          <p:cNvSpPr/>
          <p:nvPr/>
        </p:nvSpPr>
        <p:spPr>
          <a:xfrm>
            <a:off x="466344" y="1691640"/>
            <a:ext cx="411480" cy="411480"/>
          </a:xfrm>
          <a:prstGeom prst="ellipse">
            <a:avLst/>
          </a:prstGeom>
          <a:solidFill>
            <a:srgbClr val="F97316"/>
          </a:solidFill>
          <a:ln w="12700">
            <a:solidFill>
              <a:srgbClr val="F97316"/>
            </a:solidFill>
            <a:prstDash val="solid"/>
          </a:ln>
        </p:spPr>
        <p:txBody>
          <a:bodyPr/>
          <a:lstStyle/>
          <a:p>
            <a:endParaRPr lang="en-GB"/>
          </a:p>
        </p:txBody>
      </p:sp>
      <p:sp>
        <p:nvSpPr>
          <p:cNvPr id="12" name="Text 9"/>
          <p:cNvSpPr/>
          <p:nvPr/>
        </p:nvSpPr>
        <p:spPr>
          <a:xfrm>
            <a:off x="466344" y="1691640"/>
            <a:ext cx="411480" cy="411480"/>
          </a:xfrm>
          <a:prstGeom prst="rect">
            <a:avLst/>
          </a:prstGeom>
          <a:noFill/>
          <a:ln/>
        </p:spPr>
        <p:txBody>
          <a:bodyPr wrap="square" lIns="0" tIns="0" rIns="0" bIns="0" rtlCol="0" anchor="ctr"/>
          <a:lstStyle/>
          <a:p>
            <a:pPr marL="0" indent="0" algn="ctr">
              <a:buNone/>
            </a:pPr>
            <a:r>
              <a:rPr lang="en-US" sz="1400" b="1" dirty="0">
                <a:solidFill>
                  <a:srgbClr val="F8FAFC"/>
                </a:solidFill>
                <a:latin typeface="Calibri" pitchFamily="34" charset="0"/>
                <a:ea typeface="Calibri" pitchFamily="34" charset="-122"/>
                <a:cs typeface="Calibri" pitchFamily="34" charset="-120"/>
              </a:rPr>
              <a:t>🛡️</a:t>
            </a:r>
            <a:endParaRPr lang="en-US" sz="1400" dirty="0"/>
          </a:p>
        </p:txBody>
      </p:sp>
      <p:sp>
        <p:nvSpPr>
          <p:cNvPr id="13" name="Text 10"/>
          <p:cNvSpPr/>
          <p:nvPr/>
        </p:nvSpPr>
        <p:spPr>
          <a:xfrm>
            <a:off x="969264" y="1719072"/>
            <a:ext cx="3337560" cy="320040"/>
          </a:xfrm>
          <a:prstGeom prst="rect">
            <a:avLst/>
          </a:prstGeom>
          <a:noFill/>
          <a:ln/>
        </p:spPr>
        <p:txBody>
          <a:bodyPr wrap="square" lIns="0" tIns="0" rIns="0" bIns="0" rtlCol="0" anchor="ctr"/>
          <a:lstStyle/>
          <a:p>
            <a:pPr marL="0" indent="0">
              <a:buNone/>
            </a:pPr>
            <a:r>
              <a:rPr lang="en-US" sz="1300" b="1" dirty="0">
                <a:solidFill>
                  <a:srgbClr val="F8FAFC"/>
                </a:solidFill>
                <a:latin typeface="Calibri" pitchFamily="34" charset="0"/>
                <a:ea typeface="Calibri" pitchFamily="34" charset="-122"/>
                <a:cs typeface="Calibri" pitchFamily="34" charset="-120"/>
              </a:rPr>
              <a:t>Human-in-the-loop</a:t>
            </a:r>
            <a:endParaRPr lang="en-US" sz="1300" dirty="0"/>
          </a:p>
        </p:txBody>
      </p:sp>
      <p:sp>
        <p:nvSpPr>
          <p:cNvPr id="14" name="Text 11"/>
          <p:cNvSpPr/>
          <p:nvPr/>
        </p:nvSpPr>
        <p:spPr>
          <a:xfrm>
            <a:off x="969264" y="1929384"/>
            <a:ext cx="3337560" cy="274320"/>
          </a:xfrm>
          <a:prstGeom prst="rect">
            <a:avLst/>
          </a:prstGeom>
          <a:noFill/>
          <a:ln/>
        </p:spPr>
        <p:txBody>
          <a:bodyPr wrap="square" lIns="0" tIns="0" rIns="0" bIns="0" rtlCol="0" anchor="ctr"/>
          <a:lstStyle/>
          <a:p>
            <a:pPr marL="0" indent="0">
              <a:buNone/>
            </a:pPr>
            <a:r>
              <a:rPr lang="en-US" sz="950" i="1" dirty="0">
                <a:solidFill>
                  <a:srgbClr val="F97316"/>
                </a:solidFill>
                <a:latin typeface="Calibri" pitchFamily="34" charset="0"/>
                <a:ea typeface="Calibri" pitchFamily="34" charset="-122"/>
                <a:cs typeface="Calibri" pitchFamily="34" charset="-120"/>
              </a:rPr>
              <a:t>Dangerous tools → ask the user first</a:t>
            </a:r>
            <a:endParaRPr lang="en-US" sz="950" dirty="0"/>
          </a:p>
        </p:txBody>
      </p:sp>
      <p:sp>
        <p:nvSpPr>
          <p:cNvPr id="15" name="Shape 12"/>
          <p:cNvSpPr/>
          <p:nvPr/>
        </p:nvSpPr>
        <p:spPr>
          <a:xfrm>
            <a:off x="512064" y="2423160"/>
            <a:ext cx="640080" cy="365760"/>
          </a:xfrm>
          <a:prstGeom prst="roundRect">
            <a:avLst>
              <a:gd name="adj" fmla="val 10000"/>
            </a:avLst>
          </a:prstGeom>
          <a:solidFill>
            <a:srgbClr val="0A1628"/>
          </a:solidFill>
          <a:ln w="15240">
            <a:solidFill>
              <a:srgbClr val="3B82F6"/>
            </a:solidFill>
            <a:prstDash val="solid"/>
          </a:ln>
        </p:spPr>
        <p:txBody>
          <a:bodyPr/>
          <a:lstStyle/>
          <a:p>
            <a:endParaRPr lang="en-GB"/>
          </a:p>
        </p:txBody>
      </p:sp>
      <p:sp>
        <p:nvSpPr>
          <p:cNvPr id="16" name="Text 13"/>
          <p:cNvSpPr/>
          <p:nvPr/>
        </p:nvSpPr>
        <p:spPr>
          <a:xfrm>
            <a:off x="512064" y="2423160"/>
            <a:ext cx="640080" cy="365760"/>
          </a:xfrm>
          <a:prstGeom prst="rect">
            <a:avLst/>
          </a:prstGeom>
          <a:noFill/>
          <a:ln/>
        </p:spPr>
        <p:txBody>
          <a:bodyPr wrap="square" lIns="0" tIns="0" rIns="0" bIns="0" rtlCol="0" anchor="ctr"/>
          <a:lstStyle/>
          <a:p>
            <a:pPr marL="0" indent="0" algn="ctr">
              <a:buNone/>
            </a:pPr>
            <a:r>
              <a:rPr lang="en-US" sz="900" b="1" dirty="0">
                <a:solidFill>
                  <a:srgbClr val="F8FAFC"/>
                </a:solidFill>
                <a:latin typeface="Calibri" pitchFamily="34" charset="0"/>
                <a:ea typeface="Calibri" pitchFamily="34" charset="-122"/>
                <a:cs typeface="Calibri" pitchFamily="34" charset="-120"/>
              </a:rPr>
              <a:t>Agent</a:t>
            </a:r>
            <a:endParaRPr lang="en-US" sz="900" dirty="0"/>
          </a:p>
        </p:txBody>
      </p:sp>
      <p:sp>
        <p:nvSpPr>
          <p:cNvPr id="17" name="Shape 14"/>
          <p:cNvSpPr/>
          <p:nvPr/>
        </p:nvSpPr>
        <p:spPr>
          <a:xfrm>
            <a:off x="1289304" y="2423160"/>
            <a:ext cx="868680" cy="365760"/>
          </a:xfrm>
          <a:prstGeom prst="roundRect">
            <a:avLst>
              <a:gd name="adj" fmla="val 10000"/>
            </a:avLst>
          </a:prstGeom>
          <a:solidFill>
            <a:srgbClr val="0A1628"/>
          </a:solidFill>
          <a:ln w="15240">
            <a:solidFill>
              <a:srgbClr val="F97316"/>
            </a:solidFill>
            <a:prstDash val="solid"/>
          </a:ln>
        </p:spPr>
        <p:txBody>
          <a:bodyPr/>
          <a:lstStyle/>
          <a:p>
            <a:endParaRPr lang="en-GB"/>
          </a:p>
        </p:txBody>
      </p:sp>
      <p:sp>
        <p:nvSpPr>
          <p:cNvPr id="18" name="Text 15"/>
          <p:cNvSpPr/>
          <p:nvPr/>
        </p:nvSpPr>
        <p:spPr>
          <a:xfrm>
            <a:off x="1289304" y="2423160"/>
            <a:ext cx="868680" cy="365760"/>
          </a:xfrm>
          <a:prstGeom prst="rect">
            <a:avLst/>
          </a:prstGeom>
          <a:noFill/>
          <a:ln/>
        </p:spPr>
        <p:txBody>
          <a:bodyPr wrap="square" lIns="0" tIns="0" rIns="0" bIns="0" rtlCol="0" anchor="ctr"/>
          <a:lstStyle/>
          <a:p>
            <a:pPr marL="0" indent="0" algn="ctr">
              <a:buNone/>
            </a:pPr>
            <a:r>
              <a:rPr lang="en-US" sz="900" b="1" dirty="0">
                <a:solidFill>
                  <a:srgbClr val="F8FAFC"/>
                </a:solidFill>
                <a:latin typeface="Calibri" pitchFamily="34" charset="0"/>
                <a:ea typeface="Calibri" pitchFamily="34" charset="-122"/>
                <a:cs typeface="Calibri" pitchFamily="34" charset="-120"/>
              </a:rPr>
              <a:t>Dangerous?</a:t>
            </a:r>
            <a:endParaRPr lang="en-US" sz="900" dirty="0"/>
          </a:p>
        </p:txBody>
      </p:sp>
      <p:sp>
        <p:nvSpPr>
          <p:cNvPr id="19" name="Shape 16"/>
          <p:cNvSpPr/>
          <p:nvPr/>
        </p:nvSpPr>
        <p:spPr>
          <a:xfrm>
            <a:off x="2295144" y="2194560"/>
            <a:ext cx="548640" cy="320040"/>
          </a:xfrm>
          <a:prstGeom prst="roundRect">
            <a:avLst>
              <a:gd name="adj" fmla="val 11429"/>
            </a:avLst>
          </a:prstGeom>
          <a:solidFill>
            <a:srgbClr val="0A1628"/>
          </a:solidFill>
          <a:ln w="15240">
            <a:solidFill>
              <a:srgbClr val="3B82F6"/>
            </a:solidFill>
            <a:prstDash val="solid"/>
          </a:ln>
        </p:spPr>
        <p:txBody>
          <a:bodyPr/>
          <a:lstStyle/>
          <a:p>
            <a:endParaRPr lang="en-GB"/>
          </a:p>
        </p:txBody>
      </p:sp>
      <p:sp>
        <p:nvSpPr>
          <p:cNvPr id="20" name="Text 17"/>
          <p:cNvSpPr/>
          <p:nvPr/>
        </p:nvSpPr>
        <p:spPr>
          <a:xfrm>
            <a:off x="2295144" y="2194560"/>
            <a:ext cx="548640" cy="320040"/>
          </a:xfrm>
          <a:prstGeom prst="rect">
            <a:avLst/>
          </a:prstGeom>
          <a:noFill/>
          <a:ln/>
        </p:spPr>
        <p:txBody>
          <a:bodyPr wrap="square" lIns="0" tIns="0" rIns="0" bIns="0" rtlCol="0" anchor="ctr"/>
          <a:lstStyle/>
          <a:p>
            <a:pPr marL="0" indent="0" algn="ctr">
              <a:buNone/>
            </a:pPr>
            <a:r>
              <a:rPr lang="en-US" sz="900" b="1" dirty="0">
                <a:solidFill>
                  <a:srgbClr val="F8FAFC"/>
                </a:solidFill>
                <a:latin typeface="Calibri" pitchFamily="34" charset="0"/>
                <a:ea typeface="Calibri" pitchFamily="34" charset="-122"/>
                <a:cs typeface="Calibri" pitchFamily="34" charset="-120"/>
              </a:rPr>
              <a:t>✅ run</a:t>
            </a:r>
            <a:endParaRPr lang="en-US" sz="900" dirty="0"/>
          </a:p>
        </p:txBody>
      </p:sp>
      <p:sp>
        <p:nvSpPr>
          <p:cNvPr id="21" name="Shape 18"/>
          <p:cNvSpPr/>
          <p:nvPr/>
        </p:nvSpPr>
        <p:spPr>
          <a:xfrm>
            <a:off x="2295144" y="2606040"/>
            <a:ext cx="548640" cy="320040"/>
          </a:xfrm>
          <a:prstGeom prst="roundRect">
            <a:avLst>
              <a:gd name="adj" fmla="val 11429"/>
            </a:avLst>
          </a:prstGeom>
          <a:solidFill>
            <a:srgbClr val="0A1628"/>
          </a:solidFill>
          <a:ln w="15240">
            <a:solidFill>
              <a:srgbClr val="F97316"/>
            </a:solidFill>
            <a:prstDash val="solid"/>
          </a:ln>
        </p:spPr>
        <p:txBody>
          <a:bodyPr/>
          <a:lstStyle/>
          <a:p>
            <a:endParaRPr lang="en-GB"/>
          </a:p>
        </p:txBody>
      </p:sp>
      <p:sp>
        <p:nvSpPr>
          <p:cNvPr id="22" name="Text 19"/>
          <p:cNvSpPr/>
          <p:nvPr/>
        </p:nvSpPr>
        <p:spPr>
          <a:xfrm>
            <a:off x="2295144" y="2606040"/>
            <a:ext cx="548640" cy="320040"/>
          </a:xfrm>
          <a:prstGeom prst="rect">
            <a:avLst/>
          </a:prstGeom>
          <a:noFill/>
          <a:ln/>
        </p:spPr>
        <p:txBody>
          <a:bodyPr wrap="square" lIns="0" tIns="0" rIns="0" bIns="0" rtlCol="0" anchor="ctr"/>
          <a:lstStyle/>
          <a:p>
            <a:pPr marL="0" indent="0" algn="ctr">
              <a:buNone/>
            </a:pPr>
            <a:r>
              <a:rPr lang="en-US" sz="900" b="1" dirty="0">
                <a:solidFill>
                  <a:srgbClr val="F8FAFC"/>
                </a:solidFill>
                <a:latin typeface="Calibri" pitchFamily="34" charset="0"/>
                <a:ea typeface="Calibri" pitchFamily="34" charset="-122"/>
                <a:cs typeface="Calibri" pitchFamily="34" charset="-120"/>
              </a:rPr>
              <a:t>👤 ask</a:t>
            </a:r>
            <a:endParaRPr lang="en-US" sz="900" dirty="0"/>
          </a:p>
        </p:txBody>
      </p:sp>
      <p:sp>
        <p:nvSpPr>
          <p:cNvPr id="23" name="Shape 20"/>
          <p:cNvSpPr/>
          <p:nvPr/>
        </p:nvSpPr>
        <p:spPr>
          <a:xfrm>
            <a:off x="2980944" y="2423160"/>
            <a:ext cx="548640" cy="365760"/>
          </a:xfrm>
          <a:prstGeom prst="roundRect">
            <a:avLst>
              <a:gd name="adj" fmla="val 10000"/>
            </a:avLst>
          </a:prstGeom>
          <a:solidFill>
            <a:srgbClr val="0A1628"/>
          </a:solidFill>
          <a:ln w="15240">
            <a:solidFill>
              <a:srgbClr val="3B82F6"/>
            </a:solidFill>
            <a:prstDash val="solid"/>
          </a:ln>
        </p:spPr>
        <p:txBody>
          <a:bodyPr/>
          <a:lstStyle/>
          <a:p>
            <a:endParaRPr lang="en-GB"/>
          </a:p>
        </p:txBody>
      </p:sp>
      <p:sp>
        <p:nvSpPr>
          <p:cNvPr id="24" name="Text 21"/>
          <p:cNvSpPr/>
          <p:nvPr/>
        </p:nvSpPr>
        <p:spPr>
          <a:xfrm>
            <a:off x="2980944" y="2423160"/>
            <a:ext cx="548640" cy="365760"/>
          </a:xfrm>
          <a:prstGeom prst="rect">
            <a:avLst/>
          </a:prstGeom>
          <a:noFill/>
          <a:ln/>
        </p:spPr>
        <p:txBody>
          <a:bodyPr wrap="square" lIns="0" tIns="0" rIns="0" bIns="0" rtlCol="0" anchor="ctr"/>
          <a:lstStyle/>
          <a:p>
            <a:pPr marL="0" indent="0" algn="ctr">
              <a:buNone/>
            </a:pPr>
            <a:r>
              <a:rPr lang="en-US" sz="900" b="1" dirty="0">
                <a:solidFill>
                  <a:srgbClr val="F8FAFC"/>
                </a:solidFill>
                <a:latin typeface="Calibri" pitchFamily="34" charset="0"/>
                <a:ea typeface="Calibri" pitchFamily="34" charset="-122"/>
                <a:cs typeface="Calibri" pitchFamily="34" charset="-120"/>
              </a:rPr>
              <a:t>Tool</a:t>
            </a:r>
            <a:endParaRPr lang="en-US" sz="900" dirty="0"/>
          </a:p>
        </p:txBody>
      </p:sp>
      <p:sp>
        <p:nvSpPr>
          <p:cNvPr id="25" name="Shape 22"/>
          <p:cNvSpPr/>
          <p:nvPr/>
        </p:nvSpPr>
        <p:spPr>
          <a:xfrm>
            <a:off x="1152144" y="2606040"/>
            <a:ext cx="137160" cy="0"/>
          </a:xfrm>
          <a:prstGeom prst="line">
            <a:avLst/>
          </a:prstGeom>
          <a:noFill/>
          <a:ln w="19050">
            <a:solidFill>
              <a:srgbClr val="3B82F6"/>
            </a:solidFill>
            <a:prstDash val="solid"/>
            <a:tailEnd type="triangle"/>
          </a:ln>
        </p:spPr>
        <p:txBody>
          <a:bodyPr/>
          <a:lstStyle/>
          <a:p>
            <a:endParaRPr lang="en-GB"/>
          </a:p>
        </p:txBody>
      </p:sp>
      <p:sp>
        <p:nvSpPr>
          <p:cNvPr id="26" name="Shape 23"/>
          <p:cNvSpPr/>
          <p:nvPr/>
        </p:nvSpPr>
        <p:spPr>
          <a:xfrm flipV="1">
            <a:off x="2157984" y="2350008"/>
            <a:ext cx="137160" cy="210312"/>
          </a:xfrm>
          <a:prstGeom prst="line">
            <a:avLst/>
          </a:prstGeom>
          <a:noFill/>
          <a:ln w="19050">
            <a:solidFill>
              <a:srgbClr val="3B82F6"/>
            </a:solidFill>
            <a:prstDash val="solid"/>
            <a:tailEnd type="triangle"/>
          </a:ln>
        </p:spPr>
        <p:txBody>
          <a:bodyPr/>
          <a:lstStyle/>
          <a:p>
            <a:endParaRPr lang="en-GB"/>
          </a:p>
        </p:txBody>
      </p:sp>
      <p:sp>
        <p:nvSpPr>
          <p:cNvPr id="27" name="Shape 24"/>
          <p:cNvSpPr/>
          <p:nvPr/>
        </p:nvSpPr>
        <p:spPr>
          <a:xfrm>
            <a:off x="2157984" y="2651760"/>
            <a:ext cx="137160" cy="109728"/>
          </a:xfrm>
          <a:prstGeom prst="line">
            <a:avLst/>
          </a:prstGeom>
          <a:noFill/>
          <a:ln w="19050">
            <a:solidFill>
              <a:srgbClr val="F97316"/>
            </a:solidFill>
            <a:prstDash val="solid"/>
            <a:tailEnd type="triangle"/>
          </a:ln>
        </p:spPr>
        <p:txBody>
          <a:bodyPr/>
          <a:lstStyle/>
          <a:p>
            <a:endParaRPr lang="en-GB"/>
          </a:p>
        </p:txBody>
      </p:sp>
      <p:sp>
        <p:nvSpPr>
          <p:cNvPr id="28" name="Shape 25"/>
          <p:cNvSpPr/>
          <p:nvPr/>
        </p:nvSpPr>
        <p:spPr>
          <a:xfrm>
            <a:off x="2843784" y="2350008"/>
            <a:ext cx="137160" cy="210312"/>
          </a:xfrm>
          <a:prstGeom prst="line">
            <a:avLst/>
          </a:prstGeom>
          <a:noFill/>
          <a:ln w="19050">
            <a:solidFill>
              <a:srgbClr val="3B82F6"/>
            </a:solidFill>
            <a:prstDash val="solid"/>
            <a:tailEnd type="triangle"/>
          </a:ln>
        </p:spPr>
        <p:txBody>
          <a:bodyPr/>
          <a:lstStyle/>
          <a:p>
            <a:endParaRPr lang="en-GB"/>
          </a:p>
        </p:txBody>
      </p:sp>
      <p:sp>
        <p:nvSpPr>
          <p:cNvPr id="29" name="Shape 26"/>
          <p:cNvSpPr/>
          <p:nvPr/>
        </p:nvSpPr>
        <p:spPr>
          <a:xfrm flipV="1">
            <a:off x="2843784" y="2651760"/>
            <a:ext cx="137160" cy="109728"/>
          </a:xfrm>
          <a:prstGeom prst="line">
            <a:avLst/>
          </a:prstGeom>
          <a:noFill/>
          <a:ln w="19050">
            <a:solidFill>
              <a:srgbClr val="F97316"/>
            </a:solidFill>
            <a:prstDash val="solid"/>
            <a:tailEnd type="triangle"/>
          </a:ln>
        </p:spPr>
        <p:txBody>
          <a:bodyPr/>
          <a:lstStyle/>
          <a:p>
            <a:endParaRPr lang="en-GB"/>
          </a:p>
        </p:txBody>
      </p:sp>
      <p:sp>
        <p:nvSpPr>
          <p:cNvPr id="30" name="Text 27"/>
          <p:cNvSpPr/>
          <p:nvPr/>
        </p:nvSpPr>
        <p:spPr>
          <a:xfrm>
            <a:off x="3575304" y="2468880"/>
            <a:ext cx="914400" cy="137160"/>
          </a:xfrm>
          <a:prstGeom prst="rect">
            <a:avLst/>
          </a:prstGeom>
          <a:noFill/>
          <a:ln/>
        </p:spPr>
        <p:txBody>
          <a:bodyPr wrap="square" lIns="0" tIns="0" rIns="0" bIns="0" rtlCol="0" anchor="ctr"/>
          <a:lstStyle/>
          <a:p>
            <a:pPr marL="0" indent="0">
              <a:buNone/>
            </a:pPr>
            <a:r>
              <a:rPr lang="en-US" sz="700" dirty="0">
                <a:solidFill>
                  <a:srgbClr val="94A3B8"/>
                </a:solidFill>
                <a:latin typeface="Calibri" pitchFamily="34" charset="0"/>
                <a:ea typeface="Calibri" pitchFamily="34" charset="-122"/>
                <a:cs typeface="Calibri" pitchFamily="34" charset="-120"/>
              </a:rPr>
              <a:t>Destructive · paid · public →</a:t>
            </a:r>
            <a:endParaRPr lang="en-US" sz="700" dirty="0"/>
          </a:p>
        </p:txBody>
      </p:sp>
      <p:sp>
        <p:nvSpPr>
          <p:cNvPr id="31" name="Text 28"/>
          <p:cNvSpPr/>
          <p:nvPr/>
        </p:nvSpPr>
        <p:spPr>
          <a:xfrm>
            <a:off x="3575304" y="2606040"/>
            <a:ext cx="914400" cy="137160"/>
          </a:xfrm>
          <a:prstGeom prst="rect">
            <a:avLst/>
          </a:prstGeom>
          <a:noFill/>
          <a:ln/>
        </p:spPr>
        <p:txBody>
          <a:bodyPr wrap="square" lIns="0" tIns="0" rIns="0" bIns="0" rtlCol="0" anchor="ctr"/>
          <a:lstStyle/>
          <a:p>
            <a:pPr marL="0" indent="0">
              <a:buNone/>
            </a:pPr>
            <a:r>
              <a:rPr lang="en-US" sz="700" b="1" dirty="0">
                <a:solidFill>
                  <a:srgbClr val="F97316"/>
                </a:solidFill>
                <a:latin typeface="Calibri" pitchFamily="34" charset="0"/>
                <a:ea typeface="Calibri" pitchFamily="34" charset="-122"/>
                <a:cs typeface="Calibri" pitchFamily="34" charset="-120"/>
              </a:rPr>
              <a:t>require approval</a:t>
            </a:r>
            <a:endParaRPr lang="en-US" sz="700" dirty="0"/>
          </a:p>
        </p:txBody>
      </p:sp>
      <p:sp>
        <p:nvSpPr>
          <p:cNvPr id="32" name="Shape 29"/>
          <p:cNvSpPr/>
          <p:nvPr/>
        </p:nvSpPr>
        <p:spPr>
          <a:xfrm>
            <a:off x="4654296" y="1554480"/>
            <a:ext cx="4160520" cy="1417320"/>
          </a:xfrm>
          <a:prstGeom prst="roundRect">
            <a:avLst>
              <a:gd name="adj" fmla="val 5161"/>
            </a:avLst>
          </a:prstGeom>
          <a:solidFill>
            <a:srgbClr val="11203A"/>
          </a:solidFill>
          <a:ln w="25400">
            <a:solidFill>
              <a:srgbClr val="F97316"/>
            </a:solidFill>
            <a:prstDash val="solid"/>
          </a:ln>
          <a:effectLst>
            <a:outerShdw blurRad="101600" dist="25400" dir="8100000" algn="bl" rotWithShape="0">
              <a:srgbClr val="000000">
                <a:alpha val="25000"/>
              </a:srgbClr>
            </a:outerShdw>
          </a:effectLst>
        </p:spPr>
        <p:txBody>
          <a:bodyPr/>
          <a:lstStyle/>
          <a:p>
            <a:endParaRPr lang="en-GB"/>
          </a:p>
        </p:txBody>
      </p:sp>
      <p:sp>
        <p:nvSpPr>
          <p:cNvPr id="33" name="Shape 30"/>
          <p:cNvSpPr/>
          <p:nvPr/>
        </p:nvSpPr>
        <p:spPr>
          <a:xfrm>
            <a:off x="4654296" y="1554480"/>
            <a:ext cx="54864" cy="1417320"/>
          </a:xfrm>
          <a:prstGeom prst="rect">
            <a:avLst/>
          </a:prstGeom>
          <a:solidFill>
            <a:srgbClr val="F97316"/>
          </a:solidFill>
          <a:ln w="12700">
            <a:solidFill>
              <a:srgbClr val="F97316"/>
            </a:solidFill>
            <a:prstDash val="solid"/>
          </a:ln>
        </p:spPr>
        <p:txBody>
          <a:bodyPr/>
          <a:lstStyle/>
          <a:p>
            <a:endParaRPr lang="en-GB"/>
          </a:p>
        </p:txBody>
      </p:sp>
      <p:sp>
        <p:nvSpPr>
          <p:cNvPr id="34" name="Shape 31"/>
          <p:cNvSpPr/>
          <p:nvPr/>
        </p:nvSpPr>
        <p:spPr>
          <a:xfrm>
            <a:off x="4791456" y="1691640"/>
            <a:ext cx="411480" cy="411480"/>
          </a:xfrm>
          <a:prstGeom prst="ellipse">
            <a:avLst/>
          </a:prstGeom>
          <a:solidFill>
            <a:srgbClr val="F97316"/>
          </a:solidFill>
          <a:ln w="12700">
            <a:solidFill>
              <a:srgbClr val="F97316"/>
            </a:solidFill>
            <a:prstDash val="solid"/>
          </a:ln>
        </p:spPr>
        <p:txBody>
          <a:bodyPr/>
          <a:lstStyle/>
          <a:p>
            <a:endParaRPr lang="en-GB"/>
          </a:p>
        </p:txBody>
      </p:sp>
      <p:sp>
        <p:nvSpPr>
          <p:cNvPr id="35" name="Text 32"/>
          <p:cNvSpPr/>
          <p:nvPr/>
        </p:nvSpPr>
        <p:spPr>
          <a:xfrm>
            <a:off x="4791456" y="1691640"/>
            <a:ext cx="411480" cy="411480"/>
          </a:xfrm>
          <a:prstGeom prst="rect">
            <a:avLst/>
          </a:prstGeom>
          <a:noFill/>
          <a:ln/>
        </p:spPr>
        <p:txBody>
          <a:bodyPr wrap="square" lIns="0" tIns="0" rIns="0" bIns="0" rtlCol="0" anchor="ctr"/>
          <a:lstStyle/>
          <a:p>
            <a:pPr marL="0" indent="0" algn="ctr">
              <a:buNone/>
            </a:pPr>
            <a:r>
              <a:rPr lang="en-US" sz="1400" b="1" dirty="0">
                <a:solidFill>
                  <a:srgbClr val="F8FAFC"/>
                </a:solidFill>
                <a:latin typeface="Calibri" pitchFamily="34" charset="0"/>
                <a:ea typeface="Calibri" pitchFamily="34" charset="-122"/>
                <a:cs typeface="Calibri" pitchFamily="34" charset="-120"/>
              </a:rPr>
              <a:t>✓</a:t>
            </a:r>
            <a:endParaRPr lang="en-US" sz="1400" dirty="0"/>
          </a:p>
        </p:txBody>
      </p:sp>
      <p:sp>
        <p:nvSpPr>
          <p:cNvPr id="36" name="Text 33"/>
          <p:cNvSpPr/>
          <p:nvPr/>
        </p:nvSpPr>
        <p:spPr>
          <a:xfrm>
            <a:off x="5294376" y="1719072"/>
            <a:ext cx="3337560" cy="320040"/>
          </a:xfrm>
          <a:prstGeom prst="rect">
            <a:avLst/>
          </a:prstGeom>
          <a:noFill/>
          <a:ln/>
        </p:spPr>
        <p:txBody>
          <a:bodyPr wrap="square" lIns="0" tIns="0" rIns="0" bIns="0" rtlCol="0" anchor="ctr"/>
          <a:lstStyle/>
          <a:p>
            <a:pPr marL="0" indent="0">
              <a:buNone/>
            </a:pPr>
            <a:r>
              <a:rPr lang="en-US" sz="1300" b="1" dirty="0">
                <a:solidFill>
                  <a:srgbClr val="F8FAFC"/>
                </a:solidFill>
                <a:latin typeface="Calibri" pitchFamily="34" charset="0"/>
                <a:ea typeface="Calibri" pitchFamily="34" charset="-122"/>
                <a:cs typeface="Calibri" pitchFamily="34" charset="-120"/>
              </a:rPr>
              <a:t>Self-verification</a:t>
            </a:r>
            <a:endParaRPr lang="en-US" sz="1300" dirty="0"/>
          </a:p>
        </p:txBody>
      </p:sp>
      <p:sp>
        <p:nvSpPr>
          <p:cNvPr id="37" name="Text 34"/>
          <p:cNvSpPr/>
          <p:nvPr/>
        </p:nvSpPr>
        <p:spPr>
          <a:xfrm>
            <a:off x="5294376" y="2011680"/>
            <a:ext cx="3337560" cy="274320"/>
          </a:xfrm>
          <a:prstGeom prst="rect">
            <a:avLst/>
          </a:prstGeom>
          <a:noFill/>
          <a:ln/>
        </p:spPr>
        <p:txBody>
          <a:bodyPr wrap="square" lIns="0" tIns="0" rIns="0" bIns="0" rtlCol="0" anchor="ctr"/>
          <a:lstStyle/>
          <a:p>
            <a:pPr marL="0" indent="0">
              <a:buNone/>
            </a:pPr>
            <a:r>
              <a:rPr lang="en-US" sz="950" i="1" dirty="0">
                <a:solidFill>
                  <a:srgbClr val="F97316"/>
                </a:solidFill>
                <a:latin typeface="Calibri" pitchFamily="34" charset="0"/>
                <a:ea typeface="Calibri" pitchFamily="34" charset="-122"/>
                <a:cs typeface="Calibri" pitchFamily="34" charset="-120"/>
              </a:rPr>
              <a:t>Agent checks its own output before returning</a:t>
            </a:r>
            <a:endParaRPr lang="en-US" sz="950" dirty="0"/>
          </a:p>
        </p:txBody>
      </p:sp>
      <p:sp>
        <p:nvSpPr>
          <p:cNvPr id="38" name="Shape 35"/>
          <p:cNvSpPr/>
          <p:nvPr/>
        </p:nvSpPr>
        <p:spPr>
          <a:xfrm>
            <a:off x="4837176" y="2423160"/>
            <a:ext cx="640080" cy="365760"/>
          </a:xfrm>
          <a:prstGeom prst="roundRect">
            <a:avLst>
              <a:gd name="adj" fmla="val 10000"/>
            </a:avLst>
          </a:prstGeom>
          <a:solidFill>
            <a:srgbClr val="0A1628"/>
          </a:solidFill>
          <a:ln w="15240">
            <a:solidFill>
              <a:srgbClr val="3B82F6"/>
            </a:solidFill>
            <a:prstDash val="solid"/>
          </a:ln>
        </p:spPr>
        <p:txBody>
          <a:bodyPr/>
          <a:lstStyle/>
          <a:p>
            <a:endParaRPr lang="en-GB"/>
          </a:p>
        </p:txBody>
      </p:sp>
      <p:sp>
        <p:nvSpPr>
          <p:cNvPr id="39" name="Text 36"/>
          <p:cNvSpPr/>
          <p:nvPr/>
        </p:nvSpPr>
        <p:spPr>
          <a:xfrm>
            <a:off x="4837176" y="2423160"/>
            <a:ext cx="640080" cy="365760"/>
          </a:xfrm>
          <a:prstGeom prst="rect">
            <a:avLst/>
          </a:prstGeom>
          <a:noFill/>
          <a:ln/>
        </p:spPr>
        <p:txBody>
          <a:bodyPr wrap="square" lIns="0" tIns="0" rIns="0" bIns="0" rtlCol="0" anchor="ctr"/>
          <a:lstStyle/>
          <a:p>
            <a:pPr marL="0" indent="0" algn="ctr">
              <a:buNone/>
            </a:pPr>
            <a:r>
              <a:rPr lang="en-US" sz="900" b="1" dirty="0">
                <a:solidFill>
                  <a:srgbClr val="F8FAFC"/>
                </a:solidFill>
                <a:latin typeface="Calibri" pitchFamily="34" charset="0"/>
                <a:ea typeface="Calibri" pitchFamily="34" charset="-122"/>
                <a:cs typeface="Calibri" pitchFamily="34" charset="-120"/>
              </a:rPr>
              <a:t>Goal</a:t>
            </a:r>
            <a:endParaRPr lang="en-US" sz="900" dirty="0"/>
          </a:p>
        </p:txBody>
      </p:sp>
      <p:sp>
        <p:nvSpPr>
          <p:cNvPr id="40" name="Shape 37"/>
          <p:cNvSpPr/>
          <p:nvPr/>
        </p:nvSpPr>
        <p:spPr>
          <a:xfrm>
            <a:off x="5568696" y="2423160"/>
            <a:ext cx="640080" cy="365760"/>
          </a:xfrm>
          <a:prstGeom prst="roundRect">
            <a:avLst>
              <a:gd name="adj" fmla="val 10000"/>
            </a:avLst>
          </a:prstGeom>
          <a:solidFill>
            <a:srgbClr val="0A1628"/>
          </a:solidFill>
          <a:ln w="15240">
            <a:solidFill>
              <a:srgbClr val="3B82F6"/>
            </a:solidFill>
            <a:prstDash val="solid"/>
          </a:ln>
        </p:spPr>
        <p:txBody>
          <a:bodyPr/>
          <a:lstStyle/>
          <a:p>
            <a:endParaRPr lang="en-GB"/>
          </a:p>
        </p:txBody>
      </p:sp>
      <p:sp>
        <p:nvSpPr>
          <p:cNvPr id="41" name="Text 38"/>
          <p:cNvSpPr/>
          <p:nvPr/>
        </p:nvSpPr>
        <p:spPr>
          <a:xfrm>
            <a:off x="5568696" y="2423160"/>
            <a:ext cx="640080" cy="365760"/>
          </a:xfrm>
          <a:prstGeom prst="rect">
            <a:avLst/>
          </a:prstGeom>
          <a:noFill/>
          <a:ln/>
        </p:spPr>
        <p:txBody>
          <a:bodyPr wrap="square" lIns="0" tIns="0" rIns="0" bIns="0" rtlCol="0" anchor="ctr"/>
          <a:lstStyle/>
          <a:p>
            <a:pPr marL="0" indent="0" algn="ctr">
              <a:buNone/>
            </a:pPr>
            <a:r>
              <a:rPr lang="en-US" sz="900" b="1" dirty="0">
                <a:solidFill>
                  <a:srgbClr val="F8FAFC"/>
                </a:solidFill>
                <a:latin typeface="Calibri" pitchFamily="34" charset="0"/>
                <a:ea typeface="Calibri" pitchFamily="34" charset="-122"/>
                <a:cs typeface="Calibri" pitchFamily="34" charset="-120"/>
              </a:rPr>
              <a:t>Plan</a:t>
            </a:r>
            <a:endParaRPr lang="en-US" sz="900" dirty="0"/>
          </a:p>
        </p:txBody>
      </p:sp>
      <p:sp>
        <p:nvSpPr>
          <p:cNvPr id="42" name="Shape 39"/>
          <p:cNvSpPr/>
          <p:nvPr/>
        </p:nvSpPr>
        <p:spPr>
          <a:xfrm>
            <a:off x="6300216" y="2423160"/>
            <a:ext cx="640080" cy="365760"/>
          </a:xfrm>
          <a:prstGeom prst="roundRect">
            <a:avLst>
              <a:gd name="adj" fmla="val 10000"/>
            </a:avLst>
          </a:prstGeom>
          <a:solidFill>
            <a:srgbClr val="0A1628"/>
          </a:solidFill>
          <a:ln w="15240">
            <a:solidFill>
              <a:srgbClr val="3B82F6"/>
            </a:solidFill>
            <a:prstDash val="solid"/>
          </a:ln>
        </p:spPr>
        <p:txBody>
          <a:bodyPr/>
          <a:lstStyle/>
          <a:p>
            <a:endParaRPr lang="en-GB"/>
          </a:p>
        </p:txBody>
      </p:sp>
      <p:sp>
        <p:nvSpPr>
          <p:cNvPr id="43" name="Text 40"/>
          <p:cNvSpPr/>
          <p:nvPr/>
        </p:nvSpPr>
        <p:spPr>
          <a:xfrm>
            <a:off x="6300216" y="2423160"/>
            <a:ext cx="640080" cy="365760"/>
          </a:xfrm>
          <a:prstGeom prst="rect">
            <a:avLst/>
          </a:prstGeom>
          <a:noFill/>
          <a:ln/>
        </p:spPr>
        <p:txBody>
          <a:bodyPr wrap="square" lIns="0" tIns="0" rIns="0" bIns="0" rtlCol="0" anchor="ctr"/>
          <a:lstStyle/>
          <a:p>
            <a:pPr marL="0" indent="0" algn="ctr">
              <a:buNone/>
            </a:pPr>
            <a:r>
              <a:rPr lang="en-US" sz="900" b="1" dirty="0">
                <a:solidFill>
                  <a:srgbClr val="F8FAFC"/>
                </a:solidFill>
                <a:latin typeface="Calibri" pitchFamily="34" charset="0"/>
                <a:ea typeface="Calibri" pitchFamily="34" charset="-122"/>
                <a:cs typeface="Calibri" pitchFamily="34" charset="-120"/>
              </a:rPr>
              <a:t>Act</a:t>
            </a:r>
            <a:endParaRPr lang="en-US" sz="900" dirty="0"/>
          </a:p>
        </p:txBody>
      </p:sp>
      <p:sp>
        <p:nvSpPr>
          <p:cNvPr id="44" name="Shape 41"/>
          <p:cNvSpPr/>
          <p:nvPr/>
        </p:nvSpPr>
        <p:spPr>
          <a:xfrm>
            <a:off x="7031736" y="2423160"/>
            <a:ext cx="868680" cy="365760"/>
          </a:xfrm>
          <a:prstGeom prst="roundRect">
            <a:avLst>
              <a:gd name="adj" fmla="val 10000"/>
            </a:avLst>
          </a:prstGeom>
          <a:solidFill>
            <a:srgbClr val="0A1628"/>
          </a:solidFill>
          <a:ln w="15240">
            <a:solidFill>
              <a:srgbClr val="F97316"/>
            </a:solidFill>
            <a:prstDash val="solid"/>
          </a:ln>
        </p:spPr>
        <p:txBody>
          <a:bodyPr/>
          <a:lstStyle/>
          <a:p>
            <a:endParaRPr lang="en-GB"/>
          </a:p>
        </p:txBody>
      </p:sp>
      <p:sp>
        <p:nvSpPr>
          <p:cNvPr id="45" name="Text 42"/>
          <p:cNvSpPr/>
          <p:nvPr/>
        </p:nvSpPr>
        <p:spPr>
          <a:xfrm>
            <a:off x="7031736" y="2423160"/>
            <a:ext cx="868680" cy="365760"/>
          </a:xfrm>
          <a:prstGeom prst="rect">
            <a:avLst/>
          </a:prstGeom>
          <a:noFill/>
          <a:ln/>
        </p:spPr>
        <p:txBody>
          <a:bodyPr wrap="square" lIns="0" tIns="0" rIns="0" bIns="0" rtlCol="0" anchor="ctr"/>
          <a:lstStyle/>
          <a:p>
            <a:pPr marL="0" indent="0" algn="ctr">
              <a:buNone/>
            </a:pPr>
            <a:r>
              <a:rPr lang="en-US" sz="900" b="1" dirty="0">
                <a:solidFill>
                  <a:srgbClr val="F8FAFC"/>
                </a:solidFill>
                <a:latin typeface="Calibri" pitchFamily="34" charset="0"/>
                <a:ea typeface="Calibri" pitchFamily="34" charset="-122"/>
                <a:cs typeface="Calibri" pitchFamily="34" charset="-120"/>
              </a:rPr>
              <a:t>Verify ✓</a:t>
            </a:r>
            <a:endParaRPr lang="en-US" sz="900" dirty="0"/>
          </a:p>
        </p:txBody>
      </p:sp>
      <p:sp>
        <p:nvSpPr>
          <p:cNvPr id="46" name="Shape 43"/>
          <p:cNvSpPr/>
          <p:nvPr/>
        </p:nvSpPr>
        <p:spPr>
          <a:xfrm>
            <a:off x="7991856" y="2423160"/>
            <a:ext cx="640080" cy="365760"/>
          </a:xfrm>
          <a:prstGeom prst="roundRect">
            <a:avLst>
              <a:gd name="adj" fmla="val 10000"/>
            </a:avLst>
          </a:prstGeom>
          <a:solidFill>
            <a:srgbClr val="0A1628"/>
          </a:solidFill>
          <a:ln w="15240">
            <a:solidFill>
              <a:srgbClr val="3B82F6"/>
            </a:solidFill>
            <a:prstDash val="solid"/>
          </a:ln>
        </p:spPr>
        <p:txBody>
          <a:bodyPr/>
          <a:lstStyle/>
          <a:p>
            <a:endParaRPr lang="en-GB"/>
          </a:p>
        </p:txBody>
      </p:sp>
      <p:sp>
        <p:nvSpPr>
          <p:cNvPr id="47" name="Text 44"/>
          <p:cNvSpPr/>
          <p:nvPr/>
        </p:nvSpPr>
        <p:spPr>
          <a:xfrm>
            <a:off x="7991856" y="2423160"/>
            <a:ext cx="640080" cy="365760"/>
          </a:xfrm>
          <a:prstGeom prst="rect">
            <a:avLst/>
          </a:prstGeom>
          <a:noFill/>
          <a:ln/>
        </p:spPr>
        <p:txBody>
          <a:bodyPr wrap="square" lIns="0" tIns="0" rIns="0" bIns="0" rtlCol="0" anchor="ctr"/>
          <a:lstStyle/>
          <a:p>
            <a:pPr marL="0" indent="0" algn="ctr">
              <a:buNone/>
            </a:pPr>
            <a:r>
              <a:rPr lang="en-US" sz="900" b="1" dirty="0">
                <a:solidFill>
                  <a:srgbClr val="F8FAFC"/>
                </a:solidFill>
                <a:latin typeface="Calibri" pitchFamily="34" charset="0"/>
                <a:ea typeface="Calibri" pitchFamily="34" charset="-122"/>
                <a:cs typeface="Calibri" pitchFamily="34" charset="-120"/>
              </a:rPr>
              <a:t>Return</a:t>
            </a:r>
            <a:endParaRPr lang="en-US" sz="900" dirty="0"/>
          </a:p>
        </p:txBody>
      </p:sp>
      <p:sp>
        <p:nvSpPr>
          <p:cNvPr id="48" name="Shape 45"/>
          <p:cNvSpPr/>
          <p:nvPr/>
        </p:nvSpPr>
        <p:spPr>
          <a:xfrm>
            <a:off x="5477256" y="2606040"/>
            <a:ext cx="91440" cy="0"/>
          </a:xfrm>
          <a:prstGeom prst="line">
            <a:avLst/>
          </a:prstGeom>
          <a:noFill/>
          <a:ln w="19050">
            <a:solidFill>
              <a:srgbClr val="3B82F6"/>
            </a:solidFill>
            <a:prstDash val="solid"/>
            <a:tailEnd type="triangle"/>
          </a:ln>
        </p:spPr>
        <p:txBody>
          <a:bodyPr/>
          <a:lstStyle/>
          <a:p>
            <a:endParaRPr lang="en-GB"/>
          </a:p>
        </p:txBody>
      </p:sp>
      <p:sp>
        <p:nvSpPr>
          <p:cNvPr id="49" name="Shape 46"/>
          <p:cNvSpPr/>
          <p:nvPr/>
        </p:nvSpPr>
        <p:spPr>
          <a:xfrm>
            <a:off x="6208776" y="2606040"/>
            <a:ext cx="91440" cy="0"/>
          </a:xfrm>
          <a:prstGeom prst="line">
            <a:avLst/>
          </a:prstGeom>
          <a:noFill/>
          <a:ln w="19050">
            <a:solidFill>
              <a:srgbClr val="3B82F6"/>
            </a:solidFill>
            <a:prstDash val="solid"/>
            <a:tailEnd type="triangle"/>
          </a:ln>
        </p:spPr>
        <p:txBody>
          <a:bodyPr/>
          <a:lstStyle/>
          <a:p>
            <a:endParaRPr lang="en-GB"/>
          </a:p>
        </p:txBody>
      </p:sp>
      <p:sp>
        <p:nvSpPr>
          <p:cNvPr id="50" name="Shape 47"/>
          <p:cNvSpPr/>
          <p:nvPr/>
        </p:nvSpPr>
        <p:spPr>
          <a:xfrm>
            <a:off x="6940296" y="2606040"/>
            <a:ext cx="91440" cy="0"/>
          </a:xfrm>
          <a:prstGeom prst="line">
            <a:avLst/>
          </a:prstGeom>
          <a:noFill/>
          <a:ln w="19050">
            <a:solidFill>
              <a:srgbClr val="3B82F6"/>
            </a:solidFill>
            <a:prstDash val="solid"/>
            <a:tailEnd type="triangle"/>
          </a:ln>
        </p:spPr>
        <p:txBody>
          <a:bodyPr/>
          <a:lstStyle/>
          <a:p>
            <a:endParaRPr lang="en-GB"/>
          </a:p>
        </p:txBody>
      </p:sp>
      <p:sp>
        <p:nvSpPr>
          <p:cNvPr id="51" name="Shape 48"/>
          <p:cNvSpPr/>
          <p:nvPr/>
        </p:nvSpPr>
        <p:spPr>
          <a:xfrm>
            <a:off x="7900416" y="2606040"/>
            <a:ext cx="91440" cy="0"/>
          </a:xfrm>
          <a:prstGeom prst="line">
            <a:avLst/>
          </a:prstGeom>
          <a:noFill/>
          <a:ln w="19050">
            <a:solidFill>
              <a:srgbClr val="F97316"/>
            </a:solidFill>
            <a:prstDash val="solid"/>
            <a:tailEnd type="triangle"/>
          </a:ln>
        </p:spPr>
        <p:txBody>
          <a:bodyPr/>
          <a:lstStyle/>
          <a:p>
            <a:endParaRPr lang="en-GB"/>
          </a:p>
        </p:txBody>
      </p:sp>
      <p:sp>
        <p:nvSpPr>
          <p:cNvPr id="52" name="Shape 49"/>
          <p:cNvSpPr/>
          <p:nvPr/>
        </p:nvSpPr>
        <p:spPr>
          <a:xfrm>
            <a:off x="5888736" y="2926074"/>
            <a:ext cx="1600197" cy="5"/>
          </a:xfrm>
          <a:prstGeom prst="line">
            <a:avLst/>
          </a:prstGeom>
          <a:noFill/>
          <a:ln w="15240">
            <a:solidFill>
              <a:srgbClr val="F97316"/>
            </a:solidFill>
            <a:prstDash val="dash"/>
          </a:ln>
        </p:spPr>
        <p:txBody>
          <a:bodyPr/>
          <a:lstStyle/>
          <a:p>
            <a:endParaRPr lang="en-GB"/>
          </a:p>
        </p:txBody>
      </p:sp>
      <p:sp>
        <p:nvSpPr>
          <p:cNvPr id="53" name="Shape 50"/>
          <p:cNvSpPr/>
          <p:nvPr/>
        </p:nvSpPr>
        <p:spPr>
          <a:xfrm flipV="1">
            <a:off x="5888736" y="2788920"/>
            <a:ext cx="0" cy="137160"/>
          </a:xfrm>
          <a:prstGeom prst="line">
            <a:avLst/>
          </a:prstGeom>
          <a:noFill/>
          <a:ln w="15240">
            <a:solidFill>
              <a:srgbClr val="F97316"/>
            </a:solidFill>
            <a:prstDash val="dash"/>
            <a:tailEnd type="triangle"/>
          </a:ln>
        </p:spPr>
        <p:txBody>
          <a:bodyPr/>
          <a:lstStyle/>
          <a:p>
            <a:endParaRPr lang="en-GB"/>
          </a:p>
        </p:txBody>
      </p:sp>
      <p:sp>
        <p:nvSpPr>
          <p:cNvPr id="54" name="Shape 51"/>
          <p:cNvSpPr/>
          <p:nvPr/>
        </p:nvSpPr>
        <p:spPr>
          <a:xfrm flipH="1">
            <a:off x="7488933" y="2788920"/>
            <a:ext cx="3" cy="132588"/>
          </a:xfrm>
          <a:prstGeom prst="line">
            <a:avLst/>
          </a:prstGeom>
          <a:noFill/>
          <a:ln w="15240">
            <a:solidFill>
              <a:srgbClr val="F97316"/>
            </a:solidFill>
            <a:prstDash val="dash"/>
          </a:ln>
        </p:spPr>
        <p:txBody>
          <a:bodyPr/>
          <a:lstStyle/>
          <a:p>
            <a:endParaRPr lang="en-GB"/>
          </a:p>
        </p:txBody>
      </p:sp>
      <p:sp>
        <p:nvSpPr>
          <p:cNvPr id="55" name="Text 52"/>
          <p:cNvSpPr/>
          <p:nvPr/>
        </p:nvSpPr>
        <p:spPr>
          <a:xfrm>
            <a:off x="6414081" y="2793492"/>
            <a:ext cx="914400" cy="137160"/>
          </a:xfrm>
          <a:prstGeom prst="rect">
            <a:avLst/>
          </a:prstGeom>
          <a:noFill/>
          <a:ln/>
        </p:spPr>
        <p:txBody>
          <a:bodyPr wrap="square" lIns="0" tIns="0" rIns="0" bIns="0" rtlCol="0" anchor="ctr"/>
          <a:lstStyle/>
          <a:p>
            <a:pPr marL="0" indent="0">
              <a:buNone/>
            </a:pPr>
            <a:r>
              <a:rPr lang="en-US" sz="700" i="1" dirty="0">
                <a:solidFill>
                  <a:srgbClr val="F97316"/>
                </a:solidFill>
                <a:latin typeface="Calibri" pitchFamily="34" charset="0"/>
                <a:ea typeface="Calibri" pitchFamily="34" charset="-122"/>
                <a:cs typeface="Calibri" pitchFamily="34" charset="-120"/>
              </a:rPr>
              <a:t>retry on fail</a:t>
            </a:r>
            <a:endParaRPr lang="en-US" sz="700" dirty="0"/>
          </a:p>
        </p:txBody>
      </p:sp>
      <p:sp>
        <p:nvSpPr>
          <p:cNvPr id="56" name="Shape 53"/>
          <p:cNvSpPr/>
          <p:nvPr/>
        </p:nvSpPr>
        <p:spPr>
          <a:xfrm>
            <a:off x="329184" y="3136392"/>
            <a:ext cx="4160520" cy="1417320"/>
          </a:xfrm>
          <a:prstGeom prst="roundRect">
            <a:avLst>
              <a:gd name="adj" fmla="val 5161"/>
            </a:avLst>
          </a:prstGeom>
          <a:solidFill>
            <a:srgbClr val="11203A"/>
          </a:solidFill>
          <a:ln w="25400">
            <a:solidFill>
              <a:srgbClr val="3B82F6"/>
            </a:solidFill>
            <a:prstDash val="solid"/>
          </a:ln>
          <a:effectLst>
            <a:outerShdw blurRad="101600" dist="25400" dir="8100000" algn="bl" rotWithShape="0">
              <a:srgbClr val="000000">
                <a:alpha val="25000"/>
              </a:srgbClr>
            </a:outerShdw>
          </a:effectLst>
        </p:spPr>
        <p:txBody>
          <a:bodyPr/>
          <a:lstStyle/>
          <a:p>
            <a:endParaRPr lang="en-GB"/>
          </a:p>
        </p:txBody>
      </p:sp>
      <p:sp>
        <p:nvSpPr>
          <p:cNvPr id="57" name="Shape 54"/>
          <p:cNvSpPr/>
          <p:nvPr/>
        </p:nvSpPr>
        <p:spPr>
          <a:xfrm>
            <a:off x="329184" y="3136392"/>
            <a:ext cx="54864" cy="1417320"/>
          </a:xfrm>
          <a:prstGeom prst="rect">
            <a:avLst/>
          </a:prstGeom>
          <a:solidFill>
            <a:srgbClr val="3B82F6"/>
          </a:solidFill>
          <a:ln w="12700">
            <a:solidFill>
              <a:srgbClr val="3B82F6"/>
            </a:solidFill>
            <a:prstDash val="solid"/>
          </a:ln>
        </p:spPr>
        <p:txBody>
          <a:bodyPr/>
          <a:lstStyle/>
          <a:p>
            <a:endParaRPr lang="en-GB"/>
          </a:p>
        </p:txBody>
      </p:sp>
      <p:sp>
        <p:nvSpPr>
          <p:cNvPr id="58" name="Shape 55"/>
          <p:cNvSpPr/>
          <p:nvPr/>
        </p:nvSpPr>
        <p:spPr>
          <a:xfrm>
            <a:off x="466344" y="3273552"/>
            <a:ext cx="411480" cy="411480"/>
          </a:xfrm>
          <a:prstGeom prst="ellipse">
            <a:avLst/>
          </a:prstGeom>
          <a:solidFill>
            <a:srgbClr val="3B82F6"/>
          </a:solidFill>
          <a:ln w="12700">
            <a:solidFill>
              <a:srgbClr val="3B82F6"/>
            </a:solidFill>
            <a:prstDash val="solid"/>
          </a:ln>
        </p:spPr>
        <p:txBody>
          <a:bodyPr/>
          <a:lstStyle/>
          <a:p>
            <a:endParaRPr lang="en-GB"/>
          </a:p>
        </p:txBody>
      </p:sp>
      <p:sp>
        <p:nvSpPr>
          <p:cNvPr id="59" name="Text 56"/>
          <p:cNvSpPr/>
          <p:nvPr/>
        </p:nvSpPr>
        <p:spPr>
          <a:xfrm>
            <a:off x="466344" y="3273552"/>
            <a:ext cx="411480" cy="411480"/>
          </a:xfrm>
          <a:prstGeom prst="rect">
            <a:avLst/>
          </a:prstGeom>
          <a:noFill/>
          <a:ln/>
        </p:spPr>
        <p:txBody>
          <a:bodyPr wrap="square" lIns="0" tIns="0" rIns="0" bIns="0" rtlCol="0" anchor="ctr"/>
          <a:lstStyle/>
          <a:p>
            <a:pPr marL="0" indent="0" algn="ctr">
              <a:buNone/>
            </a:pPr>
            <a:r>
              <a:rPr lang="en-US" sz="1400" b="1" dirty="0">
                <a:solidFill>
                  <a:srgbClr val="F8FAFC"/>
                </a:solidFill>
                <a:latin typeface="Calibri" pitchFamily="34" charset="0"/>
                <a:ea typeface="Calibri" pitchFamily="34" charset="-122"/>
                <a:cs typeface="Calibri" pitchFamily="34" charset="-120"/>
              </a:rPr>
              <a:t>🔁</a:t>
            </a:r>
            <a:endParaRPr lang="en-US" sz="1400" dirty="0"/>
          </a:p>
        </p:txBody>
      </p:sp>
      <p:sp>
        <p:nvSpPr>
          <p:cNvPr id="60" name="Text 57"/>
          <p:cNvSpPr/>
          <p:nvPr/>
        </p:nvSpPr>
        <p:spPr>
          <a:xfrm>
            <a:off x="969264" y="3300984"/>
            <a:ext cx="3337560" cy="320040"/>
          </a:xfrm>
          <a:prstGeom prst="rect">
            <a:avLst/>
          </a:prstGeom>
          <a:noFill/>
          <a:ln/>
        </p:spPr>
        <p:txBody>
          <a:bodyPr wrap="square" lIns="0" tIns="0" rIns="0" bIns="0" rtlCol="0" anchor="ctr"/>
          <a:lstStyle/>
          <a:p>
            <a:pPr marL="0" indent="0">
              <a:buNone/>
            </a:pPr>
            <a:r>
              <a:rPr lang="en-US" sz="1300" b="1" dirty="0">
                <a:solidFill>
                  <a:srgbClr val="F8FAFC"/>
                </a:solidFill>
                <a:latin typeface="Calibri" pitchFamily="34" charset="0"/>
                <a:ea typeface="Calibri" pitchFamily="34" charset="-122"/>
                <a:cs typeface="Calibri" pitchFamily="34" charset="-120"/>
              </a:rPr>
              <a:t>Reflection</a:t>
            </a:r>
            <a:endParaRPr lang="en-US" sz="1300" dirty="0"/>
          </a:p>
        </p:txBody>
      </p:sp>
      <p:sp>
        <p:nvSpPr>
          <p:cNvPr id="61" name="Text 58"/>
          <p:cNvSpPr/>
          <p:nvPr/>
        </p:nvSpPr>
        <p:spPr>
          <a:xfrm>
            <a:off x="969264" y="3593592"/>
            <a:ext cx="3337560" cy="274320"/>
          </a:xfrm>
          <a:prstGeom prst="rect">
            <a:avLst/>
          </a:prstGeom>
          <a:noFill/>
          <a:ln/>
        </p:spPr>
        <p:txBody>
          <a:bodyPr wrap="square" lIns="0" tIns="0" rIns="0" bIns="0" rtlCol="0" anchor="ctr"/>
          <a:lstStyle/>
          <a:p>
            <a:pPr marL="0" indent="0">
              <a:buNone/>
            </a:pPr>
            <a:r>
              <a:rPr lang="en-US" sz="950" i="1" dirty="0">
                <a:solidFill>
                  <a:srgbClr val="3B82F6"/>
                </a:solidFill>
                <a:latin typeface="Calibri" pitchFamily="34" charset="0"/>
                <a:ea typeface="Calibri" pitchFamily="34" charset="-122"/>
                <a:cs typeface="Calibri" pitchFamily="34" charset="-120"/>
              </a:rPr>
              <a:t>Critique pass — fix before returning</a:t>
            </a:r>
            <a:endParaRPr lang="en-US" sz="950" dirty="0"/>
          </a:p>
        </p:txBody>
      </p:sp>
      <p:sp>
        <p:nvSpPr>
          <p:cNvPr id="62" name="Shape 59"/>
          <p:cNvSpPr/>
          <p:nvPr/>
        </p:nvSpPr>
        <p:spPr>
          <a:xfrm>
            <a:off x="512064" y="4005072"/>
            <a:ext cx="777240" cy="365760"/>
          </a:xfrm>
          <a:prstGeom prst="roundRect">
            <a:avLst>
              <a:gd name="adj" fmla="val 10000"/>
            </a:avLst>
          </a:prstGeom>
          <a:solidFill>
            <a:srgbClr val="0A1628"/>
          </a:solidFill>
          <a:ln w="15240">
            <a:solidFill>
              <a:srgbClr val="3B82F6"/>
            </a:solidFill>
            <a:prstDash val="solid"/>
          </a:ln>
        </p:spPr>
        <p:txBody>
          <a:bodyPr/>
          <a:lstStyle/>
          <a:p>
            <a:endParaRPr lang="en-GB"/>
          </a:p>
        </p:txBody>
      </p:sp>
      <p:sp>
        <p:nvSpPr>
          <p:cNvPr id="63" name="Text 60"/>
          <p:cNvSpPr/>
          <p:nvPr/>
        </p:nvSpPr>
        <p:spPr>
          <a:xfrm>
            <a:off x="512064" y="4005072"/>
            <a:ext cx="777240" cy="365760"/>
          </a:xfrm>
          <a:prstGeom prst="rect">
            <a:avLst/>
          </a:prstGeom>
          <a:noFill/>
          <a:ln/>
        </p:spPr>
        <p:txBody>
          <a:bodyPr wrap="square" lIns="0" tIns="0" rIns="0" bIns="0" rtlCol="0" anchor="ctr"/>
          <a:lstStyle/>
          <a:p>
            <a:pPr marL="0" indent="0" algn="ctr">
              <a:buNone/>
            </a:pPr>
            <a:r>
              <a:rPr lang="en-US" sz="900" b="1" dirty="0">
                <a:solidFill>
                  <a:srgbClr val="F8FAFC"/>
                </a:solidFill>
                <a:latin typeface="Calibri" pitchFamily="34" charset="0"/>
                <a:ea typeface="Calibri" pitchFamily="34" charset="-122"/>
                <a:cs typeface="Calibri" pitchFamily="34" charset="-120"/>
              </a:rPr>
              <a:t>Attempt</a:t>
            </a:r>
            <a:endParaRPr lang="en-US" sz="900" dirty="0"/>
          </a:p>
        </p:txBody>
      </p:sp>
      <p:sp>
        <p:nvSpPr>
          <p:cNvPr id="64" name="Shape 61"/>
          <p:cNvSpPr/>
          <p:nvPr/>
        </p:nvSpPr>
        <p:spPr>
          <a:xfrm>
            <a:off x="1426464" y="4005072"/>
            <a:ext cx="868680" cy="365760"/>
          </a:xfrm>
          <a:prstGeom prst="roundRect">
            <a:avLst>
              <a:gd name="adj" fmla="val 10000"/>
            </a:avLst>
          </a:prstGeom>
          <a:solidFill>
            <a:srgbClr val="0A1628"/>
          </a:solidFill>
          <a:ln w="15240">
            <a:solidFill>
              <a:srgbClr val="F97316"/>
            </a:solidFill>
            <a:prstDash val="solid"/>
          </a:ln>
        </p:spPr>
        <p:txBody>
          <a:bodyPr/>
          <a:lstStyle/>
          <a:p>
            <a:endParaRPr lang="en-GB"/>
          </a:p>
        </p:txBody>
      </p:sp>
      <p:sp>
        <p:nvSpPr>
          <p:cNvPr id="65" name="Text 62"/>
          <p:cNvSpPr/>
          <p:nvPr/>
        </p:nvSpPr>
        <p:spPr>
          <a:xfrm>
            <a:off x="1426464" y="4005072"/>
            <a:ext cx="868680" cy="365760"/>
          </a:xfrm>
          <a:prstGeom prst="rect">
            <a:avLst/>
          </a:prstGeom>
          <a:noFill/>
          <a:ln/>
        </p:spPr>
        <p:txBody>
          <a:bodyPr wrap="square" lIns="0" tIns="0" rIns="0" bIns="0" rtlCol="0" anchor="ctr"/>
          <a:lstStyle/>
          <a:p>
            <a:pPr marL="0" indent="0" algn="ctr">
              <a:buNone/>
            </a:pPr>
            <a:r>
              <a:rPr lang="en-US" sz="900" b="1" dirty="0">
                <a:solidFill>
                  <a:srgbClr val="F8FAFC"/>
                </a:solidFill>
                <a:latin typeface="Calibri" pitchFamily="34" charset="0"/>
                <a:ea typeface="Calibri" pitchFamily="34" charset="-122"/>
                <a:cs typeface="Calibri" pitchFamily="34" charset="-120"/>
              </a:rPr>
              <a:t>Critic LLM</a:t>
            </a:r>
            <a:endParaRPr lang="en-US" sz="900" dirty="0"/>
          </a:p>
        </p:txBody>
      </p:sp>
      <p:sp>
        <p:nvSpPr>
          <p:cNvPr id="66" name="Shape 63"/>
          <p:cNvSpPr/>
          <p:nvPr/>
        </p:nvSpPr>
        <p:spPr>
          <a:xfrm>
            <a:off x="2432304" y="4005072"/>
            <a:ext cx="868680" cy="365760"/>
          </a:xfrm>
          <a:prstGeom prst="roundRect">
            <a:avLst>
              <a:gd name="adj" fmla="val 10000"/>
            </a:avLst>
          </a:prstGeom>
          <a:solidFill>
            <a:srgbClr val="0A1628"/>
          </a:solidFill>
          <a:ln w="15240">
            <a:solidFill>
              <a:srgbClr val="3B82F6"/>
            </a:solidFill>
            <a:prstDash val="solid"/>
          </a:ln>
        </p:spPr>
        <p:txBody>
          <a:bodyPr/>
          <a:lstStyle/>
          <a:p>
            <a:endParaRPr lang="en-GB"/>
          </a:p>
        </p:txBody>
      </p:sp>
      <p:sp>
        <p:nvSpPr>
          <p:cNvPr id="67" name="Text 64"/>
          <p:cNvSpPr/>
          <p:nvPr/>
        </p:nvSpPr>
        <p:spPr>
          <a:xfrm>
            <a:off x="2432304" y="4005072"/>
            <a:ext cx="868680" cy="365760"/>
          </a:xfrm>
          <a:prstGeom prst="rect">
            <a:avLst/>
          </a:prstGeom>
          <a:noFill/>
          <a:ln/>
        </p:spPr>
        <p:txBody>
          <a:bodyPr wrap="square" lIns="0" tIns="0" rIns="0" bIns="0" rtlCol="0" anchor="ctr"/>
          <a:lstStyle/>
          <a:p>
            <a:pPr marL="0" indent="0" algn="ctr">
              <a:buNone/>
            </a:pPr>
            <a:r>
              <a:rPr lang="en-US" sz="900" b="1" dirty="0">
                <a:solidFill>
                  <a:srgbClr val="F8FAFC"/>
                </a:solidFill>
                <a:latin typeface="Calibri" pitchFamily="34" charset="0"/>
                <a:ea typeface="Calibri" pitchFamily="34" charset="-122"/>
                <a:cs typeface="Calibri" pitchFamily="34" charset="-120"/>
              </a:rPr>
              <a:t>Improve</a:t>
            </a:r>
            <a:endParaRPr lang="en-US" sz="900" dirty="0"/>
          </a:p>
        </p:txBody>
      </p:sp>
      <p:sp>
        <p:nvSpPr>
          <p:cNvPr id="68" name="Shape 65"/>
          <p:cNvSpPr/>
          <p:nvPr/>
        </p:nvSpPr>
        <p:spPr>
          <a:xfrm>
            <a:off x="3438144" y="4005072"/>
            <a:ext cx="868680" cy="365760"/>
          </a:xfrm>
          <a:prstGeom prst="roundRect">
            <a:avLst>
              <a:gd name="adj" fmla="val 10000"/>
            </a:avLst>
          </a:prstGeom>
          <a:solidFill>
            <a:srgbClr val="0A1628"/>
          </a:solidFill>
          <a:ln w="15240">
            <a:solidFill>
              <a:srgbClr val="3B82F6"/>
            </a:solidFill>
            <a:prstDash val="solid"/>
          </a:ln>
        </p:spPr>
        <p:txBody>
          <a:bodyPr/>
          <a:lstStyle/>
          <a:p>
            <a:endParaRPr lang="en-GB"/>
          </a:p>
        </p:txBody>
      </p:sp>
      <p:sp>
        <p:nvSpPr>
          <p:cNvPr id="69" name="Text 66"/>
          <p:cNvSpPr/>
          <p:nvPr/>
        </p:nvSpPr>
        <p:spPr>
          <a:xfrm>
            <a:off x="3438144" y="4005072"/>
            <a:ext cx="868680" cy="365760"/>
          </a:xfrm>
          <a:prstGeom prst="rect">
            <a:avLst/>
          </a:prstGeom>
          <a:noFill/>
          <a:ln/>
        </p:spPr>
        <p:txBody>
          <a:bodyPr wrap="square" lIns="0" tIns="0" rIns="0" bIns="0" rtlCol="0" anchor="ctr"/>
          <a:lstStyle/>
          <a:p>
            <a:pPr marL="0" indent="0" algn="ctr">
              <a:buNone/>
            </a:pPr>
            <a:r>
              <a:rPr lang="en-US" sz="900" b="1" dirty="0">
                <a:solidFill>
                  <a:srgbClr val="F8FAFC"/>
                </a:solidFill>
                <a:latin typeface="Calibri" pitchFamily="34" charset="0"/>
                <a:ea typeface="Calibri" pitchFamily="34" charset="-122"/>
                <a:cs typeface="Calibri" pitchFamily="34" charset="-120"/>
              </a:rPr>
              <a:t>Final</a:t>
            </a:r>
            <a:endParaRPr lang="en-US" sz="900" dirty="0"/>
          </a:p>
        </p:txBody>
      </p:sp>
      <p:sp>
        <p:nvSpPr>
          <p:cNvPr id="70" name="Shape 67"/>
          <p:cNvSpPr/>
          <p:nvPr/>
        </p:nvSpPr>
        <p:spPr>
          <a:xfrm>
            <a:off x="1289304" y="4187952"/>
            <a:ext cx="137160" cy="0"/>
          </a:xfrm>
          <a:prstGeom prst="line">
            <a:avLst/>
          </a:prstGeom>
          <a:noFill/>
          <a:ln w="19050">
            <a:solidFill>
              <a:srgbClr val="3B82F6"/>
            </a:solidFill>
            <a:prstDash val="solid"/>
            <a:tailEnd type="triangle"/>
          </a:ln>
        </p:spPr>
        <p:txBody>
          <a:bodyPr/>
          <a:lstStyle/>
          <a:p>
            <a:endParaRPr lang="en-GB"/>
          </a:p>
        </p:txBody>
      </p:sp>
      <p:sp>
        <p:nvSpPr>
          <p:cNvPr id="71" name="Shape 68"/>
          <p:cNvSpPr/>
          <p:nvPr/>
        </p:nvSpPr>
        <p:spPr>
          <a:xfrm>
            <a:off x="2295144" y="4187952"/>
            <a:ext cx="137160" cy="0"/>
          </a:xfrm>
          <a:prstGeom prst="line">
            <a:avLst/>
          </a:prstGeom>
          <a:noFill/>
          <a:ln w="19050">
            <a:solidFill>
              <a:srgbClr val="F97316"/>
            </a:solidFill>
            <a:prstDash val="solid"/>
            <a:tailEnd type="triangle"/>
          </a:ln>
        </p:spPr>
        <p:txBody>
          <a:bodyPr/>
          <a:lstStyle/>
          <a:p>
            <a:endParaRPr lang="en-GB"/>
          </a:p>
        </p:txBody>
      </p:sp>
      <p:sp>
        <p:nvSpPr>
          <p:cNvPr id="72" name="Shape 69"/>
          <p:cNvSpPr/>
          <p:nvPr/>
        </p:nvSpPr>
        <p:spPr>
          <a:xfrm>
            <a:off x="3300984" y="4187952"/>
            <a:ext cx="137160" cy="0"/>
          </a:xfrm>
          <a:prstGeom prst="line">
            <a:avLst/>
          </a:prstGeom>
          <a:noFill/>
          <a:ln w="19050">
            <a:solidFill>
              <a:srgbClr val="3B82F6"/>
            </a:solidFill>
            <a:prstDash val="solid"/>
            <a:tailEnd type="triangle"/>
          </a:ln>
        </p:spPr>
        <p:txBody>
          <a:bodyPr/>
          <a:lstStyle/>
          <a:p>
            <a:endParaRPr lang="en-GB"/>
          </a:p>
        </p:txBody>
      </p:sp>
      <p:sp>
        <p:nvSpPr>
          <p:cNvPr id="73" name="Text 70"/>
          <p:cNvSpPr/>
          <p:nvPr/>
        </p:nvSpPr>
        <p:spPr>
          <a:xfrm>
            <a:off x="1609344" y="4389120"/>
            <a:ext cx="731520" cy="164592"/>
          </a:xfrm>
          <a:prstGeom prst="rect">
            <a:avLst/>
          </a:prstGeom>
          <a:noFill/>
          <a:ln/>
        </p:spPr>
        <p:txBody>
          <a:bodyPr wrap="square" lIns="0" tIns="0" rIns="0" bIns="0" rtlCol="0" anchor="ctr"/>
          <a:lstStyle/>
          <a:p>
            <a:pPr marL="0" indent="0">
              <a:buNone/>
            </a:pPr>
            <a:r>
              <a:rPr lang="en-US" sz="700" i="1" dirty="0">
                <a:solidFill>
                  <a:srgbClr val="F97316"/>
                </a:solidFill>
                <a:latin typeface="Calibri" pitchFamily="34" charset="0"/>
                <a:ea typeface="Calibri" pitchFamily="34" charset="-122"/>
                <a:cs typeface="Calibri" pitchFamily="34" charset="-120"/>
              </a:rPr>
              <a:t>notes ↩</a:t>
            </a:r>
            <a:endParaRPr lang="en-US" sz="700" dirty="0"/>
          </a:p>
        </p:txBody>
      </p:sp>
      <p:sp>
        <p:nvSpPr>
          <p:cNvPr id="74" name="Shape 71"/>
          <p:cNvSpPr/>
          <p:nvPr/>
        </p:nvSpPr>
        <p:spPr>
          <a:xfrm>
            <a:off x="4654296" y="3136392"/>
            <a:ext cx="4160520" cy="1417320"/>
          </a:xfrm>
          <a:prstGeom prst="roundRect">
            <a:avLst>
              <a:gd name="adj" fmla="val 5161"/>
            </a:avLst>
          </a:prstGeom>
          <a:solidFill>
            <a:srgbClr val="11203A"/>
          </a:solidFill>
          <a:ln w="25400">
            <a:solidFill>
              <a:srgbClr val="3B82F6"/>
            </a:solidFill>
            <a:prstDash val="solid"/>
          </a:ln>
          <a:effectLst>
            <a:outerShdw blurRad="101600" dist="25400" dir="8100000" algn="bl" rotWithShape="0">
              <a:srgbClr val="000000">
                <a:alpha val="25000"/>
              </a:srgbClr>
            </a:outerShdw>
          </a:effectLst>
        </p:spPr>
        <p:txBody>
          <a:bodyPr/>
          <a:lstStyle/>
          <a:p>
            <a:endParaRPr lang="en-GB"/>
          </a:p>
        </p:txBody>
      </p:sp>
      <p:sp>
        <p:nvSpPr>
          <p:cNvPr id="75" name="Shape 72"/>
          <p:cNvSpPr/>
          <p:nvPr/>
        </p:nvSpPr>
        <p:spPr>
          <a:xfrm>
            <a:off x="4654296" y="3136392"/>
            <a:ext cx="54864" cy="1417320"/>
          </a:xfrm>
          <a:prstGeom prst="rect">
            <a:avLst/>
          </a:prstGeom>
          <a:solidFill>
            <a:srgbClr val="3B82F6"/>
          </a:solidFill>
          <a:ln w="12700">
            <a:solidFill>
              <a:srgbClr val="3B82F6"/>
            </a:solidFill>
            <a:prstDash val="solid"/>
          </a:ln>
        </p:spPr>
        <p:txBody>
          <a:bodyPr/>
          <a:lstStyle/>
          <a:p>
            <a:endParaRPr lang="en-GB"/>
          </a:p>
        </p:txBody>
      </p:sp>
      <p:sp>
        <p:nvSpPr>
          <p:cNvPr id="76" name="Shape 73"/>
          <p:cNvSpPr/>
          <p:nvPr/>
        </p:nvSpPr>
        <p:spPr>
          <a:xfrm>
            <a:off x="4791456" y="3273552"/>
            <a:ext cx="411480" cy="411480"/>
          </a:xfrm>
          <a:prstGeom prst="ellipse">
            <a:avLst/>
          </a:prstGeom>
          <a:solidFill>
            <a:srgbClr val="3B82F6"/>
          </a:solidFill>
          <a:ln w="12700">
            <a:solidFill>
              <a:srgbClr val="3B82F6"/>
            </a:solidFill>
            <a:prstDash val="solid"/>
          </a:ln>
        </p:spPr>
        <p:txBody>
          <a:bodyPr/>
          <a:lstStyle/>
          <a:p>
            <a:endParaRPr lang="en-GB"/>
          </a:p>
        </p:txBody>
      </p:sp>
      <p:sp>
        <p:nvSpPr>
          <p:cNvPr id="77" name="Text 74"/>
          <p:cNvSpPr/>
          <p:nvPr/>
        </p:nvSpPr>
        <p:spPr>
          <a:xfrm>
            <a:off x="4791456" y="3273552"/>
            <a:ext cx="411480" cy="411480"/>
          </a:xfrm>
          <a:prstGeom prst="rect">
            <a:avLst/>
          </a:prstGeom>
          <a:noFill/>
          <a:ln/>
        </p:spPr>
        <p:txBody>
          <a:bodyPr wrap="square" lIns="0" tIns="0" rIns="0" bIns="0" rtlCol="0" anchor="ctr"/>
          <a:lstStyle/>
          <a:p>
            <a:pPr marL="0" indent="0" algn="ctr">
              <a:buNone/>
            </a:pPr>
            <a:r>
              <a:rPr lang="en-US" sz="1400" b="1" dirty="0">
                <a:solidFill>
                  <a:srgbClr val="F8FAFC"/>
                </a:solidFill>
                <a:latin typeface="Calibri" pitchFamily="34" charset="0"/>
                <a:ea typeface="Calibri" pitchFamily="34" charset="-122"/>
                <a:cs typeface="Calibri" pitchFamily="34" charset="-120"/>
              </a:rPr>
              <a:t>👥</a:t>
            </a:r>
            <a:endParaRPr lang="en-US" sz="1400" dirty="0"/>
          </a:p>
        </p:txBody>
      </p:sp>
      <p:sp>
        <p:nvSpPr>
          <p:cNvPr id="78" name="Text 75"/>
          <p:cNvSpPr/>
          <p:nvPr/>
        </p:nvSpPr>
        <p:spPr>
          <a:xfrm>
            <a:off x="5294376" y="3300984"/>
            <a:ext cx="3337560" cy="320040"/>
          </a:xfrm>
          <a:prstGeom prst="rect">
            <a:avLst/>
          </a:prstGeom>
          <a:noFill/>
          <a:ln/>
        </p:spPr>
        <p:txBody>
          <a:bodyPr wrap="square" lIns="0" tIns="0" rIns="0" bIns="0" rtlCol="0" anchor="ctr"/>
          <a:lstStyle/>
          <a:p>
            <a:pPr marL="0" indent="0">
              <a:buNone/>
            </a:pPr>
            <a:r>
              <a:rPr lang="en-US" sz="1300" b="1" dirty="0">
                <a:solidFill>
                  <a:srgbClr val="F8FAFC"/>
                </a:solidFill>
                <a:latin typeface="Calibri" pitchFamily="34" charset="0"/>
                <a:ea typeface="Calibri" pitchFamily="34" charset="-122"/>
                <a:cs typeface="Calibri" pitchFamily="34" charset="-120"/>
              </a:rPr>
              <a:t>Multi-agent</a:t>
            </a:r>
            <a:endParaRPr lang="en-US" sz="1300" dirty="0"/>
          </a:p>
        </p:txBody>
      </p:sp>
      <p:sp>
        <p:nvSpPr>
          <p:cNvPr id="79" name="Text 76"/>
          <p:cNvSpPr/>
          <p:nvPr/>
        </p:nvSpPr>
        <p:spPr>
          <a:xfrm>
            <a:off x="5294376" y="3593592"/>
            <a:ext cx="3337560" cy="274320"/>
          </a:xfrm>
          <a:prstGeom prst="rect">
            <a:avLst/>
          </a:prstGeom>
          <a:noFill/>
          <a:ln/>
        </p:spPr>
        <p:txBody>
          <a:bodyPr wrap="square" lIns="0" tIns="0" rIns="0" bIns="0" rtlCol="0" anchor="ctr"/>
          <a:lstStyle/>
          <a:p>
            <a:pPr marL="0" indent="0">
              <a:buNone/>
            </a:pPr>
            <a:r>
              <a:rPr lang="en-US" sz="950" i="1" dirty="0">
                <a:solidFill>
                  <a:srgbClr val="3B82F6"/>
                </a:solidFill>
                <a:latin typeface="Calibri" pitchFamily="34" charset="0"/>
                <a:ea typeface="Calibri" pitchFamily="34" charset="-122"/>
                <a:cs typeface="Calibri" pitchFamily="34" charset="-120"/>
              </a:rPr>
              <a:t>Specialise — split hard tasks across roles</a:t>
            </a:r>
            <a:endParaRPr lang="en-US" sz="950" dirty="0"/>
          </a:p>
        </p:txBody>
      </p:sp>
      <p:sp>
        <p:nvSpPr>
          <p:cNvPr id="80" name="Shape 77"/>
          <p:cNvSpPr/>
          <p:nvPr/>
        </p:nvSpPr>
        <p:spPr>
          <a:xfrm>
            <a:off x="6071616" y="3913632"/>
            <a:ext cx="1005840" cy="365760"/>
          </a:xfrm>
          <a:prstGeom prst="roundRect">
            <a:avLst>
              <a:gd name="adj" fmla="val 10000"/>
            </a:avLst>
          </a:prstGeom>
          <a:solidFill>
            <a:srgbClr val="0A1628"/>
          </a:solidFill>
          <a:ln w="15240">
            <a:solidFill>
              <a:srgbClr val="F97316"/>
            </a:solidFill>
            <a:prstDash val="solid"/>
          </a:ln>
        </p:spPr>
        <p:txBody>
          <a:bodyPr/>
          <a:lstStyle/>
          <a:p>
            <a:endParaRPr lang="en-GB"/>
          </a:p>
        </p:txBody>
      </p:sp>
      <p:sp>
        <p:nvSpPr>
          <p:cNvPr id="81" name="Text 78"/>
          <p:cNvSpPr/>
          <p:nvPr/>
        </p:nvSpPr>
        <p:spPr>
          <a:xfrm>
            <a:off x="6071616" y="3913632"/>
            <a:ext cx="1005840" cy="365760"/>
          </a:xfrm>
          <a:prstGeom prst="rect">
            <a:avLst/>
          </a:prstGeom>
          <a:noFill/>
          <a:ln/>
        </p:spPr>
        <p:txBody>
          <a:bodyPr wrap="square" lIns="0" tIns="0" rIns="0" bIns="0" rtlCol="0" anchor="ctr"/>
          <a:lstStyle/>
          <a:p>
            <a:pPr marL="0" indent="0" algn="ctr">
              <a:buNone/>
            </a:pPr>
            <a:r>
              <a:rPr lang="en-US" sz="900" b="1" dirty="0">
                <a:solidFill>
                  <a:srgbClr val="F8FAFC"/>
                </a:solidFill>
                <a:latin typeface="Calibri" pitchFamily="34" charset="0"/>
                <a:ea typeface="Calibri" pitchFamily="34" charset="-122"/>
                <a:cs typeface="Calibri" pitchFamily="34" charset="-120"/>
              </a:rPr>
              <a:t>Orchestrator</a:t>
            </a:r>
            <a:endParaRPr lang="en-US" sz="900" dirty="0"/>
          </a:p>
        </p:txBody>
      </p:sp>
      <p:sp>
        <p:nvSpPr>
          <p:cNvPr id="82" name="Shape 79"/>
          <p:cNvSpPr/>
          <p:nvPr/>
        </p:nvSpPr>
        <p:spPr>
          <a:xfrm>
            <a:off x="4837176" y="4462272"/>
            <a:ext cx="914400" cy="365760"/>
          </a:xfrm>
          <a:prstGeom prst="roundRect">
            <a:avLst>
              <a:gd name="adj" fmla="val 10000"/>
            </a:avLst>
          </a:prstGeom>
          <a:solidFill>
            <a:srgbClr val="0A1628"/>
          </a:solidFill>
          <a:ln w="15240">
            <a:solidFill>
              <a:srgbClr val="3B82F6"/>
            </a:solidFill>
            <a:prstDash val="solid"/>
          </a:ln>
        </p:spPr>
        <p:txBody>
          <a:bodyPr/>
          <a:lstStyle/>
          <a:p>
            <a:endParaRPr lang="en-GB"/>
          </a:p>
        </p:txBody>
      </p:sp>
      <p:sp>
        <p:nvSpPr>
          <p:cNvPr id="83" name="Text 80"/>
          <p:cNvSpPr/>
          <p:nvPr/>
        </p:nvSpPr>
        <p:spPr>
          <a:xfrm>
            <a:off x="4837176" y="4462272"/>
            <a:ext cx="914400" cy="365760"/>
          </a:xfrm>
          <a:prstGeom prst="rect">
            <a:avLst/>
          </a:prstGeom>
          <a:noFill/>
          <a:ln/>
        </p:spPr>
        <p:txBody>
          <a:bodyPr wrap="square" lIns="0" tIns="0" rIns="0" bIns="0" rtlCol="0" anchor="ctr"/>
          <a:lstStyle/>
          <a:p>
            <a:pPr marL="0" indent="0" algn="ctr">
              <a:buNone/>
            </a:pPr>
            <a:r>
              <a:rPr lang="en-US" sz="900" b="1" dirty="0">
                <a:solidFill>
                  <a:srgbClr val="F8FAFC"/>
                </a:solidFill>
                <a:latin typeface="Calibri" pitchFamily="34" charset="0"/>
                <a:ea typeface="Calibri" pitchFamily="34" charset="-122"/>
                <a:cs typeface="Calibri" pitchFamily="34" charset="-120"/>
              </a:rPr>
              <a:t>Researcher</a:t>
            </a:r>
            <a:endParaRPr lang="en-US" sz="900" dirty="0"/>
          </a:p>
        </p:txBody>
      </p:sp>
      <p:sp>
        <p:nvSpPr>
          <p:cNvPr id="84" name="Shape 81"/>
          <p:cNvSpPr/>
          <p:nvPr/>
        </p:nvSpPr>
        <p:spPr>
          <a:xfrm>
            <a:off x="6071616" y="4462272"/>
            <a:ext cx="1005840" cy="365760"/>
          </a:xfrm>
          <a:prstGeom prst="roundRect">
            <a:avLst>
              <a:gd name="adj" fmla="val 10000"/>
            </a:avLst>
          </a:prstGeom>
          <a:solidFill>
            <a:srgbClr val="0A1628"/>
          </a:solidFill>
          <a:ln w="15240">
            <a:solidFill>
              <a:srgbClr val="3B82F6"/>
            </a:solidFill>
            <a:prstDash val="solid"/>
          </a:ln>
        </p:spPr>
        <p:txBody>
          <a:bodyPr/>
          <a:lstStyle/>
          <a:p>
            <a:endParaRPr lang="en-GB"/>
          </a:p>
        </p:txBody>
      </p:sp>
      <p:sp>
        <p:nvSpPr>
          <p:cNvPr id="85" name="Text 82"/>
          <p:cNvSpPr/>
          <p:nvPr/>
        </p:nvSpPr>
        <p:spPr>
          <a:xfrm>
            <a:off x="6071616" y="4462272"/>
            <a:ext cx="1005840" cy="365760"/>
          </a:xfrm>
          <a:prstGeom prst="rect">
            <a:avLst/>
          </a:prstGeom>
          <a:noFill/>
          <a:ln/>
        </p:spPr>
        <p:txBody>
          <a:bodyPr wrap="square" lIns="0" tIns="0" rIns="0" bIns="0" rtlCol="0" anchor="ctr"/>
          <a:lstStyle/>
          <a:p>
            <a:pPr marL="0" indent="0" algn="ctr">
              <a:buNone/>
            </a:pPr>
            <a:r>
              <a:rPr lang="en-US" sz="900" b="1" dirty="0">
                <a:solidFill>
                  <a:srgbClr val="F8FAFC"/>
                </a:solidFill>
                <a:latin typeface="Calibri" pitchFamily="34" charset="0"/>
                <a:ea typeface="Calibri" pitchFamily="34" charset="-122"/>
                <a:cs typeface="Calibri" pitchFamily="34" charset="-120"/>
              </a:rPr>
              <a:t>Coder</a:t>
            </a:r>
            <a:endParaRPr lang="en-US" sz="900" dirty="0"/>
          </a:p>
        </p:txBody>
      </p:sp>
      <p:sp>
        <p:nvSpPr>
          <p:cNvPr id="86" name="Shape 83"/>
          <p:cNvSpPr/>
          <p:nvPr/>
        </p:nvSpPr>
        <p:spPr>
          <a:xfrm>
            <a:off x="7397496" y="4462272"/>
            <a:ext cx="914400" cy="365760"/>
          </a:xfrm>
          <a:prstGeom prst="roundRect">
            <a:avLst>
              <a:gd name="adj" fmla="val 10000"/>
            </a:avLst>
          </a:prstGeom>
          <a:solidFill>
            <a:srgbClr val="0A1628"/>
          </a:solidFill>
          <a:ln w="15240">
            <a:solidFill>
              <a:srgbClr val="3B82F6"/>
            </a:solidFill>
            <a:prstDash val="solid"/>
          </a:ln>
        </p:spPr>
        <p:txBody>
          <a:bodyPr/>
          <a:lstStyle/>
          <a:p>
            <a:endParaRPr lang="en-GB"/>
          </a:p>
        </p:txBody>
      </p:sp>
      <p:sp>
        <p:nvSpPr>
          <p:cNvPr id="87" name="Text 84"/>
          <p:cNvSpPr/>
          <p:nvPr/>
        </p:nvSpPr>
        <p:spPr>
          <a:xfrm>
            <a:off x="7397496" y="4462272"/>
            <a:ext cx="914400" cy="365760"/>
          </a:xfrm>
          <a:prstGeom prst="rect">
            <a:avLst/>
          </a:prstGeom>
          <a:noFill/>
          <a:ln/>
        </p:spPr>
        <p:txBody>
          <a:bodyPr wrap="square" lIns="0" tIns="0" rIns="0" bIns="0" rtlCol="0" anchor="ctr"/>
          <a:lstStyle/>
          <a:p>
            <a:pPr marL="0" indent="0" algn="ctr">
              <a:buNone/>
            </a:pPr>
            <a:r>
              <a:rPr lang="en-US" sz="900" b="1" dirty="0">
                <a:solidFill>
                  <a:srgbClr val="F8FAFC"/>
                </a:solidFill>
                <a:latin typeface="Calibri" pitchFamily="34" charset="0"/>
                <a:ea typeface="Calibri" pitchFamily="34" charset="-122"/>
                <a:cs typeface="Calibri" pitchFamily="34" charset="-120"/>
              </a:rPr>
              <a:t>Reviewer</a:t>
            </a:r>
            <a:endParaRPr lang="en-US" sz="900" dirty="0"/>
          </a:p>
        </p:txBody>
      </p:sp>
      <p:sp>
        <p:nvSpPr>
          <p:cNvPr id="88" name="Shape 85"/>
          <p:cNvSpPr/>
          <p:nvPr/>
        </p:nvSpPr>
        <p:spPr>
          <a:xfrm flipH="1">
            <a:off x="5294376" y="4279392"/>
            <a:ext cx="1051560" cy="182880"/>
          </a:xfrm>
          <a:prstGeom prst="line">
            <a:avLst/>
          </a:prstGeom>
          <a:noFill/>
          <a:ln w="19050">
            <a:solidFill>
              <a:srgbClr val="F97316"/>
            </a:solidFill>
            <a:prstDash val="solid"/>
            <a:tailEnd type="triangle"/>
          </a:ln>
        </p:spPr>
        <p:txBody>
          <a:bodyPr/>
          <a:lstStyle/>
          <a:p>
            <a:endParaRPr lang="en-GB"/>
          </a:p>
        </p:txBody>
      </p:sp>
      <p:sp>
        <p:nvSpPr>
          <p:cNvPr id="89" name="Shape 86"/>
          <p:cNvSpPr/>
          <p:nvPr/>
        </p:nvSpPr>
        <p:spPr>
          <a:xfrm>
            <a:off x="6574536" y="4279392"/>
            <a:ext cx="0" cy="182880"/>
          </a:xfrm>
          <a:prstGeom prst="line">
            <a:avLst/>
          </a:prstGeom>
          <a:noFill/>
          <a:ln w="19050">
            <a:solidFill>
              <a:srgbClr val="F97316"/>
            </a:solidFill>
            <a:prstDash val="solid"/>
            <a:tailEnd type="triangle"/>
          </a:ln>
        </p:spPr>
        <p:txBody>
          <a:bodyPr/>
          <a:lstStyle/>
          <a:p>
            <a:endParaRPr lang="en-GB"/>
          </a:p>
        </p:txBody>
      </p:sp>
      <p:sp>
        <p:nvSpPr>
          <p:cNvPr id="90" name="Shape 87"/>
          <p:cNvSpPr/>
          <p:nvPr/>
        </p:nvSpPr>
        <p:spPr>
          <a:xfrm>
            <a:off x="6803136" y="4279392"/>
            <a:ext cx="1051560" cy="182880"/>
          </a:xfrm>
          <a:prstGeom prst="line">
            <a:avLst/>
          </a:prstGeom>
          <a:noFill/>
          <a:ln w="19050">
            <a:solidFill>
              <a:srgbClr val="F97316"/>
            </a:solidFill>
            <a:prstDash val="solid"/>
            <a:tailEnd type="triangle"/>
          </a:ln>
        </p:spPr>
        <p:txBody>
          <a:bodyPr/>
          <a:lstStyle/>
          <a:p>
            <a:endParaRPr lang="en-GB"/>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1">
    <p:bg>
      <p:bgPr>
        <a:solidFill>
          <a:srgbClr val="0A1628"/>
        </a:solidFill>
        <a:effectLst/>
      </p:bgPr>
    </p:bg>
    <p:spTree>
      <p:nvGrpSpPr>
        <p:cNvPr id="1" name=""/>
        <p:cNvGrpSpPr/>
        <p:nvPr/>
      </p:nvGrpSpPr>
      <p:grpSpPr>
        <a:xfrm>
          <a:off x="0" y="0"/>
          <a:ext cx="0" cy="0"/>
          <a:chOff x="0" y="0"/>
          <a:chExt cx="0" cy="0"/>
        </a:xfrm>
      </p:grpSpPr>
      <p:sp>
        <p:nvSpPr>
          <p:cNvPr id="3" name="Shape 0"/>
          <p:cNvSpPr/>
          <p:nvPr/>
        </p:nvSpPr>
        <p:spPr>
          <a:xfrm>
            <a:off x="457200" y="411480"/>
            <a:ext cx="320040" cy="54864"/>
          </a:xfrm>
          <a:prstGeom prst="rect">
            <a:avLst/>
          </a:prstGeom>
          <a:solidFill>
            <a:srgbClr val="F97316"/>
          </a:solidFill>
          <a:ln w="12700">
            <a:solidFill>
              <a:srgbClr val="F97316"/>
            </a:solidFill>
            <a:prstDash val="solid"/>
          </a:ln>
        </p:spPr>
        <p:txBody>
          <a:bodyPr/>
          <a:lstStyle/>
          <a:p>
            <a:endParaRPr lang="en-GB"/>
          </a:p>
        </p:txBody>
      </p:sp>
      <p:sp>
        <p:nvSpPr>
          <p:cNvPr id="4" name="Text 1"/>
          <p:cNvSpPr/>
          <p:nvPr/>
        </p:nvSpPr>
        <p:spPr>
          <a:xfrm>
            <a:off x="868680" y="329184"/>
            <a:ext cx="5029200" cy="274320"/>
          </a:xfrm>
          <a:prstGeom prst="rect">
            <a:avLst/>
          </a:prstGeom>
          <a:noFill/>
          <a:ln/>
        </p:spPr>
        <p:txBody>
          <a:bodyPr wrap="square" lIns="0" tIns="0" rIns="0" bIns="0" rtlCol="0" anchor="ctr"/>
          <a:lstStyle/>
          <a:p>
            <a:pPr marL="0" indent="0">
              <a:buNone/>
            </a:pPr>
            <a:r>
              <a:rPr lang="en-US" sz="1000" b="1" kern="0" spc="400" dirty="0">
                <a:solidFill>
                  <a:srgbClr val="F97316"/>
                </a:solidFill>
                <a:latin typeface="Calibri" pitchFamily="34" charset="0"/>
                <a:ea typeface="Calibri" pitchFamily="34" charset="-122"/>
                <a:cs typeface="Calibri" pitchFamily="34" charset="-120"/>
              </a:rPr>
              <a:t>05 · PRODUCTION</a:t>
            </a:r>
            <a:endParaRPr lang="en-US" sz="1000" dirty="0"/>
          </a:p>
        </p:txBody>
      </p:sp>
      <p:sp>
        <p:nvSpPr>
          <p:cNvPr id="5" name="Text 2"/>
          <p:cNvSpPr/>
          <p:nvPr/>
        </p:nvSpPr>
        <p:spPr>
          <a:xfrm>
            <a:off x="457200" y="640080"/>
            <a:ext cx="8229600" cy="822960"/>
          </a:xfrm>
          <a:prstGeom prst="rect">
            <a:avLst/>
          </a:prstGeom>
          <a:noFill/>
          <a:ln/>
        </p:spPr>
        <p:txBody>
          <a:bodyPr wrap="square" lIns="0" tIns="0" rIns="0" bIns="0" rtlCol="0" anchor="ctr"/>
          <a:lstStyle/>
          <a:p>
            <a:pPr marL="0" indent="0">
              <a:buNone/>
            </a:pPr>
            <a:r>
              <a:rPr lang="en-US" sz="3200" b="1" dirty="0">
                <a:solidFill>
                  <a:srgbClr val="F8FAFC"/>
                </a:solidFill>
                <a:latin typeface="Calibri" pitchFamily="34" charset="0"/>
                <a:ea typeface="Calibri" pitchFamily="34" charset="-122"/>
                <a:cs typeface="Calibri" pitchFamily="34" charset="-120"/>
              </a:rPr>
              <a:t>Deploy &amp; Govern</a:t>
            </a:r>
            <a:endParaRPr lang="en-US" sz="3200" dirty="0"/>
          </a:p>
        </p:txBody>
      </p:sp>
      <p:sp>
        <p:nvSpPr>
          <p:cNvPr id="6" name="Text 3"/>
          <p:cNvSpPr/>
          <p:nvPr/>
        </p:nvSpPr>
        <p:spPr>
          <a:xfrm>
            <a:off x="457200" y="4754880"/>
            <a:ext cx="4572000" cy="228600"/>
          </a:xfrm>
          <a:prstGeom prst="rect">
            <a:avLst/>
          </a:prstGeom>
          <a:noFill/>
          <a:ln/>
        </p:spPr>
        <p:txBody>
          <a:bodyPr wrap="square" lIns="0" tIns="0" rIns="0" bIns="0" rtlCol="0" anchor="ctr"/>
          <a:lstStyle/>
          <a:p>
            <a:pPr marL="0" indent="0">
              <a:buNone/>
            </a:pPr>
            <a:endParaRPr lang="en-US" sz="900" dirty="0"/>
          </a:p>
        </p:txBody>
      </p:sp>
      <p:sp>
        <p:nvSpPr>
          <p:cNvPr id="7" name="Shape 4"/>
          <p:cNvSpPr/>
          <p:nvPr/>
        </p:nvSpPr>
        <p:spPr>
          <a:xfrm>
            <a:off x="8275320" y="4818888"/>
            <a:ext cx="73152" cy="73152"/>
          </a:xfrm>
          <a:prstGeom prst="ellipse">
            <a:avLst/>
          </a:prstGeom>
          <a:solidFill>
            <a:srgbClr val="F97316"/>
          </a:solidFill>
          <a:ln w="12700">
            <a:solidFill>
              <a:srgbClr val="F97316"/>
            </a:solidFill>
            <a:prstDash val="solid"/>
          </a:ln>
        </p:spPr>
        <p:txBody>
          <a:bodyPr/>
          <a:lstStyle/>
          <a:p>
            <a:endParaRPr lang="en-GB"/>
          </a:p>
        </p:txBody>
      </p:sp>
      <p:sp>
        <p:nvSpPr>
          <p:cNvPr id="8" name="Text 5"/>
          <p:cNvSpPr/>
          <p:nvPr/>
        </p:nvSpPr>
        <p:spPr>
          <a:xfrm>
            <a:off x="8366760" y="4736592"/>
            <a:ext cx="685800" cy="228600"/>
          </a:xfrm>
          <a:prstGeom prst="rect">
            <a:avLst/>
          </a:prstGeom>
          <a:noFill/>
          <a:ln/>
        </p:spPr>
        <p:txBody>
          <a:bodyPr wrap="square" lIns="0" tIns="0" rIns="0" bIns="0" rtlCol="0" anchor="ctr"/>
          <a:lstStyle/>
          <a:p>
            <a:pPr marL="0" indent="0" algn="r">
              <a:buNone/>
            </a:pPr>
            <a:r>
              <a:rPr lang="en-US" sz="900" dirty="0">
                <a:solidFill>
                  <a:srgbClr val="94A3B8"/>
                </a:solidFill>
                <a:latin typeface="Calibri" pitchFamily="34" charset="0"/>
                <a:ea typeface="Calibri" pitchFamily="34" charset="-122"/>
                <a:cs typeface="Calibri" pitchFamily="34" charset="-120"/>
              </a:rPr>
              <a:t>19 / 21</a:t>
            </a:r>
            <a:endParaRPr lang="en-US" sz="900" dirty="0"/>
          </a:p>
        </p:txBody>
      </p:sp>
      <p:sp>
        <p:nvSpPr>
          <p:cNvPr id="9" name="Shape 6"/>
          <p:cNvSpPr/>
          <p:nvPr/>
        </p:nvSpPr>
        <p:spPr>
          <a:xfrm>
            <a:off x="365760" y="1463040"/>
            <a:ext cx="4297680" cy="2743200"/>
          </a:xfrm>
          <a:prstGeom prst="roundRect">
            <a:avLst>
              <a:gd name="adj" fmla="val 2667"/>
            </a:avLst>
          </a:prstGeom>
          <a:solidFill>
            <a:srgbClr val="11203A"/>
          </a:solidFill>
          <a:ln w="12700">
            <a:solidFill>
              <a:srgbClr val="1B2D4F"/>
            </a:solidFill>
            <a:prstDash val="solid"/>
          </a:ln>
          <a:effectLst>
            <a:outerShdw blurRad="101600" dist="25400" dir="8100000" algn="bl" rotWithShape="0">
              <a:srgbClr val="000000">
                <a:alpha val="25000"/>
              </a:srgbClr>
            </a:outerShdw>
          </a:effectLst>
        </p:spPr>
        <p:txBody>
          <a:bodyPr/>
          <a:lstStyle/>
          <a:p>
            <a:endParaRPr lang="en-GB"/>
          </a:p>
        </p:txBody>
      </p:sp>
      <p:sp>
        <p:nvSpPr>
          <p:cNvPr id="10" name="Shape 7"/>
          <p:cNvSpPr/>
          <p:nvPr/>
        </p:nvSpPr>
        <p:spPr>
          <a:xfrm>
            <a:off x="365760" y="1463040"/>
            <a:ext cx="4297680" cy="73152"/>
          </a:xfrm>
          <a:prstGeom prst="rect">
            <a:avLst/>
          </a:prstGeom>
          <a:solidFill>
            <a:srgbClr val="3B82F6"/>
          </a:solidFill>
          <a:ln w="12700">
            <a:solidFill>
              <a:srgbClr val="3B82F6"/>
            </a:solidFill>
            <a:prstDash val="solid"/>
          </a:ln>
        </p:spPr>
        <p:txBody>
          <a:bodyPr/>
          <a:lstStyle/>
          <a:p>
            <a:endParaRPr lang="en-GB"/>
          </a:p>
        </p:txBody>
      </p:sp>
      <p:sp>
        <p:nvSpPr>
          <p:cNvPr id="11" name="Text 8"/>
          <p:cNvSpPr/>
          <p:nvPr/>
        </p:nvSpPr>
        <p:spPr>
          <a:xfrm>
            <a:off x="594360" y="1600200"/>
            <a:ext cx="3840480" cy="274320"/>
          </a:xfrm>
          <a:prstGeom prst="rect">
            <a:avLst/>
          </a:prstGeom>
          <a:noFill/>
          <a:ln/>
        </p:spPr>
        <p:txBody>
          <a:bodyPr wrap="square" lIns="0" tIns="0" rIns="0" bIns="0" rtlCol="0" anchor="ctr"/>
          <a:lstStyle/>
          <a:p>
            <a:pPr marL="0" indent="0">
              <a:buNone/>
            </a:pPr>
            <a:r>
              <a:rPr lang="en-US" sz="1000" b="1" kern="0" spc="400" dirty="0">
                <a:solidFill>
                  <a:srgbClr val="3B82F6"/>
                </a:solidFill>
                <a:latin typeface="Calibri" pitchFamily="34" charset="0"/>
                <a:ea typeface="Calibri" pitchFamily="34" charset="-122"/>
                <a:cs typeface="Calibri" pitchFamily="34" charset="-120"/>
              </a:rPr>
              <a:t>DEPLOYMENT</a:t>
            </a:r>
            <a:endParaRPr lang="en-US" sz="1000" dirty="0"/>
          </a:p>
        </p:txBody>
      </p:sp>
      <p:sp>
        <p:nvSpPr>
          <p:cNvPr id="12" name="Shape 9"/>
          <p:cNvSpPr/>
          <p:nvPr/>
        </p:nvSpPr>
        <p:spPr>
          <a:xfrm>
            <a:off x="594360" y="1965960"/>
            <a:ext cx="3840480" cy="502920"/>
          </a:xfrm>
          <a:prstGeom prst="roundRect">
            <a:avLst>
              <a:gd name="adj" fmla="val 9091"/>
            </a:avLst>
          </a:prstGeom>
          <a:solidFill>
            <a:srgbClr val="0A1628"/>
          </a:solidFill>
          <a:ln w="19050">
            <a:solidFill>
              <a:srgbClr val="3B82F6"/>
            </a:solidFill>
            <a:prstDash val="solid"/>
          </a:ln>
        </p:spPr>
        <p:txBody>
          <a:bodyPr/>
          <a:lstStyle/>
          <a:p>
            <a:endParaRPr lang="en-GB"/>
          </a:p>
        </p:txBody>
      </p:sp>
      <p:sp>
        <p:nvSpPr>
          <p:cNvPr id="13" name="Shape 10"/>
          <p:cNvSpPr/>
          <p:nvPr/>
        </p:nvSpPr>
        <p:spPr>
          <a:xfrm>
            <a:off x="685800" y="2057400"/>
            <a:ext cx="320040" cy="320040"/>
          </a:xfrm>
          <a:prstGeom prst="ellipse">
            <a:avLst/>
          </a:prstGeom>
          <a:solidFill>
            <a:srgbClr val="3B82F6"/>
          </a:solidFill>
          <a:ln w="12700">
            <a:solidFill>
              <a:srgbClr val="3B82F6"/>
            </a:solidFill>
            <a:prstDash val="solid"/>
          </a:ln>
        </p:spPr>
        <p:txBody>
          <a:bodyPr/>
          <a:lstStyle/>
          <a:p>
            <a:endParaRPr lang="en-GB"/>
          </a:p>
        </p:txBody>
      </p:sp>
      <p:sp>
        <p:nvSpPr>
          <p:cNvPr id="14" name="Text 11"/>
          <p:cNvSpPr/>
          <p:nvPr/>
        </p:nvSpPr>
        <p:spPr>
          <a:xfrm>
            <a:off x="685800" y="2057400"/>
            <a:ext cx="320040" cy="320040"/>
          </a:xfrm>
          <a:prstGeom prst="rect">
            <a:avLst/>
          </a:prstGeom>
          <a:noFill/>
          <a:ln/>
        </p:spPr>
        <p:txBody>
          <a:bodyPr wrap="square" lIns="0" tIns="0" rIns="0" bIns="0" rtlCol="0" anchor="ctr"/>
          <a:lstStyle/>
          <a:p>
            <a:pPr marL="0" indent="0" algn="ctr">
              <a:buNone/>
            </a:pPr>
            <a:r>
              <a:rPr lang="en-US" sz="1200" b="1" dirty="0">
                <a:solidFill>
                  <a:srgbClr val="F8FAFC"/>
                </a:solidFill>
                <a:latin typeface="Calibri" pitchFamily="34" charset="0"/>
                <a:ea typeface="Calibri" pitchFamily="34" charset="-122"/>
                <a:cs typeface="Calibri" pitchFamily="34" charset="-120"/>
              </a:rPr>
              <a:t>💻</a:t>
            </a:r>
            <a:endParaRPr lang="en-US" sz="1200" dirty="0"/>
          </a:p>
        </p:txBody>
      </p:sp>
      <p:sp>
        <p:nvSpPr>
          <p:cNvPr id="15" name="Text 12"/>
          <p:cNvSpPr/>
          <p:nvPr/>
        </p:nvSpPr>
        <p:spPr>
          <a:xfrm>
            <a:off x="1143000" y="2011680"/>
            <a:ext cx="1371600" cy="228600"/>
          </a:xfrm>
          <a:prstGeom prst="rect">
            <a:avLst/>
          </a:prstGeom>
          <a:noFill/>
          <a:ln/>
        </p:spPr>
        <p:txBody>
          <a:bodyPr wrap="square" lIns="0" tIns="0" rIns="0" bIns="0" rtlCol="0" anchor="ctr"/>
          <a:lstStyle/>
          <a:p>
            <a:pPr marL="0" indent="0">
              <a:buNone/>
            </a:pPr>
            <a:r>
              <a:rPr lang="en-US" sz="1200" b="1" dirty="0">
                <a:solidFill>
                  <a:srgbClr val="F8FAFC"/>
                </a:solidFill>
                <a:latin typeface="Calibri" pitchFamily="34" charset="0"/>
                <a:ea typeface="Calibri" pitchFamily="34" charset="-122"/>
                <a:cs typeface="Calibri" pitchFamily="34" charset="-120"/>
              </a:rPr>
              <a:t>Local</a:t>
            </a:r>
            <a:endParaRPr lang="en-US" sz="1200" dirty="0"/>
          </a:p>
        </p:txBody>
      </p:sp>
      <p:sp>
        <p:nvSpPr>
          <p:cNvPr id="16" name="Text 13"/>
          <p:cNvSpPr/>
          <p:nvPr/>
        </p:nvSpPr>
        <p:spPr>
          <a:xfrm>
            <a:off x="1143000" y="2221992"/>
            <a:ext cx="3291840" cy="228600"/>
          </a:xfrm>
          <a:prstGeom prst="rect">
            <a:avLst/>
          </a:prstGeom>
          <a:noFill/>
          <a:ln/>
        </p:spPr>
        <p:txBody>
          <a:bodyPr wrap="square" lIns="0" tIns="0" rIns="0" bIns="0" rtlCol="0" anchor="ctr"/>
          <a:lstStyle/>
          <a:p>
            <a:pPr marL="0" indent="0">
              <a:buNone/>
            </a:pPr>
            <a:r>
              <a:rPr lang="en-US" sz="1000" dirty="0">
                <a:solidFill>
                  <a:srgbClr val="94A3B8"/>
                </a:solidFill>
                <a:latin typeface="Calibri" pitchFamily="34" charset="0"/>
                <a:ea typeface="Calibri" pitchFamily="34" charset="-122"/>
                <a:cs typeface="Calibri" pitchFamily="34" charset="-120"/>
              </a:rPr>
              <a:t>Ollama · llama.cpp</a:t>
            </a:r>
            <a:endParaRPr lang="en-US" sz="1000" dirty="0"/>
          </a:p>
        </p:txBody>
      </p:sp>
      <p:sp>
        <p:nvSpPr>
          <p:cNvPr id="17" name="Shape 14"/>
          <p:cNvSpPr/>
          <p:nvPr/>
        </p:nvSpPr>
        <p:spPr>
          <a:xfrm>
            <a:off x="594360" y="2560320"/>
            <a:ext cx="3840480" cy="502920"/>
          </a:xfrm>
          <a:prstGeom prst="roundRect">
            <a:avLst>
              <a:gd name="adj" fmla="val 9091"/>
            </a:avLst>
          </a:prstGeom>
          <a:solidFill>
            <a:srgbClr val="0A1628"/>
          </a:solidFill>
          <a:ln w="19050">
            <a:solidFill>
              <a:srgbClr val="3B82F6"/>
            </a:solidFill>
            <a:prstDash val="solid"/>
          </a:ln>
        </p:spPr>
        <p:txBody>
          <a:bodyPr/>
          <a:lstStyle/>
          <a:p>
            <a:endParaRPr lang="en-GB"/>
          </a:p>
        </p:txBody>
      </p:sp>
      <p:sp>
        <p:nvSpPr>
          <p:cNvPr id="18" name="Shape 15"/>
          <p:cNvSpPr/>
          <p:nvPr/>
        </p:nvSpPr>
        <p:spPr>
          <a:xfrm>
            <a:off x="685800" y="2651760"/>
            <a:ext cx="320040" cy="320040"/>
          </a:xfrm>
          <a:prstGeom prst="ellipse">
            <a:avLst/>
          </a:prstGeom>
          <a:solidFill>
            <a:srgbClr val="3B82F6"/>
          </a:solidFill>
          <a:ln w="12700">
            <a:solidFill>
              <a:srgbClr val="3B82F6"/>
            </a:solidFill>
            <a:prstDash val="solid"/>
          </a:ln>
        </p:spPr>
        <p:txBody>
          <a:bodyPr/>
          <a:lstStyle/>
          <a:p>
            <a:endParaRPr lang="en-GB"/>
          </a:p>
        </p:txBody>
      </p:sp>
      <p:sp>
        <p:nvSpPr>
          <p:cNvPr id="19" name="Text 16"/>
          <p:cNvSpPr/>
          <p:nvPr/>
        </p:nvSpPr>
        <p:spPr>
          <a:xfrm>
            <a:off x="685800" y="2651760"/>
            <a:ext cx="320040" cy="320040"/>
          </a:xfrm>
          <a:prstGeom prst="rect">
            <a:avLst/>
          </a:prstGeom>
          <a:noFill/>
          <a:ln/>
        </p:spPr>
        <p:txBody>
          <a:bodyPr wrap="square" lIns="0" tIns="0" rIns="0" bIns="0" rtlCol="0" anchor="ctr"/>
          <a:lstStyle/>
          <a:p>
            <a:pPr marL="0" indent="0" algn="ctr">
              <a:buNone/>
            </a:pPr>
            <a:r>
              <a:rPr lang="en-US" sz="1200" b="1" dirty="0">
                <a:solidFill>
                  <a:srgbClr val="F8FAFC"/>
                </a:solidFill>
                <a:latin typeface="Calibri" pitchFamily="34" charset="0"/>
                <a:ea typeface="Calibri" pitchFamily="34" charset="-122"/>
                <a:cs typeface="Calibri" pitchFamily="34" charset="-120"/>
              </a:rPr>
              <a:t>☁️</a:t>
            </a:r>
            <a:endParaRPr lang="en-US" sz="1200" dirty="0"/>
          </a:p>
        </p:txBody>
      </p:sp>
      <p:sp>
        <p:nvSpPr>
          <p:cNvPr id="20" name="Text 17"/>
          <p:cNvSpPr/>
          <p:nvPr/>
        </p:nvSpPr>
        <p:spPr>
          <a:xfrm>
            <a:off x="1143000" y="2606040"/>
            <a:ext cx="1371600" cy="228600"/>
          </a:xfrm>
          <a:prstGeom prst="rect">
            <a:avLst/>
          </a:prstGeom>
          <a:noFill/>
          <a:ln/>
        </p:spPr>
        <p:txBody>
          <a:bodyPr wrap="square" lIns="0" tIns="0" rIns="0" bIns="0" rtlCol="0" anchor="ctr"/>
          <a:lstStyle/>
          <a:p>
            <a:pPr marL="0" indent="0">
              <a:buNone/>
            </a:pPr>
            <a:r>
              <a:rPr lang="en-US" sz="1200" b="1" dirty="0">
                <a:solidFill>
                  <a:srgbClr val="F8FAFC"/>
                </a:solidFill>
                <a:latin typeface="Calibri" pitchFamily="34" charset="0"/>
                <a:ea typeface="Calibri" pitchFamily="34" charset="-122"/>
                <a:cs typeface="Calibri" pitchFamily="34" charset="-120"/>
              </a:rPr>
              <a:t>Managed API</a:t>
            </a:r>
            <a:endParaRPr lang="en-US" sz="1200" dirty="0"/>
          </a:p>
        </p:txBody>
      </p:sp>
      <p:sp>
        <p:nvSpPr>
          <p:cNvPr id="21" name="Text 18"/>
          <p:cNvSpPr/>
          <p:nvPr/>
        </p:nvSpPr>
        <p:spPr>
          <a:xfrm>
            <a:off x="1143000" y="2816352"/>
            <a:ext cx="3291840" cy="228600"/>
          </a:xfrm>
          <a:prstGeom prst="rect">
            <a:avLst/>
          </a:prstGeom>
          <a:noFill/>
          <a:ln/>
        </p:spPr>
        <p:txBody>
          <a:bodyPr wrap="square" lIns="0" tIns="0" rIns="0" bIns="0" rtlCol="0" anchor="ctr"/>
          <a:lstStyle/>
          <a:p>
            <a:pPr marL="0" indent="0">
              <a:buNone/>
            </a:pPr>
            <a:r>
              <a:rPr lang="en-US" sz="1000" dirty="0">
                <a:solidFill>
                  <a:srgbClr val="94A3B8"/>
                </a:solidFill>
                <a:latin typeface="Calibri" pitchFamily="34" charset="0"/>
                <a:ea typeface="Calibri" pitchFamily="34" charset="-122"/>
                <a:cs typeface="Calibri" pitchFamily="34" charset="-120"/>
              </a:rPr>
              <a:t>OpenAI · Anthropic · Azure</a:t>
            </a:r>
            <a:endParaRPr lang="en-US" sz="1000" dirty="0"/>
          </a:p>
        </p:txBody>
      </p:sp>
      <p:sp>
        <p:nvSpPr>
          <p:cNvPr id="22" name="Shape 19"/>
          <p:cNvSpPr/>
          <p:nvPr/>
        </p:nvSpPr>
        <p:spPr>
          <a:xfrm>
            <a:off x="594360" y="3154680"/>
            <a:ext cx="3840480" cy="502920"/>
          </a:xfrm>
          <a:prstGeom prst="roundRect">
            <a:avLst>
              <a:gd name="adj" fmla="val 9091"/>
            </a:avLst>
          </a:prstGeom>
          <a:solidFill>
            <a:srgbClr val="0A1628"/>
          </a:solidFill>
          <a:ln w="19050">
            <a:solidFill>
              <a:srgbClr val="F97316"/>
            </a:solidFill>
            <a:prstDash val="solid"/>
          </a:ln>
        </p:spPr>
        <p:txBody>
          <a:bodyPr/>
          <a:lstStyle/>
          <a:p>
            <a:endParaRPr lang="en-GB"/>
          </a:p>
        </p:txBody>
      </p:sp>
      <p:sp>
        <p:nvSpPr>
          <p:cNvPr id="23" name="Shape 20"/>
          <p:cNvSpPr/>
          <p:nvPr/>
        </p:nvSpPr>
        <p:spPr>
          <a:xfrm>
            <a:off x="685800" y="3246120"/>
            <a:ext cx="320040" cy="320040"/>
          </a:xfrm>
          <a:prstGeom prst="ellipse">
            <a:avLst/>
          </a:prstGeom>
          <a:solidFill>
            <a:srgbClr val="F97316"/>
          </a:solidFill>
          <a:ln w="12700">
            <a:solidFill>
              <a:srgbClr val="F97316"/>
            </a:solidFill>
            <a:prstDash val="solid"/>
          </a:ln>
        </p:spPr>
        <p:txBody>
          <a:bodyPr/>
          <a:lstStyle/>
          <a:p>
            <a:endParaRPr lang="en-GB"/>
          </a:p>
        </p:txBody>
      </p:sp>
      <p:sp>
        <p:nvSpPr>
          <p:cNvPr id="24" name="Text 21"/>
          <p:cNvSpPr/>
          <p:nvPr/>
        </p:nvSpPr>
        <p:spPr>
          <a:xfrm>
            <a:off x="685800" y="3246120"/>
            <a:ext cx="320040" cy="320040"/>
          </a:xfrm>
          <a:prstGeom prst="rect">
            <a:avLst/>
          </a:prstGeom>
          <a:noFill/>
          <a:ln/>
        </p:spPr>
        <p:txBody>
          <a:bodyPr wrap="square" lIns="0" tIns="0" rIns="0" bIns="0" rtlCol="0" anchor="ctr"/>
          <a:lstStyle/>
          <a:p>
            <a:pPr marL="0" indent="0" algn="ctr">
              <a:buNone/>
            </a:pPr>
            <a:r>
              <a:rPr lang="en-US" sz="1200" b="1" dirty="0">
                <a:solidFill>
                  <a:srgbClr val="F8FAFC"/>
                </a:solidFill>
                <a:latin typeface="Calibri" pitchFamily="34" charset="0"/>
                <a:ea typeface="Calibri" pitchFamily="34" charset="-122"/>
                <a:cs typeface="Calibri" pitchFamily="34" charset="-120"/>
              </a:rPr>
              <a:t>⚓</a:t>
            </a:r>
            <a:endParaRPr lang="en-US" sz="1200" dirty="0"/>
          </a:p>
        </p:txBody>
      </p:sp>
      <p:sp>
        <p:nvSpPr>
          <p:cNvPr id="25" name="Text 22"/>
          <p:cNvSpPr/>
          <p:nvPr/>
        </p:nvSpPr>
        <p:spPr>
          <a:xfrm>
            <a:off x="1143000" y="3200400"/>
            <a:ext cx="1371600" cy="228600"/>
          </a:xfrm>
          <a:prstGeom prst="rect">
            <a:avLst/>
          </a:prstGeom>
          <a:noFill/>
          <a:ln/>
        </p:spPr>
        <p:txBody>
          <a:bodyPr wrap="square" lIns="0" tIns="0" rIns="0" bIns="0" rtlCol="0" anchor="ctr"/>
          <a:lstStyle/>
          <a:p>
            <a:pPr marL="0" indent="0">
              <a:buNone/>
            </a:pPr>
            <a:r>
              <a:rPr lang="en-US" sz="1200" b="1" dirty="0">
                <a:solidFill>
                  <a:srgbClr val="F8FAFC"/>
                </a:solidFill>
                <a:latin typeface="Calibri" pitchFamily="34" charset="0"/>
                <a:ea typeface="Calibri" pitchFamily="34" charset="-122"/>
                <a:cs typeface="Calibri" pitchFamily="34" charset="-120"/>
              </a:rPr>
              <a:t>Kubernetes</a:t>
            </a:r>
            <a:endParaRPr lang="en-US" sz="1200" dirty="0"/>
          </a:p>
        </p:txBody>
      </p:sp>
      <p:sp>
        <p:nvSpPr>
          <p:cNvPr id="26" name="Text 23"/>
          <p:cNvSpPr/>
          <p:nvPr/>
        </p:nvSpPr>
        <p:spPr>
          <a:xfrm>
            <a:off x="1143000" y="3410712"/>
            <a:ext cx="3291840" cy="228600"/>
          </a:xfrm>
          <a:prstGeom prst="rect">
            <a:avLst/>
          </a:prstGeom>
          <a:noFill/>
          <a:ln/>
        </p:spPr>
        <p:txBody>
          <a:bodyPr wrap="square" lIns="0" tIns="0" rIns="0" bIns="0" rtlCol="0" anchor="ctr"/>
          <a:lstStyle/>
          <a:p>
            <a:pPr marL="0" indent="0">
              <a:buNone/>
            </a:pPr>
            <a:r>
              <a:rPr lang="en-US" sz="1000" dirty="0">
                <a:solidFill>
                  <a:srgbClr val="94A3B8"/>
                </a:solidFill>
                <a:latin typeface="Calibri" pitchFamily="34" charset="0"/>
                <a:ea typeface="Calibri" pitchFamily="34" charset="-122"/>
                <a:cs typeface="Calibri" pitchFamily="34" charset="-120"/>
              </a:rPr>
              <a:t>Azure AI Foundry · EKS · GKE</a:t>
            </a:r>
            <a:endParaRPr lang="en-US" sz="1000" dirty="0"/>
          </a:p>
        </p:txBody>
      </p:sp>
      <p:sp>
        <p:nvSpPr>
          <p:cNvPr id="28" name="Text 25"/>
          <p:cNvSpPr/>
          <p:nvPr/>
        </p:nvSpPr>
        <p:spPr>
          <a:xfrm>
            <a:off x="685800" y="3794760"/>
            <a:ext cx="3749040" cy="320040"/>
          </a:xfrm>
          <a:prstGeom prst="rect">
            <a:avLst/>
          </a:prstGeom>
          <a:noFill/>
          <a:ln/>
        </p:spPr>
        <p:txBody>
          <a:bodyPr wrap="square" lIns="0" tIns="0" rIns="0" bIns="0" rtlCol="0" anchor="ctr"/>
          <a:lstStyle/>
          <a:p>
            <a:pPr marL="0" indent="0">
              <a:buNone/>
            </a:pPr>
            <a:endParaRPr lang="en-US" sz="900" dirty="0"/>
          </a:p>
        </p:txBody>
      </p:sp>
      <p:sp>
        <p:nvSpPr>
          <p:cNvPr id="29" name="Shape 26"/>
          <p:cNvSpPr/>
          <p:nvPr/>
        </p:nvSpPr>
        <p:spPr>
          <a:xfrm>
            <a:off x="4800600" y="1463040"/>
            <a:ext cx="3977640" cy="2743200"/>
          </a:xfrm>
          <a:prstGeom prst="roundRect">
            <a:avLst>
              <a:gd name="adj" fmla="val 2667"/>
            </a:avLst>
          </a:prstGeom>
          <a:solidFill>
            <a:srgbClr val="11203A"/>
          </a:solidFill>
          <a:ln w="12700">
            <a:solidFill>
              <a:srgbClr val="1B2D4F"/>
            </a:solidFill>
            <a:prstDash val="solid"/>
          </a:ln>
          <a:effectLst>
            <a:outerShdw blurRad="101600" dist="25400" dir="8100000" algn="bl" rotWithShape="0">
              <a:srgbClr val="000000">
                <a:alpha val="25000"/>
              </a:srgbClr>
            </a:outerShdw>
          </a:effectLst>
        </p:spPr>
        <p:txBody>
          <a:bodyPr/>
          <a:lstStyle/>
          <a:p>
            <a:endParaRPr lang="en-GB"/>
          </a:p>
        </p:txBody>
      </p:sp>
      <p:sp>
        <p:nvSpPr>
          <p:cNvPr id="30" name="Shape 27"/>
          <p:cNvSpPr/>
          <p:nvPr/>
        </p:nvSpPr>
        <p:spPr>
          <a:xfrm>
            <a:off x="4800600" y="1463040"/>
            <a:ext cx="3977640" cy="73152"/>
          </a:xfrm>
          <a:prstGeom prst="rect">
            <a:avLst/>
          </a:prstGeom>
          <a:solidFill>
            <a:srgbClr val="F97316"/>
          </a:solidFill>
          <a:ln w="12700">
            <a:solidFill>
              <a:srgbClr val="F97316"/>
            </a:solidFill>
            <a:prstDash val="solid"/>
          </a:ln>
        </p:spPr>
        <p:txBody>
          <a:bodyPr/>
          <a:lstStyle/>
          <a:p>
            <a:endParaRPr lang="en-GB"/>
          </a:p>
        </p:txBody>
      </p:sp>
      <p:sp>
        <p:nvSpPr>
          <p:cNvPr id="31" name="Text 28"/>
          <p:cNvSpPr/>
          <p:nvPr/>
        </p:nvSpPr>
        <p:spPr>
          <a:xfrm>
            <a:off x="5029200" y="1600200"/>
            <a:ext cx="3520440" cy="274320"/>
          </a:xfrm>
          <a:prstGeom prst="rect">
            <a:avLst/>
          </a:prstGeom>
          <a:noFill/>
          <a:ln/>
        </p:spPr>
        <p:txBody>
          <a:bodyPr wrap="square" lIns="0" tIns="0" rIns="0" bIns="0" rtlCol="0" anchor="ctr"/>
          <a:lstStyle/>
          <a:p>
            <a:pPr marL="0" indent="0">
              <a:buNone/>
            </a:pPr>
            <a:r>
              <a:rPr lang="en-US" sz="1000" b="1" kern="0" spc="400" dirty="0">
                <a:solidFill>
                  <a:srgbClr val="F97316"/>
                </a:solidFill>
                <a:latin typeface="Calibri" pitchFamily="34" charset="0"/>
                <a:ea typeface="Calibri" pitchFamily="34" charset="-122"/>
                <a:cs typeface="Calibri" pitchFamily="34" charset="-120"/>
              </a:rPr>
              <a:t>GOVERNANCE &amp; EVAL</a:t>
            </a:r>
            <a:endParaRPr lang="en-US" sz="1000" dirty="0"/>
          </a:p>
        </p:txBody>
      </p:sp>
      <p:sp>
        <p:nvSpPr>
          <p:cNvPr id="32" name="Shape 29"/>
          <p:cNvSpPr/>
          <p:nvPr/>
        </p:nvSpPr>
        <p:spPr>
          <a:xfrm>
            <a:off x="5120640" y="2011680"/>
            <a:ext cx="1463040" cy="640080"/>
          </a:xfrm>
          <a:prstGeom prst="roundRect">
            <a:avLst>
              <a:gd name="adj" fmla="val 7143"/>
            </a:avLst>
          </a:prstGeom>
          <a:solidFill>
            <a:srgbClr val="0A1628"/>
          </a:solidFill>
          <a:ln w="19050">
            <a:solidFill>
              <a:srgbClr val="F97316"/>
            </a:solidFill>
            <a:prstDash val="solid"/>
          </a:ln>
        </p:spPr>
        <p:txBody>
          <a:bodyPr/>
          <a:lstStyle/>
          <a:p>
            <a:endParaRPr lang="en-GB"/>
          </a:p>
        </p:txBody>
      </p:sp>
      <p:sp>
        <p:nvSpPr>
          <p:cNvPr id="33" name="Text 30"/>
          <p:cNvSpPr/>
          <p:nvPr/>
        </p:nvSpPr>
        <p:spPr>
          <a:xfrm>
            <a:off x="5120640" y="2011680"/>
            <a:ext cx="1463040" cy="640080"/>
          </a:xfrm>
          <a:prstGeom prst="rect">
            <a:avLst/>
          </a:prstGeom>
          <a:noFill/>
          <a:ln/>
        </p:spPr>
        <p:txBody>
          <a:bodyPr wrap="square" lIns="0" tIns="0" rIns="0" bIns="0" rtlCol="0" anchor="ctr"/>
          <a:lstStyle/>
          <a:p>
            <a:pPr marL="0" indent="0" algn="ctr">
              <a:buNone/>
            </a:pPr>
            <a:r>
              <a:rPr lang="en-US" sz="1100" b="1" dirty="0">
                <a:solidFill>
                  <a:srgbClr val="F8FAFC"/>
                </a:solidFill>
                <a:latin typeface="Calibri" pitchFamily="34" charset="0"/>
                <a:ea typeface="Calibri" pitchFamily="34" charset="-122"/>
                <a:cs typeface="Calibri" pitchFamily="34" charset="-120"/>
              </a:rPr>
              <a:t>👍 / 👎</a:t>
            </a:r>
            <a:endParaRPr lang="en-US" sz="1100" dirty="0"/>
          </a:p>
        </p:txBody>
      </p:sp>
      <p:sp>
        <p:nvSpPr>
          <p:cNvPr id="34" name="Shape 31"/>
          <p:cNvSpPr/>
          <p:nvPr/>
        </p:nvSpPr>
        <p:spPr>
          <a:xfrm>
            <a:off x="7040880" y="2011680"/>
            <a:ext cx="1463040" cy="640080"/>
          </a:xfrm>
          <a:prstGeom prst="roundRect">
            <a:avLst>
              <a:gd name="adj" fmla="val 7143"/>
            </a:avLst>
          </a:prstGeom>
          <a:solidFill>
            <a:srgbClr val="0A1628"/>
          </a:solidFill>
          <a:ln w="19050">
            <a:solidFill>
              <a:srgbClr val="3B82F6"/>
            </a:solidFill>
            <a:prstDash val="solid"/>
          </a:ln>
        </p:spPr>
        <p:txBody>
          <a:bodyPr/>
          <a:lstStyle/>
          <a:p>
            <a:endParaRPr lang="en-GB"/>
          </a:p>
        </p:txBody>
      </p:sp>
      <p:sp>
        <p:nvSpPr>
          <p:cNvPr id="35" name="Text 32"/>
          <p:cNvSpPr/>
          <p:nvPr/>
        </p:nvSpPr>
        <p:spPr>
          <a:xfrm>
            <a:off x="7040880" y="2011680"/>
            <a:ext cx="1463040" cy="640080"/>
          </a:xfrm>
          <a:prstGeom prst="rect">
            <a:avLst/>
          </a:prstGeom>
          <a:noFill/>
          <a:ln/>
        </p:spPr>
        <p:txBody>
          <a:bodyPr wrap="square" lIns="0" tIns="0" rIns="0" bIns="0" rtlCol="0" anchor="ctr"/>
          <a:lstStyle/>
          <a:p>
            <a:pPr marL="0" indent="0" algn="ctr">
              <a:buNone/>
            </a:pPr>
            <a:r>
              <a:rPr lang="en-US" sz="1100" b="1" dirty="0">
                <a:solidFill>
                  <a:srgbClr val="F8FAFC"/>
                </a:solidFill>
                <a:latin typeface="Calibri" pitchFamily="34" charset="0"/>
                <a:ea typeface="Calibri" pitchFamily="34" charset="-122"/>
                <a:cs typeface="Calibri" pitchFamily="34" charset="-120"/>
              </a:rPr>
              <a:t>MLflow</a:t>
            </a:r>
            <a:endParaRPr lang="en-US" sz="1100" dirty="0"/>
          </a:p>
        </p:txBody>
      </p:sp>
      <p:sp>
        <p:nvSpPr>
          <p:cNvPr id="36" name="Shape 33"/>
          <p:cNvSpPr/>
          <p:nvPr/>
        </p:nvSpPr>
        <p:spPr>
          <a:xfrm>
            <a:off x="7040880" y="2834640"/>
            <a:ext cx="1463040" cy="640080"/>
          </a:xfrm>
          <a:prstGeom prst="roundRect">
            <a:avLst>
              <a:gd name="adj" fmla="val 7143"/>
            </a:avLst>
          </a:prstGeom>
          <a:solidFill>
            <a:srgbClr val="0A1628"/>
          </a:solidFill>
          <a:ln w="19050">
            <a:solidFill>
              <a:srgbClr val="3B82F6"/>
            </a:solidFill>
            <a:prstDash val="solid"/>
          </a:ln>
        </p:spPr>
        <p:txBody>
          <a:bodyPr/>
          <a:lstStyle/>
          <a:p>
            <a:endParaRPr lang="en-GB"/>
          </a:p>
        </p:txBody>
      </p:sp>
      <p:sp>
        <p:nvSpPr>
          <p:cNvPr id="37" name="Text 34"/>
          <p:cNvSpPr/>
          <p:nvPr/>
        </p:nvSpPr>
        <p:spPr>
          <a:xfrm>
            <a:off x="7040880" y="2834640"/>
            <a:ext cx="1463040" cy="640080"/>
          </a:xfrm>
          <a:prstGeom prst="rect">
            <a:avLst/>
          </a:prstGeom>
          <a:noFill/>
          <a:ln/>
        </p:spPr>
        <p:txBody>
          <a:bodyPr wrap="square" lIns="0" tIns="0" rIns="0" bIns="0" rtlCol="0" anchor="ctr"/>
          <a:lstStyle/>
          <a:p>
            <a:pPr marL="0" indent="0" algn="ctr">
              <a:buNone/>
            </a:pPr>
            <a:r>
              <a:rPr lang="en-US" sz="1100" b="1" dirty="0">
                <a:solidFill>
                  <a:srgbClr val="F8FAFC"/>
                </a:solidFill>
                <a:latin typeface="Calibri" pitchFamily="34" charset="0"/>
                <a:ea typeface="Calibri" pitchFamily="34" charset="-122"/>
                <a:cs typeface="Calibri" pitchFamily="34" charset="-120"/>
              </a:rPr>
              <a:t>Analyse</a:t>
            </a:r>
            <a:endParaRPr lang="en-US" sz="1100" dirty="0"/>
          </a:p>
        </p:txBody>
      </p:sp>
      <p:sp>
        <p:nvSpPr>
          <p:cNvPr id="38" name="Shape 35"/>
          <p:cNvSpPr/>
          <p:nvPr/>
        </p:nvSpPr>
        <p:spPr>
          <a:xfrm>
            <a:off x="5120640" y="2834640"/>
            <a:ext cx="1463040" cy="640080"/>
          </a:xfrm>
          <a:prstGeom prst="roundRect">
            <a:avLst>
              <a:gd name="adj" fmla="val 7143"/>
            </a:avLst>
          </a:prstGeom>
          <a:solidFill>
            <a:srgbClr val="0A1628"/>
          </a:solidFill>
          <a:ln w="19050">
            <a:solidFill>
              <a:srgbClr val="F97316"/>
            </a:solidFill>
            <a:prstDash val="solid"/>
          </a:ln>
        </p:spPr>
        <p:txBody>
          <a:bodyPr/>
          <a:lstStyle/>
          <a:p>
            <a:endParaRPr lang="en-GB"/>
          </a:p>
        </p:txBody>
      </p:sp>
      <p:sp>
        <p:nvSpPr>
          <p:cNvPr id="39" name="Text 36"/>
          <p:cNvSpPr/>
          <p:nvPr/>
        </p:nvSpPr>
        <p:spPr>
          <a:xfrm>
            <a:off x="5120640" y="2834640"/>
            <a:ext cx="1463040" cy="640080"/>
          </a:xfrm>
          <a:prstGeom prst="rect">
            <a:avLst/>
          </a:prstGeom>
          <a:noFill/>
          <a:ln/>
        </p:spPr>
        <p:txBody>
          <a:bodyPr wrap="square" lIns="0" tIns="0" rIns="0" bIns="0" rtlCol="0" anchor="ctr"/>
          <a:lstStyle/>
          <a:p>
            <a:pPr marL="0" indent="0" algn="ctr">
              <a:buNone/>
            </a:pPr>
            <a:r>
              <a:rPr lang="en-US" sz="1100" b="1" dirty="0">
                <a:solidFill>
                  <a:srgbClr val="F8FAFC"/>
                </a:solidFill>
                <a:latin typeface="Calibri" pitchFamily="34" charset="0"/>
                <a:ea typeface="Calibri" pitchFamily="34" charset="-122"/>
                <a:cs typeface="Calibri" pitchFamily="34" charset="-120"/>
              </a:rPr>
              <a:t>Improve</a:t>
            </a:r>
            <a:endParaRPr lang="en-US" sz="1100" dirty="0"/>
          </a:p>
        </p:txBody>
      </p:sp>
      <p:sp>
        <p:nvSpPr>
          <p:cNvPr id="40" name="Shape 37"/>
          <p:cNvSpPr/>
          <p:nvPr/>
        </p:nvSpPr>
        <p:spPr>
          <a:xfrm>
            <a:off x="6583680" y="2331720"/>
            <a:ext cx="457200" cy="0"/>
          </a:xfrm>
          <a:prstGeom prst="line">
            <a:avLst/>
          </a:prstGeom>
          <a:noFill/>
          <a:ln w="19050">
            <a:solidFill>
              <a:srgbClr val="F97316"/>
            </a:solidFill>
            <a:prstDash val="solid"/>
            <a:tailEnd type="triangle"/>
          </a:ln>
        </p:spPr>
        <p:txBody>
          <a:bodyPr/>
          <a:lstStyle/>
          <a:p>
            <a:endParaRPr lang="en-GB"/>
          </a:p>
        </p:txBody>
      </p:sp>
      <p:sp>
        <p:nvSpPr>
          <p:cNvPr id="41" name="Shape 38"/>
          <p:cNvSpPr/>
          <p:nvPr/>
        </p:nvSpPr>
        <p:spPr>
          <a:xfrm>
            <a:off x="7772400" y="2651760"/>
            <a:ext cx="0" cy="182880"/>
          </a:xfrm>
          <a:prstGeom prst="line">
            <a:avLst/>
          </a:prstGeom>
          <a:noFill/>
          <a:ln w="19050">
            <a:solidFill>
              <a:srgbClr val="F97316"/>
            </a:solidFill>
            <a:prstDash val="solid"/>
            <a:tailEnd type="triangle"/>
          </a:ln>
        </p:spPr>
        <p:txBody>
          <a:bodyPr/>
          <a:lstStyle/>
          <a:p>
            <a:endParaRPr lang="en-GB"/>
          </a:p>
        </p:txBody>
      </p:sp>
      <p:sp>
        <p:nvSpPr>
          <p:cNvPr id="42" name="Shape 39"/>
          <p:cNvSpPr/>
          <p:nvPr/>
        </p:nvSpPr>
        <p:spPr>
          <a:xfrm flipH="1">
            <a:off x="6583680" y="3154680"/>
            <a:ext cx="457200" cy="0"/>
          </a:xfrm>
          <a:prstGeom prst="line">
            <a:avLst/>
          </a:prstGeom>
          <a:noFill/>
          <a:ln w="19050">
            <a:solidFill>
              <a:srgbClr val="F97316"/>
            </a:solidFill>
            <a:prstDash val="solid"/>
            <a:tailEnd type="triangle"/>
          </a:ln>
        </p:spPr>
        <p:txBody>
          <a:bodyPr/>
          <a:lstStyle/>
          <a:p>
            <a:endParaRPr lang="en-GB"/>
          </a:p>
        </p:txBody>
      </p:sp>
      <p:sp>
        <p:nvSpPr>
          <p:cNvPr id="43" name="Shape 40"/>
          <p:cNvSpPr/>
          <p:nvPr/>
        </p:nvSpPr>
        <p:spPr>
          <a:xfrm flipV="1">
            <a:off x="5852160" y="2651760"/>
            <a:ext cx="0" cy="182880"/>
          </a:xfrm>
          <a:prstGeom prst="line">
            <a:avLst/>
          </a:prstGeom>
          <a:noFill/>
          <a:ln w="19050">
            <a:solidFill>
              <a:srgbClr val="F97316"/>
            </a:solidFill>
            <a:prstDash val="solid"/>
            <a:tailEnd type="triangle"/>
          </a:ln>
        </p:spPr>
        <p:txBody>
          <a:bodyPr/>
          <a:lstStyle/>
          <a:p>
            <a:endParaRPr lang="en-GB"/>
          </a:p>
        </p:txBody>
      </p:sp>
      <p:sp>
        <p:nvSpPr>
          <p:cNvPr id="44" name="Shape 41"/>
          <p:cNvSpPr/>
          <p:nvPr/>
        </p:nvSpPr>
        <p:spPr>
          <a:xfrm>
            <a:off x="5029200" y="3566160"/>
            <a:ext cx="1737360" cy="219456"/>
          </a:xfrm>
          <a:prstGeom prst="roundRect">
            <a:avLst>
              <a:gd name="adj" fmla="val 20833"/>
            </a:avLst>
          </a:prstGeom>
          <a:solidFill>
            <a:srgbClr val="0A1628"/>
          </a:solidFill>
          <a:ln w="12700">
            <a:solidFill>
              <a:srgbClr val="F97316"/>
            </a:solidFill>
            <a:prstDash val="solid"/>
          </a:ln>
        </p:spPr>
        <p:txBody>
          <a:bodyPr/>
          <a:lstStyle/>
          <a:p>
            <a:endParaRPr lang="en-GB"/>
          </a:p>
        </p:txBody>
      </p:sp>
      <p:sp>
        <p:nvSpPr>
          <p:cNvPr id="45" name="Text 42"/>
          <p:cNvSpPr/>
          <p:nvPr/>
        </p:nvSpPr>
        <p:spPr>
          <a:xfrm>
            <a:off x="5029200" y="3566160"/>
            <a:ext cx="1737360" cy="219456"/>
          </a:xfrm>
          <a:prstGeom prst="rect">
            <a:avLst/>
          </a:prstGeom>
          <a:noFill/>
          <a:ln/>
        </p:spPr>
        <p:txBody>
          <a:bodyPr wrap="square" lIns="0" tIns="0" rIns="0" bIns="0" rtlCol="0" anchor="ctr"/>
          <a:lstStyle/>
          <a:p>
            <a:pPr marL="0" indent="0" algn="ctr">
              <a:buNone/>
            </a:pPr>
            <a:r>
              <a:rPr lang="en-US" sz="900" dirty="0">
                <a:solidFill>
                  <a:srgbClr val="F8FAFC"/>
                </a:solidFill>
                <a:latin typeface="Calibri" pitchFamily="34" charset="0"/>
                <a:ea typeface="Calibri" pitchFamily="34" charset="-122"/>
                <a:cs typeface="Calibri" pitchFamily="34" charset="-120"/>
              </a:rPr>
              <a:t>🛡  GDPR</a:t>
            </a:r>
            <a:endParaRPr lang="en-US" sz="900" dirty="0"/>
          </a:p>
        </p:txBody>
      </p:sp>
      <p:sp>
        <p:nvSpPr>
          <p:cNvPr id="46" name="Shape 43"/>
          <p:cNvSpPr/>
          <p:nvPr/>
        </p:nvSpPr>
        <p:spPr>
          <a:xfrm>
            <a:off x="6903720" y="3566160"/>
            <a:ext cx="1737360" cy="219456"/>
          </a:xfrm>
          <a:prstGeom prst="roundRect">
            <a:avLst>
              <a:gd name="adj" fmla="val 20833"/>
            </a:avLst>
          </a:prstGeom>
          <a:solidFill>
            <a:srgbClr val="0A1628"/>
          </a:solidFill>
          <a:ln w="12700">
            <a:solidFill>
              <a:srgbClr val="F97316"/>
            </a:solidFill>
            <a:prstDash val="solid"/>
          </a:ln>
        </p:spPr>
        <p:txBody>
          <a:bodyPr/>
          <a:lstStyle/>
          <a:p>
            <a:endParaRPr lang="en-GB"/>
          </a:p>
        </p:txBody>
      </p:sp>
      <p:sp>
        <p:nvSpPr>
          <p:cNvPr id="47" name="Text 44"/>
          <p:cNvSpPr/>
          <p:nvPr/>
        </p:nvSpPr>
        <p:spPr>
          <a:xfrm>
            <a:off x="6903720" y="3566160"/>
            <a:ext cx="1737360" cy="219456"/>
          </a:xfrm>
          <a:prstGeom prst="rect">
            <a:avLst/>
          </a:prstGeom>
          <a:noFill/>
          <a:ln/>
        </p:spPr>
        <p:txBody>
          <a:bodyPr wrap="square" lIns="0" tIns="0" rIns="0" bIns="0" rtlCol="0" anchor="ctr"/>
          <a:lstStyle/>
          <a:p>
            <a:pPr marL="0" indent="0" algn="ctr">
              <a:buNone/>
            </a:pPr>
            <a:r>
              <a:rPr lang="en-US" sz="900" dirty="0">
                <a:solidFill>
                  <a:srgbClr val="F8FAFC"/>
                </a:solidFill>
                <a:latin typeface="Calibri" pitchFamily="34" charset="0"/>
                <a:ea typeface="Calibri" pitchFamily="34" charset="-122"/>
                <a:cs typeface="Calibri" pitchFamily="34" charset="-120"/>
              </a:rPr>
              <a:t>🛡  EU AI Act</a:t>
            </a:r>
            <a:endParaRPr lang="en-US" sz="900" dirty="0"/>
          </a:p>
        </p:txBody>
      </p:sp>
      <p:sp>
        <p:nvSpPr>
          <p:cNvPr id="48" name="Shape 45"/>
          <p:cNvSpPr/>
          <p:nvPr/>
        </p:nvSpPr>
        <p:spPr>
          <a:xfrm>
            <a:off x="5029200" y="3840480"/>
            <a:ext cx="1737360" cy="219456"/>
          </a:xfrm>
          <a:prstGeom prst="roundRect">
            <a:avLst>
              <a:gd name="adj" fmla="val 20833"/>
            </a:avLst>
          </a:prstGeom>
          <a:solidFill>
            <a:srgbClr val="0A1628"/>
          </a:solidFill>
          <a:ln w="12700">
            <a:solidFill>
              <a:srgbClr val="F97316"/>
            </a:solidFill>
            <a:prstDash val="solid"/>
          </a:ln>
        </p:spPr>
        <p:txBody>
          <a:bodyPr/>
          <a:lstStyle/>
          <a:p>
            <a:endParaRPr lang="en-GB"/>
          </a:p>
        </p:txBody>
      </p:sp>
      <p:sp>
        <p:nvSpPr>
          <p:cNvPr id="49" name="Text 46"/>
          <p:cNvSpPr/>
          <p:nvPr/>
        </p:nvSpPr>
        <p:spPr>
          <a:xfrm>
            <a:off x="5029200" y="3840480"/>
            <a:ext cx="1737360" cy="219456"/>
          </a:xfrm>
          <a:prstGeom prst="rect">
            <a:avLst/>
          </a:prstGeom>
          <a:noFill/>
          <a:ln/>
        </p:spPr>
        <p:txBody>
          <a:bodyPr wrap="square" lIns="0" tIns="0" rIns="0" bIns="0" rtlCol="0" anchor="ctr"/>
          <a:lstStyle/>
          <a:p>
            <a:pPr marL="0" indent="0" algn="ctr">
              <a:buNone/>
            </a:pPr>
            <a:r>
              <a:rPr lang="en-US" sz="900" dirty="0">
                <a:solidFill>
                  <a:srgbClr val="F8FAFC"/>
                </a:solidFill>
                <a:latin typeface="Calibri" pitchFamily="34" charset="0"/>
                <a:ea typeface="Calibri" pitchFamily="34" charset="-122"/>
                <a:cs typeface="Calibri" pitchFamily="34" charset="-120"/>
              </a:rPr>
              <a:t>🛡  Data lineage</a:t>
            </a:r>
            <a:endParaRPr lang="en-US" sz="900" dirty="0"/>
          </a:p>
        </p:txBody>
      </p:sp>
      <p:sp>
        <p:nvSpPr>
          <p:cNvPr id="50" name="Shape 47"/>
          <p:cNvSpPr/>
          <p:nvPr/>
        </p:nvSpPr>
        <p:spPr>
          <a:xfrm>
            <a:off x="6903720" y="3840480"/>
            <a:ext cx="1737360" cy="219456"/>
          </a:xfrm>
          <a:prstGeom prst="roundRect">
            <a:avLst>
              <a:gd name="adj" fmla="val 20833"/>
            </a:avLst>
          </a:prstGeom>
          <a:solidFill>
            <a:srgbClr val="0A1628"/>
          </a:solidFill>
          <a:ln w="12700">
            <a:solidFill>
              <a:srgbClr val="F97316"/>
            </a:solidFill>
            <a:prstDash val="solid"/>
          </a:ln>
        </p:spPr>
        <p:txBody>
          <a:bodyPr/>
          <a:lstStyle/>
          <a:p>
            <a:endParaRPr lang="en-GB"/>
          </a:p>
        </p:txBody>
      </p:sp>
      <p:sp>
        <p:nvSpPr>
          <p:cNvPr id="51" name="Text 48"/>
          <p:cNvSpPr/>
          <p:nvPr/>
        </p:nvSpPr>
        <p:spPr>
          <a:xfrm>
            <a:off x="6903720" y="3840480"/>
            <a:ext cx="1737360" cy="219456"/>
          </a:xfrm>
          <a:prstGeom prst="rect">
            <a:avLst/>
          </a:prstGeom>
          <a:noFill/>
          <a:ln/>
        </p:spPr>
        <p:txBody>
          <a:bodyPr wrap="square" lIns="0" tIns="0" rIns="0" bIns="0" rtlCol="0" anchor="ctr"/>
          <a:lstStyle/>
          <a:p>
            <a:pPr marL="0" indent="0" algn="ctr">
              <a:buNone/>
            </a:pPr>
            <a:r>
              <a:rPr lang="en-US" sz="900" dirty="0">
                <a:solidFill>
                  <a:srgbClr val="F8FAFC"/>
                </a:solidFill>
                <a:latin typeface="Calibri" pitchFamily="34" charset="0"/>
                <a:ea typeface="Calibri" pitchFamily="34" charset="-122"/>
                <a:cs typeface="Calibri" pitchFamily="34" charset="-120"/>
              </a:rPr>
              <a:t>🛡  Risk class</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0A1628"/>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ABA8D6BB-C8D7-408D-E043-11015F3F4DAD}"/>
              </a:ext>
            </a:extLst>
          </p:cNvPr>
          <p:cNvSpPr/>
          <p:nvPr/>
        </p:nvSpPr>
        <p:spPr>
          <a:xfrm>
            <a:off x="457200" y="411480"/>
            <a:ext cx="320040" cy="54864"/>
          </a:xfrm>
          <a:prstGeom prst="rect">
            <a:avLst/>
          </a:prstGeom>
          <a:solidFill>
            <a:srgbClr val="F97316"/>
          </a:solidFill>
          <a:ln w="12700">
            <a:solidFill>
              <a:srgbClr val="F97316"/>
            </a:solidFill>
            <a:prstDash val="solid"/>
          </a:ln>
        </p:spPr>
        <p:txBody>
          <a:bodyPr/>
          <a:lstStyle/>
          <a:p>
            <a:endParaRPr lang="en-GB"/>
          </a:p>
        </p:txBody>
      </p:sp>
      <p:sp>
        <p:nvSpPr>
          <p:cNvPr id="58" name="Text 1">
            <a:extLst>
              <a:ext uri="{FF2B5EF4-FFF2-40B4-BE49-F238E27FC236}">
                <a16:creationId xmlns:a16="http://schemas.microsoft.com/office/drawing/2014/main" id="{87179990-F1C0-7C90-DD6E-69AEB72EF4E2}"/>
              </a:ext>
            </a:extLst>
          </p:cNvPr>
          <p:cNvSpPr/>
          <p:nvPr/>
        </p:nvSpPr>
        <p:spPr>
          <a:xfrm>
            <a:off x="868680" y="329184"/>
            <a:ext cx="5029200" cy="274320"/>
          </a:xfrm>
          <a:prstGeom prst="rect">
            <a:avLst/>
          </a:prstGeom>
          <a:noFill/>
          <a:ln/>
        </p:spPr>
        <p:txBody>
          <a:bodyPr wrap="square" lIns="0" tIns="0" rIns="0" bIns="0" rtlCol="0" anchor="ctr"/>
          <a:lstStyle/>
          <a:p>
            <a:pPr marL="0" indent="0">
              <a:buNone/>
            </a:pPr>
            <a:r>
              <a:rPr lang="en-US" sz="1000" b="1" kern="0" spc="400" dirty="0">
                <a:solidFill>
                  <a:srgbClr val="F97316"/>
                </a:solidFill>
                <a:latin typeface="Calibri" pitchFamily="34" charset="0"/>
                <a:ea typeface="Calibri" pitchFamily="34" charset="-122"/>
                <a:cs typeface="Calibri" pitchFamily="34" charset="-120"/>
              </a:rPr>
              <a:t>PRACTICAL · FRAMEWORKS</a:t>
            </a:r>
            <a:endParaRPr lang="en-US" sz="1000" dirty="0"/>
          </a:p>
        </p:txBody>
      </p:sp>
      <p:sp>
        <p:nvSpPr>
          <p:cNvPr id="59" name="Text 2">
            <a:extLst>
              <a:ext uri="{FF2B5EF4-FFF2-40B4-BE49-F238E27FC236}">
                <a16:creationId xmlns:a16="http://schemas.microsoft.com/office/drawing/2014/main" id="{F7BAB0BE-8329-6AC7-AD3F-8E29A3DF9A2C}"/>
              </a:ext>
            </a:extLst>
          </p:cNvPr>
          <p:cNvSpPr/>
          <p:nvPr/>
        </p:nvSpPr>
        <p:spPr>
          <a:xfrm>
            <a:off x="457200" y="640080"/>
            <a:ext cx="8229600" cy="822960"/>
          </a:xfrm>
          <a:prstGeom prst="rect">
            <a:avLst/>
          </a:prstGeom>
          <a:noFill/>
          <a:ln/>
        </p:spPr>
        <p:txBody>
          <a:bodyPr wrap="square" lIns="0" tIns="0" rIns="0" bIns="0" rtlCol="0" anchor="ctr"/>
          <a:lstStyle/>
          <a:p>
            <a:pPr marL="0" indent="0">
              <a:buNone/>
            </a:pPr>
            <a:r>
              <a:rPr lang="en-US" sz="3200" b="1" dirty="0">
                <a:solidFill>
                  <a:srgbClr val="F8FAFC"/>
                </a:solidFill>
                <a:latin typeface="Calibri" pitchFamily="34" charset="0"/>
                <a:ea typeface="Calibri" pitchFamily="34" charset="-122"/>
                <a:cs typeface="Calibri" pitchFamily="34" charset="-120"/>
              </a:rPr>
              <a:t>Framework landscape</a:t>
            </a:r>
            <a:endParaRPr lang="en-US" sz="3200" dirty="0"/>
          </a:p>
        </p:txBody>
      </p:sp>
      <p:sp>
        <p:nvSpPr>
          <p:cNvPr id="60" name="Text 3">
            <a:extLst>
              <a:ext uri="{FF2B5EF4-FFF2-40B4-BE49-F238E27FC236}">
                <a16:creationId xmlns:a16="http://schemas.microsoft.com/office/drawing/2014/main" id="{07AC5FF3-D7F1-1D26-3D87-69DC7712635C}"/>
              </a:ext>
            </a:extLst>
          </p:cNvPr>
          <p:cNvSpPr/>
          <p:nvPr/>
        </p:nvSpPr>
        <p:spPr>
          <a:xfrm>
            <a:off x="457200" y="4754880"/>
            <a:ext cx="4572000" cy="228600"/>
          </a:xfrm>
          <a:prstGeom prst="rect">
            <a:avLst/>
          </a:prstGeom>
          <a:noFill/>
          <a:ln/>
        </p:spPr>
        <p:txBody>
          <a:bodyPr wrap="square" lIns="0" tIns="0" rIns="0" bIns="0" rtlCol="0" anchor="ctr"/>
          <a:lstStyle/>
          <a:p>
            <a:pPr marL="0" indent="0">
              <a:buNone/>
            </a:pPr>
            <a:r>
              <a:rPr lang="en-US" sz="900" dirty="0">
                <a:solidFill>
                  <a:srgbClr val="94A3B8"/>
                </a:solidFill>
                <a:latin typeface="Calibri" pitchFamily="34" charset="0"/>
                <a:ea typeface="Calibri" pitchFamily="34" charset="-122"/>
                <a:cs typeface="Calibri" pitchFamily="34" charset="-120"/>
              </a:rPr>
              <a:t>Agentic AI · Extras · M. Rsaissi</a:t>
            </a:r>
            <a:endParaRPr lang="en-US" sz="900" dirty="0"/>
          </a:p>
        </p:txBody>
      </p:sp>
      <p:sp>
        <p:nvSpPr>
          <p:cNvPr id="61" name="Shape 4">
            <a:extLst>
              <a:ext uri="{FF2B5EF4-FFF2-40B4-BE49-F238E27FC236}">
                <a16:creationId xmlns:a16="http://schemas.microsoft.com/office/drawing/2014/main" id="{4F973DB1-E3BE-13B5-448F-2575262EBAE7}"/>
              </a:ext>
            </a:extLst>
          </p:cNvPr>
          <p:cNvSpPr/>
          <p:nvPr/>
        </p:nvSpPr>
        <p:spPr>
          <a:xfrm>
            <a:off x="8275320" y="4818888"/>
            <a:ext cx="73152" cy="73152"/>
          </a:xfrm>
          <a:prstGeom prst="ellipse">
            <a:avLst/>
          </a:prstGeom>
          <a:solidFill>
            <a:srgbClr val="F97316"/>
          </a:solidFill>
          <a:ln w="12700">
            <a:solidFill>
              <a:srgbClr val="F97316"/>
            </a:solidFill>
            <a:prstDash val="solid"/>
          </a:ln>
        </p:spPr>
        <p:txBody>
          <a:bodyPr/>
          <a:lstStyle/>
          <a:p>
            <a:endParaRPr lang="en-GB"/>
          </a:p>
        </p:txBody>
      </p:sp>
      <p:sp>
        <p:nvSpPr>
          <p:cNvPr id="62" name="Text 5">
            <a:extLst>
              <a:ext uri="{FF2B5EF4-FFF2-40B4-BE49-F238E27FC236}">
                <a16:creationId xmlns:a16="http://schemas.microsoft.com/office/drawing/2014/main" id="{BA922208-8542-ED52-13D4-C9E483A60EFC}"/>
              </a:ext>
            </a:extLst>
          </p:cNvPr>
          <p:cNvSpPr/>
          <p:nvPr/>
        </p:nvSpPr>
        <p:spPr>
          <a:xfrm>
            <a:off x="8366760" y="4736592"/>
            <a:ext cx="685800" cy="228600"/>
          </a:xfrm>
          <a:prstGeom prst="rect">
            <a:avLst/>
          </a:prstGeom>
          <a:noFill/>
          <a:ln/>
        </p:spPr>
        <p:txBody>
          <a:bodyPr wrap="square" lIns="0" tIns="0" rIns="0" bIns="0" rtlCol="0" anchor="ctr"/>
          <a:lstStyle/>
          <a:p>
            <a:pPr marL="0" indent="0" algn="r">
              <a:buNone/>
            </a:pPr>
            <a:r>
              <a:rPr lang="en-US" sz="900" dirty="0">
                <a:solidFill>
                  <a:srgbClr val="94A3B8"/>
                </a:solidFill>
                <a:latin typeface="Calibri" pitchFamily="34" charset="0"/>
                <a:ea typeface="Calibri" pitchFamily="34" charset="-122"/>
                <a:cs typeface="Calibri" pitchFamily="34" charset="-120"/>
              </a:rPr>
              <a:t>E1 / E7</a:t>
            </a:r>
            <a:endParaRPr lang="en-US" sz="900" dirty="0"/>
          </a:p>
        </p:txBody>
      </p:sp>
      <p:sp>
        <p:nvSpPr>
          <p:cNvPr id="63" name="Shape 6">
            <a:extLst>
              <a:ext uri="{FF2B5EF4-FFF2-40B4-BE49-F238E27FC236}">
                <a16:creationId xmlns:a16="http://schemas.microsoft.com/office/drawing/2014/main" id="{9651B2A7-980D-1CC9-7382-0935FEC33B52}"/>
              </a:ext>
            </a:extLst>
          </p:cNvPr>
          <p:cNvSpPr/>
          <p:nvPr/>
        </p:nvSpPr>
        <p:spPr>
          <a:xfrm>
            <a:off x="361188" y="1554480"/>
            <a:ext cx="2697480" cy="1417320"/>
          </a:xfrm>
          <a:prstGeom prst="roundRect">
            <a:avLst>
              <a:gd name="adj" fmla="val 5161"/>
            </a:avLst>
          </a:prstGeom>
          <a:solidFill>
            <a:srgbClr val="11203A"/>
          </a:solidFill>
          <a:ln w="12700">
            <a:solidFill>
              <a:srgbClr val="1B2D4F"/>
            </a:solidFill>
            <a:prstDash val="solid"/>
          </a:ln>
          <a:effectLst>
            <a:outerShdw blurRad="101600" dist="25400" dir="8100000" algn="bl" rotWithShape="0">
              <a:srgbClr val="000000">
                <a:alpha val="25000"/>
              </a:srgbClr>
            </a:outerShdw>
          </a:effectLst>
        </p:spPr>
        <p:txBody>
          <a:bodyPr/>
          <a:lstStyle/>
          <a:p>
            <a:endParaRPr lang="en-GB"/>
          </a:p>
        </p:txBody>
      </p:sp>
      <p:sp>
        <p:nvSpPr>
          <p:cNvPr id="64" name="Shape 7">
            <a:extLst>
              <a:ext uri="{FF2B5EF4-FFF2-40B4-BE49-F238E27FC236}">
                <a16:creationId xmlns:a16="http://schemas.microsoft.com/office/drawing/2014/main" id="{F33D9C39-41B3-B7F3-7582-746795B152A5}"/>
              </a:ext>
            </a:extLst>
          </p:cNvPr>
          <p:cNvSpPr/>
          <p:nvPr/>
        </p:nvSpPr>
        <p:spPr>
          <a:xfrm>
            <a:off x="361188" y="1554480"/>
            <a:ext cx="64008" cy="1417320"/>
          </a:xfrm>
          <a:prstGeom prst="rect">
            <a:avLst/>
          </a:prstGeom>
          <a:solidFill>
            <a:srgbClr val="3B82F6"/>
          </a:solidFill>
          <a:ln w="12700">
            <a:solidFill>
              <a:srgbClr val="3B82F6"/>
            </a:solidFill>
            <a:prstDash val="solid"/>
          </a:ln>
        </p:spPr>
        <p:txBody>
          <a:bodyPr/>
          <a:lstStyle/>
          <a:p>
            <a:endParaRPr lang="en-GB"/>
          </a:p>
        </p:txBody>
      </p:sp>
      <p:sp>
        <p:nvSpPr>
          <p:cNvPr id="65" name="Shape 8">
            <a:extLst>
              <a:ext uri="{FF2B5EF4-FFF2-40B4-BE49-F238E27FC236}">
                <a16:creationId xmlns:a16="http://schemas.microsoft.com/office/drawing/2014/main" id="{4D86643A-2508-D831-E9B4-D964E06F1007}"/>
              </a:ext>
            </a:extLst>
          </p:cNvPr>
          <p:cNvSpPr/>
          <p:nvPr/>
        </p:nvSpPr>
        <p:spPr>
          <a:xfrm>
            <a:off x="544068" y="1719072"/>
            <a:ext cx="502920" cy="502920"/>
          </a:xfrm>
          <a:prstGeom prst="ellipse">
            <a:avLst/>
          </a:prstGeom>
          <a:solidFill>
            <a:srgbClr val="3B82F6"/>
          </a:solidFill>
          <a:ln w="12700">
            <a:solidFill>
              <a:srgbClr val="3B82F6"/>
            </a:solidFill>
            <a:prstDash val="solid"/>
          </a:ln>
        </p:spPr>
        <p:txBody>
          <a:bodyPr/>
          <a:lstStyle/>
          <a:p>
            <a:endParaRPr lang="en-GB"/>
          </a:p>
        </p:txBody>
      </p:sp>
      <p:sp>
        <p:nvSpPr>
          <p:cNvPr id="66" name="Text 9">
            <a:extLst>
              <a:ext uri="{FF2B5EF4-FFF2-40B4-BE49-F238E27FC236}">
                <a16:creationId xmlns:a16="http://schemas.microsoft.com/office/drawing/2014/main" id="{6DE4154F-E958-A579-E3EF-398418D79595}"/>
              </a:ext>
            </a:extLst>
          </p:cNvPr>
          <p:cNvSpPr/>
          <p:nvPr/>
        </p:nvSpPr>
        <p:spPr>
          <a:xfrm>
            <a:off x="544068" y="1719072"/>
            <a:ext cx="502920" cy="502920"/>
          </a:xfrm>
          <a:prstGeom prst="rect">
            <a:avLst/>
          </a:prstGeom>
          <a:noFill/>
          <a:ln/>
        </p:spPr>
        <p:txBody>
          <a:bodyPr wrap="square" lIns="0" tIns="0" rIns="0" bIns="0" rtlCol="0" anchor="ctr"/>
          <a:lstStyle/>
          <a:p>
            <a:pPr marL="0" indent="0" algn="ctr">
              <a:buNone/>
            </a:pPr>
            <a:r>
              <a:rPr lang="en-US" sz="1800" b="1" dirty="0">
                <a:solidFill>
                  <a:srgbClr val="F8FAFC"/>
                </a:solidFill>
                <a:latin typeface="Calibri" pitchFamily="34" charset="0"/>
                <a:ea typeface="Calibri" pitchFamily="34" charset="-122"/>
                <a:cs typeface="Calibri" pitchFamily="34" charset="-120"/>
              </a:rPr>
              <a:t>🔗</a:t>
            </a:r>
            <a:endParaRPr lang="en-US" sz="1800" dirty="0"/>
          </a:p>
        </p:txBody>
      </p:sp>
      <p:sp>
        <p:nvSpPr>
          <p:cNvPr id="67" name="Text 10">
            <a:extLst>
              <a:ext uri="{FF2B5EF4-FFF2-40B4-BE49-F238E27FC236}">
                <a16:creationId xmlns:a16="http://schemas.microsoft.com/office/drawing/2014/main" id="{318B323C-EDAF-F893-3B98-BA71E87CEF5C}"/>
              </a:ext>
            </a:extLst>
          </p:cNvPr>
          <p:cNvSpPr/>
          <p:nvPr/>
        </p:nvSpPr>
        <p:spPr>
          <a:xfrm>
            <a:off x="1184148" y="1719072"/>
            <a:ext cx="1737360" cy="320040"/>
          </a:xfrm>
          <a:prstGeom prst="rect">
            <a:avLst/>
          </a:prstGeom>
          <a:noFill/>
          <a:ln/>
        </p:spPr>
        <p:txBody>
          <a:bodyPr wrap="square" lIns="0" tIns="0" rIns="0" bIns="0" rtlCol="0" anchor="ctr"/>
          <a:lstStyle/>
          <a:p>
            <a:pPr marL="0" indent="0">
              <a:buNone/>
            </a:pPr>
            <a:r>
              <a:rPr lang="en-US" sz="1400" b="1" dirty="0">
                <a:solidFill>
                  <a:srgbClr val="F8FAFC"/>
                </a:solidFill>
                <a:latin typeface="Calibri" pitchFamily="34" charset="0"/>
                <a:ea typeface="Calibri" pitchFamily="34" charset="-122"/>
                <a:cs typeface="Calibri" pitchFamily="34" charset="-120"/>
              </a:rPr>
              <a:t>LangChain</a:t>
            </a:r>
            <a:endParaRPr lang="en-US" sz="1400" dirty="0"/>
          </a:p>
        </p:txBody>
      </p:sp>
      <p:sp>
        <p:nvSpPr>
          <p:cNvPr id="68" name="Text 11">
            <a:extLst>
              <a:ext uri="{FF2B5EF4-FFF2-40B4-BE49-F238E27FC236}">
                <a16:creationId xmlns:a16="http://schemas.microsoft.com/office/drawing/2014/main" id="{E981C999-45BC-04D7-FC96-F4E2FF529975}"/>
              </a:ext>
            </a:extLst>
          </p:cNvPr>
          <p:cNvSpPr/>
          <p:nvPr/>
        </p:nvSpPr>
        <p:spPr>
          <a:xfrm>
            <a:off x="1184148" y="2057400"/>
            <a:ext cx="1737360" cy="274320"/>
          </a:xfrm>
          <a:prstGeom prst="rect">
            <a:avLst/>
          </a:prstGeom>
          <a:noFill/>
          <a:ln/>
        </p:spPr>
        <p:txBody>
          <a:bodyPr wrap="square" lIns="0" tIns="0" rIns="0" bIns="0" rtlCol="0" anchor="ctr"/>
          <a:lstStyle/>
          <a:p>
            <a:pPr marL="0" indent="0">
              <a:buNone/>
            </a:pPr>
            <a:r>
              <a:rPr lang="en-US" sz="1000" i="1" dirty="0">
                <a:solidFill>
                  <a:srgbClr val="3B82F6"/>
                </a:solidFill>
                <a:latin typeface="Calibri" pitchFamily="34" charset="0"/>
                <a:ea typeface="Calibri" pitchFamily="34" charset="-122"/>
                <a:cs typeface="Calibri" pitchFamily="34" charset="-120"/>
              </a:rPr>
              <a:t>biggest ecosystem</a:t>
            </a:r>
            <a:endParaRPr lang="en-US" sz="1000" dirty="0"/>
          </a:p>
        </p:txBody>
      </p:sp>
      <p:sp>
        <p:nvSpPr>
          <p:cNvPr id="69" name="Shape 12">
            <a:extLst>
              <a:ext uri="{FF2B5EF4-FFF2-40B4-BE49-F238E27FC236}">
                <a16:creationId xmlns:a16="http://schemas.microsoft.com/office/drawing/2014/main" id="{0E5793E0-B640-9CCF-00C7-9DEE18D528C2}"/>
              </a:ext>
            </a:extLst>
          </p:cNvPr>
          <p:cNvSpPr/>
          <p:nvPr/>
        </p:nvSpPr>
        <p:spPr>
          <a:xfrm>
            <a:off x="544068" y="2423160"/>
            <a:ext cx="2331720" cy="411480"/>
          </a:xfrm>
          <a:prstGeom prst="roundRect">
            <a:avLst>
              <a:gd name="adj" fmla="val 8889"/>
            </a:avLst>
          </a:prstGeom>
          <a:solidFill>
            <a:srgbClr val="0A1628"/>
          </a:solidFill>
          <a:ln w="12700">
            <a:solidFill>
              <a:srgbClr val="1E3A5F"/>
            </a:solidFill>
            <a:prstDash val="solid"/>
          </a:ln>
        </p:spPr>
        <p:txBody>
          <a:bodyPr/>
          <a:lstStyle/>
          <a:p>
            <a:endParaRPr lang="en-GB"/>
          </a:p>
        </p:txBody>
      </p:sp>
      <p:sp>
        <p:nvSpPr>
          <p:cNvPr id="70" name="Text 13">
            <a:extLst>
              <a:ext uri="{FF2B5EF4-FFF2-40B4-BE49-F238E27FC236}">
                <a16:creationId xmlns:a16="http://schemas.microsoft.com/office/drawing/2014/main" id="{3588FDC7-4042-667F-5E11-9F64D66C3540}"/>
              </a:ext>
            </a:extLst>
          </p:cNvPr>
          <p:cNvSpPr/>
          <p:nvPr/>
        </p:nvSpPr>
        <p:spPr>
          <a:xfrm>
            <a:off x="635508" y="2423160"/>
            <a:ext cx="2148840" cy="411480"/>
          </a:xfrm>
          <a:prstGeom prst="rect">
            <a:avLst/>
          </a:prstGeom>
          <a:noFill/>
          <a:ln/>
        </p:spPr>
        <p:txBody>
          <a:bodyPr wrap="square" lIns="0" tIns="0" rIns="0" bIns="0" rtlCol="0" anchor="ctr"/>
          <a:lstStyle/>
          <a:p>
            <a:pPr marL="0" indent="0">
              <a:buNone/>
            </a:pPr>
            <a:r>
              <a:rPr lang="en-US" sz="800" b="1" kern="0" spc="200" dirty="0">
                <a:solidFill>
                  <a:srgbClr val="3B82F6"/>
                </a:solidFill>
                <a:latin typeface="Calibri" pitchFamily="34" charset="0"/>
                <a:ea typeface="Calibri" pitchFamily="34" charset="-122"/>
                <a:cs typeface="Calibri" pitchFamily="34" charset="-120"/>
              </a:rPr>
              <a:t>BEST FOR  </a:t>
            </a:r>
            <a:r>
              <a:rPr lang="en-US" sz="1000" dirty="0">
                <a:solidFill>
                  <a:srgbClr val="F8FAFC"/>
                </a:solidFill>
                <a:latin typeface="Calibri" pitchFamily="34" charset="0"/>
                <a:ea typeface="Calibri" pitchFamily="34" charset="-122"/>
                <a:cs typeface="Calibri" pitchFamily="34" charset="-120"/>
              </a:rPr>
              <a:t>experiment fast</a:t>
            </a:r>
            <a:endParaRPr lang="en-US" sz="800" dirty="0"/>
          </a:p>
        </p:txBody>
      </p:sp>
      <p:sp>
        <p:nvSpPr>
          <p:cNvPr id="71" name="Shape 14">
            <a:extLst>
              <a:ext uri="{FF2B5EF4-FFF2-40B4-BE49-F238E27FC236}">
                <a16:creationId xmlns:a16="http://schemas.microsoft.com/office/drawing/2014/main" id="{4212DAFF-CB60-D3DD-1DF4-C0F0E9635D1A}"/>
              </a:ext>
            </a:extLst>
          </p:cNvPr>
          <p:cNvSpPr/>
          <p:nvPr/>
        </p:nvSpPr>
        <p:spPr>
          <a:xfrm>
            <a:off x="3223260" y="1554480"/>
            <a:ext cx="2697480" cy="1417320"/>
          </a:xfrm>
          <a:prstGeom prst="roundRect">
            <a:avLst>
              <a:gd name="adj" fmla="val 5161"/>
            </a:avLst>
          </a:prstGeom>
          <a:solidFill>
            <a:srgbClr val="11203A"/>
          </a:solidFill>
          <a:ln w="12700">
            <a:solidFill>
              <a:srgbClr val="1B2D4F"/>
            </a:solidFill>
            <a:prstDash val="solid"/>
          </a:ln>
          <a:effectLst>
            <a:outerShdw blurRad="101600" dist="25400" dir="8100000" algn="bl" rotWithShape="0">
              <a:srgbClr val="000000">
                <a:alpha val="25000"/>
              </a:srgbClr>
            </a:outerShdw>
          </a:effectLst>
        </p:spPr>
        <p:txBody>
          <a:bodyPr/>
          <a:lstStyle/>
          <a:p>
            <a:endParaRPr lang="en-GB"/>
          </a:p>
        </p:txBody>
      </p:sp>
      <p:sp>
        <p:nvSpPr>
          <p:cNvPr id="72" name="Shape 15">
            <a:extLst>
              <a:ext uri="{FF2B5EF4-FFF2-40B4-BE49-F238E27FC236}">
                <a16:creationId xmlns:a16="http://schemas.microsoft.com/office/drawing/2014/main" id="{75414794-BFD2-E973-655D-F47DF141CD9A}"/>
              </a:ext>
            </a:extLst>
          </p:cNvPr>
          <p:cNvSpPr/>
          <p:nvPr/>
        </p:nvSpPr>
        <p:spPr>
          <a:xfrm>
            <a:off x="3223260" y="1554480"/>
            <a:ext cx="64008" cy="1417320"/>
          </a:xfrm>
          <a:prstGeom prst="rect">
            <a:avLst/>
          </a:prstGeom>
          <a:solidFill>
            <a:srgbClr val="F97316"/>
          </a:solidFill>
          <a:ln w="12700">
            <a:solidFill>
              <a:srgbClr val="F97316"/>
            </a:solidFill>
            <a:prstDash val="solid"/>
          </a:ln>
        </p:spPr>
        <p:txBody>
          <a:bodyPr/>
          <a:lstStyle/>
          <a:p>
            <a:endParaRPr lang="en-GB"/>
          </a:p>
        </p:txBody>
      </p:sp>
      <p:sp>
        <p:nvSpPr>
          <p:cNvPr id="73" name="Shape 16">
            <a:extLst>
              <a:ext uri="{FF2B5EF4-FFF2-40B4-BE49-F238E27FC236}">
                <a16:creationId xmlns:a16="http://schemas.microsoft.com/office/drawing/2014/main" id="{F01E417F-9F74-4112-A831-8C2085CA5DBC}"/>
              </a:ext>
            </a:extLst>
          </p:cNvPr>
          <p:cNvSpPr/>
          <p:nvPr/>
        </p:nvSpPr>
        <p:spPr>
          <a:xfrm>
            <a:off x="3406140" y="1719072"/>
            <a:ext cx="502920" cy="502920"/>
          </a:xfrm>
          <a:prstGeom prst="ellipse">
            <a:avLst/>
          </a:prstGeom>
          <a:solidFill>
            <a:srgbClr val="F97316"/>
          </a:solidFill>
          <a:ln w="12700">
            <a:solidFill>
              <a:srgbClr val="F97316"/>
            </a:solidFill>
            <a:prstDash val="solid"/>
          </a:ln>
        </p:spPr>
        <p:txBody>
          <a:bodyPr/>
          <a:lstStyle/>
          <a:p>
            <a:endParaRPr lang="en-GB"/>
          </a:p>
        </p:txBody>
      </p:sp>
      <p:sp>
        <p:nvSpPr>
          <p:cNvPr id="74" name="Text 17">
            <a:extLst>
              <a:ext uri="{FF2B5EF4-FFF2-40B4-BE49-F238E27FC236}">
                <a16:creationId xmlns:a16="http://schemas.microsoft.com/office/drawing/2014/main" id="{AAADED0B-4942-8378-D29B-685DF89FBF85}"/>
              </a:ext>
            </a:extLst>
          </p:cNvPr>
          <p:cNvSpPr/>
          <p:nvPr/>
        </p:nvSpPr>
        <p:spPr>
          <a:xfrm>
            <a:off x="3406140" y="1719072"/>
            <a:ext cx="502920" cy="502920"/>
          </a:xfrm>
          <a:prstGeom prst="rect">
            <a:avLst/>
          </a:prstGeom>
          <a:noFill/>
          <a:ln/>
        </p:spPr>
        <p:txBody>
          <a:bodyPr wrap="square" lIns="0" tIns="0" rIns="0" bIns="0" rtlCol="0" anchor="ctr"/>
          <a:lstStyle/>
          <a:p>
            <a:pPr marL="0" indent="0" algn="ctr">
              <a:buNone/>
            </a:pPr>
            <a:r>
              <a:rPr lang="en-US" sz="1800" b="1" dirty="0">
                <a:solidFill>
                  <a:srgbClr val="F8FAFC"/>
                </a:solidFill>
                <a:latin typeface="Calibri" pitchFamily="34" charset="0"/>
                <a:ea typeface="Calibri" pitchFamily="34" charset="-122"/>
                <a:cs typeface="Calibri" pitchFamily="34" charset="-120"/>
              </a:rPr>
              <a:t>🕸️</a:t>
            </a:r>
            <a:endParaRPr lang="en-US" sz="1800" dirty="0"/>
          </a:p>
        </p:txBody>
      </p:sp>
      <p:sp>
        <p:nvSpPr>
          <p:cNvPr id="75" name="Text 18">
            <a:extLst>
              <a:ext uri="{FF2B5EF4-FFF2-40B4-BE49-F238E27FC236}">
                <a16:creationId xmlns:a16="http://schemas.microsoft.com/office/drawing/2014/main" id="{AE473CFA-0EA7-21B9-59B0-7108EFAE4305}"/>
              </a:ext>
            </a:extLst>
          </p:cNvPr>
          <p:cNvSpPr/>
          <p:nvPr/>
        </p:nvSpPr>
        <p:spPr>
          <a:xfrm>
            <a:off x="4046220" y="1719072"/>
            <a:ext cx="1737360" cy="320040"/>
          </a:xfrm>
          <a:prstGeom prst="rect">
            <a:avLst/>
          </a:prstGeom>
          <a:noFill/>
          <a:ln/>
        </p:spPr>
        <p:txBody>
          <a:bodyPr wrap="square" lIns="0" tIns="0" rIns="0" bIns="0" rtlCol="0" anchor="ctr"/>
          <a:lstStyle/>
          <a:p>
            <a:pPr marL="0" indent="0">
              <a:buNone/>
            </a:pPr>
            <a:r>
              <a:rPr lang="en-US" sz="1400" b="1" dirty="0">
                <a:solidFill>
                  <a:srgbClr val="F8FAFC"/>
                </a:solidFill>
                <a:latin typeface="Calibri" pitchFamily="34" charset="0"/>
                <a:ea typeface="Calibri" pitchFamily="34" charset="-122"/>
                <a:cs typeface="Calibri" pitchFamily="34" charset="-120"/>
              </a:rPr>
              <a:t>LangGraph</a:t>
            </a:r>
            <a:endParaRPr lang="en-US" sz="1400" dirty="0"/>
          </a:p>
        </p:txBody>
      </p:sp>
      <p:sp>
        <p:nvSpPr>
          <p:cNvPr id="76" name="Text 19">
            <a:extLst>
              <a:ext uri="{FF2B5EF4-FFF2-40B4-BE49-F238E27FC236}">
                <a16:creationId xmlns:a16="http://schemas.microsoft.com/office/drawing/2014/main" id="{7D11CC52-6DF2-31F8-F6AB-AD0E757ACC93}"/>
              </a:ext>
            </a:extLst>
          </p:cNvPr>
          <p:cNvSpPr/>
          <p:nvPr/>
        </p:nvSpPr>
        <p:spPr>
          <a:xfrm>
            <a:off x="4046220" y="2057400"/>
            <a:ext cx="1737360" cy="274320"/>
          </a:xfrm>
          <a:prstGeom prst="rect">
            <a:avLst/>
          </a:prstGeom>
          <a:noFill/>
          <a:ln/>
        </p:spPr>
        <p:txBody>
          <a:bodyPr wrap="square" lIns="0" tIns="0" rIns="0" bIns="0" rtlCol="0" anchor="ctr"/>
          <a:lstStyle/>
          <a:p>
            <a:pPr marL="0" indent="0">
              <a:buNone/>
            </a:pPr>
            <a:r>
              <a:rPr lang="en-US" sz="1000" i="1" dirty="0">
                <a:solidFill>
                  <a:srgbClr val="F97316"/>
                </a:solidFill>
                <a:latin typeface="Calibri" pitchFamily="34" charset="0"/>
                <a:ea typeface="Calibri" pitchFamily="34" charset="-122"/>
                <a:cs typeface="Calibri" pitchFamily="34" charset="-120"/>
              </a:rPr>
              <a:t>graph state machine</a:t>
            </a:r>
            <a:endParaRPr lang="en-US" sz="1000" dirty="0"/>
          </a:p>
        </p:txBody>
      </p:sp>
      <p:sp>
        <p:nvSpPr>
          <p:cNvPr id="77" name="Shape 20">
            <a:extLst>
              <a:ext uri="{FF2B5EF4-FFF2-40B4-BE49-F238E27FC236}">
                <a16:creationId xmlns:a16="http://schemas.microsoft.com/office/drawing/2014/main" id="{CE023540-1663-79FB-347F-4B247B464DD6}"/>
              </a:ext>
            </a:extLst>
          </p:cNvPr>
          <p:cNvSpPr/>
          <p:nvPr/>
        </p:nvSpPr>
        <p:spPr>
          <a:xfrm>
            <a:off x="3406140" y="2423160"/>
            <a:ext cx="2331720" cy="411480"/>
          </a:xfrm>
          <a:prstGeom prst="roundRect">
            <a:avLst>
              <a:gd name="adj" fmla="val 8889"/>
            </a:avLst>
          </a:prstGeom>
          <a:solidFill>
            <a:srgbClr val="0A1628"/>
          </a:solidFill>
          <a:ln w="12700">
            <a:solidFill>
              <a:srgbClr val="1E3A5F"/>
            </a:solidFill>
            <a:prstDash val="solid"/>
          </a:ln>
        </p:spPr>
        <p:txBody>
          <a:bodyPr/>
          <a:lstStyle/>
          <a:p>
            <a:endParaRPr lang="en-GB"/>
          </a:p>
        </p:txBody>
      </p:sp>
      <p:sp>
        <p:nvSpPr>
          <p:cNvPr id="78" name="Text 21">
            <a:extLst>
              <a:ext uri="{FF2B5EF4-FFF2-40B4-BE49-F238E27FC236}">
                <a16:creationId xmlns:a16="http://schemas.microsoft.com/office/drawing/2014/main" id="{986113DB-6A91-FAF5-8D1F-20693FBDB257}"/>
              </a:ext>
            </a:extLst>
          </p:cNvPr>
          <p:cNvSpPr/>
          <p:nvPr/>
        </p:nvSpPr>
        <p:spPr>
          <a:xfrm>
            <a:off x="3497580" y="2423160"/>
            <a:ext cx="2148840" cy="411480"/>
          </a:xfrm>
          <a:prstGeom prst="rect">
            <a:avLst/>
          </a:prstGeom>
          <a:noFill/>
          <a:ln/>
        </p:spPr>
        <p:txBody>
          <a:bodyPr wrap="square" lIns="0" tIns="0" rIns="0" bIns="0" rtlCol="0" anchor="ctr"/>
          <a:lstStyle/>
          <a:p>
            <a:pPr marL="0" indent="0">
              <a:buNone/>
            </a:pPr>
            <a:r>
              <a:rPr lang="en-US" sz="800" b="1" kern="0" spc="200" dirty="0">
                <a:solidFill>
                  <a:srgbClr val="F97316"/>
                </a:solidFill>
                <a:latin typeface="Calibri" pitchFamily="34" charset="0"/>
                <a:ea typeface="Calibri" pitchFamily="34" charset="-122"/>
                <a:cs typeface="Calibri" pitchFamily="34" charset="-120"/>
              </a:rPr>
              <a:t>BEST FOR  </a:t>
            </a:r>
            <a:r>
              <a:rPr lang="en-US" sz="1000" dirty="0">
                <a:solidFill>
                  <a:srgbClr val="F8FAFC"/>
                </a:solidFill>
                <a:latin typeface="Calibri" pitchFamily="34" charset="0"/>
                <a:ea typeface="Calibri" pitchFamily="34" charset="-122"/>
                <a:cs typeface="Calibri" pitchFamily="34" charset="-120"/>
              </a:rPr>
              <a:t>production agents</a:t>
            </a:r>
            <a:endParaRPr lang="en-US" sz="800" dirty="0"/>
          </a:p>
        </p:txBody>
      </p:sp>
      <p:sp>
        <p:nvSpPr>
          <p:cNvPr id="79" name="Shape 22">
            <a:extLst>
              <a:ext uri="{FF2B5EF4-FFF2-40B4-BE49-F238E27FC236}">
                <a16:creationId xmlns:a16="http://schemas.microsoft.com/office/drawing/2014/main" id="{02734C84-AAA2-AA8D-F39E-672DEA1CEFB9}"/>
              </a:ext>
            </a:extLst>
          </p:cNvPr>
          <p:cNvSpPr/>
          <p:nvPr/>
        </p:nvSpPr>
        <p:spPr>
          <a:xfrm>
            <a:off x="6085332" y="1554480"/>
            <a:ext cx="2697480" cy="1417320"/>
          </a:xfrm>
          <a:prstGeom prst="roundRect">
            <a:avLst>
              <a:gd name="adj" fmla="val 5161"/>
            </a:avLst>
          </a:prstGeom>
          <a:solidFill>
            <a:srgbClr val="11203A"/>
          </a:solidFill>
          <a:ln w="12700">
            <a:solidFill>
              <a:srgbClr val="1B2D4F"/>
            </a:solidFill>
            <a:prstDash val="solid"/>
          </a:ln>
          <a:effectLst>
            <a:outerShdw blurRad="101600" dist="25400" dir="8100000" algn="bl" rotWithShape="0">
              <a:srgbClr val="000000">
                <a:alpha val="25000"/>
              </a:srgbClr>
            </a:outerShdw>
          </a:effectLst>
        </p:spPr>
        <p:txBody>
          <a:bodyPr/>
          <a:lstStyle/>
          <a:p>
            <a:endParaRPr lang="en-GB"/>
          </a:p>
        </p:txBody>
      </p:sp>
      <p:sp>
        <p:nvSpPr>
          <p:cNvPr id="80" name="Shape 23">
            <a:extLst>
              <a:ext uri="{FF2B5EF4-FFF2-40B4-BE49-F238E27FC236}">
                <a16:creationId xmlns:a16="http://schemas.microsoft.com/office/drawing/2014/main" id="{B94D36F5-91AB-BB5B-0600-C45FC3762CD8}"/>
              </a:ext>
            </a:extLst>
          </p:cNvPr>
          <p:cNvSpPr/>
          <p:nvPr/>
        </p:nvSpPr>
        <p:spPr>
          <a:xfrm>
            <a:off x="6085332" y="1554480"/>
            <a:ext cx="64008" cy="1417320"/>
          </a:xfrm>
          <a:prstGeom prst="rect">
            <a:avLst/>
          </a:prstGeom>
          <a:solidFill>
            <a:srgbClr val="3B82F6"/>
          </a:solidFill>
          <a:ln w="12700">
            <a:solidFill>
              <a:srgbClr val="3B82F6"/>
            </a:solidFill>
            <a:prstDash val="solid"/>
          </a:ln>
        </p:spPr>
        <p:txBody>
          <a:bodyPr/>
          <a:lstStyle/>
          <a:p>
            <a:endParaRPr lang="en-GB"/>
          </a:p>
        </p:txBody>
      </p:sp>
      <p:sp>
        <p:nvSpPr>
          <p:cNvPr id="81" name="Shape 24">
            <a:extLst>
              <a:ext uri="{FF2B5EF4-FFF2-40B4-BE49-F238E27FC236}">
                <a16:creationId xmlns:a16="http://schemas.microsoft.com/office/drawing/2014/main" id="{80961487-30C9-9059-EEDE-34D6B636318A}"/>
              </a:ext>
            </a:extLst>
          </p:cNvPr>
          <p:cNvSpPr/>
          <p:nvPr/>
        </p:nvSpPr>
        <p:spPr>
          <a:xfrm>
            <a:off x="6268212" y="1719072"/>
            <a:ext cx="502920" cy="502920"/>
          </a:xfrm>
          <a:prstGeom prst="ellipse">
            <a:avLst/>
          </a:prstGeom>
          <a:solidFill>
            <a:srgbClr val="3B82F6"/>
          </a:solidFill>
          <a:ln w="12700">
            <a:solidFill>
              <a:srgbClr val="3B82F6"/>
            </a:solidFill>
            <a:prstDash val="solid"/>
          </a:ln>
        </p:spPr>
        <p:txBody>
          <a:bodyPr/>
          <a:lstStyle/>
          <a:p>
            <a:endParaRPr lang="en-GB"/>
          </a:p>
        </p:txBody>
      </p:sp>
      <p:sp>
        <p:nvSpPr>
          <p:cNvPr id="82" name="Text 25">
            <a:extLst>
              <a:ext uri="{FF2B5EF4-FFF2-40B4-BE49-F238E27FC236}">
                <a16:creationId xmlns:a16="http://schemas.microsoft.com/office/drawing/2014/main" id="{B6BA0A24-D047-8250-6781-F5D9E9876C6E}"/>
              </a:ext>
            </a:extLst>
          </p:cNvPr>
          <p:cNvSpPr/>
          <p:nvPr/>
        </p:nvSpPr>
        <p:spPr>
          <a:xfrm>
            <a:off x="6268212" y="1719072"/>
            <a:ext cx="502920" cy="502920"/>
          </a:xfrm>
          <a:prstGeom prst="rect">
            <a:avLst/>
          </a:prstGeom>
          <a:noFill/>
          <a:ln/>
        </p:spPr>
        <p:txBody>
          <a:bodyPr wrap="square" lIns="0" tIns="0" rIns="0" bIns="0" rtlCol="0" anchor="ctr"/>
          <a:lstStyle/>
          <a:p>
            <a:pPr marL="0" indent="0" algn="ctr">
              <a:buNone/>
            </a:pPr>
            <a:r>
              <a:rPr lang="en-US" sz="1800" b="1" dirty="0">
                <a:solidFill>
                  <a:srgbClr val="F8FAFC"/>
                </a:solidFill>
                <a:latin typeface="Calibri" pitchFamily="34" charset="0"/>
                <a:ea typeface="Calibri" pitchFamily="34" charset="-122"/>
                <a:cs typeface="Calibri" pitchFamily="34" charset="-120"/>
              </a:rPr>
              <a:t>📚</a:t>
            </a:r>
            <a:endParaRPr lang="en-US" sz="1800" dirty="0"/>
          </a:p>
        </p:txBody>
      </p:sp>
      <p:sp>
        <p:nvSpPr>
          <p:cNvPr id="83" name="Text 26">
            <a:extLst>
              <a:ext uri="{FF2B5EF4-FFF2-40B4-BE49-F238E27FC236}">
                <a16:creationId xmlns:a16="http://schemas.microsoft.com/office/drawing/2014/main" id="{29985043-5EA7-71D6-3577-E6434A9202F9}"/>
              </a:ext>
            </a:extLst>
          </p:cNvPr>
          <p:cNvSpPr/>
          <p:nvPr/>
        </p:nvSpPr>
        <p:spPr>
          <a:xfrm>
            <a:off x="6908292" y="1719072"/>
            <a:ext cx="1737360" cy="320040"/>
          </a:xfrm>
          <a:prstGeom prst="rect">
            <a:avLst/>
          </a:prstGeom>
          <a:noFill/>
          <a:ln/>
        </p:spPr>
        <p:txBody>
          <a:bodyPr wrap="square" lIns="0" tIns="0" rIns="0" bIns="0" rtlCol="0" anchor="ctr"/>
          <a:lstStyle/>
          <a:p>
            <a:pPr marL="0" indent="0">
              <a:buNone/>
            </a:pPr>
            <a:r>
              <a:rPr lang="en-US" sz="1400" b="1" dirty="0">
                <a:solidFill>
                  <a:srgbClr val="F8FAFC"/>
                </a:solidFill>
                <a:latin typeface="Calibri" pitchFamily="34" charset="0"/>
                <a:ea typeface="Calibri" pitchFamily="34" charset="-122"/>
                <a:cs typeface="Calibri" pitchFamily="34" charset="-120"/>
              </a:rPr>
              <a:t>LlamaIndex</a:t>
            </a:r>
            <a:endParaRPr lang="en-US" sz="1400" dirty="0"/>
          </a:p>
        </p:txBody>
      </p:sp>
      <p:sp>
        <p:nvSpPr>
          <p:cNvPr id="84" name="Text 27">
            <a:extLst>
              <a:ext uri="{FF2B5EF4-FFF2-40B4-BE49-F238E27FC236}">
                <a16:creationId xmlns:a16="http://schemas.microsoft.com/office/drawing/2014/main" id="{28679043-9A9D-3A1C-65B0-646F83D0DEE3}"/>
              </a:ext>
            </a:extLst>
          </p:cNvPr>
          <p:cNvSpPr/>
          <p:nvPr/>
        </p:nvSpPr>
        <p:spPr>
          <a:xfrm>
            <a:off x="6908292" y="2057400"/>
            <a:ext cx="1737360" cy="274320"/>
          </a:xfrm>
          <a:prstGeom prst="rect">
            <a:avLst/>
          </a:prstGeom>
          <a:noFill/>
          <a:ln/>
        </p:spPr>
        <p:txBody>
          <a:bodyPr wrap="square" lIns="0" tIns="0" rIns="0" bIns="0" rtlCol="0" anchor="ctr"/>
          <a:lstStyle/>
          <a:p>
            <a:pPr marL="0" indent="0">
              <a:buNone/>
            </a:pPr>
            <a:r>
              <a:rPr lang="en-US" sz="1000" i="1" dirty="0">
                <a:solidFill>
                  <a:srgbClr val="3B82F6"/>
                </a:solidFill>
                <a:latin typeface="Calibri" pitchFamily="34" charset="0"/>
                <a:ea typeface="Calibri" pitchFamily="34" charset="-122"/>
                <a:cs typeface="Calibri" pitchFamily="34" charset="-120"/>
              </a:rPr>
              <a:t>data + retrieval first</a:t>
            </a:r>
            <a:endParaRPr lang="en-US" sz="1000" dirty="0"/>
          </a:p>
        </p:txBody>
      </p:sp>
      <p:sp>
        <p:nvSpPr>
          <p:cNvPr id="85" name="Shape 28">
            <a:extLst>
              <a:ext uri="{FF2B5EF4-FFF2-40B4-BE49-F238E27FC236}">
                <a16:creationId xmlns:a16="http://schemas.microsoft.com/office/drawing/2014/main" id="{CB1A2040-A98B-D905-5FAC-48B124EDBB9D}"/>
              </a:ext>
            </a:extLst>
          </p:cNvPr>
          <p:cNvSpPr/>
          <p:nvPr/>
        </p:nvSpPr>
        <p:spPr>
          <a:xfrm>
            <a:off x="6268212" y="2423160"/>
            <a:ext cx="2331720" cy="411480"/>
          </a:xfrm>
          <a:prstGeom prst="roundRect">
            <a:avLst>
              <a:gd name="adj" fmla="val 8889"/>
            </a:avLst>
          </a:prstGeom>
          <a:solidFill>
            <a:srgbClr val="0A1628"/>
          </a:solidFill>
          <a:ln w="12700">
            <a:solidFill>
              <a:srgbClr val="1E3A5F"/>
            </a:solidFill>
            <a:prstDash val="solid"/>
          </a:ln>
        </p:spPr>
        <p:txBody>
          <a:bodyPr/>
          <a:lstStyle/>
          <a:p>
            <a:endParaRPr lang="en-GB"/>
          </a:p>
        </p:txBody>
      </p:sp>
      <p:sp>
        <p:nvSpPr>
          <p:cNvPr id="86" name="Text 29">
            <a:extLst>
              <a:ext uri="{FF2B5EF4-FFF2-40B4-BE49-F238E27FC236}">
                <a16:creationId xmlns:a16="http://schemas.microsoft.com/office/drawing/2014/main" id="{B60F6BAE-5C8C-0D9E-8C33-40F257965896}"/>
              </a:ext>
            </a:extLst>
          </p:cNvPr>
          <p:cNvSpPr/>
          <p:nvPr/>
        </p:nvSpPr>
        <p:spPr>
          <a:xfrm>
            <a:off x="6359652" y="2423160"/>
            <a:ext cx="2148840" cy="411480"/>
          </a:xfrm>
          <a:prstGeom prst="rect">
            <a:avLst/>
          </a:prstGeom>
          <a:noFill/>
          <a:ln/>
        </p:spPr>
        <p:txBody>
          <a:bodyPr wrap="square" lIns="0" tIns="0" rIns="0" bIns="0" rtlCol="0" anchor="ctr"/>
          <a:lstStyle/>
          <a:p>
            <a:pPr marL="0" indent="0">
              <a:buNone/>
            </a:pPr>
            <a:r>
              <a:rPr lang="en-US" sz="800" b="1" kern="0" spc="200" dirty="0">
                <a:solidFill>
                  <a:srgbClr val="3B82F6"/>
                </a:solidFill>
                <a:latin typeface="Calibri" pitchFamily="34" charset="0"/>
                <a:ea typeface="Calibri" pitchFamily="34" charset="-122"/>
                <a:cs typeface="Calibri" pitchFamily="34" charset="-120"/>
              </a:rPr>
              <a:t>BEST FOR  </a:t>
            </a:r>
            <a:r>
              <a:rPr lang="en-US" sz="1000" dirty="0">
                <a:solidFill>
                  <a:srgbClr val="F8FAFC"/>
                </a:solidFill>
                <a:latin typeface="Calibri" pitchFamily="34" charset="0"/>
                <a:ea typeface="Calibri" pitchFamily="34" charset="-122"/>
                <a:cs typeface="Calibri" pitchFamily="34" charset="-120"/>
              </a:rPr>
              <a:t>RAG-heavy apps</a:t>
            </a:r>
            <a:endParaRPr lang="en-US" sz="800" dirty="0"/>
          </a:p>
        </p:txBody>
      </p:sp>
      <p:sp>
        <p:nvSpPr>
          <p:cNvPr id="87" name="Shape 30">
            <a:extLst>
              <a:ext uri="{FF2B5EF4-FFF2-40B4-BE49-F238E27FC236}">
                <a16:creationId xmlns:a16="http://schemas.microsoft.com/office/drawing/2014/main" id="{E8E601EE-9ED2-A953-A32A-83B73FED9BC7}"/>
              </a:ext>
            </a:extLst>
          </p:cNvPr>
          <p:cNvSpPr/>
          <p:nvPr/>
        </p:nvSpPr>
        <p:spPr>
          <a:xfrm>
            <a:off x="361188" y="3136392"/>
            <a:ext cx="2697480" cy="1417320"/>
          </a:xfrm>
          <a:prstGeom prst="roundRect">
            <a:avLst>
              <a:gd name="adj" fmla="val 5161"/>
            </a:avLst>
          </a:prstGeom>
          <a:solidFill>
            <a:srgbClr val="11203A"/>
          </a:solidFill>
          <a:ln w="12700">
            <a:solidFill>
              <a:srgbClr val="1B2D4F"/>
            </a:solidFill>
            <a:prstDash val="solid"/>
          </a:ln>
          <a:effectLst>
            <a:outerShdw blurRad="101600" dist="25400" dir="8100000" algn="bl" rotWithShape="0">
              <a:srgbClr val="000000">
                <a:alpha val="25000"/>
              </a:srgbClr>
            </a:outerShdw>
          </a:effectLst>
        </p:spPr>
        <p:txBody>
          <a:bodyPr/>
          <a:lstStyle/>
          <a:p>
            <a:endParaRPr lang="en-GB"/>
          </a:p>
        </p:txBody>
      </p:sp>
      <p:sp>
        <p:nvSpPr>
          <p:cNvPr id="88" name="Shape 31">
            <a:extLst>
              <a:ext uri="{FF2B5EF4-FFF2-40B4-BE49-F238E27FC236}">
                <a16:creationId xmlns:a16="http://schemas.microsoft.com/office/drawing/2014/main" id="{7DBF7D5F-D239-753A-FFD4-1D13EFF7A3C7}"/>
              </a:ext>
            </a:extLst>
          </p:cNvPr>
          <p:cNvSpPr/>
          <p:nvPr/>
        </p:nvSpPr>
        <p:spPr>
          <a:xfrm>
            <a:off x="361188" y="3136392"/>
            <a:ext cx="64008" cy="1417320"/>
          </a:xfrm>
          <a:prstGeom prst="rect">
            <a:avLst/>
          </a:prstGeom>
          <a:solidFill>
            <a:srgbClr val="3B82F6"/>
          </a:solidFill>
          <a:ln w="12700">
            <a:solidFill>
              <a:srgbClr val="3B82F6"/>
            </a:solidFill>
            <a:prstDash val="solid"/>
          </a:ln>
        </p:spPr>
        <p:txBody>
          <a:bodyPr/>
          <a:lstStyle/>
          <a:p>
            <a:endParaRPr lang="en-GB"/>
          </a:p>
        </p:txBody>
      </p:sp>
      <p:sp>
        <p:nvSpPr>
          <p:cNvPr id="89" name="Shape 32">
            <a:extLst>
              <a:ext uri="{FF2B5EF4-FFF2-40B4-BE49-F238E27FC236}">
                <a16:creationId xmlns:a16="http://schemas.microsoft.com/office/drawing/2014/main" id="{0C06BD14-0C70-C5A8-6C11-DBC60810B230}"/>
              </a:ext>
            </a:extLst>
          </p:cNvPr>
          <p:cNvSpPr/>
          <p:nvPr/>
        </p:nvSpPr>
        <p:spPr>
          <a:xfrm>
            <a:off x="544068" y="3300984"/>
            <a:ext cx="502920" cy="502920"/>
          </a:xfrm>
          <a:prstGeom prst="ellipse">
            <a:avLst/>
          </a:prstGeom>
          <a:solidFill>
            <a:srgbClr val="3B82F6"/>
          </a:solidFill>
          <a:ln w="12700">
            <a:solidFill>
              <a:srgbClr val="3B82F6"/>
            </a:solidFill>
            <a:prstDash val="solid"/>
          </a:ln>
        </p:spPr>
        <p:txBody>
          <a:bodyPr/>
          <a:lstStyle/>
          <a:p>
            <a:endParaRPr lang="en-GB"/>
          </a:p>
        </p:txBody>
      </p:sp>
      <p:sp>
        <p:nvSpPr>
          <p:cNvPr id="90" name="Text 33">
            <a:extLst>
              <a:ext uri="{FF2B5EF4-FFF2-40B4-BE49-F238E27FC236}">
                <a16:creationId xmlns:a16="http://schemas.microsoft.com/office/drawing/2014/main" id="{3DA3EB89-71C9-26C1-F9BE-6F8F385365A4}"/>
              </a:ext>
            </a:extLst>
          </p:cNvPr>
          <p:cNvSpPr/>
          <p:nvPr/>
        </p:nvSpPr>
        <p:spPr>
          <a:xfrm>
            <a:off x="544068" y="3300984"/>
            <a:ext cx="502920" cy="502920"/>
          </a:xfrm>
          <a:prstGeom prst="rect">
            <a:avLst/>
          </a:prstGeom>
          <a:noFill/>
          <a:ln/>
        </p:spPr>
        <p:txBody>
          <a:bodyPr wrap="square" lIns="0" tIns="0" rIns="0" bIns="0" rtlCol="0" anchor="ctr"/>
          <a:lstStyle/>
          <a:p>
            <a:pPr marL="0" indent="0" algn="ctr">
              <a:buNone/>
            </a:pPr>
            <a:r>
              <a:rPr lang="en-US" sz="1800" b="1" dirty="0">
                <a:solidFill>
                  <a:srgbClr val="F8FAFC"/>
                </a:solidFill>
                <a:latin typeface="Calibri" pitchFamily="34" charset="0"/>
                <a:ea typeface="Calibri" pitchFamily="34" charset="-122"/>
                <a:cs typeface="Calibri" pitchFamily="34" charset="-120"/>
              </a:rPr>
              <a:t>👥</a:t>
            </a:r>
            <a:endParaRPr lang="en-US" sz="1800" dirty="0"/>
          </a:p>
        </p:txBody>
      </p:sp>
      <p:sp>
        <p:nvSpPr>
          <p:cNvPr id="91" name="Text 34">
            <a:extLst>
              <a:ext uri="{FF2B5EF4-FFF2-40B4-BE49-F238E27FC236}">
                <a16:creationId xmlns:a16="http://schemas.microsoft.com/office/drawing/2014/main" id="{63114FAC-DF9F-9EB4-5CF5-C0B4555D43C3}"/>
              </a:ext>
            </a:extLst>
          </p:cNvPr>
          <p:cNvSpPr/>
          <p:nvPr/>
        </p:nvSpPr>
        <p:spPr>
          <a:xfrm>
            <a:off x="1184148" y="3300984"/>
            <a:ext cx="1737360" cy="320040"/>
          </a:xfrm>
          <a:prstGeom prst="rect">
            <a:avLst/>
          </a:prstGeom>
          <a:noFill/>
          <a:ln/>
        </p:spPr>
        <p:txBody>
          <a:bodyPr wrap="square" lIns="0" tIns="0" rIns="0" bIns="0" rtlCol="0" anchor="ctr"/>
          <a:lstStyle/>
          <a:p>
            <a:pPr marL="0" indent="0">
              <a:buNone/>
            </a:pPr>
            <a:r>
              <a:rPr lang="en-US" sz="1400" b="1" dirty="0">
                <a:solidFill>
                  <a:srgbClr val="F8FAFC"/>
                </a:solidFill>
                <a:latin typeface="Calibri" pitchFamily="34" charset="0"/>
                <a:ea typeface="Calibri" pitchFamily="34" charset="-122"/>
                <a:cs typeface="Calibri" pitchFamily="34" charset="-120"/>
              </a:rPr>
              <a:t>CrewAI</a:t>
            </a:r>
            <a:endParaRPr lang="en-US" sz="1400" dirty="0"/>
          </a:p>
        </p:txBody>
      </p:sp>
      <p:sp>
        <p:nvSpPr>
          <p:cNvPr id="92" name="Text 35">
            <a:extLst>
              <a:ext uri="{FF2B5EF4-FFF2-40B4-BE49-F238E27FC236}">
                <a16:creationId xmlns:a16="http://schemas.microsoft.com/office/drawing/2014/main" id="{FC4F942D-DFD8-47D1-7CB8-7845F57F9565}"/>
              </a:ext>
            </a:extLst>
          </p:cNvPr>
          <p:cNvSpPr/>
          <p:nvPr/>
        </p:nvSpPr>
        <p:spPr>
          <a:xfrm>
            <a:off x="1184148" y="3639312"/>
            <a:ext cx="1737360" cy="274320"/>
          </a:xfrm>
          <a:prstGeom prst="rect">
            <a:avLst/>
          </a:prstGeom>
          <a:noFill/>
          <a:ln/>
        </p:spPr>
        <p:txBody>
          <a:bodyPr wrap="square" lIns="0" tIns="0" rIns="0" bIns="0" rtlCol="0" anchor="ctr"/>
          <a:lstStyle/>
          <a:p>
            <a:pPr marL="0" indent="0">
              <a:buNone/>
            </a:pPr>
            <a:r>
              <a:rPr lang="en-US" sz="1000" i="1" dirty="0">
                <a:solidFill>
                  <a:srgbClr val="3B82F6"/>
                </a:solidFill>
                <a:latin typeface="Calibri" pitchFamily="34" charset="0"/>
                <a:ea typeface="Calibri" pitchFamily="34" charset="-122"/>
                <a:cs typeface="Calibri" pitchFamily="34" charset="-120"/>
              </a:rPr>
              <a:t>role-based teams</a:t>
            </a:r>
            <a:endParaRPr lang="en-US" sz="1000" dirty="0"/>
          </a:p>
        </p:txBody>
      </p:sp>
      <p:sp>
        <p:nvSpPr>
          <p:cNvPr id="93" name="Shape 36">
            <a:extLst>
              <a:ext uri="{FF2B5EF4-FFF2-40B4-BE49-F238E27FC236}">
                <a16:creationId xmlns:a16="http://schemas.microsoft.com/office/drawing/2014/main" id="{AE5A7B51-3466-00F4-877D-70D830AF62F3}"/>
              </a:ext>
            </a:extLst>
          </p:cNvPr>
          <p:cNvSpPr/>
          <p:nvPr/>
        </p:nvSpPr>
        <p:spPr>
          <a:xfrm>
            <a:off x="544068" y="4005072"/>
            <a:ext cx="2331720" cy="411480"/>
          </a:xfrm>
          <a:prstGeom prst="roundRect">
            <a:avLst>
              <a:gd name="adj" fmla="val 8889"/>
            </a:avLst>
          </a:prstGeom>
          <a:solidFill>
            <a:srgbClr val="0A1628"/>
          </a:solidFill>
          <a:ln w="12700">
            <a:solidFill>
              <a:srgbClr val="1E3A5F"/>
            </a:solidFill>
            <a:prstDash val="solid"/>
          </a:ln>
        </p:spPr>
        <p:txBody>
          <a:bodyPr/>
          <a:lstStyle/>
          <a:p>
            <a:endParaRPr lang="en-GB"/>
          </a:p>
        </p:txBody>
      </p:sp>
      <p:sp>
        <p:nvSpPr>
          <p:cNvPr id="94" name="Text 37">
            <a:extLst>
              <a:ext uri="{FF2B5EF4-FFF2-40B4-BE49-F238E27FC236}">
                <a16:creationId xmlns:a16="http://schemas.microsoft.com/office/drawing/2014/main" id="{56557A68-71BB-1FAC-4794-D8A6D4F5E137}"/>
              </a:ext>
            </a:extLst>
          </p:cNvPr>
          <p:cNvSpPr/>
          <p:nvPr/>
        </p:nvSpPr>
        <p:spPr>
          <a:xfrm>
            <a:off x="635508" y="4005072"/>
            <a:ext cx="2148840" cy="411480"/>
          </a:xfrm>
          <a:prstGeom prst="rect">
            <a:avLst/>
          </a:prstGeom>
          <a:noFill/>
          <a:ln/>
        </p:spPr>
        <p:txBody>
          <a:bodyPr wrap="square" lIns="0" tIns="0" rIns="0" bIns="0" rtlCol="0" anchor="ctr"/>
          <a:lstStyle/>
          <a:p>
            <a:pPr marL="0" indent="0">
              <a:buNone/>
            </a:pPr>
            <a:r>
              <a:rPr lang="en-US" sz="800" b="1" kern="0" spc="200" dirty="0">
                <a:solidFill>
                  <a:srgbClr val="3B82F6"/>
                </a:solidFill>
                <a:latin typeface="Calibri" pitchFamily="34" charset="0"/>
                <a:ea typeface="Calibri" pitchFamily="34" charset="-122"/>
                <a:cs typeface="Calibri" pitchFamily="34" charset="-120"/>
              </a:rPr>
              <a:t>BEST FOR  </a:t>
            </a:r>
            <a:r>
              <a:rPr lang="en-US" sz="1000" dirty="0">
                <a:solidFill>
                  <a:srgbClr val="F8FAFC"/>
                </a:solidFill>
                <a:latin typeface="Calibri" pitchFamily="34" charset="0"/>
                <a:ea typeface="Calibri" pitchFamily="34" charset="-122"/>
                <a:cs typeface="Calibri" pitchFamily="34" charset="-120"/>
              </a:rPr>
              <a:t>multi-agent demos</a:t>
            </a:r>
            <a:endParaRPr lang="en-US" sz="800" dirty="0"/>
          </a:p>
        </p:txBody>
      </p:sp>
      <p:sp>
        <p:nvSpPr>
          <p:cNvPr id="95" name="Shape 38">
            <a:extLst>
              <a:ext uri="{FF2B5EF4-FFF2-40B4-BE49-F238E27FC236}">
                <a16:creationId xmlns:a16="http://schemas.microsoft.com/office/drawing/2014/main" id="{BDBF7A97-8F8B-1571-D8E8-ABE74971A5F0}"/>
              </a:ext>
            </a:extLst>
          </p:cNvPr>
          <p:cNvSpPr/>
          <p:nvPr/>
        </p:nvSpPr>
        <p:spPr>
          <a:xfrm>
            <a:off x="3223260" y="3136392"/>
            <a:ext cx="2697480" cy="1417320"/>
          </a:xfrm>
          <a:prstGeom prst="roundRect">
            <a:avLst>
              <a:gd name="adj" fmla="val 5161"/>
            </a:avLst>
          </a:prstGeom>
          <a:solidFill>
            <a:srgbClr val="11203A"/>
          </a:solidFill>
          <a:ln w="12700">
            <a:solidFill>
              <a:srgbClr val="1B2D4F"/>
            </a:solidFill>
            <a:prstDash val="solid"/>
          </a:ln>
          <a:effectLst>
            <a:outerShdw blurRad="101600" dist="25400" dir="8100000" algn="bl" rotWithShape="0">
              <a:srgbClr val="000000">
                <a:alpha val="25000"/>
              </a:srgbClr>
            </a:outerShdw>
          </a:effectLst>
        </p:spPr>
        <p:txBody>
          <a:bodyPr/>
          <a:lstStyle/>
          <a:p>
            <a:endParaRPr lang="en-GB"/>
          </a:p>
        </p:txBody>
      </p:sp>
      <p:sp>
        <p:nvSpPr>
          <p:cNvPr id="96" name="Shape 39">
            <a:extLst>
              <a:ext uri="{FF2B5EF4-FFF2-40B4-BE49-F238E27FC236}">
                <a16:creationId xmlns:a16="http://schemas.microsoft.com/office/drawing/2014/main" id="{2FB53F1E-8C17-2FB3-D8E1-0E2EF4DA495F}"/>
              </a:ext>
            </a:extLst>
          </p:cNvPr>
          <p:cNvSpPr/>
          <p:nvPr/>
        </p:nvSpPr>
        <p:spPr>
          <a:xfrm>
            <a:off x="3223260" y="3136392"/>
            <a:ext cx="64008" cy="1417320"/>
          </a:xfrm>
          <a:prstGeom prst="rect">
            <a:avLst/>
          </a:prstGeom>
          <a:solidFill>
            <a:srgbClr val="3B82F6"/>
          </a:solidFill>
          <a:ln w="12700">
            <a:solidFill>
              <a:srgbClr val="3B82F6"/>
            </a:solidFill>
            <a:prstDash val="solid"/>
          </a:ln>
        </p:spPr>
        <p:txBody>
          <a:bodyPr/>
          <a:lstStyle/>
          <a:p>
            <a:endParaRPr lang="en-GB"/>
          </a:p>
        </p:txBody>
      </p:sp>
      <p:sp>
        <p:nvSpPr>
          <p:cNvPr id="97" name="Shape 40">
            <a:extLst>
              <a:ext uri="{FF2B5EF4-FFF2-40B4-BE49-F238E27FC236}">
                <a16:creationId xmlns:a16="http://schemas.microsoft.com/office/drawing/2014/main" id="{D022C624-69FF-530F-0193-8BD87E74B034}"/>
              </a:ext>
            </a:extLst>
          </p:cNvPr>
          <p:cNvSpPr/>
          <p:nvPr/>
        </p:nvSpPr>
        <p:spPr>
          <a:xfrm>
            <a:off x="3406140" y="3300984"/>
            <a:ext cx="502920" cy="502920"/>
          </a:xfrm>
          <a:prstGeom prst="ellipse">
            <a:avLst/>
          </a:prstGeom>
          <a:solidFill>
            <a:srgbClr val="3B82F6"/>
          </a:solidFill>
          <a:ln w="12700">
            <a:solidFill>
              <a:srgbClr val="3B82F6"/>
            </a:solidFill>
            <a:prstDash val="solid"/>
          </a:ln>
        </p:spPr>
        <p:txBody>
          <a:bodyPr/>
          <a:lstStyle/>
          <a:p>
            <a:endParaRPr lang="en-GB"/>
          </a:p>
        </p:txBody>
      </p:sp>
      <p:sp>
        <p:nvSpPr>
          <p:cNvPr id="98" name="Text 41">
            <a:extLst>
              <a:ext uri="{FF2B5EF4-FFF2-40B4-BE49-F238E27FC236}">
                <a16:creationId xmlns:a16="http://schemas.microsoft.com/office/drawing/2014/main" id="{910187BB-8C97-6FE9-C5D4-FDC524E3FCD8}"/>
              </a:ext>
            </a:extLst>
          </p:cNvPr>
          <p:cNvSpPr/>
          <p:nvPr/>
        </p:nvSpPr>
        <p:spPr>
          <a:xfrm>
            <a:off x="3406140" y="3300984"/>
            <a:ext cx="502920" cy="502920"/>
          </a:xfrm>
          <a:prstGeom prst="rect">
            <a:avLst/>
          </a:prstGeom>
          <a:noFill/>
          <a:ln/>
        </p:spPr>
        <p:txBody>
          <a:bodyPr wrap="square" lIns="0" tIns="0" rIns="0" bIns="0" rtlCol="0" anchor="ctr"/>
          <a:lstStyle/>
          <a:p>
            <a:pPr marL="0" indent="0" algn="ctr">
              <a:buNone/>
            </a:pPr>
            <a:r>
              <a:rPr lang="en-US" sz="1800" b="1" dirty="0">
                <a:solidFill>
                  <a:srgbClr val="F8FAFC"/>
                </a:solidFill>
                <a:latin typeface="Calibri" pitchFamily="34" charset="0"/>
                <a:ea typeface="Calibri" pitchFamily="34" charset="-122"/>
                <a:cs typeface="Calibri" pitchFamily="34" charset="-120"/>
              </a:rPr>
              <a:t>💬</a:t>
            </a:r>
            <a:endParaRPr lang="en-US" sz="1800" dirty="0"/>
          </a:p>
        </p:txBody>
      </p:sp>
      <p:sp>
        <p:nvSpPr>
          <p:cNvPr id="99" name="Text 42">
            <a:extLst>
              <a:ext uri="{FF2B5EF4-FFF2-40B4-BE49-F238E27FC236}">
                <a16:creationId xmlns:a16="http://schemas.microsoft.com/office/drawing/2014/main" id="{DE0F5076-7ADF-6C7D-AFB5-D67EB50845E1}"/>
              </a:ext>
            </a:extLst>
          </p:cNvPr>
          <p:cNvSpPr/>
          <p:nvPr/>
        </p:nvSpPr>
        <p:spPr>
          <a:xfrm>
            <a:off x="4046220" y="3300984"/>
            <a:ext cx="1737360" cy="320040"/>
          </a:xfrm>
          <a:prstGeom prst="rect">
            <a:avLst/>
          </a:prstGeom>
          <a:noFill/>
          <a:ln/>
        </p:spPr>
        <p:txBody>
          <a:bodyPr wrap="square" lIns="0" tIns="0" rIns="0" bIns="0" rtlCol="0" anchor="ctr"/>
          <a:lstStyle/>
          <a:p>
            <a:pPr marL="0" indent="0">
              <a:buNone/>
            </a:pPr>
            <a:r>
              <a:rPr lang="en-US" sz="1400" b="1" dirty="0">
                <a:solidFill>
                  <a:srgbClr val="F8FAFC"/>
                </a:solidFill>
                <a:latin typeface="Calibri" pitchFamily="34" charset="0"/>
                <a:ea typeface="Calibri" pitchFamily="34" charset="-122"/>
                <a:cs typeface="Calibri" pitchFamily="34" charset="-120"/>
              </a:rPr>
              <a:t>AutoGen</a:t>
            </a:r>
            <a:endParaRPr lang="en-US" sz="1400" dirty="0"/>
          </a:p>
        </p:txBody>
      </p:sp>
      <p:sp>
        <p:nvSpPr>
          <p:cNvPr id="100" name="Text 43">
            <a:extLst>
              <a:ext uri="{FF2B5EF4-FFF2-40B4-BE49-F238E27FC236}">
                <a16:creationId xmlns:a16="http://schemas.microsoft.com/office/drawing/2014/main" id="{B6F8A2B8-5FF8-ECDD-F563-014DB490F580}"/>
              </a:ext>
            </a:extLst>
          </p:cNvPr>
          <p:cNvSpPr/>
          <p:nvPr/>
        </p:nvSpPr>
        <p:spPr>
          <a:xfrm>
            <a:off x="4046220" y="3639312"/>
            <a:ext cx="1737360" cy="274320"/>
          </a:xfrm>
          <a:prstGeom prst="rect">
            <a:avLst/>
          </a:prstGeom>
          <a:noFill/>
          <a:ln/>
        </p:spPr>
        <p:txBody>
          <a:bodyPr wrap="square" lIns="0" tIns="0" rIns="0" bIns="0" rtlCol="0" anchor="ctr"/>
          <a:lstStyle/>
          <a:p>
            <a:pPr marL="0" indent="0">
              <a:buNone/>
            </a:pPr>
            <a:r>
              <a:rPr lang="en-US" sz="1000" i="1" dirty="0">
                <a:solidFill>
                  <a:srgbClr val="3B82F6"/>
                </a:solidFill>
                <a:latin typeface="Calibri" pitchFamily="34" charset="0"/>
                <a:ea typeface="Calibri" pitchFamily="34" charset="-122"/>
                <a:cs typeface="Calibri" pitchFamily="34" charset="-120"/>
              </a:rPr>
              <a:t>agent-to-agent chat</a:t>
            </a:r>
            <a:endParaRPr lang="en-US" sz="1000" dirty="0"/>
          </a:p>
        </p:txBody>
      </p:sp>
      <p:sp>
        <p:nvSpPr>
          <p:cNvPr id="101" name="Shape 44">
            <a:extLst>
              <a:ext uri="{FF2B5EF4-FFF2-40B4-BE49-F238E27FC236}">
                <a16:creationId xmlns:a16="http://schemas.microsoft.com/office/drawing/2014/main" id="{7D7FE7BF-F46A-8B10-A401-A48EF3473526}"/>
              </a:ext>
            </a:extLst>
          </p:cNvPr>
          <p:cNvSpPr/>
          <p:nvPr/>
        </p:nvSpPr>
        <p:spPr>
          <a:xfrm>
            <a:off x="3406140" y="4005072"/>
            <a:ext cx="2331720" cy="411480"/>
          </a:xfrm>
          <a:prstGeom prst="roundRect">
            <a:avLst>
              <a:gd name="adj" fmla="val 8889"/>
            </a:avLst>
          </a:prstGeom>
          <a:solidFill>
            <a:srgbClr val="0A1628"/>
          </a:solidFill>
          <a:ln w="12700">
            <a:solidFill>
              <a:srgbClr val="1E3A5F"/>
            </a:solidFill>
            <a:prstDash val="solid"/>
          </a:ln>
        </p:spPr>
        <p:txBody>
          <a:bodyPr/>
          <a:lstStyle/>
          <a:p>
            <a:endParaRPr lang="en-GB"/>
          </a:p>
        </p:txBody>
      </p:sp>
      <p:sp>
        <p:nvSpPr>
          <p:cNvPr id="102" name="Text 45">
            <a:extLst>
              <a:ext uri="{FF2B5EF4-FFF2-40B4-BE49-F238E27FC236}">
                <a16:creationId xmlns:a16="http://schemas.microsoft.com/office/drawing/2014/main" id="{BEB721BC-2F3D-4971-A81D-F483EE91B64F}"/>
              </a:ext>
            </a:extLst>
          </p:cNvPr>
          <p:cNvSpPr/>
          <p:nvPr/>
        </p:nvSpPr>
        <p:spPr>
          <a:xfrm>
            <a:off x="3497580" y="4005072"/>
            <a:ext cx="2148840" cy="411480"/>
          </a:xfrm>
          <a:prstGeom prst="rect">
            <a:avLst/>
          </a:prstGeom>
          <a:noFill/>
          <a:ln/>
        </p:spPr>
        <p:txBody>
          <a:bodyPr wrap="square" lIns="0" tIns="0" rIns="0" bIns="0" rtlCol="0" anchor="ctr"/>
          <a:lstStyle/>
          <a:p>
            <a:pPr marL="0" indent="0">
              <a:buNone/>
            </a:pPr>
            <a:r>
              <a:rPr lang="en-US" sz="800" b="1" kern="0" spc="200" dirty="0">
                <a:solidFill>
                  <a:srgbClr val="3B82F6"/>
                </a:solidFill>
                <a:latin typeface="Calibri" pitchFamily="34" charset="0"/>
                <a:ea typeface="Calibri" pitchFamily="34" charset="-122"/>
                <a:cs typeface="Calibri" pitchFamily="34" charset="-120"/>
              </a:rPr>
              <a:t>BEST FOR  </a:t>
            </a:r>
            <a:r>
              <a:rPr lang="en-US" sz="1000" dirty="0">
                <a:solidFill>
                  <a:srgbClr val="F8FAFC"/>
                </a:solidFill>
                <a:latin typeface="Calibri" pitchFamily="34" charset="0"/>
                <a:ea typeface="Calibri" pitchFamily="34" charset="-122"/>
                <a:cs typeface="Calibri" pitchFamily="34" charset="-120"/>
              </a:rPr>
              <a:t>research · dialogue</a:t>
            </a:r>
            <a:endParaRPr lang="en-US" sz="800" dirty="0"/>
          </a:p>
        </p:txBody>
      </p:sp>
      <p:sp>
        <p:nvSpPr>
          <p:cNvPr id="103" name="Shape 46">
            <a:extLst>
              <a:ext uri="{FF2B5EF4-FFF2-40B4-BE49-F238E27FC236}">
                <a16:creationId xmlns:a16="http://schemas.microsoft.com/office/drawing/2014/main" id="{475E50FF-EB21-A818-1971-BE56B92C9C3F}"/>
              </a:ext>
            </a:extLst>
          </p:cNvPr>
          <p:cNvSpPr/>
          <p:nvPr/>
        </p:nvSpPr>
        <p:spPr>
          <a:xfrm>
            <a:off x="6085332" y="3136392"/>
            <a:ext cx="2697480" cy="1417320"/>
          </a:xfrm>
          <a:prstGeom prst="roundRect">
            <a:avLst>
              <a:gd name="adj" fmla="val 5161"/>
            </a:avLst>
          </a:prstGeom>
          <a:solidFill>
            <a:srgbClr val="11203A"/>
          </a:solidFill>
          <a:ln w="12700">
            <a:solidFill>
              <a:srgbClr val="1B2D4F"/>
            </a:solidFill>
            <a:prstDash val="solid"/>
          </a:ln>
          <a:effectLst>
            <a:outerShdw blurRad="101600" dist="25400" dir="8100000" algn="bl" rotWithShape="0">
              <a:srgbClr val="000000">
                <a:alpha val="25000"/>
              </a:srgbClr>
            </a:outerShdw>
          </a:effectLst>
        </p:spPr>
        <p:txBody>
          <a:bodyPr/>
          <a:lstStyle/>
          <a:p>
            <a:endParaRPr lang="en-GB"/>
          </a:p>
        </p:txBody>
      </p:sp>
      <p:sp>
        <p:nvSpPr>
          <p:cNvPr id="104" name="Shape 47">
            <a:extLst>
              <a:ext uri="{FF2B5EF4-FFF2-40B4-BE49-F238E27FC236}">
                <a16:creationId xmlns:a16="http://schemas.microsoft.com/office/drawing/2014/main" id="{8637AE77-1890-00C3-E07C-D5179AE39EE0}"/>
              </a:ext>
            </a:extLst>
          </p:cNvPr>
          <p:cNvSpPr/>
          <p:nvPr/>
        </p:nvSpPr>
        <p:spPr>
          <a:xfrm>
            <a:off x="6085332" y="3136392"/>
            <a:ext cx="64008" cy="1417320"/>
          </a:xfrm>
          <a:prstGeom prst="rect">
            <a:avLst/>
          </a:prstGeom>
          <a:solidFill>
            <a:srgbClr val="94A3B8"/>
          </a:solidFill>
          <a:ln w="12700">
            <a:solidFill>
              <a:srgbClr val="94A3B8"/>
            </a:solidFill>
            <a:prstDash val="solid"/>
          </a:ln>
        </p:spPr>
        <p:txBody>
          <a:bodyPr/>
          <a:lstStyle/>
          <a:p>
            <a:endParaRPr lang="en-GB"/>
          </a:p>
        </p:txBody>
      </p:sp>
      <p:sp>
        <p:nvSpPr>
          <p:cNvPr id="105" name="Shape 48">
            <a:extLst>
              <a:ext uri="{FF2B5EF4-FFF2-40B4-BE49-F238E27FC236}">
                <a16:creationId xmlns:a16="http://schemas.microsoft.com/office/drawing/2014/main" id="{DD853FE8-7E33-47CC-4E42-46CDE43E8FD0}"/>
              </a:ext>
            </a:extLst>
          </p:cNvPr>
          <p:cNvSpPr/>
          <p:nvPr/>
        </p:nvSpPr>
        <p:spPr>
          <a:xfrm>
            <a:off x="6268212" y="3300984"/>
            <a:ext cx="502920" cy="502920"/>
          </a:xfrm>
          <a:prstGeom prst="ellipse">
            <a:avLst/>
          </a:prstGeom>
          <a:solidFill>
            <a:srgbClr val="94A3B8"/>
          </a:solidFill>
          <a:ln w="12700">
            <a:solidFill>
              <a:srgbClr val="94A3B8"/>
            </a:solidFill>
            <a:prstDash val="solid"/>
          </a:ln>
        </p:spPr>
        <p:txBody>
          <a:bodyPr/>
          <a:lstStyle/>
          <a:p>
            <a:endParaRPr lang="en-GB"/>
          </a:p>
        </p:txBody>
      </p:sp>
      <p:sp>
        <p:nvSpPr>
          <p:cNvPr id="106" name="Text 49">
            <a:extLst>
              <a:ext uri="{FF2B5EF4-FFF2-40B4-BE49-F238E27FC236}">
                <a16:creationId xmlns:a16="http://schemas.microsoft.com/office/drawing/2014/main" id="{AE4EDC9E-F767-3C85-83D1-A9E7A1624704}"/>
              </a:ext>
            </a:extLst>
          </p:cNvPr>
          <p:cNvSpPr/>
          <p:nvPr/>
        </p:nvSpPr>
        <p:spPr>
          <a:xfrm>
            <a:off x="6268212" y="3300984"/>
            <a:ext cx="502920" cy="502920"/>
          </a:xfrm>
          <a:prstGeom prst="rect">
            <a:avLst/>
          </a:prstGeom>
          <a:noFill/>
          <a:ln/>
        </p:spPr>
        <p:txBody>
          <a:bodyPr wrap="square" lIns="0" tIns="0" rIns="0" bIns="0" rtlCol="0" anchor="ctr"/>
          <a:lstStyle/>
          <a:p>
            <a:pPr marL="0" indent="0" algn="ctr">
              <a:buNone/>
            </a:pPr>
            <a:r>
              <a:rPr lang="en-US" sz="1800" b="1" dirty="0">
                <a:solidFill>
                  <a:srgbClr val="F8FAFC"/>
                </a:solidFill>
                <a:latin typeface="Calibri" pitchFamily="34" charset="0"/>
                <a:ea typeface="Calibri" pitchFamily="34" charset="-122"/>
                <a:cs typeface="Calibri" pitchFamily="34" charset="-120"/>
              </a:rPr>
              <a:t>🪨</a:t>
            </a:r>
            <a:endParaRPr lang="en-US" sz="1800" dirty="0"/>
          </a:p>
        </p:txBody>
      </p:sp>
      <p:sp>
        <p:nvSpPr>
          <p:cNvPr id="107" name="Text 50">
            <a:extLst>
              <a:ext uri="{FF2B5EF4-FFF2-40B4-BE49-F238E27FC236}">
                <a16:creationId xmlns:a16="http://schemas.microsoft.com/office/drawing/2014/main" id="{8059709D-6FF7-4E98-7364-BCD5CD68AB21}"/>
              </a:ext>
            </a:extLst>
          </p:cNvPr>
          <p:cNvSpPr/>
          <p:nvPr/>
        </p:nvSpPr>
        <p:spPr>
          <a:xfrm>
            <a:off x="6908292" y="3300984"/>
            <a:ext cx="1737360" cy="320040"/>
          </a:xfrm>
          <a:prstGeom prst="rect">
            <a:avLst/>
          </a:prstGeom>
          <a:noFill/>
          <a:ln/>
        </p:spPr>
        <p:txBody>
          <a:bodyPr wrap="square" lIns="0" tIns="0" rIns="0" bIns="0" rtlCol="0" anchor="ctr"/>
          <a:lstStyle/>
          <a:p>
            <a:pPr marL="0" indent="0">
              <a:buNone/>
            </a:pPr>
            <a:r>
              <a:rPr lang="en-US" sz="1400" b="1" dirty="0">
                <a:solidFill>
                  <a:srgbClr val="F8FAFC"/>
                </a:solidFill>
                <a:latin typeface="Calibri" pitchFamily="34" charset="0"/>
                <a:ea typeface="Calibri" pitchFamily="34" charset="-122"/>
                <a:cs typeface="Calibri" pitchFamily="34" charset="-120"/>
              </a:rPr>
              <a:t>Semantic Kernel</a:t>
            </a:r>
            <a:endParaRPr lang="en-US" sz="1400" dirty="0"/>
          </a:p>
        </p:txBody>
      </p:sp>
      <p:sp>
        <p:nvSpPr>
          <p:cNvPr id="108" name="Text 51">
            <a:extLst>
              <a:ext uri="{FF2B5EF4-FFF2-40B4-BE49-F238E27FC236}">
                <a16:creationId xmlns:a16="http://schemas.microsoft.com/office/drawing/2014/main" id="{24C39CD3-B822-B975-21D9-942CB939678B}"/>
              </a:ext>
            </a:extLst>
          </p:cNvPr>
          <p:cNvSpPr/>
          <p:nvPr/>
        </p:nvSpPr>
        <p:spPr>
          <a:xfrm>
            <a:off x="6908292" y="3639312"/>
            <a:ext cx="1737360" cy="274320"/>
          </a:xfrm>
          <a:prstGeom prst="rect">
            <a:avLst/>
          </a:prstGeom>
          <a:noFill/>
          <a:ln/>
        </p:spPr>
        <p:txBody>
          <a:bodyPr wrap="square" lIns="0" tIns="0" rIns="0" bIns="0" rtlCol="0" anchor="ctr"/>
          <a:lstStyle/>
          <a:p>
            <a:pPr marL="0" indent="0">
              <a:buNone/>
            </a:pPr>
            <a:r>
              <a:rPr lang="en-US" sz="1000" i="1" dirty="0">
                <a:solidFill>
                  <a:srgbClr val="94A3B8"/>
                </a:solidFill>
                <a:latin typeface="Calibri" pitchFamily="34" charset="0"/>
                <a:ea typeface="Calibri" pitchFamily="34" charset="-122"/>
                <a:cs typeface="Calibri" pitchFamily="34" charset="-120"/>
              </a:rPr>
              <a:t>enterprise · MS stack</a:t>
            </a:r>
            <a:endParaRPr lang="en-US" sz="1000" dirty="0"/>
          </a:p>
        </p:txBody>
      </p:sp>
      <p:sp>
        <p:nvSpPr>
          <p:cNvPr id="109" name="Shape 52">
            <a:extLst>
              <a:ext uri="{FF2B5EF4-FFF2-40B4-BE49-F238E27FC236}">
                <a16:creationId xmlns:a16="http://schemas.microsoft.com/office/drawing/2014/main" id="{7FC1F6C4-04BA-2BEF-FA7D-268E7DD43691}"/>
              </a:ext>
            </a:extLst>
          </p:cNvPr>
          <p:cNvSpPr/>
          <p:nvPr/>
        </p:nvSpPr>
        <p:spPr>
          <a:xfrm>
            <a:off x="6268212" y="4005072"/>
            <a:ext cx="2331720" cy="411480"/>
          </a:xfrm>
          <a:prstGeom prst="roundRect">
            <a:avLst>
              <a:gd name="adj" fmla="val 8889"/>
            </a:avLst>
          </a:prstGeom>
          <a:solidFill>
            <a:srgbClr val="0A1628"/>
          </a:solidFill>
          <a:ln w="12700">
            <a:solidFill>
              <a:srgbClr val="1E3A5F"/>
            </a:solidFill>
            <a:prstDash val="solid"/>
          </a:ln>
        </p:spPr>
        <p:txBody>
          <a:bodyPr/>
          <a:lstStyle/>
          <a:p>
            <a:endParaRPr lang="en-GB"/>
          </a:p>
        </p:txBody>
      </p:sp>
      <p:sp>
        <p:nvSpPr>
          <p:cNvPr id="110" name="Text 53">
            <a:extLst>
              <a:ext uri="{FF2B5EF4-FFF2-40B4-BE49-F238E27FC236}">
                <a16:creationId xmlns:a16="http://schemas.microsoft.com/office/drawing/2014/main" id="{414F811D-7B6B-8F58-4CC2-EE6EBAD5397F}"/>
              </a:ext>
            </a:extLst>
          </p:cNvPr>
          <p:cNvSpPr/>
          <p:nvPr/>
        </p:nvSpPr>
        <p:spPr>
          <a:xfrm>
            <a:off x="6359652" y="4005072"/>
            <a:ext cx="2148840" cy="411480"/>
          </a:xfrm>
          <a:prstGeom prst="rect">
            <a:avLst/>
          </a:prstGeom>
          <a:noFill/>
          <a:ln/>
        </p:spPr>
        <p:txBody>
          <a:bodyPr wrap="square" lIns="0" tIns="0" rIns="0" bIns="0" rtlCol="0" anchor="ctr"/>
          <a:lstStyle/>
          <a:p>
            <a:pPr marL="0" indent="0">
              <a:buNone/>
            </a:pPr>
            <a:r>
              <a:rPr lang="en-US" sz="800" b="1" kern="0" spc="200" dirty="0">
                <a:solidFill>
                  <a:srgbClr val="94A3B8"/>
                </a:solidFill>
                <a:latin typeface="Calibri" pitchFamily="34" charset="0"/>
                <a:ea typeface="Calibri" pitchFamily="34" charset="-122"/>
                <a:cs typeface="Calibri" pitchFamily="34" charset="-120"/>
              </a:rPr>
              <a:t>BEST FOR  </a:t>
            </a:r>
            <a:r>
              <a:rPr lang="en-US" sz="1000" dirty="0">
                <a:solidFill>
                  <a:srgbClr val="F8FAFC"/>
                </a:solidFill>
                <a:latin typeface="Calibri" pitchFamily="34" charset="0"/>
                <a:ea typeface="Calibri" pitchFamily="34" charset="-122"/>
                <a:cs typeface="Calibri" pitchFamily="34" charset="-120"/>
              </a:rPr>
              <a:t>Azure / .NET</a:t>
            </a:r>
            <a:endParaRPr lang="en-US" sz="800" dirty="0"/>
          </a:p>
        </p:txBody>
      </p:sp>
      <p:sp>
        <p:nvSpPr>
          <p:cNvPr id="111" name="Text 54">
            <a:extLst>
              <a:ext uri="{FF2B5EF4-FFF2-40B4-BE49-F238E27FC236}">
                <a16:creationId xmlns:a16="http://schemas.microsoft.com/office/drawing/2014/main" id="{07E9D37C-A59D-A0CE-C8E6-087F37A2F114}"/>
              </a:ext>
            </a:extLst>
          </p:cNvPr>
          <p:cNvSpPr/>
          <p:nvPr/>
        </p:nvSpPr>
        <p:spPr>
          <a:xfrm>
            <a:off x="457200" y="4526280"/>
            <a:ext cx="8229600" cy="274320"/>
          </a:xfrm>
          <a:prstGeom prst="rect">
            <a:avLst/>
          </a:prstGeom>
          <a:noFill/>
          <a:ln/>
        </p:spPr>
        <p:txBody>
          <a:bodyPr wrap="square" lIns="0" tIns="0" rIns="0" bIns="0" rtlCol="0" anchor="ctr"/>
          <a:lstStyle/>
          <a:p>
            <a:pPr marL="0" indent="0" algn="ctr">
              <a:buNone/>
            </a:pPr>
            <a:r>
              <a:rPr lang="en-US" sz="1100" i="1" dirty="0">
                <a:solidFill>
                  <a:srgbClr val="F97316"/>
                </a:solidFill>
                <a:latin typeface="Calibri" pitchFamily="34" charset="0"/>
                <a:ea typeface="Calibri" pitchFamily="34" charset="-122"/>
                <a:cs typeface="Calibri" pitchFamily="34" charset="-120"/>
              </a:rPr>
              <a:t>All share core ideas — tools, memory, retrieval. Pick by ergonomics, not capability.</a:t>
            </a:r>
            <a:endParaRPr lang="en-US" sz="1100" dirty="0"/>
          </a:p>
        </p:txBody>
      </p:sp>
      <p:sp>
        <p:nvSpPr>
          <p:cNvPr id="112" name="TextBox 111">
            <a:extLst>
              <a:ext uri="{FF2B5EF4-FFF2-40B4-BE49-F238E27FC236}">
                <a16:creationId xmlns:a16="http://schemas.microsoft.com/office/drawing/2014/main" id="{E843E508-CCCC-556A-EBC7-BC2C9EFAAC68}"/>
              </a:ext>
            </a:extLst>
          </p:cNvPr>
          <p:cNvSpPr txBox="1"/>
          <p:nvPr/>
        </p:nvSpPr>
        <p:spPr>
          <a:xfrm>
            <a:off x="2602327" y="1633204"/>
            <a:ext cx="502061" cy="369332"/>
          </a:xfrm>
          <a:prstGeom prst="rect">
            <a:avLst/>
          </a:prstGeom>
          <a:noFill/>
        </p:spPr>
        <p:txBody>
          <a:bodyPr wrap="none" rtlCol="0">
            <a:spAutoFit/>
          </a:bodyPr>
          <a:lstStyle/>
          <a:p>
            <a:r>
              <a:rPr lang="fr-FR" dirty="0"/>
              <a:t>👍</a:t>
            </a:r>
            <a:endParaRPr lang="en-GB"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0A1628"/>
        </a:solidFill>
        <a:effectLst/>
      </p:bgPr>
    </p:bg>
    <p:spTree>
      <p:nvGrpSpPr>
        <p:cNvPr id="1" name=""/>
        <p:cNvGrpSpPr/>
        <p:nvPr/>
      </p:nvGrpSpPr>
      <p:grpSpPr>
        <a:xfrm>
          <a:off x="0" y="0"/>
          <a:ext cx="0" cy="0"/>
          <a:chOff x="0" y="0"/>
          <a:chExt cx="0" cy="0"/>
        </a:xfrm>
      </p:grpSpPr>
      <p:sp>
        <p:nvSpPr>
          <p:cNvPr id="3" name="Shape 0"/>
          <p:cNvSpPr/>
          <p:nvPr/>
        </p:nvSpPr>
        <p:spPr>
          <a:xfrm>
            <a:off x="457200" y="411480"/>
            <a:ext cx="320040" cy="54864"/>
          </a:xfrm>
          <a:prstGeom prst="rect">
            <a:avLst/>
          </a:prstGeom>
          <a:solidFill>
            <a:srgbClr val="F97316"/>
          </a:solidFill>
          <a:ln w="12700">
            <a:solidFill>
              <a:srgbClr val="F97316"/>
            </a:solidFill>
            <a:prstDash val="solid"/>
          </a:ln>
        </p:spPr>
        <p:txBody>
          <a:bodyPr/>
          <a:lstStyle/>
          <a:p>
            <a:endParaRPr lang="en-GB"/>
          </a:p>
        </p:txBody>
      </p:sp>
      <p:sp>
        <p:nvSpPr>
          <p:cNvPr id="4" name="Text 1"/>
          <p:cNvSpPr/>
          <p:nvPr/>
        </p:nvSpPr>
        <p:spPr>
          <a:xfrm>
            <a:off x="868680" y="329184"/>
            <a:ext cx="5029200" cy="274320"/>
          </a:xfrm>
          <a:prstGeom prst="rect">
            <a:avLst/>
          </a:prstGeom>
          <a:noFill/>
          <a:ln/>
        </p:spPr>
        <p:txBody>
          <a:bodyPr wrap="square" lIns="0" tIns="0" rIns="0" bIns="0" rtlCol="0" anchor="ctr"/>
          <a:lstStyle/>
          <a:p>
            <a:pPr marL="0" indent="0">
              <a:buNone/>
            </a:pPr>
            <a:r>
              <a:rPr lang="en-US" sz="1000" b="1" kern="0" spc="400" dirty="0">
                <a:solidFill>
                  <a:srgbClr val="F97316"/>
                </a:solidFill>
                <a:latin typeface="Calibri" pitchFamily="34" charset="0"/>
                <a:ea typeface="Calibri" pitchFamily="34" charset="-122"/>
                <a:cs typeface="Calibri" pitchFamily="34" charset="-120"/>
              </a:rPr>
              <a:t>PRACTICAL · LANGGRAPH</a:t>
            </a:r>
            <a:endParaRPr lang="en-US" sz="1000" dirty="0"/>
          </a:p>
        </p:txBody>
      </p:sp>
      <p:sp>
        <p:nvSpPr>
          <p:cNvPr id="5" name="Text 2"/>
          <p:cNvSpPr/>
          <p:nvPr/>
        </p:nvSpPr>
        <p:spPr>
          <a:xfrm>
            <a:off x="457200" y="640080"/>
            <a:ext cx="8229600" cy="822960"/>
          </a:xfrm>
          <a:prstGeom prst="rect">
            <a:avLst/>
          </a:prstGeom>
          <a:noFill/>
          <a:ln/>
        </p:spPr>
        <p:txBody>
          <a:bodyPr wrap="square" lIns="0" tIns="0" rIns="0" bIns="0" rtlCol="0" anchor="ctr"/>
          <a:lstStyle/>
          <a:p>
            <a:pPr marL="0" indent="0">
              <a:buNone/>
            </a:pPr>
            <a:r>
              <a:rPr lang="en-US" sz="3200" b="1" dirty="0" err="1">
                <a:solidFill>
                  <a:srgbClr val="F8FAFC"/>
                </a:solidFill>
                <a:latin typeface="Calibri" pitchFamily="34" charset="0"/>
                <a:ea typeface="Calibri" pitchFamily="34" charset="-122"/>
                <a:cs typeface="Calibri" pitchFamily="34" charset="-120"/>
              </a:rPr>
              <a:t>LangGraph</a:t>
            </a:r>
            <a:r>
              <a:rPr lang="en-US" sz="3200" b="1" dirty="0">
                <a:solidFill>
                  <a:srgbClr val="F8FAFC"/>
                </a:solidFill>
                <a:latin typeface="Calibri" pitchFamily="34" charset="0"/>
                <a:ea typeface="Calibri" pitchFamily="34" charset="-122"/>
                <a:cs typeface="Calibri" pitchFamily="34" charset="-120"/>
              </a:rPr>
              <a:t> in 60 seconds</a:t>
            </a:r>
            <a:endParaRPr lang="en-US" sz="3200" dirty="0"/>
          </a:p>
        </p:txBody>
      </p:sp>
      <p:sp>
        <p:nvSpPr>
          <p:cNvPr id="6" name="Text 3"/>
          <p:cNvSpPr/>
          <p:nvPr/>
        </p:nvSpPr>
        <p:spPr>
          <a:xfrm>
            <a:off x="457200" y="4754880"/>
            <a:ext cx="4572000" cy="228600"/>
          </a:xfrm>
          <a:prstGeom prst="rect">
            <a:avLst/>
          </a:prstGeom>
          <a:noFill/>
          <a:ln/>
        </p:spPr>
        <p:txBody>
          <a:bodyPr wrap="square" lIns="0" tIns="0" rIns="0" bIns="0" rtlCol="0" anchor="ctr"/>
          <a:lstStyle/>
          <a:p>
            <a:pPr marL="0" indent="0">
              <a:buNone/>
            </a:pPr>
            <a:endParaRPr lang="en-US" sz="900" dirty="0"/>
          </a:p>
        </p:txBody>
      </p:sp>
      <p:sp>
        <p:nvSpPr>
          <p:cNvPr id="7" name="Shape 4"/>
          <p:cNvSpPr/>
          <p:nvPr/>
        </p:nvSpPr>
        <p:spPr>
          <a:xfrm>
            <a:off x="8275320" y="4818888"/>
            <a:ext cx="73152" cy="73152"/>
          </a:xfrm>
          <a:prstGeom prst="ellipse">
            <a:avLst/>
          </a:prstGeom>
          <a:solidFill>
            <a:srgbClr val="F97316"/>
          </a:solidFill>
          <a:ln w="12700">
            <a:solidFill>
              <a:srgbClr val="F97316"/>
            </a:solidFill>
            <a:prstDash val="solid"/>
          </a:ln>
        </p:spPr>
        <p:txBody>
          <a:bodyPr/>
          <a:lstStyle/>
          <a:p>
            <a:endParaRPr lang="en-GB"/>
          </a:p>
        </p:txBody>
      </p:sp>
      <p:sp>
        <p:nvSpPr>
          <p:cNvPr id="8" name="Text 5"/>
          <p:cNvSpPr/>
          <p:nvPr/>
        </p:nvSpPr>
        <p:spPr>
          <a:xfrm>
            <a:off x="8366760" y="4736592"/>
            <a:ext cx="685800" cy="228600"/>
          </a:xfrm>
          <a:prstGeom prst="rect">
            <a:avLst/>
          </a:prstGeom>
          <a:noFill/>
          <a:ln/>
        </p:spPr>
        <p:txBody>
          <a:bodyPr wrap="square" lIns="0" tIns="0" rIns="0" bIns="0" rtlCol="0" anchor="ctr"/>
          <a:lstStyle/>
          <a:p>
            <a:pPr marL="0" indent="0" algn="r">
              <a:buNone/>
            </a:pPr>
            <a:r>
              <a:rPr lang="en-US" sz="900" dirty="0">
                <a:solidFill>
                  <a:srgbClr val="94A3B8"/>
                </a:solidFill>
                <a:latin typeface="Calibri" pitchFamily="34" charset="0"/>
                <a:ea typeface="Calibri" pitchFamily="34" charset="-122"/>
                <a:cs typeface="Calibri" pitchFamily="34" charset="-120"/>
              </a:rPr>
              <a:t>E2 / E6</a:t>
            </a:r>
            <a:endParaRPr lang="en-US" sz="900" dirty="0"/>
          </a:p>
        </p:txBody>
      </p:sp>
      <p:sp>
        <p:nvSpPr>
          <p:cNvPr id="9" name="Shape 6"/>
          <p:cNvSpPr/>
          <p:nvPr/>
        </p:nvSpPr>
        <p:spPr>
          <a:xfrm>
            <a:off x="365760" y="1508760"/>
            <a:ext cx="4206240" cy="3063240"/>
          </a:xfrm>
          <a:prstGeom prst="roundRect">
            <a:avLst>
              <a:gd name="adj" fmla="val 2388"/>
            </a:avLst>
          </a:prstGeom>
          <a:solidFill>
            <a:srgbClr val="11203A"/>
          </a:solidFill>
          <a:ln w="12700">
            <a:solidFill>
              <a:srgbClr val="1B2D4F"/>
            </a:solidFill>
            <a:prstDash val="solid"/>
          </a:ln>
          <a:effectLst>
            <a:outerShdw blurRad="101600" dist="25400" dir="8100000" algn="bl" rotWithShape="0">
              <a:srgbClr val="000000">
                <a:alpha val="25000"/>
              </a:srgbClr>
            </a:outerShdw>
          </a:effectLst>
        </p:spPr>
        <p:txBody>
          <a:bodyPr/>
          <a:lstStyle/>
          <a:p>
            <a:endParaRPr lang="en-GB"/>
          </a:p>
        </p:txBody>
      </p:sp>
      <p:sp>
        <p:nvSpPr>
          <p:cNvPr id="10" name="Shape 7"/>
          <p:cNvSpPr/>
          <p:nvPr/>
        </p:nvSpPr>
        <p:spPr>
          <a:xfrm>
            <a:off x="365760" y="1508760"/>
            <a:ext cx="4206240" cy="73152"/>
          </a:xfrm>
          <a:prstGeom prst="rect">
            <a:avLst/>
          </a:prstGeom>
          <a:solidFill>
            <a:srgbClr val="3B82F6"/>
          </a:solidFill>
          <a:ln w="12700">
            <a:solidFill>
              <a:srgbClr val="3B82F6"/>
            </a:solidFill>
            <a:prstDash val="solid"/>
          </a:ln>
        </p:spPr>
        <p:txBody>
          <a:bodyPr/>
          <a:lstStyle/>
          <a:p>
            <a:endParaRPr lang="en-GB"/>
          </a:p>
        </p:txBody>
      </p:sp>
      <p:sp>
        <p:nvSpPr>
          <p:cNvPr id="11" name="Text 8"/>
          <p:cNvSpPr/>
          <p:nvPr/>
        </p:nvSpPr>
        <p:spPr>
          <a:xfrm>
            <a:off x="594360" y="1673352"/>
            <a:ext cx="3749040" cy="274320"/>
          </a:xfrm>
          <a:prstGeom prst="rect">
            <a:avLst/>
          </a:prstGeom>
          <a:noFill/>
          <a:ln/>
        </p:spPr>
        <p:txBody>
          <a:bodyPr wrap="square" lIns="0" tIns="0" rIns="0" bIns="0" rtlCol="0" anchor="ctr"/>
          <a:lstStyle/>
          <a:p>
            <a:pPr marL="0" indent="0">
              <a:buNone/>
            </a:pPr>
            <a:r>
              <a:rPr lang="en-US" sz="1000" b="1" kern="0" spc="300" dirty="0">
                <a:solidFill>
                  <a:srgbClr val="3B82F6"/>
                </a:solidFill>
                <a:latin typeface="Calibri" pitchFamily="34" charset="0"/>
                <a:ea typeface="Calibri" pitchFamily="34" charset="-122"/>
                <a:cs typeface="Calibri" pitchFamily="34" charset="-120"/>
              </a:rPr>
              <a:t>STATE GRAPH</a:t>
            </a:r>
            <a:endParaRPr lang="en-US" sz="1000" dirty="0"/>
          </a:p>
        </p:txBody>
      </p:sp>
      <p:sp>
        <p:nvSpPr>
          <p:cNvPr id="12" name="Shape 9"/>
          <p:cNvSpPr/>
          <p:nvPr/>
        </p:nvSpPr>
        <p:spPr>
          <a:xfrm>
            <a:off x="1645920" y="2194560"/>
            <a:ext cx="1463040" cy="457200"/>
          </a:xfrm>
          <a:prstGeom prst="roundRect">
            <a:avLst>
              <a:gd name="adj" fmla="val 12000"/>
            </a:avLst>
          </a:prstGeom>
          <a:solidFill>
            <a:srgbClr val="11203A"/>
          </a:solidFill>
          <a:ln w="25400">
            <a:solidFill>
              <a:srgbClr val="3B82F6"/>
            </a:solidFill>
            <a:prstDash val="solid"/>
          </a:ln>
          <a:effectLst>
            <a:outerShdw blurRad="101600" dist="25400" dir="8100000" algn="bl" rotWithShape="0">
              <a:srgbClr val="000000">
                <a:alpha val="25000"/>
              </a:srgbClr>
            </a:outerShdw>
          </a:effectLst>
        </p:spPr>
        <p:txBody>
          <a:bodyPr/>
          <a:lstStyle/>
          <a:p>
            <a:endParaRPr lang="en-GB"/>
          </a:p>
        </p:txBody>
      </p:sp>
      <p:sp>
        <p:nvSpPr>
          <p:cNvPr id="13" name="Text 10"/>
          <p:cNvSpPr/>
          <p:nvPr/>
        </p:nvSpPr>
        <p:spPr>
          <a:xfrm>
            <a:off x="1645920" y="2194560"/>
            <a:ext cx="1463040" cy="457200"/>
          </a:xfrm>
          <a:prstGeom prst="rect">
            <a:avLst/>
          </a:prstGeom>
          <a:noFill/>
          <a:ln/>
        </p:spPr>
        <p:txBody>
          <a:bodyPr wrap="square" lIns="0" tIns="0" rIns="0" bIns="0" rtlCol="0" anchor="ctr"/>
          <a:lstStyle/>
          <a:p>
            <a:pPr marL="0" indent="0" algn="ctr">
              <a:buNone/>
            </a:pPr>
            <a:r>
              <a:rPr lang="en-US" sz="1100" b="1" dirty="0">
                <a:solidFill>
                  <a:srgbClr val="F8FAFC"/>
                </a:solidFill>
                <a:latin typeface="Calibri" pitchFamily="34" charset="0"/>
                <a:ea typeface="Calibri" pitchFamily="34" charset="-122"/>
                <a:cs typeface="Calibri" pitchFamily="34" charset="-120"/>
              </a:rPr>
              <a:t>planner</a:t>
            </a:r>
            <a:endParaRPr lang="en-US" sz="1100" dirty="0"/>
          </a:p>
        </p:txBody>
      </p:sp>
      <p:sp>
        <p:nvSpPr>
          <p:cNvPr id="14" name="Shape 11"/>
          <p:cNvSpPr/>
          <p:nvPr/>
        </p:nvSpPr>
        <p:spPr>
          <a:xfrm>
            <a:off x="1645920" y="2834640"/>
            <a:ext cx="1463040" cy="457200"/>
          </a:xfrm>
          <a:prstGeom prst="roundRect">
            <a:avLst>
              <a:gd name="adj" fmla="val 12000"/>
            </a:avLst>
          </a:prstGeom>
          <a:solidFill>
            <a:srgbClr val="11203A"/>
          </a:solidFill>
          <a:ln w="25400">
            <a:solidFill>
              <a:srgbClr val="3B82F6"/>
            </a:solidFill>
            <a:prstDash val="solid"/>
          </a:ln>
          <a:effectLst>
            <a:outerShdw blurRad="101600" dist="25400" dir="8100000" algn="bl" rotWithShape="0">
              <a:srgbClr val="000000">
                <a:alpha val="25000"/>
              </a:srgbClr>
            </a:outerShdw>
          </a:effectLst>
        </p:spPr>
        <p:txBody>
          <a:bodyPr/>
          <a:lstStyle/>
          <a:p>
            <a:endParaRPr lang="en-GB"/>
          </a:p>
        </p:txBody>
      </p:sp>
      <p:sp>
        <p:nvSpPr>
          <p:cNvPr id="15" name="Text 12"/>
          <p:cNvSpPr/>
          <p:nvPr/>
        </p:nvSpPr>
        <p:spPr>
          <a:xfrm>
            <a:off x="1645920" y="2834640"/>
            <a:ext cx="1463040" cy="457200"/>
          </a:xfrm>
          <a:prstGeom prst="rect">
            <a:avLst/>
          </a:prstGeom>
          <a:noFill/>
          <a:ln/>
        </p:spPr>
        <p:txBody>
          <a:bodyPr wrap="square" lIns="0" tIns="0" rIns="0" bIns="0" rtlCol="0" anchor="ctr"/>
          <a:lstStyle/>
          <a:p>
            <a:pPr marL="0" indent="0" algn="ctr">
              <a:buNone/>
            </a:pPr>
            <a:r>
              <a:rPr lang="en-US" sz="1100" b="1" dirty="0">
                <a:solidFill>
                  <a:srgbClr val="F8FAFC"/>
                </a:solidFill>
                <a:latin typeface="Calibri" pitchFamily="34" charset="0"/>
                <a:ea typeface="Calibri" pitchFamily="34" charset="-122"/>
                <a:cs typeface="Calibri" pitchFamily="34" charset="-120"/>
              </a:rPr>
              <a:t>executor</a:t>
            </a:r>
            <a:endParaRPr lang="en-US" sz="1100" dirty="0"/>
          </a:p>
        </p:txBody>
      </p:sp>
      <p:sp>
        <p:nvSpPr>
          <p:cNvPr id="16" name="Shape 13"/>
          <p:cNvSpPr/>
          <p:nvPr/>
        </p:nvSpPr>
        <p:spPr>
          <a:xfrm>
            <a:off x="1645920" y="3474720"/>
            <a:ext cx="1463040" cy="457200"/>
          </a:xfrm>
          <a:prstGeom prst="roundRect">
            <a:avLst>
              <a:gd name="adj" fmla="val 12000"/>
            </a:avLst>
          </a:prstGeom>
          <a:solidFill>
            <a:srgbClr val="11203A"/>
          </a:solidFill>
          <a:ln w="25400">
            <a:solidFill>
              <a:srgbClr val="F97316"/>
            </a:solidFill>
            <a:prstDash val="solid"/>
          </a:ln>
          <a:effectLst>
            <a:outerShdw blurRad="101600" dist="25400" dir="8100000" algn="bl" rotWithShape="0">
              <a:srgbClr val="000000">
                <a:alpha val="25000"/>
              </a:srgbClr>
            </a:outerShdw>
          </a:effectLst>
        </p:spPr>
        <p:txBody>
          <a:bodyPr/>
          <a:lstStyle/>
          <a:p>
            <a:endParaRPr lang="en-GB"/>
          </a:p>
        </p:txBody>
      </p:sp>
      <p:sp>
        <p:nvSpPr>
          <p:cNvPr id="17" name="Text 14"/>
          <p:cNvSpPr/>
          <p:nvPr/>
        </p:nvSpPr>
        <p:spPr>
          <a:xfrm>
            <a:off x="1645920" y="3474720"/>
            <a:ext cx="1463040" cy="457200"/>
          </a:xfrm>
          <a:prstGeom prst="rect">
            <a:avLst/>
          </a:prstGeom>
          <a:noFill/>
          <a:ln/>
        </p:spPr>
        <p:txBody>
          <a:bodyPr wrap="square" lIns="0" tIns="0" rIns="0" bIns="0" rtlCol="0" anchor="ctr"/>
          <a:lstStyle/>
          <a:p>
            <a:pPr marL="0" indent="0" algn="ctr">
              <a:buNone/>
            </a:pPr>
            <a:r>
              <a:rPr lang="en-US" sz="1100" b="1" dirty="0">
                <a:solidFill>
                  <a:srgbClr val="F8FAFC"/>
                </a:solidFill>
                <a:latin typeface="Calibri" pitchFamily="34" charset="0"/>
                <a:ea typeface="Calibri" pitchFamily="34" charset="-122"/>
                <a:cs typeface="Calibri" pitchFamily="34" charset="-120"/>
              </a:rPr>
              <a:t>validator</a:t>
            </a:r>
            <a:endParaRPr lang="en-US" sz="1100" dirty="0"/>
          </a:p>
        </p:txBody>
      </p:sp>
      <p:sp>
        <p:nvSpPr>
          <p:cNvPr id="18" name="Shape 15"/>
          <p:cNvSpPr/>
          <p:nvPr/>
        </p:nvSpPr>
        <p:spPr>
          <a:xfrm>
            <a:off x="1645920" y="4114800"/>
            <a:ext cx="1463040" cy="457200"/>
          </a:xfrm>
          <a:prstGeom prst="roundRect">
            <a:avLst>
              <a:gd name="adj" fmla="val 12000"/>
            </a:avLst>
          </a:prstGeom>
          <a:solidFill>
            <a:srgbClr val="0A1628"/>
          </a:solidFill>
          <a:ln w="25400">
            <a:solidFill>
              <a:srgbClr val="94A3B8"/>
            </a:solidFill>
            <a:prstDash val="solid"/>
          </a:ln>
          <a:effectLst>
            <a:outerShdw blurRad="101600" dist="25400" dir="8100000" algn="bl" rotWithShape="0">
              <a:srgbClr val="000000">
                <a:alpha val="25000"/>
              </a:srgbClr>
            </a:outerShdw>
          </a:effectLst>
        </p:spPr>
        <p:txBody>
          <a:bodyPr/>
          <a:lstStyle/>
          <a:p>
            <a:endParaRPr lang="en-GB"/>
          </a:p>
        </p:txBody>
      </p:sp>
      <p:sp>
        <p:nvSpPr>
          <p:cNvPr id="19" name="Text 16"/>
          <p:cNvSpPr/>
          <p:nvPr/>
        </p:nvSpPr>
        <p:spPr>
          <a:xfrm>
            <a:off x="1645920" y="4114800"/>
            <a:ext cx="1463040" cy="457200"/>
          </a:xfrm>
          <a:prstGeom prst="rect">
            <a:avLst/>
          </a:prstGeom>
          <a:noFill/>
          <a:ln/>
        </p:spPr>
        <p:txBody>
          <a:bodyPr wrap="square" lIns="0" tIns="0" rIns="0" bIns="0" rtlCol="0" anchor="ctr"/>
          <a:lstStyle/>
          <a:p>
            <a:pPr marL="0" indent="0" algn="ctr">
              <a:buNone/>
            </a:pPr>
            <a:r>
              <a:rPr lang="en-US" sz="1100" b="1" dirty="0">
                <a:solidFill>
                  <a:srgbClr val="F8FAFC"/>
                </a:solidFill>
                <a:latin typeface="Calibri" pitchFamily="34" charset="0"/>
                <a:ea typeface="Calibri" pitchFamily="34" charset="-122"/>
                <a:cs typeface="Calibri" pitchFamily="34" charset="-120"/>
              </a:rPr>
              <a:t>END</a:t>
            </a:r>
            <a:endParaRPr lang="en-US" sz="1100" dirty="0"/>
          </a:p>
        </p:txBody>
      </p:sp>
      <p:sp>
        <p:nvSpPr>
          <p:cNvPr id="20" name="Shape 17"/>
          <p:cNvSpPr/>
          <p:nvPr/>
        </p:nvSpPr>
        <p:spPr>
          <a:xfrm>
            <a:off x="2377440" y="2651760"/>
            <a:ext cx="0" cy="182880"/>
          </a:xfrm>
          <a:prstGeom prst="line">
            <a:avLst/>
          </a:prstGeom>
          <a:noFill/>
          <a:ln w="20320">
            <a:solidFill>
              <a:srgbClr val="3B82F6"/>
            </a:solidFill>
            <a:prstDash val="solid"/>
            <a:tailEnd type="triangle"/>
          </a:ln>
        </p:spPr>
        <p:txBody>
          <a:bodyPr/>
          <a:lstStyle/>
          <a:p>
            <a:endParaRPr lang="en-GB"/>
          </a:p>
        </p:txBody>
      </p:sp>
      <p:sp>
        <p:nvSpPr>
          <p:cNvPr id="21" name="Shape 18"/>
          <p:cNvSpPr/>
          <p:nvPr/>
        </p:nvSpPr>
        <p:spPr>
          <a:xfrm>
            <a:off x="2377440" y="3291840"/>
            <a:ext cx="0" cy="182880"/>
          </a:xfrm>
          <a:prstGeom prst="line">
            <a:avLst/>
          </a:prstGeom>
          <a:noFill/>
          <a:ln w="20320">
            <a:solidFill>
              <a:srgbClr val="3B82F6"/>
            </a:solidFill>
            <a:prstDash val="solid"/>
            <a:tailEnd type="triangle"/>
          </a:ln>
        </p:spPr>
        <p:txBody>
          <a:bodyPr/>
          <a:lstStyle/>
          <a:p>
            <a:endParaRPr lang="en-GB"/>
          </a:p>
        </p:txBody>
      </p:sp>
      <p:sp>
        <p:nvSpPr>
          <p:cNvPr id="22" name="Shape 19"/>
          <p:cNvSpPr/>
          <p:nvPr/>
        </p:nvSpPr>
        <p:spPr>
          <a:xfrm>
            <a:off x="2377440" y="3931920"/>
            <a:ext cx="0" cy="182880"/>
          </a:xfrm>
          <a:prstGeom prst="line">
            <a:avLst/>
          </a:prstGeom>
          <a:noFill/>
          <a:ln w="20320">
            <a:solidFill>
              <a:srgbClr val="F97316"/>
            </a:solidFill>
            <a:prstDash val="solid"/>
            <a:tailEnd type="triangle"/>
          </a:ln>
        </p:spPr>
        <p:txBody>
          <a:bodyPr/>
          <a:lstStyle/>
          <a:p>
            <a:endParaRPr lang="en-GB"/>
          </a:p>
        </p:txBody>
      </p:sp>
      <p:sp>
        <p:nvSpPr>
          <p:cNvPr id="23" name="Text 20"/>
          <p:cNvSpPr/>
          <p:nvPr/>
        </p:nvSpPr>
        <p:spPr>
          <a:xfrm>
            <a:off x="2468880" y="3977640"/>
            <a:ext cx="731520" cy="182880"/>
          </a:xfrm>
          <a:prstGeom prst="rect">
            <a:avLst/>
          </a:prstGeom>
          <a:noFill/>
          <a:ln/>
        </p:spPr>
        <p:txBody>
          <a:bodyPr wrap="square" lIns="0" tIns="0" rIns="0" bIns="0" rtlCol="0" anchor="ctr"/>
          <a:lstStyle/>
          <a:p>
            <a:pPr marL="0" indent="0">
              <a:buNone/>
            </a:pPr>
            <a:r>
              <a:rPr lang="en-US" sz="800" i="1" dirty="0">
                <a:solidFill>
                  <a:srgbClr val="F97316"/>
                </a:solidFill>
                <a:latin typeface="Calibri" pitchFamily="34" charset="0"/>
                <a:ea typeface="Calibri" pitchFamily="34" charset="-122"/>
                <a:cs typeface="Calibri" pitchFamily="34" charset="-120"/>
              </a:rPr>
              <a:t>if done</a:t>
            </a:r>
            <a:endParaRPr lang="en-US" sz="800" dirty="0"/>
          </a:p>
        </p:txBody>
      </p:sp>
      <p:sp>
        <p:nvSpPr>
          <p:cNvPr id="24" name="Shape 21"/>
          <p:cNvSpPr/>
          <p:nvPr/>
        </p:nvSpPr>
        <p:spPr>
          <a:xfrm>
            <a:off x="3108960" y="3703320"/>
            <a:ext cx="411480" cy="0"/>
          </a:xfrm>
          <a:prstGeom prst="line">
            <a:avLst/>
          </a:prstGeom>
          <a:noFill/>
          <a:ln w="17780">
            <a:solidFill>
              <a:srgbClr val="94A3B8"/>
            </a:solidFill>
            <a:prstDash val="dash"/>
          </a:ln>
        </p:spPr>
        <p:txBody>
          <a:bodyPr/>
          <a:lstStyle/>
          <a:p>
            <a:endParaRPr lang="en-GB"/>
          </a:p>
        </p:txBody>
      </p:sp>
      <p:sp>
        <p:nvSpPr>
          <p:cNvPr id="25" name="Shape 22"/>
          <p:cNvSpPr/>
          <p:nvPr/>
        </p:nvSpPr>
        <p:spPr>
          <a:xfrm>
            <a:off x="3520440" y="2423160"/>
            <a:ext cx="0" cy="1280160"/>
          </a:xfrm>
          <a:prstGeom prst="line">
            <a:avLst/>
          </a:prstGeom>
          <a:noFill/>
          <a:ln w="17780">
            <a:solidFill>
              <a:srgbClr val="94A3B8"/>
            </a:solidFill>
            <a:prstDash val="dash"/>
          </a:ln>
        </p:spPr>
        <p:txBody>
          <a:bodyPr/>
          <a:lstStyle/>
          <a:p>
            <a:endParaRPr lang="en-GB"/>
          </a:p>
        </p:txBody>
      </p:sp>
      <p:sp>
        <p:nvSpPr>
          <p:cNvPr id="26" name="Shape 23"/>
          <p:cNvSpPr/>
          <p:nvPr/>
        </p:nvSpPr>
        <p:spPr>
          <a:xfrm flipH="1">
            <a:off x="3108960" y="2423160"/>
            <a:ext cx="411480" cy="0"/>
          </a:xfrm>
          <a:prstGeom prst="line">
            <a:avLst/>
          </a:prstGeom>
          <a:noFill/>
          <a:ln w="17780">
            <a:solidFill>
              <a:srgbClr val="94A3B8"/>
            </a:solidFill>
            <a:prstDash val="dash"/>
            <a:tailEnd type="triangle"/>
          </a:ln>
        </p:spPr>
        <p:txBody>
          <a:bodyPr/>
          <a:lstStyle/>
          <a:p>
            <a:endParaRPr lang="en-GB"/>
          </a:p>
        </p:txBody>
      </p:sp>
      <p:sp>
        <p:nvSpPr>
          <p:cNvPr id="27" name="Text 24"/>
          <p:cNvSpPr/>
          <p:nvPr/>
        </p:nvSpPr>
        <p:spPr>
          <a:xfrm>
            <a:off x="3566160" y="2971800"/>
            <a:ext cx="457200" cy="182880"/>
          </a:xfrm>
          <a:prstGeom prst="rect">
            <a:avLst/>
          </a:prstGeom>
          <a:noFill/>
          <a:ln/>
        </p:spPr>
        <p:txBody>
          <a:bodyPr wrap="square" lIns="0" tIns="0" rIns="0" bIns="0" rtlCol="0" anchor="ctr"/>
          <a:lstStyle/>
          <a:p>
            <a:pPr marL="0" indent="0">
              <a:buNone/>
            </a:pPr>
            <a:r>
              <a:rPr lang="en-US" sz="800" i="1" dirty="0">
                <a:solidFill>
                  <a:srgbClr val="94A3B8"/>
                </a:solidFill>
                <a:latin typeface="Calibri" pitchFamily="34" charset="0"/>
                <a:ea typeface="Calibri" pitchFamily="34" charset="-122"/>
                <a:cs typeface="Calibri" pitchFamily="34" charset="-120"/>
              </a:rPr>
              <a:t>retry</a:t>
            </a:r>
            <a:endParaRPr lang="en-US" sz="800" dirty="0"/>
          </a:p>
        </p:txBody>
      </p:sp>
      <p:sp>
        <p:nvSpPr>
          <p:cNvPr id="28" name="Shape 25"/>
          <p:cNvSpPr/>
          <p:nvPr/>
        </p:nvSpPr>
        <p:spPr>
          <a:xfrm>
            <a:off x="4709160" y="1508760"/>
            <a:ext cx="4069080" cy="3063240"/>
          </a:xfrm>
          <a:prstGeom prst="roundRect">
            <a:avLst>
              <a:gd name="adj" fmla="val 1791"/>
            </a:avLst>
          </a:prstGeom>
          <a:solidFill>
            <a:srgbClr val="0B1A30"/>
          </a:solidFill>
          <a:ln w="12700">
            <a:solidFill>
              <a:srgbClr val="F97316"/>
            </a:solidFill>
            <a:prstDash val="solid"/>
          </a:ln>
          <a:effectLst>
            <a:outerShdw blurRad="101600" dist="25400" dir="8100000" algn="bl" rotWithShape="0">
              <a:srgbClr val="000000">
                <a:alpha val="25000"/>
              </a:srgbClr>
            </a:outerShdw>
          </a:effectLst>
        </p:spPr>
        <p:txBody>
          <a:bodyPr/>
          <a:lstStyle/>
          <a:p>
            <a:endParaRPr lang="en-GB"/>
          </a:p>
        </p:txBody>
      </p:sp>
      <p:sp>
        <p:nvSpPr>
          <p:cNvPr id="29" name="Shape 26"/>
          <p:cNvSpPr/>
          <p:nvPr/>
        </p:nvSpPr>
        <p:spPr>
          <a:xfrm>
            <a:off x="4709160" y="1508760"/>
            <a:ext cx="4069080" cy="73152"/>
          </a:xfrm>
          <a:prstGeom prst="rect">
            <a:avLst/>
          </a:prstGeom>
          <a:solidFill>
            <a:srgbClr val="F97316"/>
          </a:solidFill>
          <a:ln w="12700">
            <a:solidFill>
              <a:srgbClr val="F97316"/>
            </a:solidFill>
            <a:prstDash val="solid"/>
          </a:ln>
        </p:spPr>
        <p:txBody>
          <a:bodyPr/>
          <a:lstStyle/>
          <a:p>
            <a:endParaRPr lang="en-GB"/>
          </a:p>
        </p:txBody>
      </p:sp>
      <p:sp>
        <p:nvSpPr>
          <p:cNvPr id="30" name="Text 27"/>
          <p:cNvSpPr/>
          <p:nvPr/>
        </p:nvSpPr>
        <p:spPr>
          <a:xfrm>
            <a:off x="4937760" y="1673352"/>
            <a:ext cx="3611880" cy="274320"/>
          </a:xfrm>
          <a:prstGeom prst="rect">
            <a:avLst/>
          </a:prstGeom>
          <a:noFill/>
          <a:ln/>
        </p:spPr>
        <p:txBody>
          <a:bodyPr wrap="square" lIns="0" tIns="0" rIns="0" bIns="0" rtlCol="0" anchor="ctr"/>
          <a:lstStyle/>
          <a:p>
            <a:pPr marL="0" indent="0">
              <a:buNone/>
            </a:pPr>
            <a:r>
              <a:rPr lang="en-US" sz="1000" b="1" dirty="0">
                <a:solidFill>
                  <a:srgbClr val="F97316"/>
                </a:solidFill>
                <a:latin typeface="Consolas" pitchFamily="34" charset="0"/>
                <a:ea typeface="Consolas" pitchFamily="34" charset="-122"/>
                <a:cs typeface="Consolas" pitchFamily="34" charset="-120"/>
              </a:rPr>
              <a:t>agent.py</a:t>
            </a:r>
            <a:endParaRPr lang="en-US" sz="1000" dirty="0"/>
          </a:p>
        </p:txBody>
      </p:sp>
      <p:sp>
        <p:nvSpPr>
          <p:cNvPr id="31" name="Text 28"/>
          <p:cNvSpPr/>
          <p:nvPr/>
        </p:nvSpPr>
        <p:spPr>
          <a:xfrm>
            <a:off x="4937760" y="2011680"/>
            <a:ext cx="3703320" cy="2423160"/>
          </a:xfrm>
          <a:prstGeom prst="rect">
            <a:avLst/>
          </a:prstGeom>
          <a:noFill/>
          <a:ln/>
        </p:spPr>
        <p:txBody>
          <a:bodyPr wrap="square" lIns="0" tIns="0" rIns="0" bIns="0" rtlCol="0" anchor="ctr"/>
          <a:lstStyle/>
          <a:p>
            <a:pPr marL="0" indent="0">
              <a:buNone/>
            </a:pPr>
            <a:r>
              <a:rPr lang="en-US" sz="1050" dirty="0">
                <a:solidFill>
                  <a:srgbClr val="F8FAFC"/>
                </a:solidFill>
                <a:latin typeface="Consolas" pitchFamily="34" charset="0"/>
                <a:ea typeface="Consolas" pitchFamily="34" charset="-122"/>
                <a:cs typeface="Consolas" pitchFamily="34" charset="-120"/>
              </a:rPr>
              <a:t>from langgraph.graph import StateGraph, END</a:t>
            </a:r>
            <a:endParaRPr lang="en-US" sz="1050" dirty="0"/>
          </a:p>
          <a:p>
            <a:pPr marL="0" indent="0">
              <a:buNone/>
            </a:pPr>
            <a:endParaRPr lang="en-US" sz="1050" dirty="0"/>
          </a:p>
          <a:p>
            <a:pPr marL="0" indent="0">
              <a:buNone/>
            </a:pPr>
            <a:r>
              <a:rPr lang="en-US" sz="1050" dirty="0">
                <a:solidFill>
                  <a:srgbClr val="F8FAFC"/>
                </a:solidFill>
                <a:latin typeface="Consolas" pitchFamily="34" charset="0"/>
                <a:ea typeface="Consolas" pitchFamily="34" charset="-122"/>
                <a:cs typeface="Consolas" pitchFamily="34" charset="-120"/>
              </a:rPr>
              <a:t>g = StateGraph(State)</a:t>
            </a:r>
            <a:endParaRPr lang="en-US" sz="1050" dirty="0"/>
          </a:p>
          <a:p>
            <a:pPr marL="0" indent="0">
              <a:buNone/>
            </a:pPr>
            <a:endParaRPr lang="en-US" sz="1050" dirty="0"/>
          </a:p>
          <a:p>
            <a:pPr marL="0" indent="0">
              <a:buNone/>
            </a:pPr>
            <a:r>
              <a:rPr lang="en-US" sz="1050" dirty="0">
                <a:solidFill>
                  <a:srgbClr val="F8FAFC"/>
                </a:solidFill>
                <a:latin typeface="Consolas" pitchFamily="34" charset="0"/>
                <a:ea typeface="Consolas" pitchFamily="34" charset="-122"/>
                <a:cs typeface="Consolas" pitchFamily="34" charset="-120"/>
              </a:rPr>
              <a:t>g.add_node("plan",   planner)</a:t>
            </a:r>
            <a:endParaRPr lang="en-US" sz="1050" dirty="0"/>
          </a:p>
          <a:p>
            <a:pPr marL="0" indent="0">
              <a:buNone/>
            </a:pPr>
            <a:r>
              <a:rPr lang="en-US" sz="1050" dirty="0">
                <a:solidFill>
                  <a:srgbClr val="F8FAFC"/>
                </a:solidFill>
                <a:latin typeface="Consolas" pitchFamily="34" charset="0"/>
                <a:ea typeface="Consolas" pitchFamily="34" charset="-122"/>
                <a:cs typeface="Consolas" pitchFamily="34" charset="-120"/>
              </a:rPr>
              <a:t>g.add_node("act",    tool_executor)</a:t>
            </a:r>
            <a:endParaRPr lang="en-US" sz="1050" dirty="0"/>
          </a:p>
          <a:p>
            <a:pPr marL="0" indent="0">
              <a:buNone/>
            </a:pPr>
            <a:r>
              <a:rPr lang="en-US" sz="1050" dirty="0">
                <a:solidFill>
                  <a:srgbClr val="F8FAFC"/>
                </a:solidFill>
                <a:latin typeface="Consolas" pitchFamily="34" charset="0"/>
                <a:ea typeface="Consolas" pitchFamily="34" charset="-122"/>
                <a:cs typeface="Consolas" pitchFamily="34" charset="-120"/>
              </a:rPr>
              <a:t>g.add_node("check",  validator)</a:t>
            </a:r>
            <a:endParaRPr lang="en-US" sz="1050" dirty="0"/>
          </a:p>
          <a:p>
            <a:pPr marL="0" indent="0">
              <a:buNone/>
            </a:pPr>
            <a:endParaRPr lang="en-US" sz="1050" dirty="0"/>
          </a:p>
          <a:p>
            <a:pPr marL="0" indent="0">
              <a:buNone/>
            </a:pPr>
            <a:r>
              <a:rPr lang="en-US" sz="1050" dirty="0">
                <a:solidFill>
                  <a:srgbClr val="F8FAFC"/>
                </a:solidFill>
                <a:latin typeface="Consolas" pitchFamily="34" charset="0"/>
                <a:ea typeface="Consolas" pitchFamily="34" charset="-122"/>
                <a:cs typeface="Consolas" pitchFamily="34" charset="-120"/>
              </a:rPr>
              <a:t>g.set_entry_point("plan")</a:t>
            </a:r>
            <a:endParaRPr lang="en-US" sz="1050" dirty="0"/>
          </a:p>
          <a:p>
            <a:pPr marL="0" indent="0">
              <a:buNone/>
            </a:pPr>
            <a:r>
              <a:rPr lang="en-US" sz="1050" dirty="0">
                <a:solidFill>
                  <a:srgbClr val="F8FAFC"/>
                </a:solidFill>
                <a:latin typeface="Consolas" pitchFamily="34" charset="0"/>
                <a:ea typeface="Consolas" pitchFamily="34" charset="-122"/>
                <a:cs typeface="Consolas" pitchFamily="34" charset="-120"/>
              </a:rPr>
              <a:t>g.add_edge("plan",  "act")</a:t>
            </a:r>
            <a:endParaRPr lang="en-US" sz="1050" dirty="0"/>
          </a:p>
          <a:p>
            <a:pPr marL="0" indent="0">
              <a:buNone/>
            </a:pPr>
            <a:r>
              <a:rPr lang="en-US" sz="1050" dirty="0">
                <a:solidFill>
                  <a:srgbClr val="F8FAFC"/>
                </a:solidFill>
                <a:latin typeface="Consolas" pitchFamily="34" charset="0"/>
                <a:ea typeface="Consolas" pitchFamily="34" charset="-122"/>
                <a:cs typeface="Consolas" pitchFamily="34" charset="-120"/>
              </a:rPr>
              <a:t>g.add_edge("act",   "check")</a:t>
            </a:r>
            <a:endParaRPr lang="en-US" sz="1050" dirty="0"/>
          </a:p>
          <a:p>
            <a:pPr marL="0" indent="0">
              <a:buNone/>
            </a:pPr>
            <a:r>
              <a:rPr lang="en-US" sz="1050" dirty="0">
                <a:solidFill>
                  <a:srgbClr val="F8FAFC"/>
                </a:solidFill>
                <a:latin typeface="Consolas" pitchFamily="34" charset="0"/>
                <a:ea typeface="Consolas" pitchFamily="34" charset="-122"/>
                <a:cs typeface="Consolas" pitchFamily="34" charset="-120"/>
              </a:rPr>
              <a:t>g.add_conditional_edges(</a:t>
            </a:r>
            <a:endParaRPr lang="en-US" sz="1050" dirty="0"/>
          </a:p>
          <a:p>
            <a:pPr marL="0" indent="0">
              <a:buNone/>
            </a:pPr>
            <a:r>
              <a:rPr lang="en-US" sz="1050" dirty="0">
                <a:solidFill>
                  <a:srgbClr val="F8FAFC"/>
                </a:solidFill>
                <a:latin typeface="Consolas" pitchFamily="34" charset="0"/>
                <a:ea typeface="Consolas" pitchFamily="34" charset="-122"/>
                <a:cs typeface="Consolas" pitchFamily="34" charset="-120"/>
              </a:rPr>
              <a:t>    "check", route,</a:t>
            </a:r>
            <a:endParaRPr lang="en-US" sz="1050" dirty="0"/>
          </a:p>
          <a:p>
            <a:pPr marL="0" indent="0">
              <a:buNone/>
            </a:pPr>
            <a:r>
              <a:rPr lang="en-US" sz="1050" dirty="0">
                <a:solidFill>
                  <a:srgbClr val="F8FAFC"/>
                </a:solidFill>
                <a:latin typeface="Consolas" pitchFamily="34" charset="0"/>
                <a:ea typeface="Consolas" pitchFamily="34" charset="-122"/>
                <a:cs typeface="Consolas" pitchFamily="34" charset="-120"/>
              </a:rPr>
              <a:t>    {"done": END, "retry": "plan"}</a:t>
            </a:r>
            <a:endParaRPr lang="en-US" sz="1050" dirty="0"/>
          </a:p>
          <a:p>
            <a:pPr marL="0" indent="0">
              <a:buNone/>
            </a:pPr>
            <a:r>
              <a:rPr lang="en-US" sz="1050" dirty="0">
                <a:solidFill>
                  <a:srgbClr val="F8FAFC"/>
                </a:solidFill>
                <a:latin typeface="Consolas" pitchFamily="34" charset="0"/>
                <a:ea typeface="Consolas" pitchFamily="34" charset="-122"/>
                <a:cs typeface="Consolas" pitchFamily="34" charset="-120"/>
              </a:rPr>
              <a:t>)</a:t>
            </a:r>
            <a:endParaRPr lang="en-US" sz="1050" dirty="0"/>
          </a:p>
          <a:p>
            <a:pPr marL="0" indent="0">
              <a:buNone/>
            </a:pPr>
            <a:endParaRPr lang="en-US" sz="1050" dirty="0"/>
          </a:p>
          <a:p>
            <a:pPr marL="0" indent="0">
              <a:buNone/>
            </a:pPr>
            <a:r>
              <a:rPr lang="en-US" sz="1050" dirty="0">
                <a:solidFill>
                  <a:srgbClr val="F8FAFC"/>
                </a:solidFill>
                <a:latin typeface="Consolas" pitchFamily="34" charset="0"/>
                <a:ea typeface="Consolas" pitchFamily="34" charset="-122"/>
                <a:cs typeface="Consolas" pitchFamily="34" charset="-120"/>
              </a:rPr>
              <a:t>agent = g.compile()</a:t>
            </a:r>
            <a:endParaRPr lang="en-US" sz="1050" dirty="0"/>
          </a:p>
        </p:txBody>
      </p:sp>
      <p:sp>
        <p:nvSpPr>
          <p:cNvPr id="32" name="Text 29"/>
          <p:cNvSpPr/>
          <p:nvPr/>
        </p:nvSpPr>
        <p:spPr>
          <a:xfrm>
            <a:off x="457200" y="4649724"/>
            <a:ext cx="8229600" cy="274320"/>
          </a:xfrm>
          <a:prstGeom prst="rect">
            <a:avLst/>
          </a:prstGeom>
          <a:noFill/>
          <a:ln/>
        </p:spPr>
        <p:txBody>
          <a:bodyPr wrap="square" lIns="0" tIns="0" rIns="0" bIns="0" rtlCol="0" anchor="ctr"/>
          <a:lstStyle/>
          <a:p>
            <a:pPr marL="0" indent="0" algn="ctr">
              <a:buNone/>
            </a:pPr>
            <a:r>
              <a:rPr lang="en-US" sz="1100" i="1" dirty="0">
                <a:solidFill>
                  <a:srgbClr val="F97316"/>
                </a:solidFill>
                <a:latin typeface="Calibri" pitchFamily="34" charset="0"/>
                <a:ea typeface="Calibri" pitchFamily="34" charset="-122"/>
                <a:cs typeface="Calibri" pitchFamily="34" charset="-120"/>
              </a:rPr>
              <a:t>Nodes mutate state · edges decide flow · conditional edges = real agent loops.</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0A1628"/>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12C15D89-0B59-EC4A-01D1-76B03210136B}"/>
              </a:ext>
            </a:extLst>
          </p:cNvPr>
          <p:cNvSpPr/>
          <p:nvPr/>
        </p:nvSpPr>
        <p:spPr>
          <a:xfrm>
            <a:off x="457200" y="411480"/>
            <a:ext cx="320040" cy="54864"/>
          </a:xfrm>
          <a:prstGeom prst="rect">
            <a:avLst/>
          </a:prstGeom>
          <a:solidFill>
            <a:srgbClr val="F97316"/>
          </a:solidFill>
          <a:ln w="12700">
            <a:solidFill>
              <a:srgbClr val="F97316"/>
            </a:solidFill>
            <a:prstDash val="solid"/>
          </a:ln>
        </p:spPr>
        <p:txBody>
          <a:bodyPr/>
          <a:lstStyle/>
          <a:p>
            <a:endParaRPr lang="en-GB"/>
          </a:p>
        </p:txBody>
      </p:sp>
      <p:sp>
        <p:nvSpPr>
          <p:cNvPr id="44" name="Text 1">
            <a:extLst>
              <a:ext uri="{FF2B5EF4-FFF2-40B4-BE49-F238E27FC236}">
                <a16:creationId xmlns:a16="http://schemas.microsoft.com/office/drawing/2014/main" id="{6653CF28-C598-2243-EF15-557EB5EBE682}"/>
              </a:ext>
            </a:extLst>
          </p:cNvPr>
          <p:cNvSpPr/>
          <p:nvPr/>
        </p:nvSpPr>
        <p:spPr>
          <a:xfrm>
            <a:off x="868680" y="329184"/>
            <a:ext cx="5029200" cy="274320"/>
          </a:xfrm>
          <a:prstGeom prst="rect">
            <a:avLst/>
          </a:prstGeom>
          <a:noFill/>
          <a:ln/>
        </p:spPr>
        <p:txBody>
          <a:bodyPr wrap="square" lIns="0" tIns="0" rIns="0" bIns="0" rtlCol="0" anchor="ctr"/>
          <a:lstStyle/>
          <a:p>
            <a:pPr marL="0" indent="0">
              <a:buNone/>
            </a:pPr>
            <a:r>
              <a:rPr lang="en-US" sz="1000" b="1" kern="0" spc="400" dirty="0">
                <a:solidFill>
                  <a:srgbClr val="F97316"/>
                </a:solidFill>
                <a:latin typeface="Calibri" pitchFamily="34" charset="0"/>
                <a:ea typeface="Calibri" pitchFamily="34" charset="-122"/>
                <a:cs typeface="Calibri" pitchFamily="34" charset="-120"/>
              </a:rPr>
              <a:t>PRACTICAL · INFRASTRUCTURE</a:t>
            </a:r>
            <a:endParaRPr lang="en-US" sz="1000" dirty="0"/>
          </a:p>
        </p:txBody>
      </p:sp>
      <p:sp>
        <p:nvSpPr>
          <p:cNvPr id="45" name="Text 2">
            <a:extLst>
              <a:ext uri="{FF2B5EF4-FFF2-40B4-BE49-F238E27FC236}">
                <a16:creationId xmlns:a16="http://schemas.microsoft.com/office/drawing/2014/main" id="{7F451366-6A73-8B46-8A32-FBE2A63E925A}"/>
              </a:ext>
            </a:extLst>
          </p:cNvPr>
          <p:cNvSpPr/>
          <p:nvPr/>
        </p:nvSpPr>
        <p:spPr>
          <a:xfrm>
            <a:off x="457200" y="640080"/>
            <a:ext cx="8229600" cy="822960"/>
          </a:xfrm>
          <a:prstGeom prst="rect">
            <a:avLst/>
          </a:prstGeom>
          <a:noFill/>
          <a:ln/>
        </p:spPr>
        <p:txBody>
          <a:bodyPr wrap="square" lIns="0" tIns="0" rIns="0" bIns="0" rtlCol="0" anchor="ctr"/>
          <a:lstStyle/>
          <a:p>
            <a:pPr marL="0" indent="0">
              <a:buNone/>
            </a:pPr>
            <a:r>
              <a:rPr lang="en-US" sz="3200" b="1" dirty="0">
                <a:solidFill>
                  <a:srgbClr val="F8FAFC"/>
                </a:solidFill>
                <a:latin typeface="Calibri" pitchFamily="34" charset="0"/>
                <a:ea typeface="Calibri" pitchFamily="34" charset="-122"/>
                <a:cs typeface="Calibri" pitchFamily="34" charset="-120"/>
              </a:rPr>
              <a:t>Self-hosting infrastructure</a:t>
            </a:r>
            <a:endParaRPr lang="en-US" sz="3200" dirty="0"/>
          </a:p>
        </p:txBody>
      </p:sp>
      <p:sp>
        <p:nvSpPr>
          <p:cNvPr id="46" name="Text 3">
            <a:extLst>
              <a:ext uri="{FF2B5EF4-FFF2-40B4-BE49-F238E27FC236}">
                <a16:creationId xmlns:a16="http://schemas.microsoft.com/office/drawing/2014/main" id="{2A237C0D-41C1-0E94-9B5F-4B06974EF761}"/>
              </a:ext>
            </a:extLst>
          </p:cNvPr>
          <p:cNvSpPr/>
          <p:nvPr/>
        </p:nvSpPr>
        <p:spPr>
          <a:xfrm>
            <a:off x="457200" y="4754880"/>
            <a:ext cx="4572000" cy="228600"/>
          </a:xfrm>
          <a:prstGeom prst="rect">
            <a:avLst/>
          </a:prstGeom>
          <a:noFill/>
          <a:ln/>
        </p:spPr>
        <p:txBody>
          <a:bodyPr wrap="square" lIns="0" tIns="0" rIns="0" bIns="0" rtlCol="0" anchor="ctr"/>
          <a:lstStyle/>
          <a:p>
            <a:pPr marL="0" indent="0">
              <a:buNone/>
            </a:pPr>
            <a:endParaRPr lang="en-US" sz="900" dirty="0"/>
          </a:p>
        </p:txBody>
      </p:sp>
      <p:sp>
        <p:nvSpPr>
          <p:cNvPr id="47" name="Shape 4">
            <a:extLst>
              <a:ext uri="{FF2B5EF4-FFF2-40B4-BE49-F238E27FC236}">
                <a16:creationId xmlns:a16="http://schemas.microsoft.com/office/drawing/2014/main" id="{C6401237-29B9-9F94-048C-2043C886396C}"/>
              </a:ext>
            </a:extLst>
          </p:cNvPr>
          <p:cNvSpPr/>
          <p:nvPr/>
        </p:nvSpPr>
        <p:spPr>
          <a:xfrm>
            <a:off x="8275320" y="4818888"/>
            <a:ext cx="73152" cy="73152"/>
          </a:xfrm>
          <a:prstGeom prst="ellipse">
            <a:avLst/>
          </a:prstGeom>
          <a:solidFill>
            <a:srgbClr val="F97316"/>
          </a:solidFill>
          <a:ln w="12700">
            <a:solidFill>
              <a:srgbClr val="F97316"/>
            </a:solidFill>
            <a:prstDash val="solid"/>
          </a:ln>
        </p:spPr>
        <p:txBody>
          <a:bodyPr/>
          <a:lstStyle/>
          <a:p>
            <a:endParaRPr lang="en-GB"/>
          </a:p>
        </p:txBody>
      </p:sp>
      <p:sp>
        <p:nvSpPr>
          <p:cNvPr id="48" name="Text 5">
            <a:extLst>
              <a:ext uri="{FF2B5EF4-FFF2-40B4-BE49-F238E27FC236}">
                <a16:creationId xmlns:a16="http://schemas.microsoft.com/office/drawing/2014/main" id="{AD66F3C4-E6AD-BFD3-79F7-3E98E531E9D9}"/>
              </a:ext>
            </a:extLst>
          </p:cNvPr>
          <p:cNvSpPr/>
          <p:nvPr/>
        </p:nvSpPr>
        <p:spPr>
          <a:xfrm>
            <a:off x="8366760" y="4736592"/>
            <a:ext cx="685800" cy="228600"/>
          </a:xfrm>
          <a:prstGeom prst="rect">
            <a:avLst/>
          </a:prstGeom>
          <a:noFill/>
          <a:ln/>
        </p:spPr>
        <p:txBody>
          <a:bodyPr wrap="square" lIns="0" tIns="0" rIns="0" bIns="0" rtlCol="0" anchor="ctr"/>
          <a:lstStyle/>
          <a:p>
            <a:pPr marL="0" indent="0" algn="r">
              <a:buNone/>
            </a:pPr>
            <a:r>
              <a:rPr lang="en-US" sz="900" dirty="0">
                <a:solidFill>
                  <a:srgbClr val="94A3B8"/>
                </a:solidFill>
                <a:latin typeface="Calibri" pitchFamily="34" charset="0"/>
                <a:ea typeface="Calibri" pitchFamily="34" charset="-122"/>
                <a:cs typeface="Calibri" pitchFamily="34" charset="-120"/>
              </a:rPr>
              <a:t>E3 / E7</a:t>
            </a:r>
            <a:endParaRPr lang="en-US" sz="900" dirty="0"/>
          </a:p>
        </p:txBody>
      </p:sp>
      <p:sp>
        <p:nvSpPr>
          <p:cNvPr id="49" name="Shape 6">
            <a:extLst>
              <a:ext uri="{FF2B5EF4-FFF2-40B4-BE49-F238E27FC236}">
                <a16:creationId xmlns:a16="http://schemas.microsoft.com/office/drawing/2014/main" id="{9D28480D-EA0D-CC14-2F31-5E0F9F651C96}"/>
              </a:ext>
            </a:extLst>
          </p:cNvPr>
          <p:cNvSpPr/>
          <p:nvPr/>
        </p:nvSpPr>
        <p:spPr>
          <a:xfrm>
            <a:off x="457200" y="1554480"/>
            <a:ext cx="36576" cy="201168"/>
          </a:xfrm>
          <a:prstGeom prst="rect">
            <a:avLst/>
          </a:prstGeom>
          <a:solidFill>
            <a:srgbClr val="3B82F6"/>
          </a:solidFill>
          <a:ln w="12700">
            <a:solidFill>
              <a:srgbClr val="3B82F6"/>
            </a:solidFill>
            <a:prstDash val="solid"/>
          </a:ln>
        </p:spPr>
        <p:txBody>
          <a:bodyPr/>
          <a:lstStyle/>
          <a:p>
            <a:endParaRPr lang="en-GB"/>
          </a:p>
        </p:txBody>
      </p:sp>
      <p:sp>
        <p:nvSpPr>
          <p:cNvPr id="50" name="Text 7">
            <a:extLst>
              <a:ext uri="{FF2B5EF4-FFF2-40B4-BE49-F238E27FC236}">
                <a16:creationId xmlns:a16="http://schemas.microsoft.com/office/drawing/2014/main" id="{6D1E0095-BD7F-05D3-01FE-622B68B2B71B}"/>
              </a:ext>
            </a:extLst>
          </p:cNvPr>
          <p:cNvSpPr/>
          <p:nvPr/>
        </p:nvSpPr>
        <p:spPr>
          <a:xfrm>
            <a:off x="566928" y="1508760"/>
            <a:ext cx="8119872" cy="274320"/>
          </a:xfrm>
          <a:prstGeom prst="rect">
            <a:avLst/>
          </a:prstGeom>
          <a:noFill/>
          <a:ln/>
        </p:spPr>
        <p:txBody>
          <a:bodyPr wrap="square" lIns="0" tIns="0" rIns="0" bIns="0" rtlCol="0" anchor="ctr"/>
          <a:lstStyle/>
          <a:p>
            <a:pPr marL="0" indent="0">
              <a:buNone/>
            </a:pPr>
            <a:r>
              <a:rPr lang="en-US" sz="1000" b="1" kern="0" spc="400" dirty="0">
                <a:solidFill>
                  <a:srgbClr val="3B82F6"/>
                </a:solidFill>
                <a:latin typeface="Calibri" pitchFamily="34" charset="0"/>
                <a:ea typeface="Calibri" pitchFamily="34" charset="-122"/>
                <a:cs typeface="Calibri" pitchFamily="34" charset="-120"/>
              </a:rPr>
              <a:t>INFERENCE RUNTIMES</a:t>
            </a:r>
            <a:endParaRPr lang="en-US" sz="1000" dirty="0"/>
          </a:p>
        </p:txBody>
      </p:sp>
      <p:sp>
        <p:nvSpPr>
          <p:cNvPr id="51" name="Shape 8">
            <a:extLst>
              <a:ext uri="{FF2B5EF4-FFF2-40B4-BE49-F238E27FC236}">
                <a16:creationId xmlns:a16="http://schemas.microsoft.com/office/drawing/2014/main" id="{1B07655D-4C8C-EBF6-A221-B6BB6A4B5D01}"/>
              </a:ext>
            </a:extLst>
          </p:cNvPr>
          <p:cNvSpPr/>
          <p:nvPr/>
        </p:nvSpPr>
        <p:spPr>
          <a:xfrm>
            <a:off x="361188" y="1828800"/>
            <a:ext cx="2697480" cy="1005840"/>
          </a:xfrm>
          <a:prstGeom prst="roundRect">
            <a:avLst>
              <a:gd name="adj" fmla="val 5455"/>
            </a:avLst>
          </a:prstGeom>
          <a:solidFill>
            <a:srgbClr val="11203A"/>
          </a:solidFill>
          <a:ln w="19050">
            <a:solidFill>
              <a:srgbClr val="F97316"/>
            </a:solidFill>
            <a:prstDash val="solid"/>
          </a:ln>
          <a:effectLst>
            <a:outerShdw blurRad="101600" dist="25400" dir="8100000" algn="bl" rotWithShape="0">
              <a:srgbClr val="000000">
                <a:alpha val="25000"/>
              </a:srgbClr>
            </a:outerShdw>
          </a:effectLst>
        </p:spPr>
        <p:txBody>
          <a:bodyPr/>
          <a:lstStyle/>
          <a:p>
            <a:endParaRPr lang="en-GB"/>
          </a:p>
        </p:txBody>
      </p:sp>
      <p:sp>
        <p:nvSpPr>
          <p:cNvPr id="52" name="Shape 9">
            <a:extLst>
              <a:ext uri="{FF2B5EF4-FFF2-40B4-BE49-F238E27FC236}">
                <a16:creationId xmlns:a16="http://schemas.microsoft.com/office/drawing/2014/main" id="{5EE380C3-05D6-CDFB-43B5-A1AF6417C07E}"/>
              </a:ext>
            </a:extLst>
          </p:cNvPr>
          <p:cNvSpPr/>
          <p:nvPr/>
        </p:nvSpPr>
        <p:spPr>
          <a:xfrm>
            <a:off x="361188" y="1828800"/>
            <a:ext cx="45720" cy="1005840"/>
          </a:xfrm>
          <a:prstGeom prst="rect">
            <a:avLst/>
          </a:prstGeom>
          <a:solidFill>
            <a:srgbClr val="F97316"/>
          </a:solidFill>
          <a:ln w="12700">
            <a:solidFill>
              <a:srgbClr val="F97316"/>
            </a:solidFill>
            <a:prstDash val="solid"/>
          </a:ln>
        </p:spPr>
        <p:txBody>
          <a:bodyPr/>
          <a:lstStyle/>
          <a:p>
            <a:endParaRPr lang="en-GB"/>
          </a:p>
        </p:txBody>
      </p:sp>
      <p:sp>
        <p:nvSpPr>
          <p:cNvPr id="53" name="Text 10">
            <a:extLst>
              <a:ext uri="{FF2B5EF4-FFF2-40B4-BE49-F238E27FC236}">
                <a16:creationId xmlns:a16="http://schemas.microsoft.com/office/drawing/2014/main" id="{F78FEB7A-B699-D2B8-8DAF-1C11B593B3DB}"/>
              </a:ext>
            </a:extLst>
          </p:cNvPr>
          <p:cNvSpPr/>
          <p:nvPr/>
        </p:nvSpPr>
        <p:spPr>
          <a:xfrm>
            <a:off x="470916" y="1828800"/>
            <a:ext cx="365760" cy="1005840"/>
          </a:xfrm>
          <a:prstGeom prst="rect">
            <a:avLst/>
          </a:prstGeom>
          <a:noFill/>
          <a:ln/>
        </p:spPr>
        <p:txBody>
          <a:bodyPr wrap="square" lIns="0" tIns="0" rIns="0" bIns="0" rtlCol="0" anchor="ctr"/>
          <a:lstStyle/>
          <a:p>
            <a:pPr marL="0" indent="0" algn="ctr">
              <a:buNone/>
            </a:pPr>
            <a:r>
              <a:rPr lang="en-US" sz="1400" dirty="0">
                <a:solidFill>
                  <a:srgbClr val="F97316"/>
                </a:solidFill>
                <a:latin typeface="Calibri" pitchFamily="34" charset="0"/>
                <a:ea typeface="Calibri" pitchFamily="34" charset="-122"/>
                <a:cs typeface="Calibri" pitchFamily="34" charset="-120"/>
              </a:rPr>
              <a:t>🚀</a:t>
            </a:r>
            <a:endParaRPr lang="en-US" sz="1400" dirty="0"/>
          </a:p>
        </p:txBody>
      </p:sp>
      <p:sp>
        <p:nvSpPr>
          <p:cNvPr id="54" name="Text 11">
            <a:extLst>
              <a:ext uri="{FF2B5EF4-FFF2-40B4-BE49-F238E27FC236}">
                <a16:creationId xmlns:a16="http://schemas.microsoft.com/office/drawing/2014/main" id="{9180F1BB-B5E7-26F7-36BA-DC8792EFA5B3}"/>
              </a:ext>
            </a:extLst>
          </p:cNvPr>
          <p:cNvSpPr/>
          <p:nvPr/>
        </p:nvSpPr>
        <p:spPr>
          <a:xfrm>
            <a:off x="864108" y="1874520"/>
            <a:ext cx="2057400" cy="320040"/>
          </a:xfrm>
          <a:prstGeom prst="rect">
            <a:avLst/>
          </a:prstGeom>
          <a:noFill/>
          <a:ln/>
        </p:spPr>
        <p:txBody>
          <a:bodyPr wrap="square" lIns="0" tIns="0" rIns="0" bIns="0" rtlCol="0" anchor="ctr"/>
          <a:lstStyle/>
          <a:p>
            <a:pPr marL="0" indent="0">
              <a:buNone/>
            </a:pPr>
            <a:r>
              <a:rPr lang="en-US" sz="1200" b="1" dirty="0">
                <a:solidFill>
                  <a:srgbClr val="F8FAFC"/>
                </a:solidFill>
                <a:latin typeface="Calibri" pitchFamily="34" charset="0"/>
                <a:ea typeface="Calibri" pitchFamily="34" charset="-122"/>
                <a:cs typeface="Calibri" pitchFamily="34" charset="-120"/>
              </a:rPr>
              <a:t>vLLM</a:t>
            </a:r>
            <a:endParaRPr lang="en-US" sz="1200" dirty="0"/>
          </a:p>
        </p:txBody>
      </p:sp>
      <p:sp>
        <p:nvSpPr>
          <p:cNvPr id="55" name="Text 12">
            <a:extLst>
              <a:ext uri="{FF2B5EF4-FFF2-40B4-BE49-F238E27FC236}">
                <a16:creationId xmlns:a16="http://schemas.microsoft.com/office/drawing/2014/main" id="{74F4CE28-EA4B-3D19-7DE8-DFA580487B94}"/>
              </a:ext>
            </a:extLst>
          </p:cNvPr>
          <p:cNvSpPr/>
          <p:nvPr/>
        </p:nvSpPr>
        <p:spPr>
          <a:xfrm>
            <a:off x="864108" y="2194560"/>
            <a:ext cx="2057400" cy="274320"/>
          </a:xfrm>
          <a:prstGeom prst="rect">
            <a:avLst/>
          </a:prstGeom>
          <a:noFill/>
          <a:ln/>
        </p:spPr>
        <p:txBody>
          <a:bodyPr wrap="square" lIns="0" tIns="0" rIns="0" bIns="0" rtlCol="0" anchor="ctr"/>
          <a:lstStyle/>
          <a:p>
            <a:pPr marL="0" indent="0">
              <a:buNone/>
            </a:pPr>
            <a:r>
              <a:rPr lang="en-US" sz="900" i="1" dirty="0">
                <a:solidFill>
                  <a:srgbClr val="F97316"/>
                </a:solidFill>
                <a:latin typeface="Calibri" pitchFamily="34" charset="0"/>
                <a:ea typeface="Calibri" pitchFamily="34" charset="-122"/>
                <a:cs typeface="Calibri" pitchFamily="34" charset="-120"/>
              </a:rPr>
              <a:t>production GPU serving</a:t>
            </a:r>
            <a:endParaRPr lang="en-US" sz="900" dirty="0"/>
          </a:p>
        </p:txBody>
      </p:sp>
      <p:sp>
        <p:nvSpPr>
          <p:cNvPr id="56" name="Shape 13">
            <a:extLst>
              <a:ext uri="{FF2B5EF4-FFF2-40B4-BE49-F238E27FC236}">
                <a16:creationId xmlns:a16="http://schemas.microsoft.com/office/drawing/2014/main" id="{8ACCED8B-7A7C-8725-C9BE-40FA68BD5582}"/>
              </a:ext>
            </a:extLst>
          </p:cNvPr>
          <p:cNvSpPr/>
          <p:nvPr/>
        </p:nvSpPr>
        <p:spPr>
          <a:xfrm>
            <a:off x="3223260" y="1828800"/>
            <a:ext cx="2697480" cy="1005840"/>
          </a:xfrm>
          <a:prstGeom prst="roundRect">
            <a:avLst>
              <a:gd name="adj" fmla="val 5455"/>
            </a:avLst>
          </a:prstGeom>
          <a:solidFill>
            <a:srgbClr val="11203A"/>
          </a:solidFill>
          <a:ln w="19050">
            <a:solidFill>
              <a:srgbClr val="3B82F6"/>
            </a:solidFill>
            <a:prstDash val="solid"/>
          </a:ln>
          <a:effectLst>
            <a:outerShdw blurRad="101600" dist="25400" dir="8100000" algn="bl" rotWithShape="0">
              <a:srgbClr val="000000">
                <a:alpha val="25000"/>
              </a:srgbClr>
            </a:outerShdw>
          </a:effectLst>
        </p:spPr>
        <p:txBody>
          <a:bodyPr/>
          <a:lstStyle/>
          <a:p>
            <a:endParaRPr lang="en-GB"/>
          </a:p>
        </p:txBody>
      </p:sp>
      <p:sp>
        <p:nvSpPr>
          <p:cNvPr id="57" name="Shape 14">
            <a:extLst>
              <a:ext uri="{FF2B5EF4-FFF2-40B4-BE49-F238E27FC236}">
                <a16:creationId xmlns:a16="http://schemas.microsoft.com/office/drawing/2014/main" id="{06B0EAB8-22BA-07F9-88D5-833335D57F79}"/>
              </a:ext>
            </a:extLst>
          </p:cNvPr>
          <p:cNvSpPr/>
          <p:nvPr/>
        </p:nvSpPr>
        <p:spPr>
          <a:xfrm>
            <a:off x="3223260" y="1828800"/>
            <a:ext cx="45720" cy="1005840"/>
          </a:xfrm>
          <a:prstGeom prst="rect">
            <a:avLst/>
          </a:prstGeom>
          <a:solidFill>
            <a:srgbClr val="3B82F6"/>
          </a:solidFill>
          <a:ln w="12700">
            <a:solidFill>
              <a:srgbClr val="3B82F6"/>
            </a:solidFill>
            <a:prstDash val="solid"/>
          </a:ln>
        </p:spPr>
        <p:txBody>
          <a:bodyPr/>
          <a:lstStyle/>
          <a:p>
            <a:endParaRPr lang="en-GB"/>
          </a:p>
        </p:txBody>
      </p:sp>
      <p:sp>
        <p:nvSpPr>
          <p:cNvPr id="58" name="Text 15">
            <a:extLst>
              <a:ext uri="{FF2B5EF4-FFF2-40B4-BE49-F238E27FC236}">
                <a16:creationId xmlns:a16="http://schemas.microsoft.com/office/drawing/2014/main" id="{E6777ABA-1B38-E58E-661B-29206DFC9D8B}"/>
              </a:ext>
            </a:extLst>
          </p:cNvPr>
          <p:cNvSpPr/>
          <p:nvPr/>
        </p:nvSpPr>
        <p:spPr>
          <a:xfrm>
            <a:off x="3332988" y="1828800"/>
            <a:ext cx="365760" cy="1005840"/>
          </a:xfrm>
          <a:prstGeom prst="rect">
            <a:avLst/>
          </a:prstGeom>
          <a:noFill/>
          <a:ln/>
        </p:spPr>
        <p:txBody>
          <a:bodyPr wrap="square" lIns="0" tIns="0" rIns="0" bIns="0" rtlCol="0" anchor="ctr"/>
          <a:lstStyle/>
          <a:p>
            <a:pPr marL="0" indent="0" algn="ctr">
              <a:buNone/>
            </a:pPr>
            <a:r>
              <a:rPr lang="en-US" sz="1400" dirty="0">
                <a:solidFill>
                  <a:srgbClr val="3B82F6"/>
                </a:solidFill>
                <a:latin typeface="Calibri" pitchFamily="34" charset="0"/>
                <a:ea typeface="Calibri" pitchFamily="34" charset="-122"/>
                <a:cs typeface="Calibri" pitchFamily="34" charset="-120"/>
              </a:rPr>
              <a:t>🦙</a:t>
            </a:r>
            <a:endParaRPr lang="en-US" sz="1400" dirty="0"/>
          </a:p>
        </p:txBody>
      </p:sp>
      <p:sp>
        <p:nvSpPr>
          <p:cNvPr id="59" name="Text 16">
            <a:extLst>
              <a:ext uri="{FF2B5EF4-FFF2-40B4-BE49-F238E27FC236}">
                <a16:creationId xmlns:a16="http://schemas.microsoft.com/office/drawing/2014/main" id="{1A2729E6-1A53-A959-4FE5-F8ECB9BF11BA}"/>
              </a:ext>
            </a:extLst>
          </p:cNvPr>
          <p:cNvSpPr/>
          <p:nvPr/>
        </p:nvSpPr>
        <p:spPr>
          <a:xfrm>
            <a:off x="3726180" y="1874520"/>
            <a:ext cx="2057400" cy="320040"/>
          </a:xfrm>
          <a:prstGeom prst="rect">
            <a:avLst/>
          </a:prstGeom>
          <a:noFill/>
          <a:ln/>
        </p:spPr>
        <p:txBody>
          <a:bodyPr wrap="square" lIns="0" tIns="0" rIns="0" bIns="0" rtlCol="0" anchor="ctr"/>
          <a:lstStyle/>
          <a:p>
            <a:pPr marL="0" indent="0">
              <a:buNone/>
            </a:pPr>
            <a:r>
              <a:rPr lang="en-US" sz="1200" b="1" dirty="0">
                <a:solidFill>
                  <a:srgbClr val="F8FAFC"/>
                </a:solidFill>
                <a:latin typeface="Calibri" pitchFamily="34" charset="0"/>
                <a:ea typeface="Calibri" pitchFamily="34" charset="-122"/>
                <a:cs typeface="Calibri" pitchFamily="34" charset="-120"/>
              </a:rPr>
              <a:t>Ollama</a:t>
            </a:r>
            <a:endParaRPr lang="en-US" sz="1200" dirty="0"/>
          </a:p>
        </p:txBody>
      </p:sp>
      <p:sp>
        <p:nvSpPr>
          <p:cNvPr id="60" name="Text 17">
            <a:extLst>
              <a:ext uri="{FF2B5EF4-FFF2-40B4-BE49-F238E27FC236}">
                <a16:creationId xmlns:a16="http://schemas.microsoft.com/office/drawing/2014/main" id="{24C5069C-F5C5-C517-8CA8-F084E5A71372}"/>
              </a:ext>
            </a:extLst>
          </p:cNvPr>
          <p:cNvSpPr/>
          <p:nvPr/>
        </p:nvSpPr>
        <p:spPr>
          <a:xfrm>
            <a:off x="3726180" y="2194560"/>
            <a:ext cx="2057400" cy="274320"/>
          </a:xfrm>
          <a:prstGeom prst="rect">
            <a:avLst/>
          </a:prstGeom>
          <a:noFill/>
          <a:ln/>
        </p:spPr>
        <p:txBody>
          <a:bodyPr wrap="square" lIns="0" tIns="0" rIns="0" bIns="0" rtlCol="0" anchor="ctr"/>
          <a:lstStyle/>
          <a:p>
            <a:pPr marL="0" indent="0">
              <a:buNone/>
            </a:pPr>
            <a:r>
              <a:rPr lang="en-US" sz="900" i="1" dirty="0">
                <a:solidFill>
                  <a:srgbClr val="3B82F6"/>
                </a:solidFill>
                <a:latin typeface="Calibri" pitchFamily="34" charset="0"/>
                <a:ea typeface="Calibri" pitchFamily="34" charset="-122"/>
                <a:cs typeface="Calibri" pitchFamily="34" charset="-120"/>
              </a:rPr>
              <a:t>single binary · local dev</a:t>
            </a:r>
            <a:endParaRPr lang="en-US" sz="900" dirty="0"/>
          </a:p>
        </p:txBody>
      </p:sp>
      <p:sp>
        <p:nvSpPr>
          <p:cNvPr id="61" name="Shape 18">
            <a:extLst>
              <a:ext uri="{FF2B5EF4-FFF2-40B4-BE49-F238E27FC236}">
                <a16:creationId xmlns:a16="http://schemas.microsoft.com/office/drawing/2014/main" id="{F46BEA6A-B14D-7FB0-5E65-2E70C58B6DB8}"/>
              </a:ext>
            </a:extLst>
          </p:cNvPr>
          <p:cNvSpPr/>
          <p:nvPr/>
        </p:nvSpPr>
        <p:spPr>
          <a:xfrm>
            <a:off x="6085332" y="1828800"/>
            <a:ext cx="2697480" cy="1005840"/>
          </a:xfrm>
          <a:prstGeom prst="roundRect">
            <a:avLst>
              <a:gd name="adj" fmla="val 5455"/>
            </a:avLst>
          </a:prstGeom>
          <a:solidFill>
            <a:srgbClr val="11203A"/>
          </a:solidFill>
          <a:ln w="19050">
            <a:solidFill>
              <a:srgbClr val="F97316"/>
            </a:solidFill>
            <a:prstDash val="solid"/>
          </a:ln>
          <a:effectLst>
            <a:outerShdw blurRad="101600" dist="25400" dir="8100000" algn="bl" rotWithShape="0">
              <a:srgbClr val="000000">
                <a:alpha val="25000"/>
              </a:srgbClr>
            </a:outerShdw>
          </a:effectLst>
        </p:spPr>
        <p:txBody>
          <a:bodyPr/>
          <a:lstStyle/>
          <a:p>
            <a:endParaRPr lang="en-GB"/>
          </a:p>
        </p:txBody>
      </p:sp>
      <p:sp>
        <p:nvSpPr>
          <p:cNvPr id="62" name="Shape 19">
            <a:extLst>
              <a:ext uri="{FF2B5EF4-FFF2-40B4-BE49-F238E27FC236}">
                <a16:creationId xmlns:a16="http://schemas.microsoft.com/office/drawing/2014/main" id="{FE2075AD-395F-513B-7258-BEDD51E127DD}"/>
              </a:ext>
            </a:extLst>
          </p:cNvPr>
          <p:cNvSpPr/>
          <p:nvPr/>
        </p:nvSpPr>
        <p:spPr>
          <a:xfrm>
            <a:off x="6085332" y="1828800"/>
            <a:ext cx="45720" cy="1005840"/>
          </a:xfrm>
          <a:prstGeom prst="rect">
            <a:avLst/>
          </a:prstGeom>
          <a:solidFill>
            <a:srgbClr val="F97316"/>
          </a:solidFill>
          <a:ln w="12700">
            <a:solidFill>
              <a:srgbClr val="F97316"/>
            </a:solidFill>
            <a:prstDash val="solid"/>
          </a:ln>
        </p:spPr>
        <p:txBody>
          <a:bodyPr/>
          <a:lstStyle/>
          <a:p>
            <a:endParaRPr lang="en-GB"/>
          </a:p>
        </p:txBody>
      </p:sp>
      <p:sp>
        <p:nvSpPr>
          <p:cNvPr id="63" name="Text 20">
            <a:extLst>
              <a:ext uri="{FF2B5EF4-FFF2-40B4-BE49-F238E27FC236}">
                <a16:creationId xmlns:a16="http://schemas.microsoft.com/office/drawing/2014/main" id="{9FB4D6CF-D87D-DE02-032D-A0B067E30464}"/>
              </a:ext>
            </a:extLst>
          </p:cNvPr>
          <p:cNvSpPr/>
          <p:nvPr/>
        </p:nvSpPr>
        <p:spPr>
          <a:xfrm>
            <a:off x="6195060" y="1828800"/>
            <a:ext cx="365760" cy="1005840"/>
          </a:xfrm>
          <a:prstGeom prst="rect">
            <a:avLst/>
          </a:prstGeom>
          <a:noFill/>
          <a:ln/>
        </p:spPr>
        <p:txBody>
          <a:bodyPr wrap="square" lIns="0" tIns="0" rIns="0" bIns="0" rtlCol="0" anchor="ctr"/>
          <a:lstStyle/>
          <a:p>
            <a:pPr marL="0" indent="0" algn="ctr">
              <a:buNone/>
            </a:pPr>
            <a:r>
              <a:rPr lang="en-US" sz="1400" dirty="0">
                <a:solidFill>
                  <a:srgbClr val="F97316"/>
                </a:solidFill>
                <a:latin typeface="Calibri" pitchFamily="34" charset="0"/>
                <a:ea typeface="Calibri" pitchFamily="34" charset="-122"/>
                <a:cs typeface="Calibri" pitchFamily="34" charset="-120"/>
              </a:rPr>
              <a:t>🔌</a:t>
            </a:r>
            <a:endParaRPr lang="en-US" sz="1400" dirty="0"/>
          </a:p>
        </p:txBody>
      </p:sp>
      <p:sp>
        <p:nvSpPr>
          <p:cNvPr id="64" name="Text 21">
            <a:extLst>
              <a:ext uri="{FF2B5EF4-FFF2-40B4-BE49-F238E27FC236}">
                <a16:creationId xmlns:a16="http://schemas.microsoft.com/office/drawing/2014/main" id="{9CBF0FC3-C4E8-A8E8-590E-953B3E5292F1}"/>
              </a:ext>
            </a:extLst>
          </p:cNvPr>
          <p:cNvSpPr/>
          <p:nvPr/>
        </p:nvSpPr>
        <p:spPr>
          <a:xfrm>
            <a:off x="6588252" y="1874520"/>
            <a:ext cx="2057400" cy="320040"/>
          </a:xfrm>
          <a:prstGeom prst="rect">
            <a:avLst/>
          </a:prstGeom>
          <a:noFill/>
          <a:ln/>
        </p:spPr>
        <p:txBody>
          <a:bodyPr wrap="square" lIns="0" tIns="0" rIns="0" bIns="0" rtlCol="0" anchor="ctr"/>
          <a:lstStyle/>
          <a:p>
            <a:pPr marL="0" indent="0">
              <a:buNone/>
            </a:pPr>
            <a:r>
              <a:rPr lang="en-US" sz="1200" b="1" dirty="0">
                <a:solidFill>
                  <a:srgbClr val="F8FAFC"/>
                </a:solidFill>
                <a:latin typeface="Calibri" pitchFamily="34" charset="0"/>
                <a:ea typeface="Calibri" pitchFamily="34" charset="-122"/>
                <a:cs typeface="Calibri" pitchFamily="34" charset="-120"/>
              </a:rPr>
              <a:t>LiteLLM</a:t>
            </a:r>
            <a:endParaRPr lang="en-US" sz="1200" dirty="0"/>
          </a:p>
        </p:txBody>
      </p:sp>
      <p:sp>
        <p:nvSpPr>
          <p:cNvPr id="65" name="Text 22">
            <a:extLst>
              <a:ext uri="{FF2B5EF4-FFF2-40B4-BE49-F238E27FC236}">
                <a16:creationId xmlns:a16="http://schemas.microsoft.com/office/drawing/2014/main" id="{35934409-DF05-65AA-6D68-0630B4CA7DC8}"/>
              </a:ext>
            </a:extLst>
          </p:cNvPr>
          <p:cNvSpPr/>
          <p:nvPr/>
        </p:nvSpPr>
        <p:spPr>
          <a:xfrm>
            <a:off x="6588252" y="2194560"/>
            <a:ext cx="2057400" cy="274320"/>
          </a:xfrm>
          <a:prstGeom prst="rect">
            <a:avLst/>
          </a:prstGeom>
          <a:noFill/>
          <a:ln/>
        </p:spPr>
        <p:txBody>
          <a:bodyPr wrap="square" lIns="0" tIns="0" rIns="0" bIns="0" rtlCol="0" anchor="ctr"/>
          <a:lstStyle/>
          <a:p>
            <a:pPr marL="0" indent="0">
              <a:buNone/>
            </a:pPr>
            <a:r>
              <a:rPr lang="en-US" sz="900" i="1" dirty="0">
                <a:solidFill>
                  <a:srgbClr val="F97316"/>
                </a:solidFill>
                <a:latin typeface="Calibri" pitchFamily="34" charset="0"/>
                <a:ea typeface="Calibri" pitchFamily="34" charset="-122"/>
                <a:cs typeface="Calibri" pitchFamily="34" charset="-120"/>
              </a:rPr>
              <a:t>unified provider gateway</a:t>
            </a:r>
            <a:endParaRPr lang="en-US" sz="900" dirty="0"/>
          </a:p>
        </p:txBody>
      </p:sp>
      <p:sp>
        <p:nvSpPr>
          <p:cNvPr id="66" name="Shape 23">
            <a:extLst>
              <a:ext uri="{FF2B5EF4-FFF2-40B4-BE49-F238E27FC236}">
                <a16:creationId xmlns:a16="http://schemas.microsoft.com/office/drawing/2014/main" id="{EBB984C4-7869-F751-93BD-07C22FF11E14}"/>
              </a:ext>
            </a:extLst>
          </p:cNvPr>
          <p:cNvSpPr/>
          <p:nvPr/>
        </p:nvSpPr>
        <p:spPr>
          <a:xfrm>
            <a:off x="457200" y="3108960"/>
            <a:ext cx="36576" cy="201168"/>
          </a:xfrm>
          <a:prstGeom prst="rect">
            <a:avLst/>
          </a:prstGeom>
          <a:solidFill>
            <a:srgbClr val="F97316"/>
          </a:solidFill>
          <a:ln w="12700">
            <a:solidFill>
              <a:srgbClr val="F97316"/>
            </a:solidFill>
            <a:prstDash val="solid"/>
          </a:ln>
        </p:spPr>
        <p:txBody>
          <a:bodyPr/>
          <a:lstStyle/>
          <a:p>
            <a:endParaRPr lang="en-GB"/>
          </a:p>
        </p:txBody>
      </p:sp>
      <p:sp>
        <p:nvSpPr>
          <p:cNvPr id="67" name="Text 24">
            <a:extLst>
              <a:ext uri="{FF2B5EF4-FFF2-40B4-BE49-F238E27FC236}">
                <a16:creationId xmlns:a16="http://schemas.microsoft.com/office/drawing/2014/main" id="{D1697263-9259-3AB7-49FD-05E97A4C1CFD}"/>
              </a:ext>
            </a:extLst>
          </p:cNvPr>
          <p:cNvSpPr/>
          <p:nvPr/>
        </p:nvSpPr>
        <p:spPr>
          <a:xfrm>
            <a:off x="566928" y="3063240"/>
            <a:ext cx="8119872" cy="274320"/>
          </a:xfrm>
          <a:prstGeom prst="rect">
            <a:avLst/>
          </a:prstGeom>
          <a:noFill/>
          <a:ln/>
        </p:spPr>
        <p:txBody>
          <a:bodyPr wrap="square" lIns="0" tIns="0" rIns="0" bIns="0" rtlCol="0" anchor="ctr"/>
          <a:lstStyle/>
          <a:p>
            <a:pPr marL="0" indent="0">
              <a:buNone/>
            </a:pPr>
            <a:r>
              <a:rPr lang="en-US" sz="1000" b="1" kern="0" spc="400" dirty="0">
                <a:solidFill>
                  <a:srgbClr val="F97316"/>
                </a:solidFill>
                <a:latin typeface="Calibri" pitchFamily="34" charset="0"/>
                <a:ea typeface="Calibri" pitchFamily="34" charset="-122"/>
                <a:cs typeface="Calibri" pitchFamily="34" charset="-120"/>
              </a:rPr>
              <a:t>VECTOR STORAGE</a:t>
            </a:r>
            <a:endParaRPr lang="en-US" sz="1000" dirty="0"/>
          </a:p>
        </p:txBody>
      </p:sp>
      <p:sp>
        <p:nvSpPr>
          <p:cNvPr id="68" name="Shape 25">
            <a:extLst>
              <a:ext uri="{FF2B5EF4-FFF2-40B4-BE49-F238E27FC236}">
                <a16:creationId xmlns:a16="http://schemas.microsoft.com/office/drawing/2014/main" id="{397386FF-8396-2C36-26E9-89BA6F02C4E9}"/>
              </a:ext>
            </a:extLst>
          </p:cNvPr>
          <p:cNvSpPr/>
          <p:nvPr/>
        </p:nvSpPr>
        <p:spPr>
          <a:xfrm>
            <a:off x="361188" y="3383280"/>
            <a:ext cx="2697480" cy="1005840"/>
          </a:xfrm>
          <a:prstGeom prst="roundRect">
            <a:avLst>
              <a:gd name="adj" fmla="val 5455"/>
            </a:avLst>
          </a:prstGeom>
          <a:solidFill>
            <a:srgbClr val="11203A"/>
          </a:solidFill>
          <a:ln w="19050">
            <a:solidFill>
              <a:srgbClr val="3B82F6"/>
            </a:solidFill>
            <a:prstDash val="solid"/>
          </a:ln>
          <a:effectLst>
            <a:outerShdw blurRad="101600" dist="25400" dir="8100000" algn="bl" rotWithShape="0">
              <a:srgbClr val="000000">
                <a:alpha val="25000"/>
              </a:srgbClr>
            </a:outerShdw>
          </a:effectLst>
        </p:spPr>
        <p:txBody>
          <a:bodyPr/>
          <a:lstStyle/>
          <a:p>
            <a:endParaRPr lang="en-GB"/>
          </a:p>
        </p:txBody>
      </p:sp>
      <p:sp>
        <p:nvSpPr>
          <p:cNvPr id="69" name="Shape 26">
            <a:extLst>
              <a:ext uri="{FF2B5EF4-FFF2-40B4-BE49-F238E27FC236}">
                <a16:creationId xmlns:a16="http://schemas.microsoft.com/office/drawing/2014/main" id="{F40727BC-CA08-3D6D-11C2-2DB960108DA3}"/>
              </a:ext>
            </a:extLst>
          </p:cNvPr>
          <p:cNvSpPr/>
          <p:nvPr/>
        </p:nvSpPr>
        <p:spPr>
          <a:xfrm>
            <a:off x="361188" y="3383280"/>
            <a:ext cx="45720" cy="1005840"/>
          </a:xfrm>
          <a:prstGeom prst="rect">
            <a:avLst/>
          </a:prstGeom>
          <a:solidFill>
            <a:srgbClr val="3B82F6"/>
          </a:solidFill>
          <a:ln w="12700">
            <a:solidFill>
              <a:srgbClr val="3B82F6"/>
            </a:solidFill>
            <a:prstDash val="solid"/>
          </a:ln>
        </p:spPr>
        <p:txBody>
          <a:bodyPr/>
          <a:lstStyle/>
          <a:p>
            <a:endParaRPr lang="en-GB"/>
          </a:p>
        </p:txBody>
      </p:sp>
      <p:sp>
        <p:nvSpPr>
          <p:cNvPr id="70" name="Text 27">
            <a:extLst>
              <a:ext uri="{FF2B5EF4-FFF2-40B4-BE49-F238E27FC236}">
                <a16:creationId xmlns:a16="http://schemas.microsoft.com/office/drawing/2014/main" id="{7884BFD5-7741-284B-C976-92714DC69569}"/>
              </a:ext>
            </a:extLst>
          </p:cNvPr>
          <p:cNvSpPr/>
          <p:nvPr/>
        </p:nvSpPr>
        <p:spPr>
          <a:xfrm>
            <a:off x="470916" y="3383280"/>
            <a:ext cx="365760" cy="1005840"/>
          </a:xfrm>
          <a:prstGeom prst="rect">
            <a:avLst/>
          </a:prstGeom>
          <a:noFill/>
          <a:ln/>
        </p:spPr>
        <p:txBody>
          <a:bodyPr wrap="square" lIns="0" tIns="0" rIns="0" bIns="0" rtlCol="0" anchor="ctr"/>
          <a:lstStyle/>
          <a:p>
            <a:pPr marL="0" indent="0" algn="ctr">
              <a:buNone/>
            </a:pPr>
            <a:r>
              <a:rPr lang="en-US" sz="1400" dirty="0">
                <a:solidFill>
                  <a:srgbClr val="3B82F6"/>
                </a:solidFill>
                <a:latin typeface="Calibri" pitchFamily="34" charset="0"/>
                <a:ea typeface="Calibri" pitchFamily="34" charset="-122"/>
                <a:cs typeface="Calibri" pitchFamily="34" charset="-120"/>
              </a:rPr>
              <a:t>📚</a:t>
            </a:r>
            <a:endParaRPr lang="en-US" sz="1400" dirty="0"/>
          </a:p>
        </p:txBody>
      </p:sp>
      <p:sp>
        <p:nvSpPr>
          <p:cNvPr id="71" name="Text 28">
            <a:extLst>
              <a:ext uri="{FF2B5EF4-FFF2-40B4-BE49-F238E27FC236}">
                <a16:creationId xmlns:a16="http://schemas.microsoft.com/office/drawing/2014/main" id="{C1133E00-9E22-B551-2D3E-30666D2C985A}"/>
              </a:ext>
            </a:extLst>
          </p:cNvPr>
          <p:cNvSpPr/>
          <p:nvPr/>
        </p:nvSpPr>
        <p:spPr>
          <a:xfrm>
            <a:off x="864108" y="3429000"/>
            <a:ext cx="2057400" cy="320040"/>
          </a:xfrm>
          <a:prstGeom prst="rect">
            <a:avLst/>
          </a:prstGeom>
          <a:noFill/>
          <a:ln/>
        </p:spPr>
        <p:txBody>
          <a:bodyPr wrap="square" lIns="0" tIns="0" rIns="0" bIns="0" rtlCol="0" anchor="ctr"/>
          <a:lstStyle/>
          <a:p>
            <a:pPr marL="0" indent="0">
              <a:buNone/>
            </a:pPr>
            <a:r>
              <a:rPr lang="en-US" sz="1200" b="1" dirty="0">
                <a:solidFill>
                  <a:srgbClr val="F8FAFC"/>
                </a:solidFill>
                <a:latin typeface="Calibri" pitchFamily="34" charset="0"/>
                <a:ea typeface="Calibri" pitchFamily="34" charset="-122"/>
                <a:cs typeface="Calibri" pitchFamily="34" charset="-120"/>
              </a:rPr>
              <a:t>FAISS</a:t>
            </a:r>
            <a:endParaRPr lang="en-US" sz="1200" dirty="0"/>
          </a:p>
        </p:txBody>
      </p:sp>
      <p:sp>
        <p:nvSpPr>
          <p:cNvPr id="72" name="Text 29">
            <a:extLst>
              <a:ext uri="{FF2B5EF4-FFF2-40B4-BE49-F238E27FC236}">
                <a16:creationId xmlns:a16="http://schemas.microsoft.com/office/drawing/2014/main" id="{B9BFBB2A-9940-98E3-525C-0F13C54CBD34}"/>
              </a:ext>
            </a:extLst>
          </p:cNvPr>
          <p:cNvSpPr/>
          <p:nvPr/>
        </p:nvSpPr>
        <p:spPr>
          <a:xfrm>
            <a:off x="864108" y="3749040"/>
            <a:ext cx="2057400" cy="274320"/>
          </a:xfrm>
          <a:prstGeom prst="rect">
            <a:avLst/>
          </a:prstGeom>
          <a:noFill/>
          <a:ln/>
        </p:spPr>
        <p:txBody>
          <a:bodyPr wrap="square" lIns="0" tIns="0" rIns="0" bIns="0" rtlCol="0" anchor="ctr"/>
          <a:lstStyle/>
          <a:p>
            <a:pPr marL="0" indent="0">
              <a:buNone/>
            </a:pPr>
            <a:r>
              <a:rPr lang="en-US" sz="900" i="1" dirty="0">
                <a:solidFill>
                  <a:srgbClr val="3B82F6"/>
                </a:solidFill>
                <a:latin typeface="Calibri" pitchFamily="34" charset="0"/>
                <a:ea typeface="Calibri" pitchFamily="34" charset="-122"/>
                <a:cs typeface="Calibri" pitchFamily="34" charset="-120"/>
              </a:rPr>
              <a:t>Meta · embedded in-memory</a:t>
            </a:r>
            <a:endParaRPr lang="en-US" sz="900" dirty="0"/>
          </a:p>
        </p:txBody>
      </p:sp>
      <p:sp>
        <p:nvSpPr>
          <p:cNvPr id="73" name="Shape 30">
            <a:extLst>
              <a:ext uri="{FF2B5EF4-FFF2-40B4-BE49-F238E27FC236}">
                <a16:creationId xmlns:a16="http://schemas.microsoft.com/office/drawing/2014/main" id="{84CA1FC1-EB3A-A0E6-DBA7-D28792448B1F}"/>
              </a:ext>
            </a:extLst>
          </p:cNvPr>
          <p:cNvSpPr/>
          <p:nvPr/>
        </p:nvSpPr>
        <p:spPr>
          <a:xfrm>
            <a:off x="3223260" y="3383280"/>
            <a:ext cx="2697480" cy="1005840"/>
          </a:xfrm>
          <a:prstGeom prst="roundRect">
            <a:avLst>
              <a:gd name="adj" fmla="val 5455"/>
            </a:avLst>
          </a:prstGeom>
          <a:solidFill>
            <a:srgbClr val="11203A"/>
          </a:solidFill>
          <a:ln w="19050">
            <a:solidFill>
              <a:srgbClr val="F97316"/>
            </a:solidFill>
            <a:prstDash val="solid"/>
          </a:ln>
          <a:effectLst>
            <a:outerShdw blurRad="101600" dist="25400" dir="8100000" algn="bl" rotWithShape="0">
              <a:srgbClr val="000000">
                <a:alpha val="25000"/>
              </a:srgbClr>
            </a:outerShdw>
          </a:effectLst>
        </p:spPr>
        <p:txBody>
          <a:bodyPr/>
          <a:lstStyle/>
          <a:p>
            <a:endParaRPr lang="en-GB"/>
          </a:p>
        </p:txBody>
      </p:sp>
      <p:sp>
        <p:nvSpPr>
          <p:cNvPr id="74" name="Shape 31">
            <a:extLst>
              <a:ext uri="{FF2B5EF4-FFF2-40B4-BE49-F238E27FC236}">
                <a16:creationId xmlns:a16="http://schemas.microsoft.com/office/drawing/2014/main" id="{4EB78FA4-F769-6DF6-4089-2AF5B5E2B74F}"/>
              </a:ext>
            </a:extLst>
          </p:cNvPr>
          <p:cNvSpPr/>
          <p:nvPr/>
        </p:nvSpPr>
        <p:spPr>
          <a:xfrm>
            <a:off x="3223260" y="3383280"/>
            <a:ext cx="45720" cy="1005840"/>
          </a:xfrm>
          <a:prstGeom prst="rect">
            <a:avLst/>
          </a:prstGeom>
          <a:solidFill>
            <a:srgbClr val="F97316"/>
          </a:solidFill>
          <a:ln w="12700">
            <a:solidFill>
              <a:srgbClr val="F97316"/>
            </a:solidFill>
            <a:prstDash val="solid"/>
          </a:ln>
        </p:spPr>
        <p:txBody>
          <a:bodyPr/>
          <a:lstStyle/>
          <a:p>
            <a:endParaRPr lang="en-GB"/>
          </a:p>
        </p:txBody>
      </p:sp>
      <p:sp>
        <p:nvSpPr>
          <p:cNvPr id="75" name="Text 32">
            <a:extLst>
              <a:ext uri="{FF2B5EF4-FFF2-40B4-BE49-F238E27FC236}">
                <a16:creationId xmlns:a16="http://schemas.microsoft.com/office/drawing/2014/main" id="{7D7D0547-B607-7753-BE54-F6813008CFBF}"/>
              </a:ext>
            </a:extLst>
          </p:cNvPr>
          <p:cNvSpPr/>
          <p:nvPr/>
        </p:nvSpPr>
        <p:spPr>
          <a:xfrm>
            <a:off x="3332988" y="3383280"/>
            <a:ext cx="365760" cy="1005840"/>
          </a:xfrm>
          <a:prstGeom prst="rect">
            <a:avLst/>
          </a:prstGeom>
          <a:noFill/>
          <a:ln/>
        </p:spPr>
        <p:txBody>
          <a:bodyPr wrap="square" lIns="0" tIns="0" rIns="0" bIns="0" rtlCol="0" anchor="ctr"/>
          <a:lstStyle/>
          <a:p>
            <a:pPr marL="0" indent="0" algn="ctr">
              <a:buNone/>
            </a:pPr>
            <a:r>
              <a:rPr lang="en-US" sz="1400" dirty="0">
                <a:solidFill>
                  <a:srgbClr val="F97316"/>
                </a:solidFill>
                <a:latin typeface="Calibri" pitchFamily="34" charset="0"/>
                <a:ea typeface="Calibri" pitchFamily="34" charset="-122"/>
                <a:cs typeface="Calibri" pitchFamily="34" charset="-120"/>
              </a:rPr>
              <a:t>🐘</a:t>
            </a:r>
            <a:endParaRPr lang="en-US" sz="1400" dirty="0"/>
          </a:p>
        </p:txBody>
      </p:sp>
      <p:sp>
        <p:nvSpPr>
          <p:cNvPr id="76" name="Text 33">
            <a:extLst>
              <a:ext uri="{FF2B5EF4-FFF2-40B4-BE49-F238E27FC236}">
                <a16:creationId xmlns:a16="http://schemas.microsoft.com/office/drawing/2014/main" id="{F3F02ED5-9C5B-26E6-7E94-B93556ED3FEC}"/>
              </a:ext>
            </a:extLst>
          </p:cNvPr>
          <p:cNvSpPr/>
          <p:nvPr/>
        </p:nvSpPr>
        <p:spPr>
          <a:xfrm>
            <a:off x="3726180" y="3429000"/>
            <a:ext cx="2057400" cy="320040"/>
          </a:xfrm>
          <a:prstGeom prst="rect">
            <a:avLst/>
          </a:prstGeom>
          <a:noFill/>
          <a:ln/>
        </p:spPr>
        <p:txBody>
          <a:bodyPr wrap="square" lIns="0" tIns="0" rIns="0" bIns="0" rtlCol="0" anchor="ctr"/>
          <a:lstStyle/>
          <a:p>
            <a:pPr marL="0" indent="0">
              <a:buNone/>
            </a:pPr>
            <a:r>
              <a:rPr lang="en-US" sz="1200" b="1" dirty="0">
                <a:solidFill>
                  <a:srgbClr val="F8FAFC"/>
                </a:solidFill>
                <a:latin typeface="Calibri" pitchFamily="34" charset="0"/>
                <a:ea typeface="Calibri" pitchFamily="34" charset="-122"/>
                <a:cs typeface="Calibri" pitchFamily="34" charset="-120"/>
              </a:rPr>
              <a:t>pgvector</a:t>
            </a:r>
            <a:endParaRPr lang="en-US" sz="1200" dirty="0"/>
          </a:p>
        </p:txBody>
      </p:sp>
      <p:sp>
        <p:nvSpPr>
          <p:cNvPr id="77" name="Text 34">
            <a:extLst>
              <a:ext uri="{FF2B5EF4-FFF2-40B4-BE49-F238E27FC236}">
                <a16:creationId xmlns:a16="http://schemas.microsoft.com/office/drawing/2014/main" id="{05B86B82-940D-AA38-5068-4F9F2FFB3F75}"/>
              </a:ext>
            </a:extLst>
          </p:cNvPr>
          <p:cNvSpPr/>
          <p:nvPr/>
        </p:nvSpPr>
        <p:spPr>
          <a:xfrm>
            <a:off x="3726180" y="3749040"/>
            <a:ext cx="2057400" cy="274320"/>
          </a:xfrm>
          <a:prstGeom prst="rect">
            <a:avLst/>
          </a:prstGeom>
          <a:noFill/>
          <a:ln/>
        </p:spPr>
        <p:txBody>
          <a:bodyPr wrap="square" lIns="0" tIns="0" rIns="0" bIns="0" rtlCol="0" anchor="ctr"/>
          <a:lstStyle/>
          <a:p>
            <a:pPr marL="0" indent="0">
              <a:buNone/>
            </a:pPr>
            <a:r>
              <a:rPr lang="en-US" sz="900" i="1" dirty="0">
                <a:solidFill>
                  <a:srgbClr val="F97316"/>
                </a:solidFill>
                <a:latin typeface="Calibri" pitchFamily="34" charset="0"/>
                <a:ea typeface="Calibri" pitchFamily="34" charset="-122"/>
                <a:cs typeface="Calibri" pitchFamily="34" charset="-120"/>
              </a:rPr>
              <a:t>extension for Postgres</a:t>
            </a:r>
            <a:endParaRPr lang="en-US" sz="900" dirty="0"/>
          </a:p>
        </p:txBody>
      </p:sp>
      <p:sp>
        <p:nvSpPr>
          <p:cNvPr id="78" name="Shape 35">
            <a:extLst>
              <a:ext uri="{FF2B5EF4-FFF2-40B4-BE49-F238E27FC236}">
                <a16:creationId xmlns:a16="http://schemas.microsoft.com/office/drawing/2014/main" id="{69150C3E-E680-20E5-8AA8-2E597E7642C0}"/>
              </a:ext>
            </a:extLst>
          </p:cNvPr>
          <p:cNvSpPr/>
          <p:nvPr/>
        </p:nvSpPr>
        <p:spPr>
          <a:xfrm>
            <a:off x="6085332" y="3383280"/>
            <a:ext cx="2697480" cy="1005840"/>
          </a:xfrm>
          <a:prstGeom prst="roundRect">
            <a:avLst>
              <a:gd name="adj" fmla="val 5455"/>
            </a:avLst>
          </a:prstGeom>
          <a:solidFill>
            <a:srgbClr val="11203A"/>
          </a:solidFill>
          <a:ln w="19050">
            <a:solidFill>
              <a:srgbClr val="F97316"/>
            </a:solidFill>
            <a:prstDash val="solid"/>
          </a:ln>
          <a:effectLst>
            <a:outerShdw blurRad="101600" dist="25400" dir="8100000" algn="bl" rotWithShape="0">
              <a:srgbClr val="000000">
                <a:alpha val="25000"/>
              </a:srgbClr>
            </a:outerShdw>
          </a:effectLst>
        </p:spPr>
        <p:txBody>
          <a:bodyPr/>
          <a:lstStyle/>
          <a:p>
            <a:endParaRPr lang="en-GB"/>
          </a:p>
        </p:txBody>
      </p:sp>
      <p:sp>
        <p:nvSpPr>
          <p:cNvPr id="79" name="Shape 36">
            <a:extLst>
              <a:ext uri="{FF2B5EF4-FFF2-40B4-BE49-F238E27FC236}">
                <a16:creationId xmlns:a16="http://schemas.microsoft.com/office/drawing/2014/main" id="{C43CB2C7-3394-F6A0-B2F6-C0417FDAB14B}"/>
              </a:ext>
            </a:extLst>
          </p:cNvPr>
          <p:cNvSpPr/>
          <p:nvPr/>
        </p:nvSpPr>
        <p:spPr>
          <a:xfrm>
            <a:off x="6085332" y="3383280"/>
            <a:ext cx="45720" cy="1005840"/>
          </a:xfrm>
          <a:prstGeom prst="rect">
            <a:avLst/>
          </a:prstGeom>
          <a:solidFill>
            <a:srgbClr val="F97316"/>
          </a:solidFill>
          <a:ln w="12700">
            <a:solidFill>
              <a:srgbClr val="F97316"/>
            </a:solidFill>
            <a:prstDash val="solid"/>
          </a:ln>
        </p:spPr>
        <p:txBody>
          <a:bodyPr/>
          <a:lstStyle/>
          <a:p>
            <a:endParaRPr lang="en-GB"/>
          </a:p>
        </p:txBody>
      </p:sp>
      <p:sp>
        <p:nvSpPr>
          <p:cNvPr id="80" name="Text 37">
            <a:extLst>
              <a:ext uri="{FF2B5EF4-FFF2-40B4-BE49-F238E27FC236}">
                <a16:creationId xmlns:a16="http://schemas.microsoft.com/office/drawing/2014/main" id="{21DD6867-12D8-56E8-A615-E2051F1F9C5B}"/>
              </a:ext>
            </a:extLst>
          </p:cNvPr>
          <p:cNvSpPr/>
          <p:nvPr/>
        </p:nvSpPr>
        <p:spPr>
          <a:xfrm>
            <a:off x="6195060" y="3383280"/>
            <a:ext cx="365760" cy="1005840"/>
          </a:xfrm>
          <a:prstGeom prst="rect">
            <a:avLst/>
          </a:prstGeom>
          <a:noFill/>
          <a:ln/>
        </p:spPr>
        <p:txBody>
          <a:bodyPr wrap="square" lIns="0" tIns="0" rIns="0" bIns="0" rtlCol="0" anchor="ctr"/>
          <a:lstStyle/>
          <a:p>
            <a:pPr marL="0" indent="0" algn="ctr">
              <a:buNone/>
            </a:pPr>
            <a:r>
              <a:rPr lang="en-US" sz="1400" dirty="0">
                <a:solidFill>
                  <a:srgbClr val="F97316"/>
                </a:solidFill>
                <a:latin typeface="Calibri" pitchFamily="34" charset="0"/>
                <a:ea typeface="Calibri" pitchFamily="34" charset="-122"/>
                <a:cs typeface="Calibri" pitchFamily="34" charset="-120"/>
              </a:rPr>
              <a:t>🌀</a:t>
            </a:r>
            <a:endParaRPr lang="en-US" sz="1400" dirty="0"/>
          </a:p>
        </p:txBody>
      </p:sp>
      <p:sp>
        <p:nvSpPr>
          <p:cNvPr id="81" name="Text 38">
            <a:extLst>
              <a:ext uri="{FF2B5EF4-FFF2-40B4-BE49-F238E27FC236}">
                <a16:creationId xmlns:a16="http://schemas.microsoft.com/office/drawing/2014/main" id="{4233840C-8C32-C20E-B66B-A414A90A6983}"/>
              </a:ext>
            </a:extLst>
          </p:cNvPr>
          <p:cNvSpPr/>
          <p:nvPr/>
        </p:nvSpPr>
        <p:spPr>
          <a:xfrm>
            <a:off x="6588252" y="3429000"/>
            <a:ext cx="2057400" cy="320040"/>
          </a:xfrm>
          <a:prstGeom prst="rect">
            <a:avLst/>
          </a:prstGeom>
          <a:noFill/>
          <a:ln/>
        </p:spPr>
        <p:txBody>
          <a:bodyPr wrap="square" lIns="0" tIns="0" rIns="0" bIns="0" rtlCol="0" anchor="ctr"/>
          <a:lstStyle/>
          <a:p>
            <a:pPr marL="0" indent="0">
              <a:buNone/>
            </a:pPr>
            <a:r>
              <a:rPr lang="en-US" sz="1200" b="1" dirty="0" err="1">
                <a:solidFill>
                  <a:srgbClr val="F8FAFC"/>
                </a:solidFill>
                <a:latin typeface="Calibri" pitchFamily="34" charset="0"/>
                <a:ea typeface="Calibri" pitchFamily="34" charset="-122"/>
                <a:cs typeface="Calibri" pitchFamily="34" charset="-120"/>
              </a:rPr>
              <a:t>Turboqaunt</a:t>
            </a:r>
            <a:endParaRPr lang="en-US" sz="1200" dirty="0"/>
          </a:p>
        </p:txBody>
      </p:sp>
      <p:sp>
        <p:nvSpPr>
          <p:cNvPr id="82" name="Text 39">
            <a:extLst>
              <a:ext uri="{FF2B5EF4-FFF2-40B4-BE49-F238E27FC236}">
                <a16:creationId xmlns:a16="http://schemas.microsoft.com/office/drawing/2014/main" id="{E4DD7507-9FCA-224E-E0C9-266768397395}"/>
              </a:ext>
            </a:extLst>
          </p:cNvPr>
          <p:cNvSpPr/>
          <p:nvPr/>
        </p:nvSpPr>
        <p:spPr>
          <a:xfrm>
            <a:off x="6588252" y="3749040"/>
            <a:ext cx="2057400" cy="274320"/>
          </a:xfrm>
          <a:prstGeom prst="rect">
            <a:avLst/>
          </a:prstGeom>
          <a:noFill/>
          <a:ln/>
        </p:spPr>
        <p:txBody>
          <a:bodyPr wrap="square" lIns="0" tIns="0" rIns="0" bIns="0" rtlCol="0" anchor="ctr"/>
          <a:lstStyle/>
          <a:p>
            <a:pPr marL="0" indent="0">
              <a:buNone/>
            </a:pPr>
            <a:r>
              <a:rPr lang="en-US" sz="900" i="1" dirty="0">
                <a:solidFill>
                  <a:srgbClr val="F97316"/>
                </a:solidFill>
                <a:latin typeface="Calibri" pitchFamily="34" charset="0"/>
                <a:ea typeface="Calibri" pitchFamily="34" charset="-122"/>
                <a:cs typeface="Calibri" pitchFamily="34" charset="-120"/>
              </a:rPr>
              <a:t>Google – Fastest – accuracy not fully yet tested</a:t>
            </a:r>
            <a:endParaRPr lang="en-US" sz="900" dirty="0"/>
          </a:p>
        </p:txBody>
      </p:sp>
      <p:sp>
        <p:nvSpPr>
          <p:cNvPr id="83" name="Text 40">
            <a:extLst>
              <a:ext uri="{FF2B5EF4-FFF2-40B4-BE49-F238E27FC236}">
                <a16:creationId xmlns:a16="http://schemas.microsoft.com/office/drawing/2014/main" id="{09A38F91-D177-B16D-5302-D10DC44A98E9}"/>
              </a:ext>
            </a:extLst>
          </p:cNvPr>
          <p:cNvSpPr/>
          <p:nvPr/>
        </p:nvSpPr>
        <p:spPr>
          <a:xfrm>
            <a:off x="457200" y="4526280"/>
            <a:ext cx="8229600" cy="274320"/>
          </a:xfrm>
          <a:prstGeom prst="rect">
            <a:avLst/>
          </a:prstGeom>
          <a:noFill/>
          <a:ln/>
        </p:spPr>
        <p:txBody>
          <a:bodyPr wrap="square" lIns="0" tIns="0" rIns="0" bIns="0" rtlCol="0" anchor="ctr"/>
          <a:lstStyle/>
          <a:p>
            <a:pPr marL="0" indent="0" algn="ctr">
              <a:buNone/>
            </a:pPr>
            <a:r>
              <a:rPr lang="en-US" sz="1100" i="1" dirty="0">
                <a:solidFill>
                  <a:srgbClr val="F97316"/>
                </a:solidFill>
                <a:latin typeface="Calibri" pitchFamily="34" charset="0"/>
                <a:ea typeface="Calibri" pitchFamily="34" charset="-122"/>
                <a:cs typeface="Calibri" pitchFamily="34" charset="-120"/>
              </a:rPr>
              <a:t>Also worth knowing for inference: llama.cpp · TGI · SGLang.</a:t>
            </a:r>
            <a:endParaRPr lang="en-US" sz="1100" dirty="0"/>
          </a:p>
        </p:txBody>
      </p:sp>
      <p:sp>
        <p:nvSpPr>
          <p:cNvPr id="84" name="TextBox 83">
            <a:extLst>
              <a:ext uri="{FF2B5EF4-FFF2-40B4-BE49-F238E27FC236}">
                <a16:creationId xmlns:a16="http://schemas.microsoft.com/office/drawing/2014/main" id="{FD9BE35E-4DF3-AABE-0FDB-EB33A1B8B146}"/>
              </a:ext>
            </a:extLst>
          </p:cNvPr>
          <p:cNvSpPr txBox="1"/>
          <p:nvPr/>
        </p:nvSpPr>
        <p:spPr>
          <a:xfrm>
            <a:off x="5482687" y="1849874"/>
            <a:ext cx="502061" cy="369332"/>
          </a:xfrm>
          <a:prstGeom prst="rect">
            <a:avLst/>
          </a:prstGeom>
          <a:noFill/>
        </p:spPr>
        <p:txBody>
          <a:bodyPr wrap="none" rtlCol="0">
            <a:spAutoFit/>
          </a:bodyPr>
          <a:lstStyle/>
          <a:p>
            <a:r>
              <a:rPr lang="fr-FR" dirty="0"/>
              <a:t>👍</a:t>
            </a:r>
            <a:endParaRPr lang="en-GB" dirty="0"/>
          </a:p>
        </p:txBody>
      </p:sp>
      <p:sp>
        <p:nvSpPr>
          <p:cNvPr id="85" name="TextBox 84">
            <a:extLst>
              <a:ext uri="{FF2B5EF4-FFF2-40B4-BE49-F238E27FC236}">
                <a16:creationId xmlns:a16="http://schemas.microsoft.com/office/drawing/2014/main" id="{CE0B29AE-AB1C-99AB-021A-AAB71B31F688}"/>
              </a:ext>
            </a:extLst>
          </p:cNvPr>
          <p:cNvSpPr txBox="1"/>
          <p:nvPr/>
        </p:nvSpPr>
        <p:spPr>
          <a:xfrm>
            <a:off x="2638903" y="3404354"/>
            <a:ext cx="502061" cy="369332"/>
          </a:xfrm>
          <a:prstGeom prst="rect">
            <a:avLst/>
          </a:prstGeom>
          <a:noFill/>
        </p:spPr>
        <p:txBody>
          <a:bodyPr wrap="none" rtlCol="0">
            <a:spAutoFit/>
          </a:bodyPr>
          <a:lstStyle/>
          <a:p>
            <a:r>
              <a:rPr lang="fr-FR" dirty="0"/>
              <a:t>👍</a:t>
            </a:r>
            <a:endParaRPr lang="en-GB"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0A1628"/>
        </a:solidFill>
        <a:effectLst/>
      </p:bgPr>
    </p:bg>
    <p:spTree>
      <p:nvGrpSpPr>
        <p:cNvPr id="1" name=""/>
        <p:cNvGrpSpPr/>
        <p:nvPr/>
      </p:nvGrpSpPr>
      <p:grpSpPr>
        <a:xfrm>
          <a:off x="0" y="0"/>
          <a:ext cx="0" cy="0"/>
          <a:chOff x="0" y="0"/>
          <a:chExt cx="0" cy="0"/>
        </a:xfrm>
      </p:grpSpPr>
      <p:sp>
        <p:nvSpPr>
          <p:cNvPr id="3" name="Shape 0"/>
          <p:cNvSpPr/>
          <p:nvPr/>
        </p:nvSpPr>
        <p:spPr>
          <a:xfrm>
            <a:off x="457200" y="411480"/>
            <a:ext cx="320040" cy="54864"/>
          </a:xfrm>
          <a:prstGeom prst="rect">
            <a:avLst/>
          </a:prstGeom>
          <a:solidFill>
            <a:srgbClr val="F97316"/>
          </a:solidFill>
          <a:ln w="12700">
            <a:solidFill>
              <a:srgbClr val="F97316"/>
            </a:solidFill>
            <a:prstDash val="solid"/>
          </a:ln>
        </p:spPr>
        <p:txBody>
          <a:bodyPr/>
          <a:lstStyle/>
          <a:p>
            <a:endParaRPr lang="en-GB"/>
          </a:p>
        </p:txBody>
      </p:sp>
      <p:sp>
        <p:nvSpPr>
          <p:cNvPr id="4" name="Text 1"/>
          <p:cNvSpPr/>
          <p:nvPr/>
        </p:nvSpPr>
        <p:spPr>
          <a:xfrm>
            <a:off x="868680" y="329184"/>
            <a:ext cx="5029200" cy="274320"/>
          </a:xfrm>
          <a:prstGeom prst="rect">
            <a:avLst/>
          </a:prstGeom>
          <a:noFill/>
          <a:ln/>
        </p:spPr>
        <p:txBody>
          <a:bodyPr wrap="square" lIns="0" tIns="0" rIns="0" bIns="0" rtlCol="0" anchor="ctr"/>
          <a:lstStyle/>
          <a:p>
            <a:pPr marL="0" indent="0">
              <a:buNone/>
            </a:pPr>
            <a:r>
              <a:rPr lang="en-US" sz="1000" b="1" kern="0" spc="400" dirty="0">
                <a:solidFill>
                  <a:srgbClr val="F97316"/>
                </a:solidFill>
                <a:latin typeface="Calibri" pitchFamily="34" charset="0"/>
                <a:ea typeface="Calibri" pitchFamily="34" charset="-122"/>
                <a:cs typeface="Calibri" pitchFamily="34" charset="-120"/>
              </a:rPr>
              <a:t>PRACTICAL · MCP &amp; SKILLS</a:t>
            </a:r>
            <a:endParaRPr lang="en-US" sz="1000" dirty="0"/>
          </a:p>
        </p:txBody>
      </p:sp>
      <p:sp>
        <p:nvSpPr>
          <p:cNvPr id="5" name="Text 2"/>
          <p:cNvSpPr/>
          <p:nvPr/>
        </p:nvSpPr>
        <p:spPr>
          <a:xfrm>
            <a:off x="457200" y="640080"/>
            <a:ext cx="8229600" cy="822960"/>
          </a:xfrm>
          <a:prstGeom prst="rect">
            <a:avLst/>
          </a:prstGeom>
          <a:noFill/>
          <a:ln/>
        </p:spPr>
        <p:txBody>
          <a:bodyPr wrap="square" lIns="0" tIns="0" rIns="0" bIns="0" rtlCol="0" anchor="ctr"/>
          <a:lstStyle/>
          <a:p>
            <a:pPr marL="0" indent="0">
              <a:buNone/>
            </a:pPr>
            <a:r>
              <a:rPr lang="en-US" sz="3200" b="1" dirty="0">
                <a:solidFill>
                  <a:srgbClr val="F8FAFC"/>
                </a:solidFill>
                <a:latin typeface="Calibri" pitchFamily="34" charset="0"/>
                <a:ea typeface="Calibri" pitchFamily="34" charset="-122"/>
                <a:cs typeface="Calibri" pitchFamily="34" charset="-120"/>
              </a:rPr>
              <a:t>MCP servers &amp; Anthropic Skills</a:t>
            </a:r>
            <a:endParaRPr lang="en-US" sz="3200" dirty="0"/>
          </a:p>
        </p:txBody>
      </p:sp>
      <p:sp>
        <p:nvSpPr>
          <p:cNvPr id="6" name="Text 3"/>
          <p:cNvSpPr/>
          <p:nvPr/>
        </p:nvSpPr>
        <p:spPr>
          <a:xfrm>
            <a:off x="457200" y="4754880"/>
            <a:ext cx="4572000" cy="228600"/>
          </a:xfrm>
          <a:prstGeom prst="rect">
            <a:avLst/>
          </a:prstGeom>
          <a:noFill/>
          <a:ln/>
        </p:spPr>
        <p:txBody>
          <a:bodyPr wrap="square" lIns="0" tIns="0" rIns="0" bIns="0" rtlCol="0" anchor="ctr"/>
          <a:lstStyle/>
          <a:p>
            <a:pPr marL="0" indent="0">
              <a:buNone/>
            </a:pPr>
            <a:endParaRPr lang="en-US" sz="900" dirty="0"/>
          </a:p>
        </p:txBody>
      </p:sp>
      <p:sp>
        <p:nvSpPr>
          <p:cNvPr id="7" name="Shape 4"/>
          <p:cNvSpPr/>
          <p:nvPr/>
        </p:nvSpPr>
        <p:spPr>
          <a:xfrm>
            <a:off x="8275320" y="4818888"/>
            <a:ext cx="73152" cy="73152"/>
          </a:xfrm>
          <a:prstGeom prst="ellipse">
            <a:avLst/>
          </a:prstGeom>
          <a:solidFill>
            <a:srgbClr val="F97316"/>
          </a:solidFill>
          <a:ln w="12700">
            <a:solidFill>
              <a:srgbClr val="F97316"/>
            </a:solidFill>
            <a:prstDash val="solid"/>
          </a:ln>
        </p:spPr>
        <p:txBody>
          <a:bodyPr/>
          <a:lstStyle/>
          <a:p>
            <a:endParaRPr lang="en-GB"/>
          </a:p>
        </p:txBody>
      </p:sp>
      <p:sp>
        <p:nvSpPr>
          <p:cNvPr id="8" name="Text 5"/>
          <p:cNvSpPr/>
          <p:nvPr/>
        </p:nvSpPr>
        <p:spPr>
          <a:xfrm>
            <a:off x="8366760" y="4736592"/>
            <a:ext cx="685800" cy="228600"/>
          </a:xfrm>
          <a:prstGeom prst="rect">
            <a:avLst/>
          </a:prstGeom>
          <a:noFill/>
          <a:ln/>
        </p:spPr>
        <p:txBody>
          <a:bodyPr wrap="square" lIns="0" tIns="0" rIns="0" bIns="0" rtlCol="0" anchor="ctr"/>
          <a:lstStyle/>
          <a:p>
            <a:pPr marL="0" indent="0" algn="r">
              <a:buNone/>
            </a:pPr>
            <a:r>
              <a:rPr lang="en-US" sz="900" dirty="0">
                <a:solidFill>
                  <a:srgbClr val="94A3B8"/>
                </a:solidFill>
                <a:latin typeface="Calibri" pitchFamily="34" charset="0"/>
                <a:ea typeface="Calibri" pitchFamily="34" charset="-122"/>
                <a:cs typeface="Calibri" pitchFamily="34" charset="-120"/>
              </a:rPr>
              <a:t>E4 / E6</a:t>
            </a:r>
            <a:endParaRPr lang="en-US" sz="900" dirty="0"/>
          </a:p>
        </p:txBody>
      </p:sp>
      <p:sp>
        <p:nvSpPr>
          <p:cNvPr id="9" name="Shape 6"/>
          <p:cNvSpPr/>
          <p:nvPr/>
        </p:nvSpPr>
        <p:spPr>
          <a:xfrm>
            <a:off x="365760" y="1508760"/>
            <a:ext cx="4206240" cy="3063240"/>
          </a:xfrm>
          <a:prstGeom prst="roundRect">
            <a:avLst>
              <a:gd name="adj" fmla="val 2388"/>
            </a:avLst>
          </a:prstGeom>
          <a:solidFill>
            <a:srgbClr val="11203A"/>
          </a:solidFill>
          <a:ln w="12700">
            <a:solidFill>
              <a:srgbClr val="1B2D4F"/>
            </a:solidFill>
            <a:prstDash val="solid"/>
          </a:ln>
          <a:effectLst>
            <a:outerShdw blurRad="101600" dist="25400" dir="8100000" algn="bl" rotWithShape="0">
              <a:srgbClr val="000000">
                <a:alpha val="25000"/>
              </a:srgbClr>
            </a:outerShdw>
          </a:effectLst>
        </p:spPr>
        <p:txBody>
          <a:bodyPr/>
          <a:lstStyle/>
          <a:p>
            <a:endParaRPr lang="en-GB"/>
          </a:p>
        </p:txBody>
      </p:sp>
      <p:sp>
        <p:nvSpPr>
          <p:cNvPr id="10" name="Shape 7"/>
          <p:cNvSpPr/>
          <p:nvPr/>
        </p:nvSpPr>
        <p:spPr>
          <a:xfrm>
            <a:off x="365760" y="1508760"/>
            <a:ext cx="4206240" cy="73152"/>
          </a:xfrm>
          <a:prstGeom prst="rect">
            <a:avLst/>
          </a:prstGeom>
          <a:solidFill>
            <a:srgbClr val="3B82F6"/>
          </a:solidFill>
          <a:ln w="12700">
            <a:solidFill>
              <a:srgbClr val="3B82F6"/>
            </a:solidFill>
            <a:prstDash val="solid"/>
          </a:ln>
        </p:spPr>
        <p:txBody>
          <a:bodyPr/>
          <a:lstStyle/>
          <a:p>
            <a:endParaRPr lang="en-GB"/>
          </a:p>
        </p:txBody>
      </p:sp>
      <p:sp>
        <p:nvSpPr>
          <p:cNvPr id="11" name="Text 8"/>
          <p:cNvSpPr/>
          <p:nvPr/>
        </p:nvSpPr>
        <p:spPr>
          <a:xfrm>
            <a:off x="594360" y="1645920"/>
            <a:ext cx="3749040" cy="274320"/>
          </a:xfrm>
          <a:prstGeom prst="rect">
            <a:avLst/>
          </a:prstGeom>
          <a:noFill/>
          <a:ln/>
        </p:spPr>
        <p:txBody>
          <a:bodyPr wrap="square" lIns="0" tIns="0" rIns="0" bIns="0" rtlCol="0" anchor="ctr"/>
          <a:lstStyle/>
          <a:p>
            <a:pPr marL="0" indent="0">
              <a:buNone/>
            </a:pPr>
            <a:r>
              <a:rPr lang="en-US" sz="1000" b="1" kern="0" spc="300" dirty="0">
                <a:solidFill>
                  <a:srgbClr val="3B82F6"/>
                </a:solidFill>
                <a:latin typeface="Calibri" pitchFamily="34" charset="0"/>
                <a:ea typeface="Calibri" pitchFamily="34" charset="-122"/>
                <a:cs typeface="Calibri" pitchFamily="34" charset="-120"/>
              </a:rPr>
              <a:t>POPULAR MCP SERVERS</a:t>
            </a:r>
            <a:endParaRPr lang="en-US" sz="1000" dirty="0"/>
          </a:p>
        </p:txBody>
      </p:sp>
      <p:sp>
        <p:nvSpPr>
          <p:cNvPr id="12" name="Shape 9"/>
          <p:cNvSpPr/>
          <p:nvPr/>
        </p:nvSpPr>
        <p:spPr>
          <a:xfrm>
            <a:off x="548640" y="2011680"/>
            <a:ext cx="1874520" cy="685800"/>
          </a:xfrm>
          <a:prstGeom prst="roundRect">
            <a:avLst>
              <a:gd name="adj" fmla="val 8000"/>
            </a:avLst>
          </a:prstGeom>
          <a:solidFill>
            <a:srgbClr val="11203A"/>
          </a:solidFill>
          <a:ln w="19050">
            <a:solidFill>
              <a:srgbClr val="F97316"/>
            </a:solidFill>
            <a:prstDash val="solid"/>
          </a:ln>
          <a:effectLst>
            <a:outerShdw blurRad="101600" dist="25400" dir="8100000" algn="bl" rotWithShape="0">
              <a:srgbClr val="000000">
                <a:alpha val="25000"/>
              </a:srgbClr>
            </a:outerShdw>
          </a:effectLst>
        </p:spPr>
        <p:txBody>
          <a:bodyPr/>
          <a:lstStyle/>
          <a:p>
            <a:endParaRPr lang="en-GB"/>
          </a:p>
        </p:txBody>
      </p:sp>
      <p:sp>
        <p:nvSpPr>
          <p:cNvPr id="13" name="Shape 10"/>
          <p:cNvSpPr/>
          <p:nvPr/>
        </p:nvSpPr>
        <p:spPr>
          <a:xfrm>
            <a:off x="548640" y="2011680"/>
            <a:ext cx="45720" cy="685800"/>
          </a:xfrm>
          <a:prstGeom prst="rect">
            <a:avLst/>
          </a:prstGeom>
          <a:solidFill>
            <a:srgbClr val="F97316"/>
          </a:solidFill>
          <a:ln w="12700">
            <a:solidFill>
              <a:srgbClr val="F97316"/>
            </a:solidFill>
            <a:prstDash val="solid"/>
          </a:ln>
        </p:spPr>
        <p:txBody>
          <a:bodyPr/>
          <a:lstStyle/>
          <a:p>
            <a:endParaRPr lang="en-GB"/>
          </a:p>
        </p:txBody>
      </p:sp>
      <p:sp>
        <p:nvSpPr>
          <p:cNvPr id="14" name="Text 11"/>
          <p:cNvSpPr/>
          <p:nvPr/>
        </p:nvSpPr>
        <p:spPr>
          <a:xfrm>
            <a:off x="658368" y="2011680"/>
            <a:ext cx="365760" cy="685800"/>
          </a:xfrm>
          <a:prstGeom prst="rect">
            <a:avLst/>
          </a:prstGeom>
          <a:noFill/>
          <a:ln/>
        </p:spPr>
        <p:txBody>
          <a:bodyPr wrap="square" lIns="0" tIns="0" rIns="0" bIns="0" rtlCol="0" anchor="ctr"/>
          <a:lstStyle/>
          <a:p>
            <a:pPr marL="0" indent="0" algn="ctr">
              <a:buNone/>
            </a:pPr>
            <a:r>
              <a:rPr lang="en-US" sz="1400" dirty="0">
                <a:solidFill>
                  <a:srgbClr val="F97316"/>
                </a:solidFill>
                <a:latin typeface="Calibri" pitchFamily="34" charset="0"/>
                <a:ea typeface="Calibri" pitchFamily="34" charset="-122"/>
                <a:cs typeface="Calibri" pitchFamily="34" charset="-120"/>
              </a:rPr>
              <a:t>📁</a:t>
            </a:r>
            <a:endParaRPr lang="en-US" sz="1400" dirty="0"/>
          </a:p>
        </p:txBody>
      </p:sp>
      <p:sp>
        <p:nvSpPr>
          <p:cNvPr id="15" name="Text 12"/>
          <p:cNvSpPr/>
          <p:nvPr/>
        </p:nvSpPr>
        <p:spPr>
          <a:xfrm>
            <a:off x="1051560" y="2057400"/>
            <a:ext cx="1234440" cy="320040"/>
          </a:xfrm>
          <a:prstGeom prst="rect">
            <a:avLst/>
          </a:prstGeom>
          <a:noFill/>
          <a:ln/>
        </p:spPr>
        <p:txBody>
          <a:bodyPr wrap="square" lIns="0" tIns="0" rIns="0" bIns="0" rtlCol="0" anchor="ctr"/>
          <a:lstStyle/>
          <a:p>
            <a:pPr marL="0" indent="0">
              <a:buNone/>
            </a:pPr>
            <a:r>
              <a:rPr lang="en-US" sz="1200" b="1" dirty="0">
                <a:solidFill>
                  <a:srgbClr val="F8FAFC"/>
                </a:solidFill>
                <a:latin typeface="Calibri" pitchFamily="34" charset="0"/>
                <a:ea typeface="Calibri" pitchFamily="34" charset="-122"/>
                <a:cs typeface="Calibri" pitchFamily="34" charset="-120"/>
              </a:rPr>
              <a:t>Filesystem</a:t>
            </a:r>
            <a:endParaRPr lang="en-US" sz="1200" dirty="0"/>
          </a:p>
        </p:txBody>
      </p:sp>
      <p:sp>
        <p:nvSpPr>
          <p:cNvPr id="16" name="Text 13"/>
          <p:cNvSpPr/>
          <p:nvPr/>
        </p:nvSpPr>
        <p:spPr>
          <a:xfrm>
            <a:off x="1051560" y="2377440"/>
            <a:ext cx="1234440" cy="274320"/>
          </a:xfrm>
          <a:prstGeom prst="rect">
            <a:avLst/>
          </a:prstGeom>
          <a:noFill/>
          <a:ln/>
        </p:spPr>
        <p:txBody>
          <a:bodyPr wrap="square" lIns="0" tIns="0" rIns="0" bIns="0" rtlCol="0" anchor="ctr"/>
          <a:lstStyle/>
          <a:p>
            <a:pPr marL="0" indent="0">
              <a:buNone/>
            </a:pPr>
            <a:r>
              <a:rPr lang="en-US" sz="900" i="1" dirty="0">
                <a:solidFill>
                  <a:srgbClr val="F97316"/>
                </a:solidFill>
                <a:latin typeface="Calibri" pitchFamily="34" charset="0"/>
                <a:ea typeface="Calibri" pitchFamily="34" charset="-122"/>
                <a:cs typeface="Calibri" pitchFamily="34" charset="-120"/>
              </a:rPr>
              <a:t>read · write files</a:t>
            </a:r>
            <a:endParaRPr lang="en-US" sz="900" dirty="0"/>
          </a:p>
        </p:txBody>
      </p:sp>
      <p:sp>
        <p:nvSpPr>
          <p:cNvPr id="17" name="Shape 14"/>
          <p:cNvSpPr/>
          <p:nvPr/>
        </p:nvSpPr>
        <p:spPr>
          <a:xfrm>
            <a:off x="2514600" y="2011680"/>
            <a:ext cx="1874520" cy="685800"/>
          </a:xfrm>
          <a:prstGeom prst="roundRect">
            <a:avLst>
              <a:gd name="adj" fmla="val 8000"/>
            </a:avLst>
          </a:prstGeom>
          <a:solidFill>
            <a:srgbClr val="11203A"/>
          </a:solidFill>
          <a:ln w="19050">
            <a:solidFill>
              <a:srgbClr val="3B82F6"/>
            </a:solidFill>
            <a:prstDash val="solid"/>
          </a:ln>
          <a:effectLst>
            <a:outerShdw blurRad="101600" dist="25400" dir="8100000" algn="bl" rotWithShape="0">
              <a:srgbClr val="000000">
                <a:alpha val="25000"/>
              </a:srgbClr>
            </a:outerShdw>
          </a:effectLst>
        </p:spPr>
        <p:txBody>
          <a:bodyPr/>
          <a:lstStyle/>
          <a:p>
            <a:endParaRPr lang="en-GB"/>
          </a:p>
        </p:txBody>
      </p:sp>
      <p:sp>
        <p:nvSpPr>
          <p:cNvPr id="18" name="Shape 15"/>
          <p:cNvSpPr/>
          <p:nvPr/>
        </p:nvSpPr>
        <p:spPr>
          <a:xfrm>
            <a:off x="2514600" y="2011680"/>
            <a:ext cx="45720" cy="685800"/>
          </a:xfrm>
          <a:prstGeom prst="rect">
            <a:avLst/>
          </a:prstGeom>
          <a:solidFill>
            <a:srgbClr val="3B82F6"/>
          </a:solidFill>
          <a:ln w="12700">
            <a:solidFill>
              <a:srgbClr val="3B82F6"/>
            </a:solidFill>
            <a:prstDash val="solid"/>
          </a:ln>
        </p:spPr>
        <p:txBody>
          <a:bodyPr/>
          <a:lstStyle/>
          <a:p>
            <a:endParaRPr lang="en-GB"/>
          </a:p>
        </p:txBody>
      </p:sp>
      <p:sp>
        <p:nvSpPr>
          <p:cNvPr id="19" name="Text 16"/>
          <p:cNvSpPr/>
          <p:nvPr/>
        </p:nvSpPr>
        <p:spPr>
          <a:xfrm>
            <a:off x="2624328" y="2011680"/>
            <a:ext cx="365760" cy="685800"/>
          </a:xfrm>
          <a:prstGeom prst="rect">
            <a:avLst/>
          </a:prstGeom>
          <a:noFill/>
          <a:ln/>
        </p:spPr>
        <p:txBody>
          <a:bodyPr wrap="square" lIns="0" tIns="0" rIns="0" bIns="0" rtlCol="0" anchor="ctr"/>
          <a:lstStyle/>
          <a:p>
            <a:pPr marL="0" indent="0" algn="ctr">
              <a:buNone/>
            </a:pPr>
            <a:r>
              <a:rPr lang="en-US" sz="1400" dirty="0">
                <a:solidFill>
                  <a:srgbClr val="3B82F6"/>
                </a:solidFill>
                <a:latin typeface="Calibri" pitchFamily="34" charset="0"/>
                <a:ea typeface="Calibri" pitchFamily="34" charset="-122"/>
                <a:cs typeface="Calibri" pitchFamily="34" charset="-120"/>
              </a:rPr>
              <a:t>🐙</a:t>
            </a:r>
            <a:endParaRPr lang="en-US" sz="1400" dirty="0"/>
          </a:p>
        </p:txBody>
      </p:sp>
      <p:sp>
        <p:nvSpPr>
          <p:cNvPr id="20" name="Text 17"/>
          <p:cNvSpPr/>
          <p:nvPr/>
        </p:nvSpPr>
        <p:spPr>
          <a:xfrm>
            <a:off x="3017520" y="2057400"/>
            <a:ext cx="1234440" cy="320040"/>
          </a:xfrm>
          <a:prstGeom prst="rect">
            <a:avLst/>
          </a:prstGeom>
          <a:noFill/>
          <a:ln/>
        </p:spPr>
        <p:txBody>
          <a:bodyPr wrap="square" lIns="0" tIns="0" rIns="0" bIns="0" rtlCol="0" anchor="ctr"/>
          <a:lstStyle/>
          <a:p>
            <a:pPr marL="0" indent="0">
              <a:buNone/>
            </a:pPr>
            <a:r>
              <a:rPr lang="en-US" sz="1200" b="1" dirty="0">
                <a:solidFill>
                  <a:srgbClr val="F8FAFC"/>
                </a:solidFill>
                <a:latin typeface="Calibri" pitchFamily="34" charset="0"/>
                <a:ea typeface="Calibri" pitchFamily="34" charset="-122"/>
                <a:cs typeface="Calibri" pitchFamily="34" charset="-120"/>
              </a:rPr>
              <a:t>GitHub</a:t>
            </a:r>
            <a:endParaRPr lang="en-US" sz="1200" dirty="0"/>
          </a:p>
        </p:txBody>
      </p:sp>
      <p:sp>
        <p:nvSpPr>
          <p:cNvPr id="21" name="Text 18"/>
          <p:cNvSpPr/>
          <p:nvPr/>
        </p:nvSpPr>
        <p:spPr>
          <a:xfrm>
            <a:off x="3017520" y="2377440"/>
            <a:ext cx="1234440" cy="274320"/>
          </a:xfrm>
          <a:prstGeom prst="rect">
            <a:avLst/>
          </a:prstGeom>
          <a:noFill/>
          <a:ln/>
        </p:spPr>
        <p:txBody>
          <a:bodyPr wrap="square" lIns="0" tIns="0" rIns="0" bIns="0" rtlCol="0" anchor="ctr"/>
          <a:lstStyle/>
          <a:p>
            <a:pPr marL="0" indent="0">
              <a:buNone/>
            </a:pPr>
            <a:r>
              <a:rPr lang="en-US" sz="900" i="1" dirty="0">
                <a:solidFill>
                  <a:srgbClr val="3B82F6"/>
                </a:solidFill>
                <a:latin typeface="Calibri" pitchFamily="34" charset="0"/>
                <a:ea typeface="Calibri" pitchFamily="34" charset="-122"/>
                <a:cs typeface="Calibri" pitchFamily="34" charset="-120"/>
              </a:rPr>
              <a:t>issues · PRs</a:t>
            </a:r>
            <a:endParaRPr lang="en-US" sz="900" dirty="0"/>
          </a:p>
        </p:txBody>
      </p:sp>
      <p:sp>
        <p:nvSpPr>
          <p:cNvPr id="22" name="Shape 19"/>
          <p:cNvSpPr/>
          <p:nvPr/>
        </p:nvSpPr>
        <p:spPr>
          <a:xfrm>
            <a:off x="548640" y="2807208"/>
            <a:ext cx="1874520" cy="685800"/>
          </a:xfrm>
          <a:prstGeom prst="roundRect">
            <a:avLst>
              <a:gd name="adj" fmla="val 8000"/>
            </a:avLst>
          </a:prstGeom>
          <a:solidFill>
            <a:srgbClr val="11203A"/>
          </a:solidFill>
          <a:ln w="19050">
            <a:solidFill>
              <a:srgbClr val="3B82F6"/>
            </a:solidFill>
            <a:prstDash val="solid"/>
          </a:ln>
          <a:effectLst>
            <a:outerShdw blurRad="101600" dist="25400" dir="8100000" algn="bl" rotWithShape="0">
              <a:srgbClr val="000000">
                <a:alpha val="25000"/>
              </a:srgbClr>
            </a:outerShdw>
          </a:effectLst>
        </p:spPr>
        <p:txBody>
          <a:bodyPr/>
          <a:lstStyle/>
          <a:p>
            <a:endParaRPr lang="en-GB"/>
          </a:p>
        </p:txBody>
      </p:sp>
      <p:sp>
        <p:nvSpPr>
          <p:cNvPr id="23" name="Shape 20"/>
          <p:cNvSpPr/>
          <p:nvPr/>
        </p:nvSpPr>
        <p:spPr>
          <a:xfrm>
            <a:off x="548640" y="2807208"/>
            <a:ext cx="45720" cy="685800"/>
          </a:xfrm>
          <a:prstGeom prst="rect">
            <a:avLst/>
          </a:prstGeom>
          <a:solidFill>
            <a:srgbClr val="3B82F6"/>
          </a:solidFill>
          <a:ln w="12700">
            <a:solidFill>
              <a:srgbClr val="3B82F6"/>
            </a:solidFill>
            <a:prstDash val="solid"/>
          </a:ln>
        </p:spPr>
        <p:txBody>
          <a:bodyPr/>
          <a:lstStyle/>
          <a:p>
            <a:endParaRPr lang="en-GB"/>
          </a:p>
        </p:txBody>
      </p:sp>
      <p:sp>
        <p:nvSpPr>
          <p:cNvPr id="24" name="Text 21"/>
          <p:cNvSpPr/>
          <p:nvPr/>
        </p:nvSpPr>
        <p:spPr>
          <a:xfrm>
            <a:off x="658368" y="2807208"/>
            <a:ext cx="365760" cy="685800"/>
          </a:xfrm>
          <a:prstGeom prst="rect">
            <a:avLst/>
          </a:prstGeom>
          <a:noFill/>
          <a:ln/>
        </p:spPr>
        <p:txBody>
          <a:bodyPr wrap="square" lIns="0" tIns="0" rIns="0" bIns="0" rtlCol="0" anchor="ctr"/>
          <a:lstStyle/>
          <a:p>
            <a:pPr marL="0" indent="0" algn="ctr">
              <a:buNone/>
            </a:pPr>
            <a:r>
              <a:rPr lang="en-US" sz="1400" dirty="0">
                <a:solidFill>
                  <a:srgbClr val="3B82F6"/>
                </a:solidFill>
                <a:latin typeface="Calibri" pitchFamily="34" charset="0"/>
                <a:ea typeface="Calibri" pitchFamily="34" charset="-122"/>
                <a:cs typeface="Calibri" pitchFamily="34" charset="-120"/>
              </a:rPr>
              <a:t>🐘</a:t>
            </a:r>
            <a:endParaRPr lang="en-US" sz="1400" dirty="0"/>
          </a:p>
        </p:txBody>
      </p:sp>
      <p:sp>
        <p:nvSpPr>
          <p:cNvPr id="25" name="Text 22"/>
          <p:cNvSpPr/>
          <p:nvPr/>
        </p:nvSpPr>
        <p:spPr>
          <a:xfrm>
            <a:off x="1051560" y="2852928"/>
            <a:ext cx="1234440" cy="320040"/>
          </a:xfrm>
          <a:prstGeom prst="rect">
            <a:avLst/>
          </a:prstGeom>
          <a:noFill/>
          <a:ln/>
        </p:spPr>
        <p:txBody>
          <a:bodyPr wrap="square" lIns="0" tIns="0" rIns="0" bIns="0" rtlCol="0" anchor="ctr"/>
          <a:lstStyle/>
          <a:p>
            <a:pPr marL="0" indent="0">
              <a:buNone/>
            </a:pPr>
            <a:r>
              <a:rPr lang="en-US" sz="1200" b="1" dirty="0">
                <a:solidFill>
                  <a:srgbClr val="F8FAFC"/>
                </a:solidFill>
                <a:latin typeface="Calibri" pitchFamily="34" charset="0"/>
                <a:ea typeface="Calibri" pitchFamily="34" charset="-122"/>
                <a:cs typeface="Calibri" pitchFamily="34" charset="-120"/>
              </a:rPr>
              <a:t>Postgres</a:t>
            </a:r>
            <a:endParaRPr lang="en-US" sz="1200" dirty="0"/>
          </a:p>
        </p:txBody>
      </p:sp>
      <p:sp>
        <p:nvSpPr>
          <p:cNvPr id="26" name="Text 23"/>
          <p:cNvSpPr/>
          <p:nvPr/>
        </p:nvSpPr>
        <p:spPr>
          <a:xfrm>
            <a:off x="1051560" y="3172968"/>
            <a:ext cx="1234440" cy="274320"/>
          </a:xfrm>
          <a:prstGeom prst="rect">
            <a:avLst/>
          </a:prstGeom>
          <a:noFill/>
          <a:ln/>
        </p:spPr>
        <p:txBody>
          <a:bodyPr wrap="square" lIns="0" tIns="0" rIns="0" bIns="0" rtlCol="0" anchor="ctr"/>
          <a:lstStyle/>
          <a:p>
            <a:pPr marL="0" indent="0">
              <a:buNone/>
            </a:pPr>
            <a:r>
              <a:rPr lang="en-US" sz="900" i="1" dirty="0">
                <a:solidFill>
                  <a:srgbClr val="3B82F6"/>
                </a:solidFill>
                <a:latin typeface="Calibri" pitchFamily="34" charset="0"/>
                <a:ea typeface="Calibri" pitchFamily="34" charset="-122"/>
                <a:cs typeface="Calibri" pitchFamily="34" charset="-120"/>
              </a:rPr>
              <a:t>SQL queries</a:t>
            </a:r>
            <a:endParaRPr lang="en-US" sz="900" dirty="0"/>
          </a:p>
        </p:txBody>
      </p:sp>
      <p:sp>
        <p:nvSpPr>
          <p:cNvPr id="27" name="Shape 24"/>
          <p:cNvSpPr/>
          <p:nvPr/>
        </p:nvSpPr>
        <p:spPr>
          <a:xfrm>
            <a:off x="2514600" y="2807208"/>
            <a:ext cx="1874520" cy="685800"/>
          </a:xfrm>
          <a:prstGeom prst="roundRect">
            <a:avLst>
              <a:gd name="adj" fmla="val 8000"/>
            </a:avLst>
          </a:prstGeom>
          <a:solidFill>
            <a:srgbClr val="11203A"/>
          </a:solidFill>
          <a:ln w="19050">
            <a:solidFill>
              <a:srgbClr val="3B82F6"/>
            </a:solidFill>
            <a:prstDash val="solid"/>
          </a:ln>
          <a:effectLst>
            <a:outerShdw blurRad="101600" dist="25400" dir="8100000" algn="bl" rotWithShape="0">
              <a:srgbClr val="000000">
                <a:alpha val="25000"/>
              </a:srgbClr>
            </a:outerShdw>
          </a:effectLst>
        </p:spPr>
        <p:txBody>
          <a:bodyPr/>
          <a:lstStyle/>
          <a:p>
            <a:endParaRPr lang="en-GB"/>
          </a:p>
        </p:txBody>
      </p:sp>
      <p:sp>
        <p:nvSpPr>
          <p:cNvPr id="28" name="Shape 25"/>
          <p:cNvSpPr/>
          <p:nvPr/>
        </p:nvSpPr>
        <p:spPr>
          <a:xfrm>
            <a:off x="2514600" y="2807208"/>
            <a:ext cx="45720" cy="685800"/>
          </a:xfrm>
          <a:prstGeom prst="rect">
            <a:avLst/>
          </a:prstGeom>
          <a:solidFill>
            <a:srgbClr val="3B82F6"/>
          </a:solidFill>
          <a:ln w="12700">
            <a:solidFill>
              <a:srgbClr val="3B82F6"/>
            </a:solidFill>
            <a:prstDash val="solid"/>
          </a:ln>
        </p:spPr>
        <p:txBody>
          <a:bodyPr/>
          <a:lstStyle/>
          <a:p>
            <a:endParaRPr lang="en-GB"/>
          </a:p>
        </p:txBody>
      </p:sp>
      <p:sp>
        <p:nvSpPr>
          <p:cNvPr id="29" name="Text 26"/>
          <p:cNvSpPr/>
          <p:nvPr/>
        </p:nvSpPr>
        <p:spPr>
          <a:xfrm>
            <a:off x="2624328" y="2807208"/>
            <a:ext cx="365760" cy="685800"/>
          </a:xfrm>
          <a:prstGeom prst="rect">
            <a:avLst/>
          </a:prstGeom>
          <a:noFill/>
          <a:ln/>
        </p:spPr>
        <p:txBody>
          <a:bodyPr wrap="square" lIns="0" tIns="0" rIns="0" bIns="0" rtlCol="0" anchor="ctr"/>
          <a:lstStyle/>
          <a:p>
            <a:pPr marL="0" indent="0" algn="ctr">
              <a:buNone/>
            </a:pPr>
            <a:r>
              <a:rPr lang="en-US" sz="1400" dirty="0">
                <a:solidFill>
                  <a:srgbClr val="3B82F6"/>
                </a:solidFill>
                <a:latin typeface="Calibri" pitchFamily="34" charset="0"/>
                <a:ea typeface="Calibri" pitchFamily="34" charset="-122"/>
                <a:cs typeface="Calibri" pitchFamily="34" charset="-120"/>
              </a:rPr>
              <a:t>💬</a:t>
            </a:r>
            <a:endParaRPr lang="en-US" sz="1400" dirty="0"/>
          </a:p>
        </p:txBody>
      </p:sp>
      <p:sp>
        <p:nvSpPr>
          <p:cNvPr id="30" name="Text 27"/>
          <p:cNvSpPr/>
          <p:nvPr/>
        </p:nvSpPr>
        <p:spPr>
          <a:xfrm>
            <a:off x="3017520" y="2852928"/>
            <a:ext cx="1234440" cy="320040"/>
          </a:xfrm>
          <a:prstGeom prst="rect">
            <a:avLst/>
          </a:prstGeom>
          <a:noFill/>
          <a:ln/>
        </p:spPr>
        <p:txBody>
          <a:bodyPr wrap="square" lIns="0" tIns="0" rIns="0" bIns="0" rtlCol="0" anchor="ctr"/>
          <a:lstStyle/>
          <a:p>
            <a:pPr marL="0" indent="0">
              <a:buNone/>
            </a:pPr>
            <a:r>
              <a:rPr lang="en-US" sz="1200" b="1" dirty="0">
                <a:solidFill>
                  <a:srgbClr val="F8FAFC"/>
                </a:solidFill>
                <a:latin typeface="Calibri" pitchFamily="34" charset="0"/>
                <a:ea typeface="Calibri" pitchFamily="34" charset="-122"/>
                <a:cs typeface="Calibri" pitchFamily="34" charset="-120"/>
              </a:rPr>
              <a:t>Slack</a:t>
            </a:r>
            <a:endParaRPr lang="en-US" sz="1200" dirty="0"/>
          </a:p>
        </p:txBody>
      </p:sp>
      <p:sp>
        <p:nvSpPr>
          <p:cNvPr id="31" name="Text 28"/>
          <p:cNvSpPr/>
          <p:nvPr/>
        </p:nvSpPr>
        <p:spPr>
          <a:xfrm>
            <a:off x="3017520" y="3172968"/>
            <a:ext cx="1234440" cy="274320"/>
          </a:xfrm>
          <a:prstGeom prst="rect">
            <a:avLst/>
          </a:prstGeom>
          <a:noFill/>
          <a:ln/>
        </p:spPr>
        <p:txBody>
          <a:bodyPr wrap="square" lIns="0" tIns="0" rIns="0" bIns="0" rtlCol="0" anchor="ctr"/>
          <a:lstStyle/>
          <a:p>
            <a:pPr marL="0" indent="0">
              <a:buNone/>
            </a:pPr>
            <a:r>
              <a:rPr lang="en-US" sz="900" i="1" dirty="0">
                <a:solidFill>
                  <a:srgbClr val="3B82F6"/>
                </a:solidFill>
                <a:latin typeface="Calibri" pitchFamily="34" charset="0"/>
                <a:ea typeface="Calibri" pitchFamily="34" charset="-122"/>
                <a:cs typeface="Calibri" pitchFamily="34" charset="-120"/>
              </a:rPr>
              <a:t>channels · messages</a:t>
            </a:r>
            <a:endParaRPr lang="en-US" sz="900" dirty="0"/>
          </a:p>
        </p:txBody>
      </p:sp>
      <p:sp>
        <p:nvSpPr>
          <p:cNvPr id="32" name="Shape 29"/>
          <p:cNvSpPr/>
          <p:nvPr/>
        </p:nvSpPr>
        <p:spPr>
          <a:xfrm>
            <a:off x="548640" y="3602736"/>
            <a:ext cx="1874520" cy="685800"/>
          </a:xfrm>
          <a:prstGeom prst="roundRect">
            <a:avLst>
              <a:gd name="adj" fmla="val 8000"/>
            </a:avLst>
          </a:prstGeom>
          <a:solidFill>
            <a:srgbClr val="11203A"/>
          </a:solidFill>
          <a:ln w="19050">
            <a:solidFill>
              <a:srgbClr val="F97316"/>
            </a:solidFill>
            <a:prstDash val="solid"/>
          </a:ln>
          <a:effectLst>
            <a:outerShdw blurRad="101600" dist="25400" dir="8100000" algn="bl" rotWithShape="0">
              <a:srgbClr val="000000">
                <a:alpha val="25000"/>
              </a:srgbClr>
            </a:outerShdw>
          </a:effectLst>
        </p:spPr>
        <p:txBody>
          <a:bodyPr/>
          <a:lstStyle/>
          <a:p>
            <a:endParaRPr lang="en-GB"/>
          </a:p>
        </p:txBody>
      </p:sp>
      <p:sp>
        <p:nvSpPr>
          <p:cNvPr id="33" name="Shape 30"/>
          <p:cNvSpPr/>
          <p:nvPr/>
        </p:nvSpPr>
        <p:spPr>
          <a:xfrm>
            <a:off x="548640" y="3602736"/>
            <a:ext cx="45720" cy="685800"/>
          </a:xfrm>
          <a:prstGeom prst="rect">
            <a:avLst/>
          </a:prstGeom>
          <a:solidFill>
            <a:srgbClr val="F97316"/>
          </a:solidFill>
          <a:ln w="12700">
            <a:solidFill>
              <a:srgbClr val="F97316"/>
            </a:solidFill>
            <a:prstDash val="solid"/>
          </a:ln>
        </p:spPr>
        <p:txBody>
          <a:bodyPr/>
          <a:lstStyle/>
          <a:p>
            <a:endParaRPr lang="en-GB"/>
          </a:p>
        </p:txBody>
      </p:sp>
      <p:sp>
        <p:nvSpPr>
          <p:cNvPr id="34" name="Text 31"/>
          <p:cNvSpPr/>
          <p:nvPr/>
        </p:nvSpPr>
        <p:spPr>
          <a:xfrm>
            <a:off x="658368" y="3602736"/>
            <a:ext cx="365760" cy="685800"/>
          </a:xfrm>
          <a:prstGeom prst="rect">
            <a:avLst/>
          </a:prstGeom>
          <a:noFill/>
          <a:ln/>
        </p:spPr>
        <p:txBody>
          <a:bodyPr wrap="square" lIns="0" tIns="0" rIns="0" bIns="0" rtlCol="0" anchor="ctr"/>
          <a:lstStyle/>
          <a:p>
            <a:pPr marL="0" indent="0" algn="ctr">
              <a:buNone/>
            </a:pPr>
            <a:r>
              <a:rPr lang="en-US" sz="1400" dirty="0">
                <a:solidFill>
                  <a:srgbClr val="F97316"/>
                </a:solidFill>
                <a:latin typeface="Calibri" pitchFamily="34" charset="0"/>
                <a:ea typeface="Calibri" pitchFamily="34" charset="-122"/>
                <a:cs typeface="Calibri" pitchFamily="34" charset="-120"/>
              </a:rPr>
              <a:t>🎭</a:t>
            </a:r>
            <a:endParaRPr lang="en-US" sz="1400" dirty="0"/>
          </a:p>
        </p:txBody>
      </p:sp>
      <p:sp>
        <p:nvSpPr>
          <p:cNvPr id="35" name="Text 32"/>
          <p:cNvSpPr/>
          <p:nvPr/>
        </p:nvSpPr>
        <p:spPr>
          <a:xfrm>
            <a:off x="1051560" y="3648456"/>
            <a:ext cx="1234440" cy="320040"/>
          </a:xfrm>
          <a:prstGeom prst="rect">
            <a:avLst/>
          </a:prstGeom>
          <a:noFill/>
          <a:ln/>
        </p:spPr>
        <p:txBody>
          <a:bodyPr wrap="square" lIns="0" tIns="0" rIns="0" bIns="0" rtlCol="0" anchor="ctr"/>
          <a:lstStyle/>
          <a:p>
            <a:pPr marL="0" indent="0">
              <a:buNone/>
            </a:pPr>
            <a:r>
              <a:rPr lang="en-US" sz="1200" b="1" dirty="0">
                <a:solidFill>
                  <a:srgbClr val="F8FAFC"/>
                </a:solidFill>
                <a:latin typeface="Calibri" pitchFamily="34" charset="0"/>
                <a:ea typeface="Calibri" pitchFamily="34" charset="-122"/>
                <a:cs typeface="Calibri" pitchFamily="34" charset="-120"/>
              </a:rPr>
              <a:t>Puppeteer</a:t>
            </a:r>
            <a:endParaRPr lang="en-US" sz="1200" dirty="0"/>
          </a:p>
        </p:txBody>
      </p:sp>
      <p:sp>
        <p:nvSpPr>
          <p:cNvPr id="36" name="Text 33"/>
          <p:cNvSpPr/>
          <p:nvPr/>
        </p:nvSpPr>
        <p:spPr>
          <a:xfrm>
            <a:off x="1051560" y="3968496"/>
            <a:ext cx="1234440" cy="274320"/>
          </a:xfrm>
          <a:prstGeom prst="rect">
            <a:avLst/>
          </a:prstGeom>
          <a:noFill/>
          <a:ln/>
        </p:spPr>
        <p:txBody>
          <a:bodyPr wrap="square" lIns="0" tIns="0" rIns="0" bIns="0" rtlCol="0" anchor="ctr"/>
          <a:lstStyle/>
          <a:p>
            <a:pPr marL="0" indent="0">
              <a:buNone/>
            </a:pPr>
            <a:r>
              <a:rPr lang="en-US" sz="900" i="1" dirty="0">
                <a:solidFill>
                  <a:srgbClr val="F97316"/>
                </a:solidFill>
                <a:latin typeface="Calibri" pitchFamily="34" charset="0"/>
                <a:ea typeface="Calibri" pitchFamily="34" charset="-122"/>
                <a:cs typeface="Calibri" pitchFamily="34" charset="-120"/>
              </a:rPr>
              <a:t>browser automation</a:t>
            </a:r>
            <a:endParaRPr lang="en-US" sz="900" dirty="0"/>
          </a:p>
        </p:txBody>
      </p:sp>
      <p:sp>
        <p:nvSpPr>
          <p:cNvPr id="37" name="Shape 34"/>
          <p:cNvSpPr/>
          <p:nvPr/>
        </p:nvSpPr>
        <p:spPr>
          <a:xfrm>
            <a:off x="2514600" y="3602736"/>
            <a:ext cx="1874520" cy="685800"/>
          </a:xfrm>
          <a:prstGeom prst="roundRect">
            <a:avLst>
              <a:gd name="adj" fmla="val 8000"/>
            </a:avLst>
          </a:prstGeom>
          <a:solidFill>
            <a:srgbClr val="11203A"/>
          </a:solidFill>
          <a:ln w="19050">
            <a:solidFill>
              <a:srgbClr val="3B82F6"/>
            </a:solidFill>
            <a:prstDash val="solid"/>
          </a:ln>
          <a:effectLst>
            <a:outerShdw blurRad="101600" dist="25400" dir="8100000" algn="bl" rotWithShape="0">
              <a:srgbClr val="000000">
                <a:alpha val="25000"/>
              </a:srgbClr>
            </a:outerShdw>
          </a:effectLst>
        </p:spPr>
        <p:txBody>
          <a:bodyPr/>
          <a:lstStyle/>
          <a:p>
            <a:endParaRPr lang="en-GB"/>
          </a:p>
        </p:txBody>
      </p:sp>
      <p:sp>
        <p:nvSpPr>
          <p:cNvPr id="38" name="Shape 35"/>
          <p:cNvSpPr/>
          <p:nvPr/>
        </p:nvSpPr>
        <p:spPr>
          <a:xfrm>
            <a:off x="2514600" y="3602736"/>
            <a:ext cx="45720" cy="685800"/>
          </a:xfrm>
          <a:prstGeom prst="rect">
            <a:avLst/>
          </a:prstGeom>
          <a:solidFill>
            <a:srgbClr val="3B82F6"/>
          </a:solidFill>
          <a:ln w="12700">
            <a:solidFill>
              <a:srgbClr val="3B82F6"/>
            </a:solidFill>
            <a:prstDash val="solid"/>
          </a:ln>
        </p:spPr>
        <p:txBody>
          <a:bodyPr/>
          <a:lstStyle/>
          <a:p>
            <a:endParaRPr lang="en-GB"/>
          </a:p>
        </p:txBody>
      </p:sp>
      <p:sp>
        <p:nvSpPr>
          <p:cNvPr id="39" name="Text 36"/>
          <p:cNvSpPr/>
          <p:nvPr/>
        </p:nvSpPr>
        <p:spPr>
          <a:xfrm>
            <a:off x="2624328" y="3602736"/>
            <a:ext cx="365760" cy="685800"/>
          </a:xfrm>
          <a:prstGeom prst="rect">
            <a:avLst/>
          </a:prstGeom>
          <a:noFill/>
          <a:ln/>
        </p:spPr>
        <p:txBody>
          <a:bodyPr wrap="square" lIns="0" tIns="0" rIns="0" bIns="0" rtlCol="0" anchor="ctr"/>
          <a:lstStyle/>
          <a:p>
            <a:pPr marL="0" indent="0" algn="ctr">
              <a:buNone/>
            </a:pPr>
            <a:r>
              <a:rPr lang="en-US" sz="1400" dirty="0">
                <a:solidFill>
                  <a:srgbClr val="3B82F6"/>
                </a:solidFill>
                <a:latin typeface="Calibri" pitchFamily="34" charset="0"/>
                <a:ea typeface="Calibri" pitchFamily="34" charset="-122"/>
                <a:cs typeface="Calibri" pitchFamily="34" charset="-120"/>
              </a:rPr>
              <a:t>🔍</a:t>
            </a:r>
            <a:endParaRPr lang="en-US" sz="1400" dirty="0"/>
          </a:p>
        </p:txBody>
      </p:sp>
      <p:sp>
        <p:nvSpPr>
          <p:cNvPr id="40" name="Text 37"/>
          <p:cNvSpPr/>
          <p:nvPr/>
        </p:nvSpPr>
        <p:spPr>
          <a:xfrm>
            <a:off x="3017520" y="3648456"/>
            <a:ext cx="1234440" cy="320040"/>
          </a:xfrm>
          <a:prstGeom prst="rect">
            <a:avLst/>
          </a:prstGeom>
          <a:noFill/>
          <a:ln/>
        </p:spPr>
        <p:txBody>
          <a:bodyPr wrap="square" lIns="0" tIns="0" rIns="0" bIns="0" rtlCol="0" anchor="ctr"/>
          <a:lstStyle/>
          <a:p>
            <a:pPr marL="0" indent="0">
              <a:buNone/>
            </a:pPr>
            <a:r>
              <a:rPr lang="en-US" sz="1200" b="1" dirty="0">
                <a:solidFill>
                  <a:srgbClr val="F8FAFC"/>
                </a:solidFill>
                <a:latin typeface="Calibri" pitchFamily="34" charset="0"/>
                <a:ea typeface="Calibri" pitchFamily="34" charset="-122"/>
                <a:cs typeface="Calibri" pitchFamily="34" charset="-120"/>
              </a:rPr>
              <a:t>Brave Search</a:t>
            </a:r>
            <a:endParaRPr lang="en-US" sz="1200" dirty="0"/>
          </a:p>
        </p:txBody>
      </p:sp>
      <p:sp>
        <p:nvSpPr>
          <p:cNvPr id="41" name="Text 38"/>
          <p:cNvSpPr/>
          <p:nvPr/>
        </p:nvSpPr>
        <p:spPr>
          <a:xfrm>
            <a:off x="3017520" y="3968496"/>
            <a:ext cx="1234440" cy="274320"/>
          </a:xfrm>
          <a:prstGeom prst="rect">
            <a:avLst/>
          </a:prstGeom>
          <a:noFill/>
          <a:ln/>
        </p:spPr>
        <p:txBody>
          <a:bodyPr wrap="square" lIns="0" tIns="0" rIns="0" bIns="0" rtlCol="0" anchor="ctr"/>
          <a:lstStyle/>
          <a:p>
            <a:pPr marL="0" indent="0">
              <a:buNone/>
            </a:pPr>
            <a:r>
              <a:rPr lang="en-US" sz="900" i="1" dirty="0">
                <a:solidFill>
                  <a:srgbClr val="3B82F6"/>
                </a:solidFill>
                <a:latin typeface="Calibri" pitchFamily="34" charset="0"/>
                <a:ea typeface="Calibri" pitchFamily="34" charset="-122"/>
                <a:cs typeface="Calibri" pitchFamily="34" charset="-120"/>
              </a:rPr>
              <a:t>private web search</a:t>
            </a:r>
            <a:endParaRPr lang="en-US" sz="900" dirty="0"/>
          </a:p>
        </p:txBody>
      </p:sp>
      <p:sp>
        <p:nvSpPr>
          <p:cNvPr id="42" name="Text 39"/>
          <p:cNvSpPr/>
          <p:nvPr/>
        </p:nvSpPr>
        <p:spPr>
          <a:xfrm>
            <a:off x="548640" y="4274820"/>
            <a:ext cx="3840480" cy="274320"/>
          </a:xfrm>
          <a:prstGeom prst="rect">
            <a:avLst/>
          </a:prstGeom>
          <a:noFill/>
          <a:ln/>
        </p:spPr>
        <p:txBody>
          <a:bodyPr wrap="square" lIns="0" tIns="0" rIns="0" bIns="0" rtlCol="0" anchor="ctr"/>
          <a:lstStyle/>
          <a:p>
            <a:pPr marL="0" indent="0" algn="ctr">
              <a:buNone/>
            </a:pPr>
            <a:r>
              <a:rPr lang="en-US" sz="950" i="1" dirty="0">
                <a:solidFill>
                  <a:srgbClr val="94A3B8"/>
                </a:solidFill>
                <a:latin typeface="Calibri" pitchFamily="34" charset="0"/>
                <a:ea typeface="Calibri" pitchFamily="34" charset="-122"/>
                <a:cs typeface="Calibri" pitchFamily="34" charset="-120"/>
              </a:rPr>
              <a:t>📚 catalogue: modelcontextprotocol.io/servers</a:t>
            </a:r>
            <a:endParaRPr lang="en-US" sz="950" dirty="0"/>
          </a:p>
        </p:txBody>
      </p:sp>
      <p:sp>
        <p:nvSpPr>
          <p:cNvPr id="43" name="Shape 40"/>
          <p:cNvSpPr/>
          <p:nvPr/>
        </p:nvSpPr>
        <p:spPr>
          <a:xfrm>
            <a:off x="4709160" y="1508760"/>
            <a:ext cx="4069080" cy="3063240"/>
          </a:xfrm>
          <a:prstGeom prst="roundRect">
            <a:avLst>
              <a:gd name="adj" fmla="val 2388"/>
            </a:avLst>
          </a:prstGeom>
          <a:solidFill>
            <a:srgbClr val="11203A"/>
          </a:solidFill>
          <a:ln w="12700">
            <a:solidFill>
              <a:srgbClr val="1B2D4F"/>
            </a:solidFill>
            <a:prstDash val="solid"/>
          </a:ln>
          <a:effectLst>
            <a:outerShdw blurRad="101600" dist="25400" dir="8100000" algn="bl" rotWithShape="0">
              <a:srgbClr val="000000">
                <a:alpha val="25000"/>
              </a:srgbClr>
            </a:outerShdw>
          </a:effectLst>
        </p:spPr>
        <p:txBody>
          <a:bodyPr/>
          <a:lstStyle/>
          <a:p>
            <a:endParaRPr lang="en-GB"/>
          </a:p>
        </p:txBody>
      </p:sp>
      <p:sp>
        <p:nvSpPr>
          <p:cNvPr id="44" name="Shape 41"/>
          <p:cNvSpPr/>
          <p:nvPr/>
        </p:nvSpPr>
        <p:spPr>
          <a:xfrm>
            <a:off x="4709160" y="1508760"/>
            <a:ext cx="4069080" cy="73152"/>
          </a:xfrm>
          <a:prstGeom prst="rect">
            <a:avLst/>
          </a:prstGeom>
          <a:solidFill>
            <a:srgbClr val="F97316"/>
          </a:solidFill>
          <a:ln w="12700">
            <a:solidFill>
              <a:srgbClr val="F97316"/>
            </a:solidFill>
            <a:prstDash val="solid"/>
          </a:ln>
        </p:spPr>
        <p:txBody>
          <a:bodyPr/>
          <a:lstStyle/>
          <a:p>
            <a:endParaRPr lang="en-GB"/>
          </a:p>
        </p:txBody>
      </p:sp>
      <p:sp>
        <p:nvSpPr>
          <p:cNvPr id="45" name="Text 42"/>
          <p:cNvSpPr/>
          <p:nvPr/>
        </p:nvSpPr>
        <p:spPr>
          <a:xfrm>
            <a:off x="4937760" y="1645920"/>
            <a:ext cx="3611880" cy="274320"/>
          </a:xfrm>
          <a:prstGeom prst="rect">
            <a:avLst/>
          </a:prstGeom>
          <a:noFill/>
          <a:ln/>
        </p:spPr>
        <p:txBody>
          <a:bodyPr wrap="square" lIns="0" tIns="0" rIns="0" bIns="0" rtlCol="0" anchor="ctr"/>
          <a:lstStyle/>
          <a:p>
            <a:pPr marL="0" indent="0">
              <a:buNone/>
            </a:pPr>
            <a:r>
              <a:rPr lang="en-US" sz="1100" b="1" dirty="0">
                <a:solidFill>
                  <a:srgbClr val="F97316"/>
                </a:solidFill>
                <a:latin typeface="Consolas" pitchFamily="34" charset="0"/>
                <a:ea typeface="Consolas" pitchFamily="34" charset="-122"/>
                <a:cs typeface="Consolas" pitchFamily="34" charset="-120"/>
              </a:rPr>
              <a:t>🐙  github.com/anthropics/skills</a:t>
            </a:r>
            <a:endParaRPr lang="en-US" sz="1100" dirty="0"/>
          </a:p>
        </p:txBody>
      </p:sp>
      <p:sp>
        <p:nvSpPr>
          <p:cNvPr id="46" name="Text 43"/>
          <p:cNvSpPr/>
          <p:nvPr/>
        </p:nvSpPr>
        <p:spPr>
          <a:xfrm>
            <a:off x="4983480" y="2011680"/>
            <a:ext cx="3611880" cy="274320"/>
          </a:xfrm>
          <a:prstGeom prst="rect">
            <a:avLst/>
          </a:prstGeom>
          <a:noFill/>
          <a:ln/>
        </p:spPr>
        <p:txBody>
          <a:bodyPr wrap="square" lIns="0" tIns="0" rIns="0" bIns="0" rtlCol="0" anchor="ctr"/>
          <a:lstStyle/>
          <a:p>
            <a:pPr marL="0" indent="0">
              <a:buNone/>
            </a:pPr>
            <a:r>
              <a:rPr lang="en-US" sz="1000" dirty="0">
                <a:solidFill>
                  <a:srgbClr val="F8FAFC"/>
                </a:solidFill>
                <a:latin typeface="Consolas" pitchFamily="34" charset="0"/>
                <a:ea typeface="Consolas" pitchFamily="34" charset="-122"/>
                <a:cs typeface="Consolas" pitchFamily="34" charset="-120"/>
              </a:rPr>
              <a:t>📁  pptx/              slide decks</a:t>
            </a:r>
            <a:endParaRPr lang="en-US" sz="1000" dirty="0"/>
          </a:p>
        </p:txBody>
      </p:sp>
      <p:sp>
        <p:nvSpPr>
          <p:cNvPr id="47" name="Text 44"/>
          <p:cNvSpPr/>
          <p:nvPr/>
        </p:nvSpPr>
        <p:spPr>
          <a:xfrm>
            <a:off x="4983480" y="2286000"/>
            <a:ext cx="3611880" cy="274320"/>
          </a:xfrm>
          <a:prstGeom prst="rect">
            <a:avLst/>
          </a:prstGeom>
          <a:noFill/>
          <a:ln/>
        </p:spPr>
        <p:txBody>
          <a:bodyPr wrap="square" lIns="0" tIns="0" rIns="0" bIns="0" rtlCol="0" anchor="ctr"/>
          <a:lstStyle/>
          <a:p>
            <a:pPr marL="0" indent="0">
              <a:buNone/>
            </a:pPr>
            <a:r>
              <a:rPr lang="en-US" sz="1000" dirty="0">
                <a:solidFill>
                  <a:srgbClr val="94A3B8"/>
                </a:solidFill>
                <a:latin typeface="Consolas" pitchFamily="34" charset="0"/>
                <a:ea typeface="Consolas" pitchFamily="34" charset="-122"/>
                <a:cs typeface="Consolas" pitchFamily="34" charset="-120"/>
              </a:rPr>
              <a:t>📁  pdf/               PDF read &amp; edit</a:t>
            </a:r>
            <a:endParaRPr lang="en-US" sz="1000" dirty="0"/>
          </a:p>
        </p:txBody>
      </p:sp>
      <p:sp>
        <p:nvSpPr>
          <p:cNvPr id="48" name="Text 45"/>
          <p:cNvSpPr/>
          <p:nvPr/>
        </p:nvSpPr>
        <p:spPr>
          <a:xfrm>
            <a:off x="4983480" y="2560320"/>
            <a:ext cx="3611880" cy="274320"/>
          </a:xfrm>
          <a:prstGeom prst="rect">
            <a:avLst/>
          </a:prstGeom>
          <a:noFill/>
          <a:ln/>
        </p:spPr>
        <p:txBody>
          <a:bodyPr wrap="square" lIns="0" tIns="0" rIns="0" bIns="0" rtlCol="0" anchor="ctr"/>
          <a:lstStyle/>
          <a:p>
            <a:pPr marL="0" indent="0">
              <a:buNone/>
            </a:pPr>
            <a:r>
              <a:rPr lang="en-US" sz="1000" dirty="0">
                <a:solidFill>
                  <a:srgbClr val="94A3B8"/>
                </a:solidFill>
                <a:latin typeface="Consolas" pitchFamily="34" charset="0"/>
                <a:ea typeface="Consolas" pitchFamily="34" charset="-122"/>
                <a:cs typeface="Consolas" pitchFamily="34" charset="-120"/>
              </a:rPr>
              <a:t>📁  docx/              Word documents</a:t>
            </a:r>
            <a:endParaRPr lang="en-US" sz="1000" dirty="0"/>
          </a:p>
        </p:txBody>
      </p:sp>
      <p:sp>
        <p:nvSpPr>
          <p:cNvPr id="49" name="Text 46"/>
          <p:cNvSpPr/>
          <p:nvPr/>
        </p:nvSpPr>
        <p:spPr>
          <a:xfrm>
            <a:off x="4983480" y="2834640"/>
            <a:ext cx="3611880" cy="274320"/>
          </a:xfrm>
          <a:prstGeom prst="rect">
            <a:avLst/>
          </a:prstGeom>
          <a:noFill/>
          <a:ln/>
        </p:spPr>
        <p:txBody>
          <a:bodyPr wrap="square" lIns="0" tIns="0" rIns="0" bIns="0" rtlCol="0" anchor="ctr"/>
          <a:lstStyle/>
          <a:p>
            <a:pPr marL="0" indent="0">
              <a:buNone/>
            </a:pPr>
            <a:r>
              <a:rPr lang="en-US" sz="1000" dirty="0">
                <a:solidFill>
                  <a:srgbClr val="94A3B8"/>
                </a:solidFill>
                <a:latin typeface="Consolas" pitchFamily="34" charset="0"/>
                <a:ea typeface="Consolas" pitchFamily="34" charset="-122"/>
                <a:cs typeface="Consolas" pitchFamily="34" charset="-120"/>
              </a:rPr>
              <a:t>📁  xlsx/              Excel sheets</a:t>
            </a:r>
            <a:endParaRPr lang="en-US" sz="1000" dirty="0"/>
          </a:p>
        </p:txBody>
      </p:sp>
      <p:sp>
        <p:nvSpPr>
          <p:cNvPr id="50" name="Text 47"/>
          <p:cNvSpPr/>
          <p:nvPr/>
        </p:nvSpPr>
        <p:spPr>
          <a:xfrm>
            <a:off x="4983480" y="3108960"/>
            <a:ext cx="3611880" cy="274320"/>
          </a:xfrm>
          <a:prstGeom prst="rect">
            <a:avLst/>
          </a:prstGeom>
          <a:noFill/>
          <a:ln/>
        </p:spPr>
        <p:txBody>
          <a:bodyPr wrap="square" lIns="0" tIns="0" rIns="0" bIns="0" rtlCol="0" anchor="ctr"/>
          <a:lstStyle/>
          <a:p>
            <a:pPr marL="0" indent="0">
              <a:buNone/>
            </a:pPr>
            <a:r>
              <a:rPr lang="en-US" sz="1000" dirty="0">
                <a:solidFill>
                  <a:srgbClr val="94A3B8"/>
                </a:solidFill>
                <a:latin typeface="Consolas" pitchFamily="34" charset="0"/>
                <a:ea typeface="Consolas" pitchFamily="34" charset="-122"/>
                <a:cs typeface="Consolas" pitchFamily="34" charset="-120"/>
              </a:rPr>
              <a:t>📁  brand-guidelines/  style</a:t>
            </a:r>
            <a:endParaRPr lang="en-US" sz="1000" dirty="0"/>
          </a:p>
        </p:txBody>
      </p:sp>
      <p:sp>
        <p:nvSpPr>
          <p:cNvPr id="51" name="Text 48"/>
          <p:cNvSpPr/>
          <p:nvPr/>
        </p:nvSpPr>
        <p:spPr>
          <a:xfrm>
            <a:off x="4983480" y="3383280"/>
            <a:ext cx="3611880" cy="274320"/>
          </a:xfrm>
          <a:prstGeom prst="rect">
            <a:avLst/>
          </a:prstGeom>
          <a:noFill/>
          <a:ln/>
        </p:spPr>
        <p:txBody>
          <a:bodyPr wrap="square" lIns="0" tIns="0" rIns="0" bIns="0" rtlCol="0" anchor="ctr"/>
          <a:lstStyle/>
          <a:p>
            <a:pPr marL="0" indent="0">
              <a:buNone/>
            </a:pPr>
            <a:r>
              <a:rPr lang="en-US" sz="1000" dirty="0">
                <a:solidFill>
                  <a:srgbClr val="94A3B8"/>
                </a:solidFill>
                <a:latin typeface="Consolas" pitchFamily="34" charset="0"/>
                <a:ea typeface="Consolas" pitchFamily="34" charset="-122"/>
                <a:cs typeface="Consolas" pitchFamily="34" charset="-120"/>
              </a:rPr>
              <a:t>📁  mcp-builder/       build servers</a:t>
            </a:r>
            <a:endParaRPr lang="en-US" sz="1000" dirty="0"/>
          </a:p>
        </p:txBody>
      </p:sp>
      <p:sp>
        <p:nvSpPr>
          <p:cNvPr id="52" name="Shape 49"/>
          <p:cNvSpPr/>
          <p:nvPr/>
        </p:nvSpPr>
        <p:spPr>
          <a:xfrm>
            <a:off x="4892040" y="3749040"/>
            <a:ext cx="3703320" cy="685800"/>
          </a:xfrm>
          <a:prstGeom prst="roundRect">
            <a:avLst>
              <a:gd name="adj" fmla="val 6667"/>
            </a:avLst>
          </a:prstGeom>
          <a:solidFill>
            <a:srgbClr val="0A1628"/>
          </a:solidFill>
          <a:ln w="12700">
            <a:solidFill>
              <a:srgbClr val="F97316"/>
            </a:solidFill>
            <a:prstDash val="solid"/>
          </a:ln>
        </p:spPr>
        <p:txBody>
          <a:bodyPr/>
          <a:lstStyle/>
          <a:p>
            <a:endParaRPr lang="en-GB"/>
          </a:p>
        </p:txBody>
      </p:sp>
      <p:sp>
        <p:nvSpPr>
          <p:cNvPr id="53" name="Text 50"/>
          <p:cNvSpPr/>
          <p:nvPr/>
        </p:nvSpPr>
        <p:spPr>
          <a:xfrm>
            <a:off x="4983480" y="3794760"/>
            <a:ext cx="3520440" cy="594360"/>
          </a:xfrm>
          <a:prstGeom prst="rect">
            <a:avLst/>
          </a:prstGeom>
          <a:noFill/>
          <a:ln/>
        </p:spPr>
        <p:txBody>
          <a:bodyPr wrap="square" lIns="0" tIns="0" rIns="0" bIns="0" rtlCol="0" anchor="ctr"/>
          <a:lstStyle/>
          <a:p>
            <a:pPr marL="0" indent="0">
              <a:buNone/>
            </a:pPr>
            <a:r>
              <a:rPr lang="en-US" sz="1000" b="1" dirty="0">
                <a:solidFill>
                  <a:srgbClr val="F97316"/>
                </a:solidFill>
                <a:latin typeface="Calibri" pitchFamily="34" charset="0"/>
                <a:ea typeface="Calibri" pitchFamily="34" charset="-122"/>
                <a:cs typeface="Calibri" pitchFamily="34" charset="-120"/>
              </a:rPr>
              <a:t>Why it matters:  </a:t>
            </a:r>
            <a:r>
              <a:rPr lang="en-US" sz="1000" dirty="0">
                <a:solidFill>
                  <a:srgbClr val="F8FAFC"/>
                </a:solidFill>
                <a:latin typeface="Calibri" pitchFamily="34" charset="0"/>
                <a:ea typeface="Calibri" pitchFamily="34" charset="-122"/>
                <a:cs typeface="Calibri" pitchFamily="34" charset="-120"/>
              </a:rPr>
              <a:t>drop-in production skills + the canonical reference for writing your own.</a:t>
            </a:r>
            <a:endParaRPr lang="en-US" sz="1000" dirty="0"/>
          </a:p>
        </p:txBody>
      </p:sp>
      <p:sp>
        <p:nvSpPr>
          <p:cNvPr id="54" name="Text 51"/>
          <p:cNvSpPr/>
          <p:nvPr/>
        </p:nvSpPr>
        <p:spPr>
          <a:xfrm>
            <a:off x="457200" y="4617720"/>
            <a:ext cx="8229600" cy="274320"/>
          </a:xfrm>
          <a:prstGeom prst="rect">
            <a:avLst/>
          </a:prstGeom>
          <a:noFill/>
          <a:ln/>
        </p:spPr>
        <p:txBody>
          <a:bodyPr wrap="square" lIns="0" tIns="0" rIns="0" bIns="0" rtlCol="0" anchor="ctr"/>
          <a:lstStyle/>
          <a:p>
            <a:pPr marL="0" indent="0" algn="ctr">
              <a:buNone/>
            </a:pPr>
            <a:r>
              <a:rPr lang="en-US" sz="1100" i="1" dirty="0">
                <a:solidFill>
                  <a:srgbClr val="F97316"/>
                </a:solidFill>
                <a:latin typeface="Calibri" pitchFamily="34" charset="0"/>
                <a:ea typeface="Calibri" pitchFamily="34" charset="-122"/>
                <a:cs typeface="Calibri" pitchFamily="34" charset="-120"/>
              </a:rPr>
              <a:t>MCP gives the agent capabilities · Skills give it know-how. Both are open standards.</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0A1628"/>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CA46765E-560A-3AC5-CA57-2B101507DD42}"/>
              </a:ext>
            </a:extLst>
          </p:cNvPr>
          <p:cNvSpPr/>
          <p:nvPr/>
        </p:nvSpPr>
        <p:spPr>
          <a:xfrm>
            <a:off x="457200" y="411480"/>
            <a:ext cx="320040" cy="54864"/>
          </a:xfrm>
          <a:prstGeom prst="rect">
            <a:avLst/>
          </a:prstGeom>
          <a:solidFill>
            <a:srgbClr val="F97316"/>
          </a:solidFill>
          <a:ln w="12700">
            <a:solidFill>
              <a:srgbClr val="F97316"/>
            </a:solidFill>
            <a:prstDash val="solid"/>
          </a:ln>
        </p:spPr>
        <p:txBody>
          <a:bodyPr/>
          <a:lstStyle/>
          <a:p>
            <a:endParaRPr lang="en-GB"/>
          </a:p>
        </p:txBody>
      </p:sp>
      <p:sp>
        <p:nvSpPr>
          <p:cNvPr id="44" name="Text 1">
            <a:extLst>
              <a:ext uri="{FF2B5EF4-FFF2-40B4-BE49-F238E27FC236}">
                <a16:creationId xmlns:a16="http://schemas.microsoft.com/office/drawing/2014/main" id="{0AD18B1F-460B-78DD-64A6-9C1B19AE009E}"/>
              </a:ext>
            </a:extLst>
          </p:cNvPr>
          <p:cNvSpPr/>
          <p:nvPr/>
        </p:nvSpPr>
        <p:spPr>
          <a:xfrm>
            <a:off x="868680" y="329184"/>
            <a:ext cx="5029200" cy="274320"/>
          </a:xfrm>
          <a:prstGeom prst="rect">
            <a:avLst/>
          </a:prstGeom>
          <a:noFill/>
          <a:ln/>
        </p:spPr>
        <p:txBody>
          <a:bodyPr wrap="square" lIns="0" tIns="0" rIns="0" bIns="0" rtlCol="0" anchor="ctr"/>
          <a:lstStyle/>
          <a:p>
            <a:pPr marL="0" indent="0">
              <a:buNone/>
            </a:pPr>
            <a:r>
              <a:rPr lang="en-US" sz="1000" b="1" kern="0" spc="400" dirty="0">
                <a:solidFill>
                  <a:srgbClr val="F97316"/>
                </a:solidFill>
                <a:latin typeface="Calibri" pitchFamily="34" charset="0"/>
                <a:ea typeface="Calibri" pitchFamily="34" charset="-122"/>
                <a:cs typeface="Calibri" pitchFamily="34" charset="-120"/>
              </a:rPr>
              <a:t>PRACTICAL · OPS</a:t>
            </a:r>
            <a:endParaRPr lang="en-US" sz="1000" dirty="0"/>
          </a:p>
        </p:txBody>
      </p:sp>
      <p:sp>
        <p:nvSpPr>
          <p:cNvPr id="45" name="Text 2">
            <a:extLst>
              <a:ext uri="{FF2B5EF4-FFF2-40B4-BE49-F238E27FC236}">
                <a16:creationId xmlns:a16="http://schemas.microsoft.com/office/drawing/2014/main" id="{E8DDE7AC-75B0-0C90-DA81-B1E1C2BBB5FB}"/>
              </a:ext>
            </a:extLst>
          </p:cNvPr>
          <p:cNvSpPr/>
          <p:nvPr/>
        </p:nvSpPr>
        <p:spPr>
          <a:xfrm>
            <a:off x="457200" y="640080"/>
            <a:ext cx="8229600" cy="822960"/>
          </a:xfrm>
          <a:prstGeom prst="rect">
            <a:avLst/>
          </a:prstGeom>
          <a:noFill/>
          <a:ln/>
        </p:spPr>
        <p:txBody>
          <a:bodyPr wrap="square" lIns="0" tIns="0" rIns="0" bIns="0" rtlCol="0" anchor="ctr"/>
          <a:lstStyle/>
          <a:p>
            <a:pPr marL="0" indent="0">
              <a:buNone/>
            </a:pPr>
            <a:r>
              <a:rPr lang="en-US" sz="3200" b="1" dirty="0">
                <a:solidFill>
                  <a:srgbClr val="F8FAFC"/>
                </a:solidFill>
                <a:latin typeface="Calibri" pitchFamily="34" charset="0"/>
                <a:ea typeface="Calibri" pitchFamily="34" charset="-122"/>
                <a:cs typeface="Calibri" pitchFamily="34" charset="-120"/>
              </a:rPr>
              <a:t>Observability &amp; Automation</a:t>
            </a:r>
            <a:endParaRPr lang="en-US" sz="3200" dirty="0"/>
          </a:p>
        </p:txBody>
      </p:sp>
      <p:sp>
        <p:nvSpPr>
          <p:cNvPr id="46" name="Text 3">
            <a:extLst>
              <a:ext uri="{FF2B5EF4-FFF2-40B4-BE49-F238E27FC236}">
                <a16:creationId xmlns:a16="http://schemas.microsoft.com/office/drawing/2014/main" id="{3611A9A9-A24A-5B3D-4302-3EE5170F6C44}"/>
              </a:ext>
            </a:extLst>
          </p:cNvPr>
          <p:cNvSpPr/>
          <p:nvPr/>
        </p:nvSpPr>
        <p:spPr>
          <a:xfrm>
            <a:off x="457200" y="4754880"/>
            <a:ext cx="4572000" cy="228600"/>
          </a:xfrm>
          <a:prstGeom prst="rect">
            <a:avLst/>
          </a:prstGeom>
          <a:noFill/>
          <a:ln/>
        </p:spPr>
        <p:txBody>
          <a:bodyPr wrap="square" lIns="0" tIns="0" rIns="0" bIns="0" rtlCol="0" anchor="ctr"/>
          <a:lstStyle/>
          <a:p>
            <a:pPr marL="0" indent="0">
              <a:buNone/>
            </a:pPr>
            <a:endParaRPr lang="en-US" sz="900" dirty="0"/>
          </a:p>
        </p:txBody>
      </p:sp>
      <p:sp>
        <p:nvSpPr>
          <p:cNvPr id="47" name="Shape 4">
            <a:extLst>
              <a:ext uri="{FF2B5EF4-FFF2-40B4-BE49-F238E27FC236}">
                <a16:creationId xmlns:a16="http://schemas.microsoft.com/office/drawing/2014/main" id="{D3E72EA0-086D-4526-84B1-BE93A2BDD1CD}"/>
              </a:ext>
            </a:extLst>
          </p:cNvPr>
          <p:cNvSpPr/>
          <p:nvPr/>
        </p:nvSpPr>
        <p:spPr>
          <a:xfrm>
            <a:off x="8275320" y="4818888"/>
            <a:ext cx="73152" cy="73152"/>
          </a:xfrm>
          <a:prstGeom prst="ellipse">
            <a:avLst/>
          </a:prstGeom>
          <a:solidFill>
            <a:srgbClr val="F97316"/>
          </a:solidFill>
          <a:ln w="12700">
            <a:solidFill>
              <a:srgbClr val="F97316"/>
            </a:solidFill>
            <a:prstDash val="solid"/>
          </a:ln>
        </p:spPr>
        <p:txBody>
          <a:bodyPr/>
          <a:lstStyle/>
          <a:p>
            <a:endParaRPr lang="en-GB"/>
          </a:p>
        </p:txBody>
      </p:sp>
      <p:sp>
        <p:nvSpPr>
          <p:cNvPr id="48" name="Text 5">
            <a:extLst>
              <a:ext uri="{FF2B5EF4-FFF2-40B4-BE49-F238E27FC236}">
                <a16:creationId xmlns:a16="http://schemas.microsoft.com/office/drawing/2014/main" id="{CF471DE8-91A0-4BF4-B7FD-01D143E2A5EC}"/>
              </a:ext>
            </a:extLst>
          </p:cNvPr>
          <p:cNvSpPr/>
          <p:nvPr/>
        </p:nvSpPr>
        <p:spPr>
          <a:xfrm>
            <a:off x="8366760" y="4736592"/>
            <a:ext cx="685800" cy="228600"/>
          </a:xfrm>
          <a:prstGeom prst="rect">
            <a:avLst/>
          </a:prstGeom>
          <a:noFill/>
          <a:ln/>
        </p:spPr>
        <p:txBody>
          <a:bodyPr wrap="square" lIns="0" tIns="0" rIns="0" bIns="0" rtlCol="0" anchor="ctr"/>
          <a:lstStyle/>
          <a:p>
            <a:pPr marL="0" indent="0" algn="r">
              <a:buNone/>
            </a:pPr>
            <a:r>
              <a:rPr lang="en-US" sz="900" dirty="0">
                <a:solidFill>
                  <a:srgbClr val="94A3B8"/>
                </a:solidFill>
                <a:latin typeface="Calibri" pitchFamily="34" charset="0"/>
                <a:ea typeface="Calibri" pitchFamily="34" charset="-122"/>
                <a:cs typeface="Calibri" pitchFamily="34" charset="-120"/>
              </a:rPr>
              <a:t>E5 / E7</a:t>
            </a:r>
            <a:endParaRPr lang="en-US" sz="900" dirty="0"/>
          </a:p>
        </p:txBody>
      </p:sp>
      <p:sp>
        <p:nvSpPr>
          <p:cNvPr id="49" name="Shape 6">
            <a:extLst>
              <a:ext uri="{FF2B5EF4-FFF2-40B4-BE49-F238E27FC236}">
                <a16:creationId xmlns:a16="http://schemas.microsoft.com/office/drawing/2014/main" id="{1DBB71FD-01C0-71D4-B2C1-8EB32A75CFD0}"/>
              </a:ext>
            </a:extLst>
          </p:cNvPr>
          <p:cNvSpPr/>
          <p:nvPr/>
        </p:nvSpPr>
        <p:spPr>
          <a:xfrm>
            <a:off x="365760" y="1508760"/>
            <a:ext cx="36576" cy="201168"/>
          </a:xfrm>
          <a:prstGeom prst="rect">
            <a:avLst/>
          </a:prstGeom>
          <a:solidFill>
            <a:srgbClr val="F97316"/>
          </a:solidFill>
          <a:ln w="12700">
            <a:solidFill>
              <a:srgbClr val="F97316"/>
            </a:solidFill>
            <a:prstDash val="solid"/>
          </a:ln>
        </p:spPr>
        <p:txBody>
          <a:bodyPr/>
          <a:lstStyle/>
          <a:p>
            <a:endParaRPr lang="en-GB"/>
          </a:p>
        </p:txBody>
      </p:sp>
      <p:sp>
        <p:nvSpPr>
          <p:cNvPr id="50" name="Text 7">
            <a:extLst>
              <a:ext uri="{FF2B5EF4-FFF2-40B4-BE49-F238E27FC236}">
                <a16:creationId xmlns:a16="http://schemas.microsoft.com/office/drawing/2014/main" id="{8C0A3B01-974E-EB53-3E44-34E362D8975B}"/>
              </a:ext>
            </a:extLst>
          </p:cNvPr>
          <p:cNvSpPr/>
          <p:nvPr/>
        </p:nvSpPr>
        <p:spPr>
          <a:xfrm>
            <a:off x="475488" y="1463040"/>
            <a:ext cx="4005072" cy="274320"/>
          </a:xfrm>
          <a:prstGeom prst="rect">
            <a:avLst/>
          </a:prstGeom>
          <a:noFill/>
          <a:ln/>
        </p:spPr>
        <p:txBody>
          <a:bodyPr wrap="square" lIns="0" tIns="0" rIns="0" bIns="0" rtlCol="0" anchor="ctr"/>
          <a:lstStyle/>
          <a:p>
            <a:pPr marL="0" indent="0">
              <a:buNone/>
            </a:pPr>
            <a:r>
              <a:rPr lang="en-US" sz="1000" b="1" kern="0" spc="400" dirty="0">
                <a:solidFill>
                  <a:srgbClr val="F97316"/>
                </a:solidFill>
                <a:latin typeface="Calibri" pitchFamily="34" charset="0"/>
                <a:ea typeface="Calibri" pitchFamily="34" charset="-122"/>
                <a:cs typeface="Calibri" pitchFamily="34" charset="-120"/>
              </a:rPr>
              <a:t>OBSERVABILITY &amp; EVAL</a:t>
            </a:r>
            <a:endParaRPr lang="en-US" sz="1000" dirty="0"/>
          </a:p>
        </p:txBody>
      </p:sp>
      <p:sp>
        <p:nvSpPr>
          <p:cNvPr id="51" name="Shape 8">
            <a:extLst>
              <a:ext uri="{FF2B5EF4-FFF2-40B4-BE49-F238E27FC236}">
                <a16:creationId xmlns:a16="http://schemas.microsoft.com/office/drawing/2014/main" id="{BF48A4F6-6933-9E33-6AE2-330E368180C0}"/>
              </a:ext>
            </a:extLst>
          </p:cNvPr>
          <p:cNvSpPr/>
          <p:nvPr/>
        </p:nvSpPr>
        <p:spPr>
          <a:xfrm>
            <a:off x="365760" y="1828800"/>
            <a:ext cx="4114800" cy="777240"/>
          </a:xfrm>
          <a:prstGeom prst="roundRect">
            <a:avLst>
              <a:gd name="adj" fmla="val 7059"/>
            </a:avLst>
          </a:prstGeom>
          <a:solidFill>
            <a:srgbClr val="11203A"/>
          </a:solidFill>
          <a:ln w="19050">
            <a:solidFill>
              <a:srgbClr val="F97316"/>
            </a:solidFill>
            <a:prstDash val="solid"/>
          </a:ln>
          <a:effectLst>
            <a:outerShdw blurRad="101600" dist="25400" dir="8100000" algn="bl" rotWithShape="0">
              <a:srgbClr val="000000">
                <a:alpha val="25000"/>
              </a:srgbClr>
            </a:outerShdw>
          </a:effectLst>
        </p:spPr>
        <p:txBody>
          <a:bodyPr/>
          <a:lstStyle/>
          <a:p>
            <a:endParaRPr lang="en-GB"/>
          </a:p>
        </p:txBody>
      </p:sp>
      <p:sp>
        <p:nvSpPr>
          <p:cNvPr id="52" name="Shape 9">
            <a:extLst>
              <a:ext uri="{FF2B5EF4-FFF2-40B4-BE49-F238E27FC236}">
                <a16:creationId xmlns:a16="http://schemas.microsoft.com/office/drawing/2014/main" id="{2BCC27EF-BDF6-5FAB-CE01-E7F2FD06D08E}"/>
              </a:ext>
            </a:extLst>
          </p:cNvPr>
          <p:cNvSpPr/>
          <p:nvPr/>
        </p:nvSpPr>
        <p:spPr>
          <a:xfrm>
            <a:off x="365760" y="1828800"/>
            <a:ext cx="45720" cy="777240"/>
          </a:xfrm>
          <a:prstGeom prst="rect">
            <a:avLst/>
          </a:prstGeom>
          <a:solidFill>
            <a:srgbClr val="F97316"/>
          </a:solidFill>
          <a:ln w="12700">
            <a:solidFill>
              <a:srgbClr val="F97316"/>
            </a:solidFill>
            <a:prstDash val="solid"/>
          </a:ln>
        </p:spPr>
        <p:txBody>
          <a:bodyPr/>
          <a:lstStyle/>
          <a:p>
            <a:endParaRPr lang="en-GB"/>
          </a:p>
        </p:txBody>
      </p:sp>
      <p:sp>
        <p:nvSpPr>
          <p:cNvPr id="53" name="Text 10">
            <a:extLst>
              <a:ext uri="{FF2B5EF4-FFF2-40B4-BE49-F238E27FC236}">
                <a16:creationId xmlns:a16="http://schemas.microsoft.com/office/drawing/2014/main" id="{08AA6B63-2765-7D8F-1C8E-B54D78E6ECDD}"/>
              </a:ext>
            </a:extLst>
          </p:cNvPr>
          <p:cNvSpPr/>
          <p:nvPr/>
        </p:nvSpPr>
        <p:spPr>
          <a:xfrm>
            <a:off x="475488" y="1828800"/>
            <a:ext cx="365760" cy="777240"/>
          </a:xfrm>
          <a:prstGeom prst="rect">
            <a:avLst/>
          </a:prstGeom>
          <a:noFill/>
          <a:ln/>
        </p:spPr>
        <p:txBody>
          <a:bodyPr wrap="square" lIns="0" tIns="0" rIns="0" bIns="0" rtlCol="0" anchor="ctr"/>
          <a:lstStyle/>
          <a:p>
            <a:pPr marL="0" indent="0" algn="ctr">
              <a:buNone/>
            </a:pPr>
            <a:r>
              <a:rPr lang="en-US" sz="1400" dirty="0">
                <a:solidFill>
                  <a:srgbClr val="F97316"/>
                </a:solidFill>
                <a:latin typeface="Calibri" pitchFamily="34" charset="0"/>
                <a:ea typeface="Calibri" pitchFamily="34" charset="-122"/>
                <a:cs typeface="Calibri" pitchFamily="34" charset="-120"/>
              </a:rPr>
              <a:t>🧪</a:t>
            </a:r>
            <a:endParaRPr lang="en-US" sz="1400" dirty="0"/>
          </a:p>
        </p:txBody>
      </p:sp>
      <p:sp>
        <p:nvSpPr>
          <p:cNvPr id="54" name="Text 11">
            <a:extLst>
              <a:ext uri="{FF2B5EF4-FFF2-40B4-BE49-F238E27FC236}">
                <a16:creationId xmlns:a16="http://schemas.microsoft.com/office/drawing/2014/main" id="{1D866BF3-CC05-D451-E60F-29D70246088E}"/>
              </a:ext>
            </a:extLst>
          </p:cNvPr>
          <p:cNvSpPr/>
          <p:nvPr/>
        </p:nvSpPr>
        <p:spPr>
          <a:xfrm>
            <a:off x="868680" y="1874520"/>
            <a:ext cx="3474720" cy="320040"/>
          </a:xfrm>
          <a:prstGeom prst="rect">
            <a:avLst/>
          </a:prstGeom>
          <a:noFill/>
          <a:ln/>
        </p:spPr>
        <p:txBody>
          <a:bodyPr wrap="square" lIns="0" tIns="0" rIns="0" bIns="0" rtlCol="0" anchor="ctr"/>
          <a:lstStyle/>
          <a:p>
            <a:pPr marL="0" indent="0">
              <a:buNone/>
            </a:pPr>
            <a:r>
              <a:rPr lang="en-US" sz="1200" b="1" dirty="0">
                <a:solidFill>
                  <a:srgbClr val="F8FAFC"/>
                </a:solidFill>
                <a:latin typeface="Calibri" pitchFamily="34" charset="0"/>
                <a:ea typeface="Calibri" pitchFamily="34" charset="-122"/>
                <a:cs typeface="Calibri" pitchFamily="34" charset="-120"/>
              </a:rPr>
              <a:t>MLflow</a:t>
            </a:r>
            <a:endParaRPr lang="en-US" sz="1200" dirty="0"/>
          </a:p>
        </p:txBody>
      </p:sp>
      <p:sp>
        <p:nvSpPr>
          <p:cNvPr id="55" name="Text 12">
            <a:extLst>
              <a:ext uri="{FF2B5EF4-FFF2-40B4-BE49-F238E27FC236}">
                <a16:creationId xmlns:a16="http://schemas.microsoft.com/office/drawing/2014/main" id="{274F09D4-1007-ABC1-7527-F89E4A541D9C}"/>
              </a:ext>
            </a:extLst>
          </p:cNvPr>
          <p:cNvSpPr/>
          <p:nvPr/>
        </p:nvSpPr>
        <p:spPr>
          <a:xfrm>
            <a:off x="868680" y="2194560"/>
            <a:ext cx="3474720" cy="274320"/>
          </a:xfrm>
          <a:prstGeom prst="rect">
            <a:avLst/>
          </a:prstGeom>
          <a:noFill/>
          <a:ln/>
        </p:spPr>
        <p:txBody>
          <a:bodyPr wrap="square" lIns="0" tIns="0" rIns="0" bIns="0" rtlCol="0" anchor="ctr"/>
          <a:lstStyle/>
          <a:p>
            <a:pPr marL="0" indent="0">
              <a:buNone/>
            </a:pPr>
            <a:r>
              <a:rPr lang="en-US" sz="900" i="1" dirty="0">
                <a:solidFill>
                  <a:srgbClr val="F97316"/>
                </a:solidFill>
                <a:latin typeface="Calibri" pitchFamily="34" charset="0"/>
                <a:ea typeface="Calibri" pitchFamily="34" charset="-122"/>
                <a:cs typeface="Calibri" pitchFamily="34" charset="-120"/>
              </a:rPr>
              <a:t>OSS · tracing + experiments</a:t>
            </a:r>
            <a:endParaRPr lang="en-US" sz="900" dirty="0"/>
          </a:p>
        </p:txBody>
      </p:sp>
      <p:sp>
        <p:nvSpPr>
          <p:cNvPr id="56" name="Shape 13">
            <a:extLst>
              <a:ext uri="{FF2B5EF4-FFF2-40B4-BE49-F238E27FC236}">
                <a16:creationId xmlns:a16="http://schemas.microsoft.com/office/drawing/2014/main" id="{F48BAFAD-152B-2D15-3826-5A5375919085}"/>
              </a:ext>
            </a:extLst>
          </p:cNvPr>
          <p:cNvSpPr/>
          <p:nvPr/>
        </p:nvSpPr>
        <p:spPr>
          <a:xfrm>
            <a:off x="365760" y="2679192"/>
            <a:ext cx="4114800" cy="777240"/>
          </a:xfrm>
          <a:prstGeom prst="roundRect">
            <a:avLst>
              <a:gd name="adj" fmla="val 7059"/>
            </a:avLst>
          </a:prstGeom>
          <a:solidFill>
            <a:srgbClr val="11203A"/>
          </a:solidFill>
          <a:ln w="19050">
            <a:solidFill>
              <a:srgbClr val="3B82F6"/>
            </a:solidFill>
            <a:prstDash val="solid"/>
          </a:ln>
          <a:effectLst>
            <a:outerShdw blurRad="101600" dist="25400" dir="8100000" algn="bl" rotWithShape="0">
              <a:srgbClr val="000000">
                <a:alpha val="25000"/>
              </a:srgbClr>
            </a:outerShdw>
          </a:effectLst>
        </p:spPr>
        <p:txBody>
          <a:bodyPr/>
          <a:lstStyle/>
          <a:p>
            <a:endParaRPr lang="en-GB"/>
          </a:p>
        </p:txBody>
      </p:sp>
      <p:sp>
        <p:nvSpPr>
          <p:cNvPr id="57" name="Shape 14">
            <a:extLst>
              <a:ext uri="{FF2B5EF4-FFF2-40B4-BE49-F238E27FC236}">
                <a16:creationId xmlns:a16="http://schemas.microsoft.com/office/drawing/2014/main" id="{43DFF8E6-56EC-8C8A-E0A4-8B3119082899}"/>
              </a:ext>
            </a:extLst>
          </p:cNvPr>
          <p:cNvSpPr/>
          <p:nvPr/>
        </p:nvSpPr>
        <p:spPr>
          <a:xfrm>
            <a:off x="365760" y="2679192"/>
            <a:ext cx="45720" cy="777240"/>
          </a:xfrm>
          <a:prstGeom prst="rect">
            <a:avLst/>
          </a:prstGeom>
          <a:solidFill>
            <a:srgbClr val="3B82F6"/>
          </a:solidFill>
          <a:ln w="12700">
            <a:solidFill>
              <a:srgbClr val="3B82F6"/>
            </a:solidFill>
            <a:prstDash val="solid"/>
          </a:ln>
        </p:spPr>
        <p:txBody>
          <a:bodyPr/>
          <a:lstStyle/>
          <a:p>
            <a:endParaRPr lang="en-GB"/>
          </a:p>
        </p:txBody>
      </p:sp>
      <p:sp>
        <p:nvSpPr>
          <p:cNvPr id="58" name="Text 15">
            <a:extLst>
              <a:ext uri="{FF2B5EF4-FFF2-40B4-BE49-F238E27FC236}">
                <a16:creationId xmlns:a16="http://schemas.microsoft.com/office/drawing/2014/main" id="{BDF39FB8-F590-8E83-1249-F75D3F029B48}"/>
              </a:ext>
            </a:extLst>
          </p:cNvPr>
          <p:cNvSpPr/>
          <p:nvPr/>
        </p:nvSpPr>
        <p:spPr>
          <a:xfrm>
            <a:off x="475488" y="2679192"/>
            <a:ext cx="365760" cy="777240"/>
          </a:xfrm>
          <a:prstGeom prst="rect">
            <a:avLst/>
          </a:prstGeom>
          <a:noFill/>
          <a:ln/>
        </p:spPr>
        <p:txBody>
          <a:bodyPr wrap="square" lIns="0" tIns="0" rIns="0" bIns="0" rtlCol="0" anchor="ctr"/>
          <a:lstStyle/>
          <a:p>
            <a:pPr marL="0" indent="0" algn="ctr">
              <a:buNone/>
            </a:pPr>
            <a:r>
              <a:rPr lang="en-US" sz="1400" dirty="0">
                <a:solidFill>
                  <a:srgbClr val="3B82F6"/>
                </a:solidFill>
                <a:latin typeface="Calibri" pitchFamily="34" charset="0"/>
                <a:ea typeface="Calibri" pitchFamily="34" charset="-122"/>
                <a:cs typeface="Calibri" pitchFamily="34" charset="-120"/>
              </a:rPr>
              <a:t>🪶</a:t>
            </a:r>
            <a:endParaRPr lang="en-US" sz="1400" dirty="0"/>
          </a:p>
        </p:txBody>
      </p:sp>
      <p:sp>
        <p:nvSpPr>
          <p:cNvPr id="59" name="Text 16">
            <a:extLst>
              <a:ext uri="{FF2B5EF4-FFF2-40B4-BE49-F238E27FC236}">
                <a16:creationId xmlns:a16="http://schemas.microsoft.com/office/drawing/2014/main" id="{FB5D9E76-000E-A97A-5CCE-CC7C8EF37BC2}"/>
              </a:ext>
            </a:extLst>
          </p:cNvPr>
          <p:cNvSpPr/>
          <p:nvPr/>
        </p:nvSpPr>
        <p:spPr>
          <a:xfrm>
            <a:off x="868680" y="2724912"/>
            <a:ext cx="3474720" cy="320040"/>
          </a:xfrm>
          <a:prstGeom prst="rect">
            <a:avLst/>
          </a:prstGeom>
          <a:noFill/>
          <a:ln/>
        </p:spPr>
        <p:txBody>
          <a:bodyPr wrap="square" lIns="0" tIns="0" rIns="0" bIns="0" rtlCol="0" anchor="ctr"/>
          <a:lstStyle/>
          <a:p>
            <a:pPr marL="0" indent="0">
              <a:buNone/>
            </a:pPr>
            <a:r>
              <a:rPr lang="en-US" sz="1200" b="1" dirty="0">
                <a:solidFill>
                  <a:srgbClr val="F8FAFC"/>
                </a:solidFill>
                <a:latin typeface="Calibri" pitchFamily="34" charset="0"/>
                <a:ea typeface="Calibri" pitchFamily="34" charset="-122"/>
                <a:cs typeface="Calibri" pitchFamily="34" charset="-120"/>
              </a:rPr>
              <a:t>LangSmith</a:t>
            </a:r>
            <a:endParaRPr lang="en-US" sz="1200" dirty="0"/>
          </a:p>
        </p:txBody>
      </p:sp>
      <p:sp>
        <p:nvSpPr>
          <p:cNvPr id="60" name="Text 17">
            <a:extLst>
              <a:ext uri="{FF2B5EF4-FFF2-40B4-BE49-F238E27FC236}">
                <a16:creationId xmlns:a16="http://schemas.microsoft.com/office/drawing/2014/main" id="{E95F3612-1013-9626-2EDA-9D090CE0D55E}"/>
              </a:ext>
            </a:extLst>
          </p:cNvPr>
          <p:cNvSpPr/>
          <p:nvPr/>
        </p:nvSpPr>
        <p:spPr>
          <a:xfrm>
            <a:off x="868680" y="3044952"/>
            <a:ext cx="3474720" cy="274320"/>
          </a:xfrm>
          <a:prstGeom prst="rect">
            <a:avLst/>
          </a:prstGeom>
          <a:noFill/>
          <a:ln/>
        </p:spPr>
        <p:txBody>
          <a:bodyPr wrap="square" lIns="0" tIns="0" rIns="0" bIns="0" rtlCol="0" anchor="ctr"/>
          <a:lstStyle/>
          <a:p>
            <a:pPr marL="0" indent="0">
              <a:buNone/>
            </a:pPr>
            <a:r>
              <a:rPr lang="en-US" sz="900" i="1" dirty="0">
                <a:solidFill>
                  <a:srgbClr val="3B82F6"/>
                </a:solidFill>
                <a:latin typeface="Calibri" pitchFamily="34" charset="0"/>
                <a:ea typeface="Calibri" pitchFamily="34" charset="-122"/>
                <a:cs typeface="Calibri" pitchFamily="34" charset="-120"/>
              </a:rPr>
              <a:t>LangChain's platform</a:t>
            </a:r>
            <a:endParaRPr lang="en-US" sz="900" dirty="0"/>
          </a:p>
        </p:txBody>
      </p:sp>
      <p:sp>
        <p:nvSpPr>
          <p:cNvPr id="61" name="Shape 18">
            <a:extLst>
              <a:ext uri="{FF2B5EF4-FFF2-40B4-BE49-F238E27FC236}">
                <a16:creationId xmlns:a16="http://schemas.microsoft.com/office/drawing/2014/main" id="{976747D1-18AC-801C-BEBC-EBBA9BA042DB}"/>
              </a:ext>
            </a:extLst>
          </p:cNvPr>
          <p:cNvSpPr/>
          <p:nvPr/>
        </p:nvSpPr>
        <p:spPr>
          <a:xfrm>
            <a:off x="365760" y="3529584"/>
            <a:ext cx="4114800" cy="777240"/>
          </a:xfrm>
          <a:prstGeom prst="roundRect">
            <a:avLst>
              <a:gd name="adj" fmla="val 7059"/>
            </a:avLst>
          </a:prstGeom>
          <a:solidFill>
            <a:srgbClr val="11203A"/>
          </a:solidFill>
          <a:ln w="19050">
            <a:solidFill>
              <a:srgbClr val="3B82F6"/>
            </a:solidFill>
            <a:prstDash val="solid"/>
          </a:ln>
          <a:effectLst>
            <a:outerShdw blurRad="101600" dist="25400" dir="8100000" algn="bl" rotWithShape="0">
              <a:srgbClr val="000000">
                <a:alpha val="25000"/>
              </a:srgbClr>
            </a:outerShdw>
          </a:effectLst>
        </p:spPr>
        <p:txBody>
          <a:bodyPr/>
          <a:lstStyle/>
          <a:p>
            <a:endParaRPr lang="en-GB"/>
          </a:p>
        </p:txBody>
      </p:sp>
      <p:sp>
        <p:nvSpPr>
          <p:cNvPr id="62" name="Shape 19">
            <a:extLst>
              <a:ext uri="{FF2B5EF4-FFF2-40B4-BE49-F238E27FC236}">
                <a16:creationId xmlns:a16="http://schemas.microsoft.com/office/drawing/2014/main" id="{0DF35D01-BB39-24E5-BC45-58C19BD43481}"/>
              </a:ext>
            </a:extLst>
          </p:cNvPr>
          <p:cNvSpPr/>
          <p:nvPr/>
        </p:nvSpPr>
        <p:spPr>
          <a:xfrm>
            <a:off x="365760" y="3529584"/>
            <a:ext cx="45720" cy="777240"/>
          </a:xfrm>
          <a:prstGeom prst="rect">
            <a:avLst/>
          </a:prstGeom>
          <a:solidFill>
            <a:srgbClr val="3B82F6"/>
          </a:solidFill>
          <a:ln w="12700">
            <a:solidFill>
              <a:srgbClr val="3B82F6"/>
            </a:solidFill>
            <a:prstDash val="solid"/>
          </a:ln>
        </p:spPr>
        <p:txBody>
          <a:bodyPr/>
          <a:lstStyle/>
          <a:p>
            <a:endParaRPr lang="en-GB"/>
          </a:p>
        </p:txBody>
      </p:sp>
      <p:sp>
        <p:nvSpPr>
          <p:cNvPr id="63" name="Text 20">
            <a:extLst>
              <a:ext uri="{FF2B5EF4-FFF2-40B4-BE49-F238E27FC236}">
                <a16:creationId xmlns:a16="http://schemas.microsoft.com/office/drawing/2014/main" id="{633CCA34-99C1-80E0-3DC9-37224CA09A89}"/>
              </a:ext>
            </a:extLst>
          </p:cNvPr>
          <p:cNvSpPr/>
          <p:nvPr/>
        </p:nvSpPr>
        <p:spPr>
          <a:xfrm>
            <a:off x="475488" y="3529584"/>
            <a:ext cx="365760" cy="777240"/>
          </a:xfrm>
          <a:prstGeom prst="rect">
            <a:avLst/>
          </a:prstGeom>
          <a:noFill/>
          <a:ln/>
        </p:spPr>
        <p:txBody>
          <a:bodyPr wrap="square" lIns="0" tIns="0" rIns="0" bIns="0" rtlCol="0" anchor="ctr"/>
          <a:lstStyle/>
          <a:p>
            <a:pPr marL="0" indent="0" algn="ctr">
              <a:buNone/>
            </a:pPr>
            <a:r>
              <a:rPr lang="en-US" sz="1400" dirty="0">
                <a:solidFill>
                  <a:srgbClr val="3B82F6"/>
                </a:solidFill>
                <a:latin typeface="Calibri" pitchFamily="34" charset="0"/>
                <a:ea typeface="Calibri" pitchFamily="34" charset="-122"/>
                <a:cs typeface="Calibri" pitchFamily="34" charset="-120"/>
              </a:rPr>
              <a:t>🔭</a:t>
            </a:r>
            <a:endParaRPr lang="en-US" sz="1400" dirty="0"/>
          </a:p>
        </p:txBody>
      </p:sp>
      <p:sp>
        <p:nvSpPr>
          <p:cNvPr id="64" name="Text 21">
            <a:extLst>
              <a:ext uri="{FF2B5EF4-FFF2-40B4-BE49-F238E27FC236}">
                <a16:creationId xmlns:a16="http://schemas.microsoft.com/office/drawing/2014/main" id="{0E7200F4-6BCA-069A-296C-83213A6E8900}"/>
              </a:ext>
            </a:extLst>
          </p:cNvPr>
          <p:cNvSpPr/>
          <p:nvPr/>
        </p:nvSpPr>
        <p:spPr>
          <a:xfrm>
            <a:off x="868680" y="3575304"/>
            <a:ext cx="3474720" cy="320040"/>
          </a:xfrm>
          <a:prstGeom prst="rect">
            <a:avLst/>
          </a:prstGeom>
          <a:noFill/>
          <a:ln/>
        </p:spPr>
        <p:txBody>
          <a:bodyPr wrap="square" lIns="0" tIns="0" rIns="0" bIns="0" rtlCol="0" anchor="ctr"/>
          <a:lstStyle/>
          <a:p>
            <a:pPr marL="0" indent="0">
              <a:buNone/>
            </a:pPr>
            <a:r>
              <a:rPr lang="en-US" sz="1200" b="1" dirty="0">
                <a:solidFill>
                  <a:srgbClr val="F8FAFC"/>
                </a:solidFill>
                <a:latin typeface="Calibri" pitchFamily="34" charset="0"/>
                <a:ea typeface="Calibri" pitchFamily="34" charset="-122"/>
                <a:cs typeface="Calibri" pitchFamily="34" charset="-120"/>
              </a:rPr>
              <a:t>Langfuse</a:t>
            </a:r>
            <a:endParaRPr lang="en-US" sz="1200" dirty="0"/>
          </a:p>
        </p:txBody>
      </p:sp>
      <p:sp>
        <p:nvSpPr>
          <p:cNvPr id="65" name="Text 22">
            <a:extLst>
              <a:ext uri="{FF2B5EF4-FFF2-40B4-BE49-F238E27FC236}">
                <a16:creationId xmlns:a16="http://schemas.microsoft.com/office/drawing/2014/main" id="{76A971D1-779A-946E-82B8-97516CBB600E}"/>
              </a:ext>
            </a:extLst>
          </p:cNvPr>
          <p:cNvSpPr/>
          <p:nvPr/>
        </p:nvSpPr>
        <p:spPr>
          <a:xfrm>
            <a:off x="868680" y="3895344"/>
            <a:ext cx="3474720" cy="274320"/>
          </a:xfrm>
          <a:prstGeom prst="rect">
            <a:avLst/>
          </a:prstGeom>
          <a:noFill/>
          <a:ln/>
        </p:spPr>
        <p:txBody>
          <a:bodyPr wrap="square" lIns="0" tIns="0" rIns="0" bIns="0" rtlCol="0" anchor="ctr"/>
          <a:lstStyle/>
          <a:p>
            <a:pPr marL="0" indent="0">
              <a:buNone/>
            </a:pPr>
            <a:r>
              <a:rPr lang="en-US" sz="900" i="1" dirty="0">
                <a:solidFill>
                  <a:srgbClr val="3B82F6"/>
                </a:solidFill>
                <a:latin typeface="Calibri" pitchFamily="34" charset="0"/>
                <a:ea typeface="Calibri" pitchFamily="34" charset="-122"/>
                <a:cs typeface="Calibri" pitchFamily="34" charset="-120"/>
              </a:rPr>
              <a:t>OSS · OpenTelemetry</a:t>
            </a:r>
            <a:endParaRPr lang="en-US" sz="900" dirty="0"/>
          </a:p>
        </p:txBody>
      </p:sp>
      <p:sp>
        <p:nvSpPr>
          <p:cNvPr id="66" name="Shape 23">
            <a:extLst>
              <a:ext uri="{FF2B5EF4-FFF2-40B4-BE49-F238E27FC236}">
                <a16:creationId xmlns:a16="http://schemas.microsoft.com/office/drawing/2014/main" id="{D4A34AE3-79DC-F16E-701D-B383AC1D8BFC}"/>
              </a:ext>
            </a:extLst>
          </p:cNvPr>
          <p:cNvSpPr/>
          <p:nvPr/>
        </p:nvSpPr>
        <p:spPr>
          <a:xfrm>
            <a:off x="4663440" y="1508760"/>
            <a:ext cx="36576" cy="201168"/>
          </a:xfrm>
          <a:prstGeom prst="rect">
            <a:avLst/>
          </a:prstGeom>
          <a:solidFill>
            <a:srgbClr val="3B82F6"/>
          </a:solidFill>
          <a:ln w="12700">
            <a:solidFill>
              <a:srgbClr val="3B82F6"/>
            </a:solidFill>
            <a:prstDash val="solid"/>
          </a:ln>
        </p:spPr>
        <p:txBody>
          <a:bodyPr/>
          <a:lstStyle/>
          <a:p>
            <a:endParaRPr lang="en-GB"/>
          </a:p>
        </p:txBody>
      </p:sp>
      <p:sp>
        <p:nvSpPr>
          <p:cNvPr id="67" name="Text 24">
            <a:extLst>
              <a:ext uri="{FF2B5EF4-FFF2-40B4-BE49-F238E27FC236}">
                <a16:creationId xmlns:a16="http://schemas.microsoft.com/office/drawing/2014/main" id="{38F1CC51-F5FC-D278-811B-391FB9E9A09A}"/>
              </a:ext>
            </a:extLst>
          </p:cNvPr>
          <p:cNvSpPr/>
          <p:nvPr/>
        </p:nvSpPr>
        <p:spPr>
          <a:xfrm>
            <a:off x="4773168" y="1463040"/>
            <a:ext cx="4005072" cy="274320"/>
          </a:xfrm>
          <a:prstGeom prst="rect">
            <a:avLst/>
          </a:prstGeom>
          <a:noFill/>
          <a:ln/>
        </p:spPr>
        <p:txBody>
          <a:bodyPr wrap="square" lIns="0" tIns="0" rIns="0" bIns="0" rtlCol="0" anchor="ctr"/>
          <a:lstStyle/>
          <a:p>
            <a:pPr marL="0" indent="0">
              <a:buNone/>
            </a:pPr>
            <a:r>
              <a:rPr lang="en-US" sz="1000" b="1" kern="0" spc="400" dirty="0">
                <a:solidFill>
                  <a:srgbClr val="3B82F6"/>
                </a:solidFill>
                <a:latin typeface="Calibri" pitchFamily="34" charset="0"/>
                <a:ea typeface="Calibri" pitchFamily="34" charset="-122"/>
                <a:cs typeface="Calibri" pitchFamily="34" charset="-120"/>
              </a:rPr>
              <a:t>NO-CODE AUTOMATION</a:t>
            </a:r>
            <a:endParaRPr lang="en-US" sz="1000" dirty="0"/>
          </a:p>
        </p:txBody>
      </p:sp>
      <p:sp>
        <p:nvSpPr>
          <p:cNvPr id="68" name="Shape 25">
            <a:extLst>
              <a:ext uri="{FF2B5EF4-FFF2-40B4-BE49-F238E27FC236}">
                <a16:creationId xmlns:a16="http://schemas.microsoft.com/office/drawing/2014/main" id="{3812A6C4-EE22-1B55-66F0-2B26380FFF66}"/>
              </a:ext>
            </a:extLst>
          </p:cNvPr>
          <p:cNvSpPr/>
          <p:nvPr/>
        </p:nvSpPr>
        <p:spPr>
          <a:xfrm>
            <a:off x="4663440" y="1828800"/>
            <a:ext cx="4114800" cy="777240"/>
          </a:xfrm>
          <a:prstGeom prst="roundRect">
            <a:avLst>
              <a:gd name="adj" fmla="val 7059"/>
            </a:avLst>
          </a:prstGeom>
          <a:solidFill>
            <a:srgbClr val="11203A"/>
          </a:solidFill>
          <a:ln w="19050">
            <a:solidFill>
              <a:srgbClr val="F97316"/>
            </a:solidFill>
            <a:prstDash val="solid"/>
          </a:ln>
          <a:effectLst>
            <a:outerShdw blurRad="101600" dist="25400" dir="8100000" algn="bl" rotWithShape="0">
              <a:srgbClr val="000000">
                <a:alpha val="25000"/>
              </a:srgbClr>
            </a:outerShdw>
          </a:effectLst>
        </p:spPr>
        <p:txBody>
          <a:bodyPr/>
          <a:lstStyle/>
          <a:p>
            <a:endParaRPr lang="en-GB"/>
          </a:p>
        </p:txBody>
      </p:sp>
      <p:sp>
        <p:nvSpPr>
          <p:cNvPr id="69" name="Shape 26">
            <a:extLst>
              <a:ext uri="{FF2B5EF4-FFF2-40B4-BE49-F238E27FC236}">
                <a16:creationId xmlns:a16="http://schemas.microsoft.com/office/drawing/2014/main" id="{5401A858-28EC-1B86-542D-3B04655F3C21}"/>
              </a:ext>
            </a:extLst>
          </p:cNvPr>
          <p:cNvSpPr/>
          <p:nvPr/>
        </p:nvSpPr>
        <p:spPr>
          <a:xfrm>
            <a:off x="4663440" y="1828800"/>
            <a:ext cx="45720" cy="777240"/>
          </a:xfrm>
          <a:prstGeom prst="rect">
            <a:avLst/>
          </a:prstGeom>
          <a:solidFill>
            <a:srgbClr val="F97316"/>
          </a:solidFill>
          <a:ln w="12700">
            <a:solidFill>
              <a:srgbClr val="F97316"/>
            </a:solidFill>
            <a:prstDash val="solid"/>
          </a:ln>
        </p:spPr>
        <p:txBody>
          <a:bodyPr/>
          <a:lstStyle/>
          <a:p>
            <a:endParaRPr lang="en-GB"/>
          </a:p>
        </p:txBody>
      </p:sp>
      <p:sp>
        <p:nvSpPr>
          <p:cNvPr id="70" name="Text 27">
            <a:extLst>
              <a:ext uri="{FF2B5EF4-FFF2-40B4-BE49-F238E27FC236}">
                <a16:creationId xmlns:a16="http://schemas.microsoft.com/office/drawing/2014/main" id="{44F7F844-8D55-470E-7A28-CBE54B06EEBC}"/>
              </a:ext>
            </a:extLst>
          </p:cNvPr>
          <p:cNvSpPr/>
          <p:nvPr/>
        </p:nvSpPr>
        <p:spPr>
          <a:xfrm>
            <a:off x="4773168" y="1828800"/>
            <a:ext cx="365760" cy="777240"/>
          </a:xfrm>
          <a:prstGeom prst="rect">
            <a:avLst/>
          </a:prstGeom>
          <a:noFill/>
          <a:ln/>
        </p:spPr>
        <p:txBody>
          <a:bodyPr wrap="square" lIns="0" tIns="0" rIns="0" bIns="0" rtlCol="0" anchor="ctr"/>
          <a:lstStyle/>
          <a:p>
            <a:pPr marL="0" indent="0" algn="ctr">
              <a:buNone/>
            </a:pPr>
            <a:r>
              <a:rPr lang="en-US" sz="1400" dirty="0">
                <a:solidFill>
                  <a:srgbClr val="F97316"/>
                </a:solidFill>
                <a:latin typeface="Calibri" pitchFamily="34" charset="0"/>
                <a:ea typeface="Calibri" pitchFamily="34" charset="-122"/>
                <a:cs typeface="Calibri" pitchFamily="34" charset="-120"/>
              </a:rPr>
              <a:t>⚙️</a:t>
            </a:r>
            <a:endParaRPr lang="en-US" sz="1400" dirty="0"/>
          </a:p>
        </p:txBody>
      </p:sp>
      <p:sp>
        <p:nvSpPr>
          <p:cNvPr id="71" name="Text 28">
            <a:extLst>
              <a:ext uri="{FF2B5EF4-FFF2-40B4-BE49-F238E27FC236}">
                <a16:creationId xmlns:a16="http://schemas.microsoft.com/office/drawing/2014/main" id="{219D34FE-7A67-BBD8-88EE-9962464C852F}"/>
              </a:ext>
            </a:extLst>
          </p:cNvPr>
          <p:cNvSpPr/>
          <p:nvPr/>
        </p:nvSpPr>
        <p:spPr>
          <a:xfrm>
            <a:off x="5166360" y="1874520"/>
            <a:ext cx="3474720" cy="320040"/>
          </a:xfrm>
          <a:prstGeom prst="rect">
            <a:avLst/>
          </a:prstGeom>
          <a:noFill/>
          <a:ln/>
        </p:spPr>
        <p:txBody>
          <a:bodyPr wrap="square" lIns="0" tIns="0" rIns="0" bIns="0" rtlCol="0" anchor="ctr"/>
          <a:lstStyle/>
          <a:p>
            <a:pPr marL="0" indent="0">
              <a:buNone/>
            </a:pPr>
            <a:r>
              <a:rPr lang="en-US" sz="1200" b="1" dirty="0">
                <a:solidFill>
                  <a:srgbClr val="F8FAFC"/>
                </a:solidFill>
                <a:latin typeface="Calibri" pitchFamily="34" charset="0"/>
                <a:ea typeface="Calibri" pitchFamily="34" charset="-122"/>
                <a:cs typeface="Calibri" pitchFamily="34" charset="-120"/>
              </a:rPr>
              <a:t>n8n</a:t>
            </a:r>
            <a:endParaRPr lang="en-US" sz="1200" dirty="0"/>
          </a:p>
        </p:txBody>
      </p:sp>
      <p:sp>
        <p:nvSpPr>
          <p:cNvPr id="72" name="Text 29">
            <a:extLst>
              <a:ext uri="{FF2B5EF4-FFF2-40B4-BE49-F238E27FC236}">
                <a16:creationId xmlns:a16="http://schemas.microsoft.com/office/drawing/2014/main" id="{F56BD09A-A4DE-DD64-A4BF-402AE7857AC4}"/>
              </a:ext>
            </a:extLst>
          </p:cNvPr>
          <p:cNvSpPr/>
          <p:nvPr/>
        </p:nvSpPr>
        <p:spPr>
          <a:xfrm>
            <a:off x="5166360" y="2194560"/>
            <a:ext cx="3474720" cy="274320"/>
          </a:xfrm>
          <a:prstGeom prst="rect">
            <a:avLst/>
          </a:prstGeom>
          <a:noFill/>
          <a:ln/>
        </p:spPr>
        <p:txBody>
          <a:bodyPr wrap="square" lIns="0" tIns="0" rIns="0" bIns="0" rtlCol="0" anchor="ctr"/>
          <a:lstStyle/>
          <a:p>
            <a:pPr marL="0" indent="0">
              <a:buNone/>
            </a:pPr>
            <a:r>
              <a:rPr lang="en-US" sz="900" i="1" dirty="0">
                <a:solidFill>
                  <a:srgbClr val="F97316"/>
                </a:solidFill>
                <a:latin typeface="Calibri" pitchFamily="34" charset="0"/>
                <a:ea typeface="Calibri" pitchFamily="34" charset="-122"/>
                <a:cs typeface="Calibri" pitchFamily="34" charset="-120"/>
              </a:rPr>
              <a:t>OSS · self-hostable · 400+ nodes</a:t>
            </a:r>
            <a:endParaRPr lang="en-US" sz="900" dirty="0"/>
          </a:p>
        </p:txBody>
      </p:sp>
      <p:sp>
        <p:nvSpPr>
          <p:cNvPr id="73" name="Shape 30">
            <a:extLst>
              <a:ext uri="{FF2B5EF4-FFF2-40B4-BE49-F238E27FC236}">
                <a16:creationId xmlns:a16="http://schemas.microsoft.com/office/drawing/2014/main" id="{16E84705-6677-8FA4-FF55-BB69E1E6FA97}"/>
              </a:ext>
            </a:extLst>
          </p:cNvPr>
          <p:cNvSpPr/>
          <p:nvPr/>
        </p:nvSpPr>
        <p:spPr>
          <a:xfrm>
            <a:off x="4663440" y="2679192"/>
            <a:ext cx="4114800" cy="777240"/>
          </a:xfrm>
          <a:prstGeom prst="roundRect">
            <a:avLst>
              <a:gd name="adj" fmla="val 7059"/>
            </a:avLst>
          </a:prstGeom>
          <a:solidFill>
            <a:srgbClr val="11203A"/>
          </a:solidFill>
          <a:ln w="19050">
            <a:solidFill>
              <a:srgbClr val="3B82F6"/>
            </a:solidFill>
            <a:prstDash val="solid"/>
          </a:ln>
          <a:effectLst>
            <a:outerShdw blurRad="101600" dist="25400" dir="8100000" algn="bl" rotWithShape="0">
              <a:srgbClr val="000000">
                <a:alpha val="25000"/>
              </a:srgbClr>
            </a:outerShdw>
          </a:effectLst>
        </p:spPr>
        <p:txBody>
          <a:bodyPr/>
          <a:lstStyle/>
          <a:p>
            <a:endParaRPr lang="en-GB"/>
          </a:p>
        </p:txBody>
      </p:sp>
      <p:sp>
        <p:nvSpPr>
          <p:cNvPr id="74" name="Shape 31">
            <a:extLst>
              <a:ext uri="{FF2B5EF4-FFF2-40B4-BE49-F238E27FC236}">
                <a16:creationId xmlns:a16="http://schemas.microsoft.com/office/drawing/2014/main" id="{F1CECA5E-BD37-8E9F-3E29-C1E72D6BA188}"/>
              </a:ext>
            </a:extLst>
          </p:cNvPr>
          <p:cNvSpPr/>
          <p:nvPr/>
        </p:nvSpPr>
        <p:spPr>
          <a:xfrm>
            <a:off x="4663440" y="2679192"/>
            <a:ext cx="45720" cy="777240"/>
          </a:xfrm>
          <a:prstGeom prst="rect">
            <a:avLst/>
          </a:prstGeom>
          <a:solidFill>
            <a:srgbClr val="3B82F6"/>
          </a:solidFill>
          <a:ln w="12700">
            <a:solidFill>
              <a:srgbClr val="3B82F6"/>
            </a:solidFill>
            <a:prstDash val="solid"/>
          </a:ln>
        </p:spPr>
        <p:txBody>
          <a:bodyPr/>
          <a:lstStyle/>
          <a:p>
            <a:endParaRPr lang="en-GB"/>
          </a:p>
        </p:txBody>
      </p:sp>
      <p:sp>
        <p:nvSpPr>
          <p:cNvPr id="75" name="Text 32">
            <a:extLst>
              <a:ext uri="{FF2B5EF4-FFF2-40B4-BE49-F238E27FC236}">
                <a16:creationId xmlns:a16="http://schemas.microsoft.com/office/drawing/2014/main" id="{5056CDE9-D6F1-F4B0-1B1D-B6CDE34DFD1F}"/>
              </a:ext>
            </a:extLst>
          </p:cNvPr>
          <p:cNvSpPr/>
          <p:nvPr/>
        </p:nvSpPr>
        <p:spPr>
          <a:xfrm>
            <a:off x="4773168" y="2679192"/>
            <a:ext cx="365760" cy="777240"/>
          </a:xfrm>
          <a:prstGeom prst="rect">
            <a:avLst/>
          </a:prstGeom>
          <a:noFill/>
          <a:ln/>
        </p:spPr>
        <p:txBody>
          <a:bodyPr wrap="square" lIns="0" tIns="0" rIns="0" bIns="0" rtlCol="0" anchor="ctr"/>
          <a:lstStyle/>
          <a:p>
            <a:pPr marL="0" indent="0" algn="ctr">
              <a:buNone/>
            </a:pPr>
            <a:r>
              <a:rPr lang="en-US" sz="1400" dirty="0">
                <a:solidFill>
                  <a:srgbClr val="3B82F6"/>
                </a:solidFill>
                <a:latin typeface="Calibri" pitchFamily="34" charset="0"/>
                <a:ea typeface="Calibri" pitchFamily="34" charset="-122"/>
                <a:cs typeface="Calibri" pitchFamily="34" charset="-120"/>
              </a:rPr>
              <a:t>⚡</a:t>
            </a:r>
            <a:endParaRPr lang="en-US" sz="1400" dirty="0"/>
          </a:p>
        </p:txBody>
      </p:sp>
      <p:sp>
        <p:nvSpPr>
          <p:cNvPr id="76" name="Text 33">
            <a:extLst>
              <a:ext uri="{FF2B5EF4-FFF2-40B4-BE49-F238E27FC236}">
                <a16:creationId xmlns:a16="http://schemas.microsoft.com/office/drawing/2014/main" id="{B2A3B10C-F249-5AC5-2C87-57FA93BCE193}"/>
              </a:ext>
            </a:extLst>
          </p:cNvPr>
          <p:cNvSpPr/>
          <p:nvPr/>
        </p:nvSpPr>
        <p:spPr>
          <a:xfrm>
            <a:off x="5166360" y="2724912"/>
            <a:ext cx="3474720" cy="320040"/>
          </a:xfrm>
          <a:prstGeom prst="rect">
            <a:avLst/>
          </a:prstGeom>
          <a:noFill/>
          <a:ln/>
        </p:spPr>
        <p:txBody>
          <a:bodyPr wrap="square" lIns="0" tIns="0" rIns="0" bIns="0" rtlCol="0" anchor="ctr"/>
          <a:lstStyle/>
          <a:p>
            <a:pPr marL="0" indent="0">
              <a:buNone/>
            </a:pPr>
            <a:r>
              <a:rPr lang="en-US" sz="1200" b="1" dirty="0">
                <a:solidFill>
                  <a:srgbClr val="F8FAFC"/>
                </a:solidFill>
                <a:latin typeface="Calibri" pitchFamily="34" charset="0"/>
                <a:ea typeface="Calibri" pitchFamily="34" charset="-122"/>
                <a:cs typeface="Calibri" pitchFamily="34" charset="-120"/>
              </a:rPr>
              <a:t>Zapier</a:t>
            </a:r>
            <a:endParaRPr lang="en-US" sz="1200" dirty="0"/>
          </a:p>
        </p:txBody>
      </p:sp>
      <p:sp>
        <p:nvSpPr>
          <p:cNvPr id="77" name="Text 34">
            <a:extLst>
              <a:ext uri="{FF2B5EF4-FFF2-40B4-BE49-F238E27FC236}">
                <a16:creationId xmlns:a16="http://schemas.microsoft.com/office/drawing/2014/main" id="{0411EF6A-C72D-A3C3-A5D8-5E83801241CA}"/>
              </a:ext>
            </a:extLst>
          </p:cNvPr>
          <p:cNvSpPr/>
          <p:nvPr/>
        </p:nvSpPr>
        <p:spPr>
          <a:xfrm>
            <a:off x="5166360" y="3044952"/>
            <a:ext cx="3474720" cy="274320"/>
          </a:xfrm>
          <a:prstGeom prst="rect">
            <a:avLst/>
          </a:prstGeom>
          <a:noFill/>
          <a:ln/>
        </p:spPr>
        <p:txBody>
          <a:bodyPr wrap="square" lIns="0" tIns="0" rIns="0" bIns="0" rtlCol="0" anchor="ctr"/>
          <a:lstStyle/>
          <a:p>
            <a:pPr marL="0" indent="0">
              <a:buNone/>
            </a:pPr>
            <a:r>
              <a:rPr lang="en-US" sz="900" i="1" dirty="0">
                <a:solidFill>
                  <a:srgbClr val="3B82F6"/>
                </a:solidFill>
                <a:latin typeface="Calibri" pitchFamily="34" charset="0"/>
                <a:ea typeface="Calibri" pitchFamily="34" charset="-122"/>
                <a:cs typeface="Calibri" pitchFamily="34" charset="-120"/>
              </a:rPr>
              <a:t>easiest UX · 6000+ integrations</a:t>
            </a:r>
            <a:endParaRPr lang="en-US" sz="900" dirty="0"/>
          </a:p>
        </p:txBody>
      </p:sp>
      <p:sp>
        <p:nvSpPr>
          <p:cNvPr id="78" name="Shape 35">
            <a:extLst>
              <a:ext uri="{FF2B5EF4-FFF2-40B4-BE49-F238E27FC236}">
                <a16:creationId xmlns:a16="http://schemas.microsoft.com/office/drawing/2014/main" id="{77A22D69-F94F-0B33-6568-A8A1314A47D0}"/>
              </a:ext>
            </a:extLst>
          </p:cNvPr>
          <p:cNvSpPr/>
          <p:nvPr/>
        </p:nvSpPr>
        <p:spPr>
          <a:xfrm>
            <a:off x="4663440" y="3529584"/>
            <a:ext cx="4114800" cy="777240"/>
          </a:xfrm>
          <a:prstGeom prst="roundRect">
            <a:avLst>
              <a:gd name="adj" fmla="val 7059"/>
            </a:avLst>
          </a:prstGeom>
          <a:solidFill>
            <a:srgbClr val="11203A"/>
          </a:solidFill>
          <a:ln w="19050">
            <a:solidFill>
              <a:srgbClr val="3B82F6"/>
            </a:solidFill>
            <a:prstDash val="solid"/>
          </a:ln>
          <a:effectLst>
            <a:outerShdw blurRad="101600" dist="25400" dir="8100000" algn="bl" rotWithShape="0">
              <a:srgbClr val="000000">
                <a:alpha val="25000"/>
              </a:srgbClr>
            </a:outerShdw>
          </a:effectLst>
        </p:spPr>
        <p:txBody>
          <a:bodyPr/>
          <a:lstStyle/>
          <a:p>
            <a:endParaRPr lang="en-GB"/>
          </a:p>
        </p:txBody>
      </p:sp>
      <p:sp>
        <p:nvSpPr>
          <p:cNvPr id="79" name="Shape 36">
            <a:extLst>
              <a:ext uri="{FF2B5EF4-FFF2-40B4-BE49-F238E27FC236}">
                <a16:creationId xmlns:a16="http://schemas.microsoft.com/office/drawing/2014/main" id="{2A5DD13D-EE65-5DBB-7795-2A2B5934531D}"/>
              </a:ext>
            </a:extLst>
          </p:cNvPr>
          <p:cNvSpPr/>
          <p:nvPr/>
        </p:nvSpPr>
        <p:spPr>
          <a:xfrm>
            <a:off x="4663440" y="3529584"/>
            <a:ext cx="45720" cy="777240"/>
          </a:xfrm>
          <a:prstGeom prst="rect">
            <a:avLst/>
          </a:prstGeom>
          <a:solidFill>
            <a:srgbClr val="3B82F6"/>
          </a:solidFill>
          <a:ln w="12700">
            <a:solidFill>
              <a:srgbClr val="3B82F6"/>
            </a:solidFill>
            <a:prstDash val="solid"/>
          </a:ln>
        </p:spPr>
        <p:txBody>
          <a:bodyPr/>
          <a:lstStyle/>
          <a:p>
            <a:endParaRPr lang="en-GB"/>
          </a:p>
        </p:txBody>
      </p:sp>
      <p:sp>
        <p:nvSpPr>
          <p:cNvPr id="80" name="Text 37">
            <a:extLst>
              <a:ext uri="{FF2B5EF4-FFF2-40B4-BE49-F238E27FC236}">
                <a16:creationId xmlns:a16="http://schemas.microsoft.com/office/drawing/2014/main" id="{14CF2830-5A04-56FD-8D76-65304CF33A0B}"/>
              </a:ext>
            </a:extLst>
          </p:cNvPr>
          <p:cNvSpPr/>
          <p:nvPr/>
        </p:nvSpPr>
        <p:spPr>
          <a:xfrm>
            <a:off x="4773168" y="3529584"/>
            <a:ext cx="365760" cy="777240"/>
          </a:xfrm>
          <a:prstGeom prst="rect">
            <a:avLst/>
          </a:prstGeom>
          <a:noFill/>
          <a:ln/>
        </p:spPr>
        <p:txBody>
          <a:bodyPr wrap="square" lIns="0" tIns="0" rIns="0" bIns="0" rtlCol="0" anchor="ctr"/>
          <a:lstStyle/>
          <a:p>
            <a:pPr marL="0" indent="0" algn="ctr">
              <a:buNone/>
            </a:pPr>
            <a:r>
              <a:rPr lang="en-US" sz="1400" dirty="0">
                <a:solidFill>
                  <a:srgbClr val="3B82F6"/>
                </a:solidFill>
                <a:latin typeface="Calibri" pitchFamily="34" charset="0"/>
                <a:ea typeface="Calibri" pitchFamily="34" charset="-122"/>
                <a:cs typeface="Calibri" pitchFamily="34" charset="-120"/>
              </a:rPr>
              <a:t>🎨</a:t>
            </a:r>
            <a:endParaRPr lang="en-US" sz="1400" dirty="0"/>
          </a:p>
        </p:txBody>
      </p:sp>
      <p:sp>
        <p:nvSpPr>
          <p:cNvPr id="81" name="Text 38">
            <a:extLst>
              <a:ext uri="{FF2B5EF4-FFF2-40B4-BE49-F238E27FC236}">
                <a16:creationId xmlns:a16="http://schemas.microsoft.com/office/drawing/2014/main" id="{B7A24DBA-E41D-4C82-4738-F5EBFB4038DA}"/>
              </a:ext>
            </a:extLst>
          </p:cNvPr>
          <p:cNvSpPr/>
          <p:nvPr/>
        </p:nvSpPr>
        <p:spPr>
          <a:xfrm>
            <a:off x="5166360" y="3575304"/>
            <a:ext cx="3474720" cy="320040"/>
          </a:xfrm>
          <a:prstGeom prst="rect">
            <a:avLst/>
          </a:prstGeom>
          <a:noFill/>
          <a:ln/>
        </p:spPr>
        <p:txBody>
          <a:bodyPr wrap="square" lIns="0" tIns="0" rIns="0" bIns="0" rtlCol="0" anchor="ctr"/>
          <a:lstStyle/>
          <a:p>
            <a:pPr marL="0" indent="0">
              <a:buNone/>
            </a:pPr>
            <a:r>
              <a:rPr lang="en-US" sz="1200" b="1" dirty="0">
                <a:solidFill>
                  <a:srgbClr val="F8FAFC"/>
                </a:solidFill>
                <a:latin typeface="Calibri" pitchFamily="34" charset="0"/>
                <a:ea typeface="Calibri" pitchFamily="34" charset="-122"/>
                <a:cs typeface="Calibri" pitchFamily="34" charset="-120"/>
              </a:rPr>
              <a:t>Make.com</a:t>
            </a:r>
            <a:endParaRPr lang="en-US" sz="1200" dirty="0"/>
          </a:p>
        </p:txBody>
      </p:sp>
      <p:sp>
        <p:nvSpPr>
          <p:cNvPr id="82" name="Text 39">
            <a:extLst>
              <a:ext uri="{FF2B5EF4-FFF2-40B4-BE49-F238E27FC236}">
                <a16:creationId xmlns:a16="http://schemas.microsoft.com/office/drawing/2014/main" id="{D5A0B90A-3FEC-B06D-6024-D29A9BC099F3}"/>
              </a:ext>
            </a:extLst>
          </p:cNvPr>
          <p:cNvSpPr/>
          <p:nvPr/>
        </p:nvSpPr>
        <p:spPr>
          <a:xfrm>
            <a:off x="5166360" y="3895344"/>
            <a:ext cx="3474720" cy="274320"/>
          </a:xfrm>
          <a:prstGeom prst="rect">
            <a:avLst/>
          </a:prstGeom>
          <a:noFill/>
          <a:ln/>
        </p:spPr>
        <p:txBody>
          <a:bodyPr wrap="square" lIns="0" tIns="0" rIns="0" bIns="0" rtlCol="0" anchor="ctr"/>
          <a:lstStyle/>
          <a:p>
            <a:pPr marL="0" indent="0">
              <a:buNone/>
            </a:pPr>
            <a:r>
              <a:rPr lang="en-US" sz="900" i="1" dirty="0">
                <a:solidFill>
                  <a:srgbClr val="3B82F6"/>
                </a:solidFill>
                <a:latin typeface="Calibri" pitchFamily="34" charset="0"/>
                <a:ea typeface="Calibri" pitchFamily="34" charset="-122"/>
                <a:cs typeface="Calibri" pitchFamily="34" charset="-120"/>
              </a:rPr>
              <a:t>visual canvas · branching logic</a:t>
            </a:r>
            <a:endParaRPr lang="en-US" sz="900" dirty="0"/>
          </a:p>
        </p:txBody>
      </p:sp>
      <p:sp>
        <p:nvSpPr>
          <p:cNvPr id="83" name="Text 40">
            <a:extLst>
              <a:ext uri="{FF2B5EF4-FFF2-40B4-BE49-F238E27FC236}">
                <a16:creationId xmlns:a16="http://schemas.microsoft.com/office/drawing/2014/main" id="{A292FB5E-8D7A-71A8-1C51-AE1F74D4B93A}"/>
              </a:ext>
            </a:extLst>
          </p:cNvPr>
          <p:cNvSpPr/>
          <p:nvPr/>
        </p:nvSpPr>
        <p:spPr>
          <a:xfrm>
            <a:off x="457200" y="4526280"/>
            <a:ext cx="8229600" cy="274320"/>
          </a:xfrm>
          <a:prstGeom prst="rect">
            <a:avLst/>
          </a:prstGeom>
          <a:noFill/>
          <a:ln/>
        </p:spPr>
        <p:txBody>
          <a:bodyPr wrap="square" lIns="0" tIns="0" rIns="0" bIns="0" rtlCol="0" anchor="ctr"/>
          <a:lstStyle/>
          <a:p>
            <a:pPr marL="0" indent="0" algn="ctr">
              <a:buNone/>
            </a:pPr>
            <a:r>
              <a:rPr lang="en-US" sz="1100" i="1" dirty="0">
                <a:solidFill>
                  <a:srgbClr val="F97316"/>
                </a:solidFill>
                <a:latin typeface="Calibri" pitchFamily="34" charset="0"/>
                <a:ea typeface="Calibri" pitchFamily="34" charset="-122"/>
                <a:cs typeface="Calibri" pitchFamily="34" charset="-120"/>
              </a:rPr>
              <a:t>Also worth knowing: Phoenix · W&amp;B Weave · Helicone (obs)  ·  Activepieces · Pipedream (no-code).</a:t>
            </a:r>
            <a:endParaRPr lang="en-US" sz="1100" dirty="0"/>
          </a:p>
        </p:txBody>
      </p:sp>
      <p:sp>
        <p:nvSpPr>
          <p:cNvPr id="84" name="TextBox 83">
            <a:extLst>
              <a:ext uri="{FF2B5EF4-FFF2-40B4-BE49-F238E27FC236}">
                <a16:creationId xmlns:a16="http://schemas.microsoft.com/office/drawing/2014/main" id="{41D46E8A-A9A2-1159-462A-F775EBEA5860}"/>
              </a:ext>
            </a:extLst>
          </p:cNvPr>
          <p:cNvSpPr txBox="1"/>
          <p:nvPr/>
        </p:nvSpPr>
        <p:spPr>
          <a:xfrm>
            <a:off x="3969785" y="1902808"/>
            <a:ext cx="502061" cy="369332"/>
          </a:xfrm>
          <a:prstGeom prst="rect">
            <a:avLst/>
          </a:prstGeom>
          <a:noFill/>
        </p:spPr>
        <p:txBody>
          <a:bodyPr wrap="none" rtlCol="0">
            <a:spAutoFit/>
          </a:bodyPr>
          <a:lstStyle/>
          <a:p>
            <a:r>
              <a:rPr lang="fr-FR" dirty="0"/>
              <a:t>👍</a:t>
            </a:r>
            <a:endParaRPr lang="en-GB" dirty="0"/>
          </a:p>
        </p:txBody>
      </p:sp>
      <p:sp>
        <p:nvSpPr>
          <p:cNvPr id="85" name="TextBox 84">
            <a:extLst>
              <a:ext uri="{FF2B5EF4-FFF2-40B4-BE49-F238E27FC236}">
                <a16:creationId xmlns:a16="http://schemas.microsoft.com/office/drawing/2014/main" id="{DEC15971-53B7-32DA-6A7B-E520E29584D9}"/>
              </a:ext>
            </a:extLst>
          </p:cNvPr>
          <p:cNvSpPr txBox="1"/>
          <p:nvPr/>
        </p:nvSpPr>
        <p:spPr>
          <a:xfrm>
            <a:off x="8303611" y="1886450"/>
            <a:ext cx="502061" cy="369332"/>
          </a:xfrm>
          <a:prstGeom prst="rect">
            <a:avLst/>
          </a:prstGeom>
          <a:noFill/>
        </p:spPr>
        <p:txBody>
          <a:bodyPr wrap="none" rtlCol="0">
            <a:spAutoFit/>
          </a:bodyPr>
          <a:lstStyle/>
          <a:p>
            <a:r>
              <a:rPr lang="fr-FR" dirty="0"/>
              <a:t>👍</a:t>
            </a:r>
            <a:endParaRPr lang="en-GB" dirty="0"/>
          </a:p>
        </p:txBody>
      </p:sp>
      <p:sp>
        <p:nvSpPr>
          <p:cNvPr id="86" name="TextBox 85">
            <a:extLst>
              <a:ext uri="{FF2B5EF4-FFF2-40B4-BE49-F238E27FC236}">
                <a16:creationId xmlns:a16="http://schemas.microsoft.com/office/drawing/2014/main" id="{796C9BCF-F429-9B38-FCAA-B63E2F0AB4A3}"/>
              </a:ext>
            </a:extLst>
          </p:cNvPr>
          <p:cNvSpPr txBox="1"/>
          <p:nvPr/>
        </p:nvSpPr>
        <p:spPr>
          <a:xfrm>
            <a:off x="3978499" y="2745986"/>
            <a:ext cx="502061" cy="369332"/>
          </a:xfrm>
          <a:prstGeom prst="rect">
            <a:avLst/>
          </a:prstGeom>
          <a:noFill/>
        </p:spPr>
        <p:txBody>
          <a:bodyPr wrap="none" rtlCol="0">
            <a:spAutoFit/>
          </a:bodyPr>
          <a:lstStyle/>
          <a:p>
            <a:r>
              <a:rPr lang="fr-FR" dirty="0"/>
              <a:t>👍</a:t>
            </a:r>
            <a:endParaRPr lang="en-GB"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0A1628"/>
        </a:solidFill>
        <a:effectLst/>
      </p:bgPr>
    </p:bg>
    <p:spTree>
      <p:nvGrpSpPr>
        <p:cNvPr id="1" name=""/>
        <p:cNvGrpSpPr/>
        <p:nvPr/>
      </p:nvGrpSpPr>
      <p:grpSpPr>
        <a:xfrm>
          <a:off x="0" y="0"/>
          <a:ext cx="0" cy="0"/>
          <a:chOff x="0" y="0"/>
          <a:chExt cx="0" cy="0"/>
        </a:xfrm>
      </p:grpSpPr>
      <p:sp>
        <p:nvSpPr>
          <p:cNvPr id="3" name="Shape 0"/>
          <p:cNvSpPr/>
          <p:nvPr/>
        </p:nvSpPr>
        <p:spPr>
          <a:xfrm>
            <a:off x="457200" y="411480"/>
            <a:ext cx="320040" cy="54864"/>
          </a:xfrm>
          <a:prstGeom prst="rect">
            <a:avLst/>
          </a:prstGeom>
          <a:solidFill>
            <a:srgbClr val="F97316"/>
          </a:solidFill>
          <a:ln w="12700">
            <a:solidFill>
              <a:srgbClr val="F97316"/>
            </a:solidFill>
            <a:prstDash val="solid"/>
          </a:ln>
        </p:spPr>
        <p:txBody>
          <a:bodyPr/>
          <a:lstStyle/>
          <a:p>
            <a:endParaRPr lang="en-GB"/>
          </a:p>
        </p:txBody>
      </p:sp>
      <p:sp>
        <p:nvSpPr>
          <p:cNvPr id="4" name="Text 1"/>
          <p:cNvSpPr/>
          <p:nvPr/>
        </p:nvSpPr>
        <p:spPr>
          <a:xfrm>
            <a:off x="868680" y="329184"/>
            <a:ext cx="5029200" cy="274320"/>
          </a:xfrm>
          <a:prstGeom prst="rect">
            <a:avLst/>
          </a:prstGeom>
          <a:noFill/>
          <a:ln/>
        </p:spPr>
        <p:txBody>
          <a:bodyPr wrap="square" lIns="0" tIns="0" rIns="0" bIns="0" rtlCol="0" anchor="ctr"/>
          <a:lstStyle/>
          <a:p>
            <a:pPr marL="0" indent="0">
              <a:buNone/>
            </a:pPr>
            <a:r>
              <a:rPr lang="en-US" sz="1000" b="1" kern="0" spc="400" dirty="0">
                <a:solidFill>
                  <a:srgbClr val="F97316"/>
                </a:solidFill>
                <a:latin typeface="Calibri" pitchFamily="34" charset="0"/>
                <a:ea typeface="Calibri" pitchFamily="34" charset="-122"/>
                <a:cs typeface="Calibri" pitchFamily="34" charset="-120"/>
              </a:rPr>
              <a:t>PRACTICAL · PRODUCTION</a:t>
            </a:r>
            <a:endParaRPr lang="en-US" sz="1000" dirty="0"/>
          </a:p>
        </p:txBody>
      </p:sp>
      <p:sp>
        <p:nvSpPr>
          <p:cNvPr id="5" name="Text 2"/>
          <p:cNvSpPr/>
          <p:nvPr/>
        </p:nvSpPr>
        <p:spPr>
          <a:xfrm>
            <a:off x="457200" y="640080"/>
            <a:ext cx="8229600" cy="822960"/>
          </a:xfrm>
          <a:prstGeom prst="rect">
            <a:avLst/>
          </a:prstGeom>
          <a:noFill/>
          <a:ln/>
        </p:spPr>
        <p:txBody>
          <a:bodyPr wrap="square" lIns="0" tIns="0" rIns="0" bIns="0" rtlCol="0" anchor="ctr"/>
          <a:lstStyle/>
          <a:p>
            <a:pPr marL="0" indent="0">
              <a:buNone/>
            </a:pPr>
            <a:r>
              <a:rPr lang="en-US" sz="3200" b="1" dirty="0">
                <a:solidFill>
                  <a:srgbClr val="F8FAFC"/>
                </a:solidFill>
                <a:latin typeface="Calibri" pitchFamily="34" charset="0"/>
                <a:ea typeface="Calibri" pitchFamily="34" charset="-122"/>
                <a:cs typeface="Calibri" pitchFamily="34" charset="-120"/>
              </a:rPr>
              <a:t>Production checklist</a:t>
            </a:r>
            <a:endParaRPr lang="en-US" sz="3200" dirty="0"/>
          </a:p>
        </p:txBody>
      </p:sp>
      <p:sp>
        <p:nvSpPr>
          <p:cNvPr id="6" name="Text 3"/>
          <p:cNvSpPr/>
          <p:nvPr/>
        </p:nvSpPr>
        <p:spPr>
          <a:xfrm>
            <a:off x="457200" y="4754880"/>
            <a:ext cx="4572000" cy="228600"/>
          </a:xfrm>
          <a:prstGeom prst="rect">
            <a:avLst/>
          </a:prstGeom>
          <a:noFill/>
          <a:ln/>
        </p:spPr>
        <p:txBody>
          <a:bodyPr wrap="square" lIns="0" tIns="0" rIns="0" bIns="0" rtlCol="0" anchor="ctr"/>
          <a:lstStyle/>
          <a:p>
            <a:pPr marL="0" indent="0">
              <a:buNone/>
            </a:pPr>
            <a:r>
              <a:rPr lang="en-US" sz="900" dirty="0">
                <a:solidFill>
                  <a:srgbClr val="94A3B8"/>
                </a:solidFill>
                <a:latin typeface="Calibri" pitchFamily="34" charset="0"/>
                <a:ea typeface="Calibri" pitchFamily="34" charset="-122"/>
                <a:cs typeface="Calibri" pitchFamily="34" charset="-120"/>
              </a:rPr>
              <a:t>Agentic AI · Extras · M. Rsaissi</a:t>
            </a:r>
            <a:endParaRPr lang="en-US" sz="900" dirty="0"/>
          </a:p>
        </p:txBody>
      </p:sp>
      <p:sp>
        <p:nvSpPr>
          <p:cNvPr id="7" name="Shape 4"/>
          <p:cNvSpPr/>
          <p:nvPr/>
        </p:nvSpPr>
        <p:spPr>
          <a:xfrm>
            <a:off x="8275320" y="4818888"/>
            <a:ext cx="73152" cy="73152"/>
          </a:xfrm>
          <a:prstGeom prst="ellipse">
            <a:avLst/>
          </a:prstGeom>
          <a:solidFill>
            <a:srgbClr val="F97316"/>
          </a:solidFill>
          <a:ln w="12700">
            <a:solidFill>
              <a:srgbClr val="F97316"/>
            </a:solidFill>
            <a:prstDash val="solid"/>
          </a:ln>
        </p:spPr>
        <p:txBody>
          <a:bodyPr/>
          <a:lstStyle/>
          <a:p>
            <a:endParaRPr lang="en-GB"/>
          </a:p>
        </p:txBody>
      </p:sp>
      <p:sp>
        <p:nvSpPr>
          <p:cNvPr id="8" name="Text 5"/>
          <p:cNvSpPr/>
          <p:nvPr/>
        </p:nvSpPr>
        <p:spPr>
          <a:xfrm>
            <a:off x="8366760" y="4736592"/>
            <a:ext cx="685800" cy="228600"/>
          </a:xfrm>
          <a:prstGeom prst="rect">
            <a:avLst/>
          </a:prstGeom>
          <a:noFill/>
          <a:ln/>
        </p:spPr>
        <p:txBody>
          <a:bodyPr wrap="square" lIns="0" tIns="0" rIns="0" bIns="0" rtlCol="0" anchor="ctr"/>
          <a:lstStyle/>
          <a:p>
            <a:pPr marL="0" indent="0" algn="r">
              <a:buNone/>
            </a:pPr>
            <a:r>
              <a:rPr lang="en-US" sz="900" dirty="0">
                <a:solidFill>
                  <a:srgbClr val="94A3B8"/>
                </a:solidFill>
                <a:latin typeface="Calibri" pitchFamily="34" charset="0"/>
                <a:ea typeface="Calibri" pitchFamily="34" charset="-122"/>
                <a:cs typeface="Calibri" pitchFamily="34" charset="-120"/>
              </a:rPr>
              <a:t>E6 / E6</a:t>
            </a:r>
            <a:endParaRPr lang="en-US" sz="900" dirty="0"/>
          </a:p>
        </p:txBody>
      </p:sp>
      <p:sp>
        <p:nvSpPr>
          <p:cNvPr id="9" name="Shape 6"/>
          <p:cNvSpPr/>
          <p:nvPr/>
        </p:nvSpPr>
        <p:spPr>
          <a:xfrm>
            <a:off x="329184" y="1463040"/>
            <a:ext cx="4160520" cy="658368"/>
          </a:xfrm>
          <a:prstGeom prst="roundRect">
            <a:avLst>
              <a:gd name="adj" fmla="val 6944"/>
            </a:avLst>
          </a:prstGeom>
          <a:solidFill>
            <a:srgbClr val="11203A"/>
          </a:solidFill>
          <a:ln w="19050">
            <a:solidFill>
              <a:srgbClr val="F97316"/>
            </a:solidFill>
            <a:prstDash val="solid"/>
          </a:ln>
        </p:spPr>
        <p:txBody>
          <a:bodyPr/>
          <a:lstStyle/>
          <a:p>
            <a:endParaRPr lang="en-GB"/>
          </a:p>
        </p:txBody>
      </p:sp>
      <p:sp>
        <p:nvSpPr>
          <p:cNvPr id="10" name="Shape 7"/>
          <p:cNvSpPr/>
          <p:nvPr/>
        </p:nvSpPr>
        <p:spPr>
          <a:xfrm>
            <a:off x="329184" y="1463040"/>
            <a:ext cx="54864" cy="658368"/>
          </a:xfrm>
          <a:prstGeom prst="rect">
            <a:avLst/>
          </a:prstGeom>
          <a:solidFill>
            <a:srgbClr val="F97316"/>
          </a:solidFill>
          <a:ln w="12700">
            <a:solidFill>
              <a:srgbClr val="F97316"/>
            </a:solidFill>
            <a:prstDash val="solid"/>
          </a:ln>
        </p:spPr>
        <p:txBody>
          <a:bodyPr/>
          <a:lstStyle/>
          <a:p>
            <a:endParaRPr lang="en-GB"/>
          </a:p>
        </p:txBody>
      </p:sp>
      <p:sp>
        <p:nvSpPr>
          <p:cNvPr id="11" name="Shape 8"/>
          <p:cNvSpPr/>
          <p:nvPr/>
        </p:nvSpPr>
        <p:spPr>
          <a:xfrm>
            <a:off x="512064" y="1645920"/>
            <a:ext cx="292608" cy="292608"/>
          </a:xfrm>
          <a:prstGeom prst="roundRect">
            <a:avLst>
              <a:gd name="adj" fmla="val 12500"/>
            </a:avLst>
          </a:prstGeom>
          <a:solidFill>
            <a:srgbClr val="F97316"/>
          </a:solidFill>
          <a:ln w="12700">
            <a:solidFill>
              <a:srgbClr val="F97316"/>
            </a:solidFill>
            <a:prstDash val="solid"/>
          </a:ln>
        </p:spPr>
        <p:txBody>
          <a:bodyPr/>
          <a:lstStyle/>
          <a:p>
            <a:endParaRPr lang="en-GB"/>
          </a:p>
        </p:txBody>
      </p:sp>
      <p:sp>
        <p:nvSpPr>
          <p:cNvPr id="12" name="Text 9"/>
          <p:cNvSpPr/>
          <p:nvPr/>
        </p:nvSpPr>
        <p:spPr>
          <a:xfrm>
            <a:off x="512064" y="1645920"/>
            <a:ext cx="292608" cy="292608"/>
          </a:xfrm>
          <a:prstGeom prst="rect">
            <a:avLst/>
          </a:prstGeom>
          <a:noFill/>
          <a:ln/>
        </p:spPr>
        <p:txBody>
          <a:bodyPr wrap="square" lIns="0" tIns="0" rIns="0" bIns="0" rtlCol="0" anchor="ctr"/>
          <a:lstStyle/>
          <a:p>
            <a:pPr marL="0" indent="0" algn="ctr">
              <a:buNone/>
            </a:pPr>
            <a:r>
              <a:rPr lang="en-US" sz="1400" b="1" dirty="0">
                <a:solidFill>
                  <a:srgbClr val="0A1628"/>
                </a:solidFill>
                <a:latin typeface="Calibri" pitchFamily="34" charset="0"/>
                <a:ea typeface="Calibri" pitchFamily="34" charset="-122"/>
                <a:cs typeface="Calibri" pitchFamily="34" charset="-120"/>
              </a:rPr>
              <a:t>✓</a:t>
            </a:r>
            <a:endParaRPr lang="en-US" sz="1400" dirty="0"/>
          </a:p>
        </p:txBody>
      </p:sp>
      <p:sp>
        <p:nvSpPr>
          <p:cNvPr id="13" name="Text 10"/>
          <p:cNvSpPr/>
          <p:nvPr/>
        </p:nvSpPr>
        <p:spPr>
          <a:xfrm>
            <a:off x="923544" y="1517904"/>
            <a:ext cx="3429000" cy="274320"/>
          </a:xfrm>
          <a:prstGeom prst="rect">
            <a:avLst/>
          </a:prstGeom>
          <a:noFill/>
          <a:ln/>
        </p:spPr>
        <p:txBody>
          <a:bodyPr wrap="square" lIns="0" tIns="0" rIns="0" bIns="0" rtlCol="0" anchor="ctr"/>
          <a:lstStyle/>
          <a:p>
            <a:pPr marL="0" indent="0">
              <a:buNone/>
            </a:pPr>
            <a:r>
              <a:rPr lang="en-US" sz="1200" b="1" dirty="0">
                <a:solidFill>
                  <a:srgbClr val="F8FAFC"/>
                </a:solidFill>
                <a:latin typeface="Calibri" pitchFamily="34" charset="0"/>
                <a:ea typeface="Calibri" pitchFamily="34" charset="-122"/>
                <a:cs typeface="Calibri" pitchFamily="34" charset="-120"/>
              </a:rPr>
              <a:t>Pick the smallest model that works</a:t>
            </a:r>
            <a:endParaRPr lang="en-US" sz="1200" dirty="0"/>
          </a:p>
        </p:txBody>
      </p:sp>
      <p:sp>
        <p:nvSpPr>
          <p:cNvPr id="14" name="Text 11"/>
          <p:cNvSpPr/>
          <p:nvPr/>
        </p:nvSpPr>
        <p:spPr>
          <a:xfrm>
            <a:off x="923544" y="1792224"/>
            <a:ext cx="3429000" cy="274320"/>
          </a:xfrm>
          <a:prstGeom prst="rect">
            <a:avLst/>
          </a:prstGeom>
          <a:noFill/>
          <a:ln/>
        </p:spPr>
        <p:txBody>
          <a:bodyPr wrap="square" lIns="0" tIns="0" rIns="0" bIns="0" rtlCol="0" anchor="ctr"/>
          <a:lstStyle/>
          <a:p>
            <a:pPr marL="0" indent="0">
              <a:buNone/>
            </a:pPr>
            <a:r>
              <a:rPr lang="en-US" sz="1000" i="1" dirty="0">
                <a:solidFill>
                  <a:srgbClr val="94A3B8"/>
                </a:solidFill>
                <a:latin typeface="Calibri" pitchFamily="34" charset="0"/>
                <a:ea typeface="Calibri" pitchFamily="34" charset="-122"/>
                <a:cs typeface="Calibri" pitchFamily="34" charset="-120"/>
              </a:rPr>
              <a:t>Haiku → Sonnet → Opus</a:t>
            </a:r>
            <a:endParaRPr lang="en-US" sz="1000" dirty="0"/>
          </a:p>
        </p:txBody>
      </p:sp>
      <p:sp>
        <p:nvSpPr>
          <p:cNvPr id="15" name="Shape 12"/>
          <p:cNvSpPr/>
          <p:nvPr/>
        </p:nvSpPr>
        <p:spPr>
          <a:xfrm>
            <a:off x="4654296" y="1463040"/>
            <a:ext cx="4160520" cy="658368"/>
          </a:xfrm>
          <a:prstGeom prst="roundRect">
            <a:avLst>
              <a:gd name="adj" fmla="val 6944"/>
            </a:avLst>
          </a:prstGeom>
          <a:solidFill>
            <a:srgbClr val="11203A"/>
          </a:solidFill>
          <a:ln w="19050">
            <a:solidFill>
              <a:srgbClr val="F97316"/>
            </a:solidFill>
            <a:prstDash val="solid"/>
          </a:ln>
        </p:spPr>
        <p:txBody>
          <a:bodyPr/>
          <a:lstStyle/>
          <a:p>
            <a:endParaRPr lang="en-GB"/>
          </a:p>
        </p:txBody>
      </p:sp>
      <p:sp>
        <p:nvSpPr>
          <p:cNvPr id="16" name="Shape 13"/>
          <p:cNvSpPr/>
          <p:nvPr/>
        </p:nvSpPr>
        <p:spPr>
          <a:xfrm>
            <a:off x="4654296" y="1463040"/>
            <a:ext cx="54864" cy="658368"/>
          </a:xfrm>
          <a:prstGeom prst="rect">
            <a:avLst/>
          </a:prstGeom>
          <a:solidFill>
            <a:srgbClr val="F97316"/>
          </a:solidFill>
          <a:ln w="12700">
            <a:solidFill>
              <a:srgbClr val="F97316"/>
            </a:solidFill>
            <a:prstDash val="solid"/>
          </a:ln>
        </p:spPr>
        <p:txBody>
          <a:bodyPr/>
          <a:lstStyle/>
          <a:p>
            <a:endParaRPr lang="en-GB"/>
          </a:p>
        </p:txBody>
      </p:sp>
      <p:sp>
        <p:nvSpPr>
          <p:cNvPr id="17" name="Shape 14"/>
          <p:cNvSpPr/>
          <p:nvPr/>
        </p:nvSpPr>
        <p:spPr>
          <a:xfrm>
            <a:off x="4837176" y="1645920"/>
            <a:ext cx="292608" cy="292608"/>
          </a:xfrm>
          <a:prstGeom prst="roundRect">
            <a:avLst>
              <a:gd name="adj" fmla="val 12500"/>
            </a:avLst>
          </a:prstGeom>
          <a:solidFill>
            <a:srgbClr val="F97316"/>
          </a:solidFill>
          <a:ln w="12700">
            <a:solidFill>
              <a:srgbClr val="F97316"/>
            </a:solidFill>
            <a:prstDash val="solid"/>
          </a:ln>
        </p:spPr>
        <p:txBody>
          <a:bodyPr/>
          <a:lstStyle/>
          <a:p>
            <a:endParaRPr lang="en-GB"/>
          </a:p>
        </p:txBody>
      </p:sp>
      <p:sp>
        <p:nvSpPr>
          <p:cNvPr id="18" name="Text 15"/>
          <p:cNvSpPr/>
          <p:nvPr/>
        </p:nvSpPr>
        <p:spPr>
          <a:xfrm>
            <a:off x="4837176" y="1645920"/>
            <a:ext cx="292608" cy="292608"/>
          </a:xfrm>
          <a:prstGeom prst="rect">
            <a:avLst/>
          </a:prstGeom>
          <a:noFill/>
          <a:ln/>
        </p:spPr>
        <p:txBody>
          <a:bodyPr wrap="square" lIns="0" tIns="0" rIns="0" bIns="0" rtlCol="0" anchor="ctr"/>
          <a:lstStyle/>
          <a:p>
            <a:pPr marL="0" indent="0" algn="ctr">
              <a:buNone/>
            </a:pPr>
            <a:r>
              <a:rPr lang="en-US" sz="1400" b="1" dirty="0">
                <a:solidFill>
                  <a:srgbClr val="0A1628"/>
                </a:solidFill>
                <a:latin typeface="Calibri" pitchFamily="34" charset="0"/>
                <a:ea typeface="Calibri" pitchFamily="34" charset="-122"/>
                <a:cs typeface="Calibri" pitchFamily="34" charset="-120"/>
              </a:rPr>
              <a:t>✓</a:t>
            </a:r>
            <a:endParaRPr lang="en-US" sz="1400" dirty="0"/>
          </a:p>
        </p:txBody>
      </p:sp>
      <p:sp>
        <p:nvSpPr>
          <p:cNvPr id="19" name="Text 16"/>
          <p:cNvSpPr/>
          <p:nvPr/>
        </p:nvSpPr>
        <p:spPr>
          <a:xfrm>
            <a:off x="5248656" y="1517904"/>
            <a:ext cx="3429000" cy="274320"/>
          </a:xfrm>
          <a:prstGeom prst="rect">
            <a:avLst/>
          </a:prstGeom>
          <a:noFill/>
          <a:ln/>
        </p:spPr>
        <p:txBody>
          <a:bodyPr wrap="square" lIns="0" tIns="0" rIns="0" bIns="0" rtlCol="0" anchor="ctr"/>
          <a:lstStyle/>
          <a:p>
            <a:pPr marL="0" indent="0">
              <a:buNone/>
            </a:pPr>
            <a:r>
              <a:rPr lang="en-US" sz="1200" b="1" dirty="0">
                <a:solidFill>
                  <a:srgbClr val="F8FAFC"/>
                </a:solidFill>
                <a:latin typeface="Calibri" pitchFamily="34" charset="0"/>
                <a:ea typeface="Calibri" pitchFamily="34" charset="-122"/>
                <a:cs typeface="Calibri" pitchFamily="34" charset="-120"/>
              </a:rPr>
              <a:t>Cache prompts aggressively</a:t>
            </a:r>
            <a:endParaRPr lang="en-US" sz="1200" dirty="0"/>
          </a:p>
        </p:txBody>
      </p:sp>
      <p:sp>
        <p:nvSpPr>
          <p:cNvPr id="20" name="Text 17"/>
          <p:cNvSpPr/>
          <p:nvPr/>
        </p:nvSpPr>
        <p:spPr>
          <a:xfrm>
            <a:off x="5248656" y="1792224"/>
            <a:ext cx="3429000" cy="274320"/>
          </a:xfrm>
          <a:prstGeom prst="rect">
            <a:avLst/>
          </a:prstGeom>
          <a:noFill/>
          <a:ln/>
        </p:spPr>
        <p:txBody>
          <a:bodyPr wrap="square" lIns="0" tIns="0" rIns="0" bIns="0" rtlCol="0" anchor="ctr"/>
          <a:lstStyle/>
          <a:p>
            <a:pPr marL="0" indent="0">
              <a:buNone/>
            </a:pPr>
            <a:r>
              <a:rPr lang="en-US" sz="1000" i="1" dirty="0">
                <a:solidFill>
                  <a:srgbClr val="94A3B8"/>
                </a:solidFill>
                <a:latin typeface="Calibri" pitchFamily="34" charset="0"/>
                <a:ea typeface="Calibri" pitchFamily="34" charset="-122"/>
                <a:cs typeface="Calibri" pitchFamily="34" charset="-120"/>
              </a:rPr>
              <a:t>prompt caching saves 50–90% on bills</a:t>
            </a:r>
            <a:endParaRPr lang="en-US" sz="1000" dirty="0"/>
          </a:p>
        </p:txBody>
      </p:sp>
      <p:sp>
        <p:nvSpPr>
          <p:cNvPr id="21" name="Shape 18"/>
          <p:cNvSpPr/>
          <p:nvPr/>
        </p:nvSpPr>
        <p:spPr>
          <a:xfrm>
            <a:off x="329184" y="2212848"/>
            <a:ext cx="4160520" cy="658368"/>
          </a:xfrm>
          <a:prstGeom prst="roundRect">
            <a:avLst>
              <a:gd name="adj" fmla="val 6944"/>
            </a:avLst>
          </a:prstGeom>
          <a:solidFill>
            <a:srgbClr val="11203A"/>
          </a:solidFill>
          <a:ln w="19050">
            <a:solidFill>
              <a:srgbClr val="3B82F6"/>
            </a:solidFill>
            <a:prstDash val="solid"/>
          </a:ln>
        </p:spPr>
        <p:txBody>
          <a:bodyPr/>
          <a:lstStyle/>
          <a:p>
            <a:endParaRPr lang="en-GB"/>
          </a:p>
        </p:txBody>
      </p:sp>
      <p:sp>
        <p:nvSpPr>
          <p:cNvPr id="22" name="Shape 19"/>
          <p:cNvSpPr/>
          <p:nvPr/>
        </p:nvSpPr>
        <p:spPr>
          <a:xfrm>
            <a:off x="329184" y="2212848"/>
            <a:ext cx="54864" cy="658368"/>
          </a:xfrm>
          <a:prstGeom prst="rect">
            <a:avLst/>
          </a:prstGeom>
          <a:solidFill>
            <a:srgbClr val="3B82F6"/>
          </a:solidFill>
          <a:ln w="12700">
            <a:solidFill>
              <a:srgbClr val="3B82F6"/>
            </a:solidFill>
            <a:prstDash val="solid"/>
          </a:ln>
        </p:spPr>
        <p:txBody>
          <a:bodyPr/>
          <a:lstStyle/>
          <a:p>
            <a:endParaRPr lang="en-GB"/>
          </a:p>
        </p:txBody>
      </p:sp>
      <p:sp>
        <p:nvSpPr>
          <p:cNvPr id="23" name="Shape 20"/>
          <p:cNvSpPr/>
          <p:nvPr/>
        </p:nvSpPr>
        <p:spPr>
          <a:xfrm>
            <a:off x="512064" y="2395728"/>
            <a:ext cx="292608" cy="292608"/>
          </a:xfrm>
          <a:prstGeom prst="roundRect">
            <a:avLst>
              <a:gd name="adj" fmla="val 12500"/>
            </a:avLst>
          </a:prstGeom>
          <a:solidFill>
            <a:srgbClr val="3B82F6"/>
          </a:solidFill>
          <a:ln w="12700">
            <a:solidFill>
              <a:srgbClr val="3B82F6"/>
            </a:solidFill>
            <a:prstDash val="solid"/>
          </a:ln>
        </p:spPr>
        <p:txBody>
          <a:bodyPr/>
          <a:lstStyle/>
          <a:p>
            <a:endParaRPr lang="en-GB"/>
          </a:p>
        </p:txBody>
      </p:sp>
      <p:sp>
        <p:nvSpPr>
          <p:cNvPr id="24" name="Text 21"/>
          <p:cNvSpPr/>
          <p:nvPr/>
        </p:nvSpPr>
        <p:spPr>
          <a:xfrm>
            <a:off x="512064" y="2395728"/>
            <a:ext cx="292608" cy="292608"/>
          </a:xfrm>
          <a:prstGeom prst="rect">
            <a:avLst/>
          </a:prstGeom>
          <a:noFill/>
          <a:ln/>
        </p:spPr>
        <p:txBody>
          <a:bodyPr wrap="square" lIns="0" tIns="0" rIns="0" bIns="0" rtlCol="0" anchor="ctr"/>
          <a:lstStyle/>
          <a:p>
            <a:pPr marL="0" indent="0" algn="ctr">
              <a:buNone/>
            </a:pPr>
            <a:r>
              <a:rPr lang="en-US" sz="1400" b="1" dirty="0">
                <a:solidFill>
                  <a:srgbClr val="0A1628"/>
                </a:solidFill>
                <a:latin typeface="Calibri" pitchFamily="34" charset="0"/>
                <a:ea typeface="Calibri" pitchFamily="34" charset="-122"/>
                <a:cs typeface="Calibri" pitchFamily="34" charset="-120"/>
              </a:rPr>
              <a:t>✓</a:t>
            </a:r>
            <a:endParaRPr lang="en-US" sz="1400" dirty="0"/>
          </a:p>
        </p:txBody>
      </p:sp>
      <p:sp>
        <p:nvSpPr>
          <p:cNvPr id="25" name="Text 22"/>
          <p:cNvSpPr/>
          <p:nvPr/>
        </p:nvSpPr>
        <p:spPr>
          <a:xfrm>
            <a:off x="923544" y="2267712"/>
            <a:ext cx="3429000" cy="274320"/>
          </a:xfrm>
          <a:prstGeom prst="rect">
            <a:avLst/>
          </a:prstGeom>
          <a:noFill/>
          <a:ln/>
        </p:spPr>
        <p:txBody>
          <a:bodyPr wrap="square" lIns="0" tIns="0" rIns="0" bIns="0" rtlCol="0" anchor="ctr"/>
          <a:lstStyle/>
          <a:p>
            <a:pPr marL="0" indent="0">
              <a:buNone/>
            </a:pPr>
            <a:r>
              <a:rPr lang="en-US" sz="1200" b="1" dirty="0">
                <a:solidFill>
                  <a:srgbClr val="F8FAFC"/>
                </a:solidFill>
                <a:latin typeface="Calibri" pitchFamily="34" charset="0"/>
                <a:ea typeface="Calibri" pitchFamily="34" charset="-122"/>
                <a:cs typeface="Calibri" pitchFamily="34" charset="-120"/>
              </a:rPr>
              <a:t>Log every tool call + token spend</a:t>
            </a:r>
            <a:endParaRPr lang="en-US" sz="1200" dirty="0"/>
          </a:p>
        </p:txBody>
      </p:sp>
      <p:sp>
        <p:nvSpPr>
          <p:cNvPr id="26" name="Text 23"/>
          <p:cNvSpPr/>
          <p:nvPr/>
        </p:nvSpPr>
        <p:spPr>
          <a:xfrm>
            <a:off x="923544" y="2542032"/>
            <a:ext cx="3429000" cy="274320"/>
          </a:xfrm>
          <a:prstGeom prst="rect">
            <a:avLst/>
          </a:prstGeom>
          <a:noFill/>
          <a:ln/>
        </p:spPr>
        <p:txBody>
          <a:bodyPr wrap="square" lIns="0" tIns="0" rIns="0" bIns="0" rtlCol="0" anchor="ctr"/>
          <a:lstStyle/>
          <a:p>
            <a:pPr marL="0" indent="0">
              <a:buNone/>
            </a:pPr>
            <a:r>
              <a:rPr lang="en-US" sz="1000" i="1" dirty="0">
                <a:solidFill>
                  <a:srgbClr val="94A3B8"/>
                </a:solidFill>
                <a:latin typeface="Calibri" pitchFamily="34" charset="0"/>
                <a:ea typeface="Calibri" pitchFamily="34" charset="-122"/>
                <a:cs typeface="Calibri" pitchFamily="34" charset="-120"/>
              </a:rPr>
              <a:t>you cannot fix what you cannot see</a:t>
            </a:r>
            <a:endParaRPr lang="en-US" sz="1000" dirty="0"/>
          </a:p>
        </p:txBody>
      </p:sp>
      <p:sp>
        <p:nvSpPr>
          <p:cNvPr id="27" name="Shape 24"/>
          <p:cNvSpPr/>
          <p:nvPr/>
        </p:nvSpPr>
        <p:spPr>
          <a:xfrm>
            <a:off x="4654296" y="2212848"/>
            <a:ext cx="4160520" cy="658368"/>
          </a:xfrm>
          <a:prstGeom prst="roundRect">
            <a:avLst>
              <a:gd name="adj" fmla="val 6944"/>
            </a:avLst>
          </a:prstGeom>
          <a:solidFill>
            <a:srgbClr val="11203A"/>
          </a:solidFill>
          <a:ln w="19050">
            <a:solidFill>
              <a:srgbClr val="F97316"/>
            </a:solidFill>
            <a:prstDash val="solid"/>
          </a:ln>
        </p:spPr>
        <p:txBody>
          <a:bodyPr/>
          <a:lstStyle/>
          <a:p>
            <a:endParaRPr lang="en-GB"/>
          </a:p>
        </p:txBody>
      </p:sp>
      <p:sp>
        <p:nvSpPr>
          <p:cNvPr id="28" name="Shape 25"/>
          <p:cNvSpPr/>
          <p:nvPr/>
        </p:nvSpPr>
        <p:spPr>
          <a:xfrm>
            <a:off x="4654296" y="2212848"/>
            <a:ext cx="54864" cy="658368"/>
          </a:xfrm>
          <a:prstGeom prst="rect">
            <a:avLst/>
          </a:prstGeom>
          <a:solidFill>
            <a:srgbClr val="F97316"/>
          </a:solidFill>
          <a:ln w="12700">
            <a:solidFill>
              <a:srgbClr val="F97316"/>
            </a:solidFill>
            <a:prstDash val="solid"/>
          </a:ln>
        </p:spPr>
        <p:txBody>
          <a:bodyPr/>
          <a:lstStyle/>
          <a:p>
            <a:endParaRPr lang="en-GB"/>
          </a:p>
        </p:txBody>
      </p:sp>
      <p:sp>
        <p:nvSpPr>
          <p:cNvPr id="29" name="Shape 26"/>
          <p:cNvSpPr/>
          <p:nvPr/>
        </p:nvSpPr>
        <p:spPr>
          <a:xfrm>
            <a:off x="4837176" y="2395728"/>
            <a:ext cx="292608" cy="292608"/>
          </a:xfrm>
          <a:prstGeom prst="roundRect">
            <a:avLst>
              <a:gd name="adj" fmla="val 12500"/>
            </a:avLst>
          </a:prstGeom>
          <a:solidFill>
            <a:srgbClr val="F97316"/>
          </a:solidFill>
          <a:ln w="12700">
            <a:solidFill>
              <a:srgbClr val="F97316"/>
            </a:solidFill>
            <a:prstDash val="solid"/>
          </a:ln>
        </p:spPr>
        <p:txBody>
          <a:bodyPr/>
          <a:lstStyle/>
          <a:p>
            <a:endParaRPr lang="en-GB"/>
          </a:p>
        </p:txBody>
      </p:sp>
      <p:sp>
        <p:nvSpPr>
          <p:cNvPr id="30" name="Text 27"/>
          <p:cNvSpPr/>
          <p:nvPr/>
        </p:nvSpPr>
        <p:spPr>
          <a:xfrm>
            <a:off x="4837176" y="2395728"/>
            <a:ext cx="292608" cy="292608"/>
          </a:xfrm>
          <a:prstGeom prst="rect">
            <a:avLst/>
          </a:prstGeom>
          <a:noFill/>
          <a:ln/>
        </p:spPr>
        <p:txBody>
          <a:bodyPr wrap="square" lIns="0" tIns="0" rIns="0" bIns="0" rtlCol="0" anchor="ctr"/>
          <a:lstStyle/>
          <a:p>
            <a:pPr marL="0" indent="0" algn="ctr">
              <a:buNone/>
            </a:pPr>
            <a:r>
              <a:rPr lang="en-US" sz="1400" b="1" dirty="0">
                <a:solidFill>
                  <a:srgbClr val="0A1628"/>
                </a:solidFill>
                <a:latin typeface="Calibri" pitchFamily="34" charset="0"/>
                <a:ea typeface="Calibri" pitchFamily="34" charset="-122"/>
                <a:cs typeface="Calibri" pitchFamily="34" charset="-120"/>
              </a:rPr>
              <a:t>✓</a:t>
            </a:r>
            <a:endParaRPr lang="en-US" sz="1400" dirty="0"/>
          </a:p>
        </p:txBody>
      </p:sp>
      <p:sp>
        <p:nvSpPr>
          <p:cNvPr id="31" name="Text 28"/>
          <p:cNvSpPr/>
          <p:nvPr/>
        </p:nvSpPr>
        <p:spPr>
          <a:xfrm>
            <a:off x="5248656" y="2267712"/>
            <a:ext cx="3429000" cy="274320"/>
          </a:xfrm>
          <a:prstGeom prst="rect">
            <a:avLst/>
          </a:prstGeom>
          <a:noFill/>
          <a:ln/>
        </p:spPr>
        <p:txBody>
          <a:bodyPr wrap="square" lIns="0" tIns="0" rIns="0" bIns="0" rtlCol="0" anchor="ctr"/>
          <a:lstStyle/>
          <a:p>
            <a:pPr marL="0" indent="0">
              <a:buNone/>
            </a:pPr>
            <a:r>
              <a:rPr lang="en-US" sz="1200" b="1" dirty="0">
                <a:solidFill>
                  <a:srgbClr val="F8FAFC"/>
                </a:solidFill>
                <a:latin typeface="Calibri" pitchFamily="34" charset="0"/>
                <a:ea typeface="Calibri" pitchFamily="34" charset="-122"/>
                <a:cs typeface="Calibri" pitchFamily="34" charset="-120"/>
              </a:rPr>
              <a:t>Human approval for destructive tools</a:t>
            </a:r>
            <a:endParaRPr lang="en-US" sz="1200" dirty="0"/>
          </a:p>
        </p:txBody>
      </p:sp>
      <p:sp>
        <p:nvSpPr>
          <p:cNvPr id="32" name="Text 29"/>
          <p:cNvSpPr/>
          <p:nvPr/>
        </p:nvSpPr>
        <p:spPr>
          <a:xfrm>
            <a:off x="5248656" y="2542032"/>
            <a:ext cx="3429000" cy="274320"/>
          </a:xfrm>
          <a:prstGeom prst="rect">
            <a:avLst/>
          </a:prstGeom>
          <a:noFill/>
          <a:ln/>
        </p:spPr>
        <p:txBody>
          <a:bodyPr wrap="square" lIns="0" tIns="0" rIns="0" bIns="0" rtlCol="0" anchor="ctr"/>
          <a:lstStyle/>
          <a:p>
            <a:pPr marL="0" indent="0">
              <a:buNone/>
            </a:pPr>
            <a:r>
              <a:rPr lang="en-US" sz="1000" i="1" dirty="0">
                <a:solidFill>
                  <a:srgbClr val="94A3B8"/>
                </a:solidFill>
                <a:latin typeface="Calibri" pitchFamily="34" charset="0"/>
                <a:ea typeface="Calibri" pitchFamily="34" charset="-122"/>
                <a:cs typeface="Calibri" pitchFamily="34" charset="-120"/>
              </a:rPr>
              <a:t>delete · send · charge · post · deploy</a:t>
            </a:r>
            <a:endParaRPr lang="en-US" sz="1000" dirty="0"/>
          </a:p>
        </p:txBody>
      </p:sp>
      <p:sp>
        <p:nvSpPr>
          <p:cNvPr id="33" name="Shape 30"/>
          <p:cNvSpPr/>
          <p:nvPr/>
        </p:nvSpPr>
        <p:spPr>
          <a:xfrm>
            <a:off x="329184" y="2962656"/>
            <a:ext cx="4160520" cy="658368"/>
          </a:xfrm>
          <a:prstGeom prst="roundRect">
            <a:avLst>
              <a:gd name="adj" fmla="val 6944"/>
            </a:avLst>
          </a:prstGeom>
          <a:solidFill>
            <a:srgbClr val="11203A"/>
          </a:solidFill>
          <a:ln w="19050">
            <a:solidFill>
              <a:srgbClr val="3B82F6"/>
            </a:solidFill>
            <a:prstDash val="solid"/>
          </a:ln>
        </p:spPr>
        <p:txBody>
          <a:bodyPr/>
          <a:lstStyle/>
          <a:p>
            <a:endParaRPr lang="en-GB"/>
          </a:p>
        </p:txBody>
      </p:sp>
      <p:sp>
        <p:nvSpPr>
          <p:cNvPr id="34" name="Shape 31"/>
          <p:cNvSpPr/>
          <p:nvPr/>
        </p:nvSpPr>
        <p:spPr>
          <a:xfrm>
            <a:off x="329184" y="2962656"/>
            <a:ext cx="54864" cy="658368"/>
          </a:xfrm>
          <a:prstGeom prst="rect">
            <a:avLst/>
          </a:prstGeom>
          <a:solidFill>
            <a:srgbClr val="3B82F6"/>
          </a:solidFill>
          <a:ln w="12700">
            <a:solidFill>
              <a:srgbClr val="3B82F6"/>
            </a:solidFill>
            <a:prstDash val="solid"/>
          </a:ln>
        </p:spPr>
        <p:txBody>
          <a:bodyPr/>
          <a:lstStyle/>
          <a:p>
            <a:endParaRPr lang="en-GB"/>
          </a:p>
        </p:txBody>
      </p:sp>
      <p:sp>
        <p:nvSpPr>
          <p:cNvPr id="35" name="Shape 32"/>
          <p:cNvSpPr/>
          <p:nvPr/>
        </p:nvSpPr>
        <p:spPr>
          <a:xfrm>
            <a:off x="512064" y="3145536"/>
            <a:ext cx="292608" cy="292608"/>
          </a:xfrm>
          <a:prstGeom prst="roundRect">
            <a:avLst>
              <a:gd name="adj" fmla="val 12500"/>
            </a:avLst>
          </a:prstGeom>
          <a:solidFill>
            <a:srgbClr val="3B82F6"/>
          </a:solidFill>
          <a:ln w="12700">
            <a:solidFill>
              <a:srgbClr val="3B82F6"/>
            </a:solidFill>
            <a:prstDash val="solid"/>
          </a:ln>
        </p:spPr>
        <p:txBody>
          <a:bodyPr/>
          <a:lstStyle/>
          <a:p>
            <a:endParaRPr lang="en-GB"/>
          </a:p>
        </p:txBody>
      </p:sp>
      <p:sp>
        <p:nvSpPr>
          <p:cNvPr id="36" name="Text 33"/>
          <p:cNvSpPr/>
          <p:nvPr/>
        </p:nvSpPr>
        <p:spPr>
          <a:xfrm>
            <a:off x="512064" y="3145536"/>
            <a:ext cx="292608" cy="292608"/>
          </a:xfrm>
          <a:prstGeom prst="rect">
            <a:avLst/>
          </a:prstGeom>
          <a:noFill/>
          <a:ln/>
        </p:spPr>
        <p:txBody>
          <a:bodyPr wrap="square" lIns="0" tIns="0" rIns="0" bIns="0" rtlCol="0" anchor="ctr"/>
          <a:lstStyle/>
          <a:p>
            <a:pPr marL="0" indent="0" algn="ctr">
              <a:buNone/>
            </a:pPr>
            <a:r>
              <a:rPr lang="en-US" sz="1400" b="1" dirty="0">
                <a:solidFill>
                  <a:srgbClr val="0A1628"/>
                </a:solidFill>
                <a:latin typeface="Calibri" pitchFamily="34" charset="0"/>
                <a:ea typeface="Calibri" pitchFamily="34" charset="-122"/>
                <a:cs typeface="Calibri" pitchFamily="34" charset="-120"/>
              </a:rPr>
              <a:t>✓</a:t>
            </a:r>
            <a:endParaRPr lang="en-US" sz="1400" dirty="0"/>
          </a:p>
        </p:txBody>
      </p:sp>
      <p:sp>
        <p:nvSpPr>
          <p:cNvPr id="37" name="Text 34"/>
          <p:cNvSpPr/>
          <p:nvPr/>
        </p:nvSpPr>
        <p:spPr>
          <a:xfrm>
            <a:off x="923544" y="3017520"/>
            <a:ext cx="3429000" cy="274320"/>
          </a:xfrm>
          <a:prstGeom prst="rect">
            <a:avLst/>
          </a:prstGeom>
          <a:noFill/>
          <a:ln/>
        </p:spPr>
        <p:txBody>
          <a:bodyPr wrap="square" lIns="0" tIns="0" rIns="0" bIns="0" rtlCol="0" anchor="ctr"/>
          <a:lstStyle/>
          <a:p>
            <a:pPr marL="0" indent="0">
              <a:buNone/>
            </a:pPr>
            <a:r>
              <a:rPr lang="en-US" sz="1200" b="1" dirty="0">
                <a:solidFill>
                  <a:srgbClr val="F8FAFC"/>
                </a:solidFill>
                <a:latin typeface="Calibri" pitchFamily="34" charset="0"/>
                <a:ea typeface="Calibri" pitchFamily="34" charset="-122"/>
                <a:cs typeface="Calibri" pitchFamily="34" charset="-120"/>
              </a:rPr>
              <a:t>Version prompts like code</a:t>
            </a:r>
            <a:endParaRPr lang="en-US" sz="1200" dirty="0"/>
          </a:p>
        </p:txBody>
      </p:sp>
      <p:sp>
        <p:nvSpPr>
          <p:cNvPr id="38" name="Text 35"/>
          <p:cNvSpPr/>
          <p:nvPr/>
        </p:nvSpPr>
        <p:spPr>
          <a:xfrm>
            <a:off x="923544" y="3291840"/>
            <a:ext cx="3429000" cy="274320"/>
          </a:xfrm>
          <a:prstGeom prst="rect">
            <a:avLst/>
          </a:prstGeom>
          <a:noFill/>
          <a:ln/>
        </p:spPr>
        <p:txBody>
          <a:bodyPr wrap="square" lIns="0" tIns="0" rIns="0" bIns="0" rtlCol="0" anchor="ctr"/>
          <a:lstStyle/>
          <a:p>
            <a:pPr marL="0" indent="0">
              <a:buNone/>
            </a:pPr>
            <a:r>
              <a:rPr lang="en-US" sz="1000" i="1" dirty="0">
                <a:solidFill>
                  <a:srgbClr val="94A3B8"/>
                </a:solidFill>
                <a:latin typeface="Calibri" pitchFamily="34" charset="0"/>
                <a:ea typeface="Calibri" pitchFamily="34" charset="-122"/>
                <a:cs typeface="Calibri" pitchFamily="34" charset="-120"/>
              </a:rPr>
              <a:t>git history · diffs · review</a:t>
            </a:r>
            <a:endParaRPr lang="en-US" sz="1000" dirty="0"/>
          </a:p>
        </p:txBody>
      </p:sp>
      <p:sp>
        <p:nvSpPr>
          <p:cNvPr id="39" name="Shape 36"/>
          <p:cNvSpPr/>
          <p:nvPr/>
        </p:nvSpPr>
        <p:spPr>
          <a:xfrm>
            <a:off x="4654296" y="2962656"/>
            <a:ext cx="4160520" cy="658368"/>
          </a:xfrm>
          <a:prstGeom prst="roundRect">
            <a:avLst>
              <a:gd name="adj" fmla="val 6944"/>
            </a:avLst>
          </a:prstGeom>
          <a:solidFill>
            <a:srgbClr val="11203A"/>
          </a:solidFill>
          <a:ln w="19050">
            <a:solidFill>
              <a:srgbClr val="3B82F6"/>
            </a:solidFill>
            <a:prstDash val="solid"/>
          </a:ln>
        </p:spPr>
        <p:txBody>
          <a:bodyPr/>
          <a:lstStyle/>
          <a:p>
            <a:endParaRPr lang="en-GB"/>
          </a:p>
        </p:txBody>
      </p:sp>
      <p:sp>
        <p:nvSpPr>
          <p:cNvPr id="40" name="Shape 37"/>
          <p:cNvSpPr/>
          <p:nvPr/>
        </p:nvSpPr>
        <p:spPr>
          <a:xfrm>
            <a:off x="4654296" y="2962656"/>
            <a:ext cx="54864" cy="658368"/>
          </a:xfrm>
          <a:prstGeom prst="rect">
            <a:avLst/>
          </a:prstGeom>
          <a:solidFill>
            <a:srgbClr val="3B82F6"/>
          </a:solidFill>
          <a:ln w="12700">
            <a:solidFill>
              <a:srgbClr val="3B82F6"/>
            </a:solidFill>
            <a:prstDash val="solid"/>
          </a:ln>
        </p:spPr>
        <p:txBody>
          <a:bodyPr/>
          <a:lstStyle/>
          <a:p>
            <a:endParaRPr lang="en-GB"/>
          </a:p>
        </p:txBody>
      </p:sp>
      <p:sp>
        <p:nvSpPr>
          <p:cNvPr id="41" name="Shape 38"/>
          <p:cNvSpPr/>
          <p:nvPr/>
        </p:nvSpPr>
        <p:spPr>
          <a:xfrm>
            <a:off x="4837176" y="3145536"/>
            <a:ext cx="292608" cy="292608"/>
          </a:xfrm>
          <a:prstGeom prst="roundRect">
            <a:avLst>
              <a:gd name="adj" fmla="val 12500"/>
            </a:avLst>
          </a:prstGeom>
          <a:solidFill>
            <a:srgbClr val="3B82F6"/>
          </a:solidFill>
          <a:ln w="12700">
            <a:solidFill>
              <a:srgbClr val="3B82F6"/>
            </a:solidFill>
            <a:prstDash val="solid"/>
          </a:ln>
        </p:spPr>
        <p:txBody>
          <a:bodyPr/>
          <a:lstStyle/>
          <a:p>
            <a:endParaRPr lang="en-GB"/>
          </a:p>
        </p:txBody>
      </p:sp>
      <p:sp>
        <p:nvSpPr>
          <p:cNvPr id="42" name="Text 39"/>
          <p:cNvSpPr/>
          <p:nvPr/>
        </p:nvSpPr>
        <p:spPr>
          <a:xfrm>
            <a:off x="4837176" y="3145536"/>
            <a:ext cx="292608" cy="292608"/>
          </a:xfrm>
          <a:prstGeom prst="rect">
            <a:avLst/>
          </a:prstGeom>
          <a:noFill/>
          <a:ln/>
        </p:spPr>
        <p:txBody>
          <a:bodyPr wrap="square" lIns="0" tIns="0" rIns="0" bIns="0" rtlCol="0" anchor="ctr"/>
          <a:lstStyle/>
          <a:p>
            <a:pPr marL="0" indent="0" algn="ctr">
              <a:buNone/>
            </a:pPr>
            <a:r>
              <a:rPr lang="en-US" sz="1400" b="1" dirty="0">
                <a:solidFill>
                  <a:srgbClr val="0A1628"/>
                </a:solidFill>
                <a:latin typeface="Calibri" pitchFamily="34" charset="0"/>
                <a:ea typeface="Calibri" pitchFamily="34" charset="-122"/>
                <a:cs typeface="Calibri" pitchFamily="34" charset="-120"/>
              </a:rPr>
              <a:t>✓</a:t>
            </a:r>
            <a:endParaRPr lang="en-US" sz="1400" dirty="0"/>
          </a:p>
        </p:txBody>
      </p:sp>
      <p:sp>
        <p:nvSpPr>
          <p:cNvPr id="43" name="Text 40"/>
          <p:cNvSpPr/>
          <p:nvPr/>
        </p:nvSpPr>
        <p:spPr>
          <a:xfrm>
            <a:off x="5248656" y="3017520"/>
            <a:ext cx="3429000" cy="274320"/>
          </a:xfrm>
          <a:prstGeom prst="rect">
            <a:avLst/>
          </a:prstGeom>
          <a:noFill/>
          <a:ln/>
        </p:spPr>
        <p:txBody>
          <a:bodyPr wrap="square" lIns="0" tIns="0" rIns="0" bIns="0" rtlCol="0" anchor="ctr"/>
          <a:lstStyle/>
          <a:p>
            <a:pPr marL="0" indent="0">
              <a:buNone/>
            </a:pPr>
            <a:r>
              <a:rPr lang="en-US" sz="1200" b="1" dirty="0">
                <a:solidFill>
                  <a:srgbClr val="F8FAFC"/>
                </a:solidFill>
                <a:latin typeface="Calibri" pitchFamily="34" charset="0"/>
                <a:ea typeface="Calibri" pitchFamily="34" charset="-122"/>
                <a:cs typeface="Calibri" pitchFamily="34" charset="-120"/>
              </a:rPr>
              <a:t>Eval suite from day 1</a:t>
            </a:r>
            <a:endParaRPr lang="en-US" sz="1200" dirty="0"/>
          </a:p>
        </p:txBody>
      </p:sp>
      <p:sp>
        <p:nvSpPr>
          <p:cNvPr id="44" name="Text 41"/>
          <p:cNvSpPr/>
          <p:nvPr/>
        </p:nvSpPr>
        <p:spPr>
          <a:xfrm>
            <a:off x="5248656" y="3291840"/>
            <a:ext cx="3429000" cy="274320"/>
          </a:xfrm>
          <a:prstGeom prst="rect">
            <a:avLst/>
          </a:prstGeom>
          <a:noFill/>
          <a:ln/>
        </p:spPr>
        <p:txBody>
          <a:bodyPr wrap="square" lIns="0" tIns="0" rIns="0" bIns="0" rtlCol="0" anchor="ctr"/>
          <a:lstStyle/>
          <a:p>
            <a:pPr marL="0" indent="0">
              <a:buNone/>
            </a:pPr>
            <a:r>
              <a:rPr lang="en-US" sz="1000" i="1" dirty="0">
                <a:solidFill>
                  <a:srgbClr val="94A3B8"/>
                </a:solidFill>
                <a:latin typeface="Calibri" pitchFamily="34" charset="0"/>
                <a:ea typeface="Calibri" pitchFamily="34" charset="-122"/>
                <a:cs typeface="Calibri" pitchFamily="34" charset="-120"/>
              </a:rPr>
              <a:t>ground truth · run on every change</a:t>
            </a:r>
            <a:endParaRPr lang="en-US" sz="1000" dirty="0"/>
          </a:p>
        </p:txBody>
      </p:sp>
      <p:sp>
        <p:nvSpPr>
          <p:cNvPr id="45" name="Shape 42"/>
          <p:cNvSpPr/>
          <p:nvPr/>
        </p:nvSpPr>
        <p:spPr>
          <a:xfrm>
            <a:off x="329184" y="3712464"/>
            <a:ext cx="4160520" cy="658368"/>
          </a:xfrm>
          <a:prstGeom prst="roundRect">
            <a:avLst>
              <a:gd name="adj" fmla="val 6944"/>
            </a:avLst>
          </a:prstGeom>
          <a:solidFill>
            <a:srgbClr val="11203A"/>
          </a:solidFill>
          <a:ln w="19050">
            <a:solidFill>
              <a:srgbClr val="3B82F6"/>
            </a:solidFill>
            <a:prstDash val="solid"/>
          </a:ln>
        </p:spPr>
        <p:txBody>
          <a:bodyPr/>
          <a:lstStyle/>
          <a:p>
            <a:endParaRPr lang="en-GB"/>
          </a:p>
        </p:txBody>
      </p:sp>
      <p:sp>
        <p:nvSpPr>
          <p:cNvPr id="46" name="Shape 43"/>
          <p:cNvSpPr/>
          <p:nvPr/>
        </p:nvSpPr>
        <p:spPr>
          <a:xfrm>
            <a:off x="329184" y="3712464"/>
            <a:ext cx="54864" cy="658368"/>
          </a:xfrm>
          <a:prstGeom prst="rect">
            <a:avLst/>
          </a:prstGeom>
          <a:solidFill>
            <a:srgbClr val="3B82F6"/>
          </a:solidFill>
          <a:ln w="12700">
            <a:solidFill>
              <a:srgbClr val="3B82F6"/>
            </a:solidFill>
            <a:prstDash val="solid"/>
          </a:ln>
        </p:spPr>
        <p:txBody>
          <a:bodyPr/>
          <a:lstStyle/>
          <a:p>
            <a:endParaRPr lang="en-GB"/>
          </a:p>
        </p:txBody>
      </p:sp>
      <p:sp>
        <p:nvSpPr>
          <p:cNvPr id="47" name="Shape 44"/>
          <p:cNvSpPr/>
          <p:nvPr/>
        </p:nvSpPr>
        <p:spPr>
          <a:xfrm>
            <a:off x="512064" y="3895344"/>
            <a:ext cx="292608" cy="292608"/>
          </a:xfrm>
          <a:prstGeom prst="roundRect">
            <a:avLst>
              <a:gd name="adj" fmla="val 12500"/>
            </a:avLst>
          </a:prstGeom>
          <a:solidFill>
            <a:srgbClr val="3B82F6"/>
          </a:solidFill>
          <a:ln w="12700">
            <a:solidFill>
              <a:srgbClr val="3B82F6"/>
            </a:solidFill>
            <a:prstDash val="solid"/>
          </a:ln>
        </p:spPr>
        <p:txBody>
          <a:bodyPr/>
          <a:lstStyle/>
          <a:p>
            <a:endParaRPr lang="en-GB"/>
          </a:p>
        </p:txBody>
      </p:sp>
      <p:sp>
        <p:nvSpPr>
          <p:cNvPr id="48" name="Text 45"/>
          <p:cNvSpPr/>
          <p:nvPr/>
        </p:nvSpPr>
        <p:spPr>
          <a:xfrm>
            <a:off x="512064" y="3895344"/>
            <a:ext cx="292608" cy="292608"/>
          </a:xfrm>
          <a:prstGeom prst="rect">
            <a:avLst/>
          </a:prstGeom>
          <a:noFill/>
          <a:ln/>
        </p:spPr>
        <p:txBody>
          <a:bodyPr wrap="square" lIns="0" tIns="0" rIns="0" bIns="0" rtlCol="0" anchor="ctr"/>
          <a:lstStyle/>
          <a:p>
            <a:pPr marL="0" indent="0" algn="ctr">
              <a:buNone/>
            </a:pPr>
            <a:r>
              <a:rPr lang="en-US" sz="1400" b="1" dirty="0">
                <a:solidFill>
                  <a:srgbClr val="0A1628"/>
                </a:solidFill>
                <a:latin typeface="Calibri" pitchFamily="34" charset="0"/>
                <a:ea typeface="Calibri" pitchFamily="34" charset="-122"/>
                <a:cs typeface="Calibri" pitchFamily="34" charset="-120"/>
              </a:rPr>
              <a:t>✓</a:t>
            </a:r>
            <a:endParaRPr lang="en-US" sz="1400" dirty="0"/>
          </a:p>
        </p:txBody>
      </p:sp>
      <p:sp>
        <p:nvSpPr>
          <p:cNvPr id="49" name="Text 46"/>
          <p:cNvSpPr/>
          <p:nvPr/>
        </p:nvSpPr>
        <p:spPr>
          <a:xfrm>
            <a:off x="923544" y="3767328"/>
            <a:ext cx="3429000" cy="274320"/>
          </a:xfrm>
          <a:prstGeom prst="rect">
            <a:avLst/>
          </a:prstGeom>
          <a:noFill/>
          <a:ln/>
        </p:spPr>
        <p:txBody>
          <a:bodyPr wrap="square" lIns="0" tIns="0" rIns="0" bIns="0" rtlCol="0" anchor="ctr"/>
          <a:lstStyle/>
          <a:p>
            <a:pPr marL="0" indent="0">
              <a:buNone/>
            </a:pPr>
            <a:r>
              <a:rPr lang="en-US" sz="1200" b="1" dirty="0">
                <a:solidFill>
                  <a:srgbClr val="F8FAFC"/>
                </a:solidFill>
                <a:latin typeface="Calibri" pitchFamily="34" charset="0"/>
                <a:ea typeface="Calibri" pitchFamily="34" charset="-122"/>
                <a:cs typeface="Calibri" pitchFamily="34" charset="-120"/>
              </a:rPr>
              <a:t>Per-turn timeout + retry budget</a:t>
            </a:r>
            <a:endParaRPr lang="en-US" sz="1200" dirty="0"/>
          </a:p>
        </p:txBody>
      </p:sp>
      <p:sp>
        <p:nvSpPr>
          <p:cNvPr id="50" name="Text 47"/>
          <p:cNvSpPr/>
          <p:nvPr/>
        </p:nvSpPr>
        <p:spPr>
          <a:xfrm>
            <a:off x="923544" y="4041648"/>
            <a:ext cx="3429000" cy="274320"/>
          </a:xfrm>
          <a:prstGeom prst="rect">
            <a:avLst/>
          </a:prstGeom>
          <a:noFill/>
          <a:ln/>
        </p:spPr>
        <p:txBody>
          <a:bodyPr wrap="square" lIns="0" tIns="0" rIns="0" bIns="0" rtlCol="0" anchor="ctr"/>
          <a:lstStyle/>
          <a:p>
            <a:pPr marL="0" indent="0">
              <a:buNone/>
            </a:pPr>
            <a:r>
              <a:rPr lang="en-US" sz="1000" i="1" dirty="0">
                <a:solidFill>
                  <a:srgbClr val="94A3B8"/>
                </a:solidFill>
                <a:latin typeface="Calibri" pitchFamily="34" charset="0"/>
                <a:ea typeface="Calibri" pitchFamily="34" charset="-122"/>
                <a:cs typeface="Calibri" pitchFamily="34" charset="-120"/>
              </a:rPr>
              <a:t>stop runaway loops before they burn $</a:t>
            </a:r>
            <a:endParaRPr lang="en-US" sz="1000" dirty="0"/>
          </a:p>
        </p:txBody>
      </p:sp>
      <p:sp>
        <p:nvSpPr>
          <p:cNvPr id="51" name="Shape 48"/>
          <p:cNvSpPr/>
          <p:nvPr/>
        </p:nvSpPr>
        <p:spPr>
          <a:xfrm>
            <a:off x="4654296" y="3712464"/>
            <a:ext cx="4160520" cy="658368"/>
          </a:xfrm>
          <a:prstGeom prst="roundRect">
            <a:avLst>
              <a:gd name="adj" fmla="val 6944"/>
            </a:avLst>
          </a:prstGeom>
          <a:solidFill>
            <a:srgbClr val="11203A"/>
          </a:solidFill>
          <a:ln w="19050">
            <a:solidFill>
              <a:srgbClr val="F97316"/>
            </a:solidFill>
            <a:prstDash val="solid"/>
          </a:ln>
        </p:spPr>
        <p:txBody>
          <a:bodyPr/>
          <a:lstStyle/>
          <a:p>
            <a:endParaRPr lang="en-GB"/>
          </a:p>
        </p:txBody>
      </p:sp>
      <p:sp>
        <p:nvSpPr>
          <p:cNvPr id="52" name="Shape 49"/>
          <p:cNvSpPr/>
          <p:nvPr/>
        </p:nvSpPr>
        <p:spPr>
          <a:xfrm>
            <a:off x="4654296" y="3712464"/>
            <a:ext cx="54864" cy="658368"/>
          </a:xfrm>
          <a:prstGeom prst="rect">
            <a:avLst/>
          </a:prstGeom>
          <a:solidFill>
            <a:srgbClr val="F97316"/>
          </a:solidFill>
          <a:ln w="12700">
            <a:solidFill>
              <a:srgbClr val="F97316"/>
            </a:solidFill>
            <a:prstDash val="solid"/>
          </a:ln>
        </p:spPr>
        <p:txBody>
          <a:bodyPr/>
          <a:lstStyle/>
          <a:p>
            <a:endParaRPr lang="en-GB"/>
          </a:p>
        </p:txBody>
      </p:sp>
      <p:sp>
        <p:nvSpPr>
          <p:cNvPr id="53" name="Shape 50"/>
          <p:cNvSpPr/>
          <p:nvPr/>
        </p:nvSpPr>
        <p:spPr>
          <a:xfrm>
            <a:off x="4837176" y="3895344"/>
            <a:ext cx="292608" cy="292608"/>
          </a:xfrm>
          <a:prstGeom prst="roundRect">
            <a:avLst>
              <a:gd name="adj" fmla="val 12500"/>
            </a:avLst>
          </a:prstGeom>
          <a:solidFill>
            <a:srgbClr val="F97316"/>
          </a:solidFill>
          <a:ln w="12700">
            <a:solidFill>
              <a:srgbClr val="F97316"/>
            </a:solidFill>
            <a:prstDash val="solid"/>
          </a:ln>
        </p:spPr>
        <p:txBody>
          <a:bodyPr/>
          <a:lstStyle/>
          <a:p>
            <a:endParaRPr lang="en-GB"/>
          </a:p>
        </p:txBody>
      </p:sp>
      <p:sp>
        <p:nvSpPr>
          <p:cNvPr id="54" name="Text 51"/>
          <p:cNvSpPr/>
          <p:nvPr/>
        </p:nvSpPr>
        <p:spPr>
          <a:xfrm>
            <a:off x="4837176" y="3895344"/>
            <a:ext cx="292608" cy="292608"/>
          </a:xfrm>
          <a:prstGeom prst="rect">
            <a:avLst/>
          </a:prstGeom>
          <a:noFill/>
          <a:ln/>
        </p:spPr>
        <p:txBody>
          <a:bodyPr wrap="square" lIns="0" tIns="0" rIns="0" bIns="0" rtlCol="0" anchor="ctr"/>
          <a:lstStyle/>
          <a:p>
            <a:pPr marL="0" indent="0" algn="ctr">
              <a:buNone/>
            </a:pPr>
            <a:r>
              <a:rPr lang="en-US" sz="1400" b="1" dirty="0">
                <a:solidFill>
                  <a:srgbClr val="0A1628"/>
                </a:solidFill>
                <a:latin typeface="Calibri" pitchFamily="34" charset="0"/>
                <a:ea typeface="Calibri" pitchFamily="34" charset="-122"/>
                <a:cs typeface="Calibri" pitchFamily="34" charset="-120"/>
              </a:rPr>
              <a:t>✓</a:t>
            </a:r>
            <a:endParaRPr lang="en-US" sz="1400" dirty="0"/>
          </a:p>
        </p:txBody>
      </p:sp>
      <p:sp>
        <p:nvSpPr>
          <p:cNvPr id="55" name="Text 52"/>
          <p:cNvSpPr/>
          <p:nvPr/>
        </p:nvSpPr>
        <p:spPr>
          <a:xfrm>
            <a:off x="5248656" y="3767328"/>
            <a:ext cx="3429000" cy="274320"/>
          </a:xfrm>
          <a:prstGeom prst="rect">
            <a:avLst/>
          </a:prstGeom>
          <a:noFill/>
          <a:ln/>
        </p:spPr>
        <p:txBody>
          <a:bodyPr wrap="square" lIns="0" tIns="0" rIns="0" bIns="0" rtlCol="0" anchor="ctr"/>
          <a:lstStyle/>
          <a:p>
            <a:pPr marL="0" indent="0">
              <a:buNone/>
            </a:pPr>
            <a:r>
              <a:rPr lang="en-US" sz="1200" b="1" dirty="0">
                <a:solidFill>
                  <a:srgbClr val="F8FAFC"/>
                </a:solidFill>
                <a:latin typeface="Calibri" pitchFamily="34" charset="0"/>
                <a:ea typeface="Calibri" pitchFamily="34" charset="-122"/>
                <a:cs typeface="Calibri" pitchFamily="34" charset="-120"/>
              </a:rPr>
              <a:t>Cost ceiling per request</a:t>
            </a:r>
            <a:endParaRPr lang="en-US" sz="1200" dirty="0"/>
          </a:p>
        </p:txBody>
      </p:sp>
      <p:sp>
        <p:nvSpPr>
          <p:cNvPr id="56" name="Text 53"/>
          <p:cNvSpPr/>
          <p:nvPr/>
        </p:nvSpPr>
        <p:spPr>
          <a:xfrm>
            <a:off x="5248656" y="4041648"/>
            <a:ext cx="3429000" cy="274320"/>
          </a:xfrm>
          <a:prstGeom prst="rect">
            <a:avLst/>
          </a:prstGeom>
          <a:noFill/>
          <a:ln/>
        </p:spPr>
        <p:txBody>
          <a:bodyPr wrap="square" lIns="0" tIns="0" rIns="0" bIns="0" rtlCol="0" anchor="ctr"/>
          <a:lstStyle/>
          <a:p>
            <a:pPr marL="0" indent="0">
              <a:buNone/>
            </a:pPr>
            <a:r>
              <a:rPr lang="en-US" sz="1000" i="1" dirty="0">
                <a:solidFill>
                  <a:srgbClr val="94A3B8"/>
                </a:solidFill>
                <a:latin typeface="Calibri" pitchFamily="34" charset="0"/>
                <a:ea typeface="Calibri" pitchFamily="34" charset="-122"/>
                <a:cs typeface="Calibri" pitchFamily="34" charset="-120"/>
              </a:rPr>
              <a:t>kill switch when token spend spikes</a:t>
            </a:r>
            <a:endParaRPr lang="en-US" sz="1000" dirty="0"/>
          </a:p>
        </p:txBody>
      </p:sp>
      <p:sp>
        <p:nvSpPr>
          <p:cNvPr id="57" name="Text 54"/>
          <p:cNvSpPr/>
          <p:nvPr/>
        </p:nvSpPr>
        <p:spPr>
          <a:xfrm>
            <a:off x="457200" y="4526280"/>
            <a:ext cx="8229600" cy="274320"/>
          </a:xfrm>
          <a:prstGeom prst="rect">
            <a:avLst/>
          </a:prstGeom>
          <a:noFill/>
          <a:ln/>
        </p:spPr>
        <p:txBody>
          <a:bodyPr wrap="square" lIns="0" tIns="0" rIns="0" bIns="0" rtlCol="0" anchor="ctr"/>
          <a:lstStyle/>
          <a:p>
            <a:pPr marL="0" indent="0" algn="ctr">
              <a:buNone/>
            </a:pPr>
            <a:r>
              <a:rPr lang="en-US" sz="1100" i="1" dirty="0">
                <a:solidFill>
                  <a:srgbClr val="F97316"/>
                </a:solidFill>
                <a:latin typeface="Calibri" pitchFamily="34" charset="0"/>
                <a:ea typeface="Calibri" pitchFamily="34" charset="-122"/>
                <a:cs typeface="Calibri" pitchFamily="34" charset="-120"/>
              </a:rPr>
              <a:t>Most agent failures in production come from missing one of these.</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254</TotalTime>
  <Words>4756</Words>
  <Application>Microsoft Office PowerPoint</Application>
  <PresentationFormat>On-screen Show (16:9)</PresentationFormat>
  <Paragraphs>714</Paragraphs>
  <Slides>26</Slides>
  <Notes>26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26</vt:i4>
      </vt:variant>
    </vt:vector>
  </HeadingPairs>
  <TitlesOfParts>
    <vt:vector size="30" baseType="lpstr">
      <vt:lpstr>Arial</vt:lpstr>
      <vt:lpstr>Calibri</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Agentic AI — From LLMs to Autonomous Systems</dc:title>
  <dc:subject>PptxGenJS Presentation</dc:subject>
  <dc:creator>Mohamed Rsaissi</dc:creator>
  <cp:lastModifiedBy>Mohamed Rsaissi</cp:lastModifiedBy>
  <cp:revision>3</cp:revision>
  <dcterms:created xsi:type="dcterms:W3CDTF">2026-05-19T14:16:52Z</dcterms:created>
  <dcterms:modified xsi:type="dcterms:W3CDTF">2026-05-19T18:31:42Z</dcterms:modified>
</cp:coreProperties>
</file>